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Trace 归因的四个难点：空泡、重叠、融合、多卡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kernel 计时是标准能力；难的是这四件事，每个解法都带一条会失败的检查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43584"/>
            <a:ext cx="5446623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64008" cy="2048256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35024"/>
            <a:ext cx="511743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A  空泡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19656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16736" y="1938528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49808" y="23134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16736" y="2432304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1316736" y="1865376"/>
            <a:ext cx="69128" cy="146304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99032" y="1865376"/>
            <a:ext cx="69128" cy="146304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1865376"/>
            <a:ext cx="69128" cy="146304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63624" y="1865376"/>
            <a:ext cx="69128" cy="146304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19" y="1865376"/>
            <a:ext cx="164592" cy="146304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3430" y="1865376"/>
            <a:ext cx="427939" cy="146304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sync / D2H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1865376"/>
            <a:ext cx="362102" cy="146304"/>
          </a:xfrm>
          <a:prstGeom prst="rect">
            <a:avLst/>
          </a:prstGeom>
          <a:solidFill>
            <a:srgbClr val="AFCEE1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sched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9308" y="1865376"/>
            <a:ext cx="82296" cy="146304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4523" y="1865376"/>
            <a:ext cx="82296" cy="146304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36487" y="2359152"/>
            <a:ext cx="29626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66113" y="2359152"/>
            <a:ext cx="52669" cy="1463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18783" y="2359152"/>
            <a:ext cx="29626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48409" y="2359152"/>
            <a:ext cx="52669" cy="1463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01079" y="2359152"/>
            <a:ext cx="29626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30705" y="2359152"/>
            <a:ext cx="52669" cy="1463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83375" y="2359152"/>
            <a:ext cx="29626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13001" y="2359152"/>
            <a:ext cx="52669" cy="1463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62379" y="2359152"/>
            <a:ext cx="213969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6348" y="2359152"/>
            <a:ext cx="395020" cy="146304"/>
          </a:xfrm>
          <a:prstGeom prst="rect">
            <a:avLst/>
          </a:prstGeom>
          <a:solidFill>
            <a:srgbClr val="F3D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71369" y="2359152"/>
            <a:ext cx="427939" cy="146304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99308" y="2359152"/>
            <a:ext cx="115214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30982" y="2359152"/>
            <a:ext cx="98755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3817" y="2596896"/>
            <a:ext cx="42793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59889" y="2596896"/>
            <a:ext cx="42793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71369" y="2596896"/>
            <a:ext cx="42793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sched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2816352"/>
            <a:ext cx="221284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空泡段按同时段的 CPU runtime 事件定类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3824" y="1645920"/>
            <a:ext cx="2703423" cy="16093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GPU 没在跑 kernel 的时间按 kernel 记账看不见，decode 小批下能占一步的 20–40%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解法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用 launch 时刻与 kernel 起止重建 GPU 队列深度：队列空 = CPU 喂不上，再看 CPU 当时在发射、刚 sync 完跑 Python、还是在调度；队列非空 = GPU 侧在等 event / 拷贝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6431" y="1243584"/>
            <a:ext cx="5446623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6431" y="1243584"/>
            <a:ext cx="64008" cy="2048256"/>
          </a:xfrm>
          <a:prstGeom prst="rect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7599" y="1335024"/>
            <a:ext cx="511743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B  重叠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7599" y="176479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stream 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64527" y="1883664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397599" y="2075688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stream 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64527" y="2194560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397599" y="2386584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stream 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64527" y="2505456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49" name="Rectangle 48"/>
          <p:cNvSpPr/>
          <p:nvPr/>
        </p:nvSpPr>
        <p:spPr>
          <a:xfrm>
            <a:off x="6964527" y="1810512"/>
            <a:ext cx="362102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43089" y="1810512"/>
            <a:ext cx="592531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expert_gemm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2079" y="1810512"/>
            <a:ext cx="197510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0641" y="1810512"/>
            <a:ext cx="279806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6007" y="2121408"/>
            <a:ext cx="707745" cy="146304"/>
          </a:xfrm>
          <a:prstGeom prst="rect">
            <a:avLst/>
          </a:prstGeom>
          <a:solidFill>
            <a:srgbClr val="F0C9A8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被遮蔽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83753" y="2121408"/>
            <a:ext cx="230428" cy="14630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30364" y="2432304"/>
            <a:ext cx="246888" cy="146304"/>
          </a:xfrm>
          <a:prstGeom prst="rect">
            <a:avLst/>
          </a:prstGeom>
          <a:solidFill>
            <a:srgbClr val="AFCEE1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copy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22895" y="2432304"/>
            <a:ext cx="263347" cy="146304"/>
          </a:xfrm>
          <a:prstGeom prst="rect">
            <a:avLst/>
          </a:prstGeom>
          <a:solidFill>
            <a:srgbClr val="AFCEE1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被遮蔽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64527" y="1883664"/>
            <a:ext cx="1185063" cy="0"/>
          </a:xfrm>
          <a:prstGeom prst="line">
            <a:avLst/>
          </a:prstGeom>
          <a:ln w="28575">
            <a:solidFill>
              <a:srgbClr val="17795F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8149590" y="1883664"/>
            <a:ext cx="0" cy="310896"/>
          </a:xfrm>
          <a:prstGeom prst="line">
            <a:avLst/>
          </a:prstGeom>
          <a:ln w="28575">
            <a:solidFill>
              <a:srgbClr val="17795F"/>
            </a:solidFill>
          </a:ln>
        </p:spPr>
      </p:cxnSp>
      <p:cxnSp>
        <p:nvCxnSpPr>
          <p:cNvPr id="59" name="Connector 58"/>
          <p:cNvCxnSpPr/>
          <p:nvPr/>
        </p:nvCxnSpPr>
        <p:spPr>
          <a:xfrm>
            <a:off x="8149590" y="2194560"/>
            <a:ext cx="164591" cy="0"/>
          </a:xfrm>
          <a:prstGeom prst="line">
            <a:avLst/>
          </a:prstGeom>
          <a:ln w="28575">
            <a:solidFill>
              <a:srgbClr val="17795F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8314181" y="1883664"/>
            <a:ext cx="0" cy="310896"/>
          </a:xfrm>
          <a:prstGeom prst="line">
            <a:avLst/>
          </a:prstGeom>
          <a:ln w="28575">
            <a:solidFill>
              <a:srgbClr val="17795F"/>
            </a:solidFill>
          </a:ln>
        </p:spPr>
      </p:cxnSp>
      <p:cxnSp>
        <p:nvCxnSpPr>
          <p:cNvPr id="61" name="Connector 60"/>
          <p:cNvCxnSpPr/>
          <p:nvPr/>
        </p:nvCxnSpPr>
        <p:spPr>
          <a:xfrm>
            <a:off x="8314181" y="1883664"/>
            <a:ext cx="296266" cy="0"/>
          </a:xfrm>
          <a:prstGeom prst="line">
            <a:avLst/>
          </a:prstGeom>
          <a:ln w="28575">
            <a:solidFill>
              <a:srgbClr val="17795F"/>
            </a:solidFill>
          </a:ln>
        </p:spPr>
      </p:cxnSp>
      <p:cxnSp>
        <p:nvCxnSpPr>
          <p:cNvPr id="62" name="Connector 61"/>
          <p:cNvCxnSpPr/>
          <p:nvPr/>
        </p:nvCxnSpPr>
        <p:spPr>
          <a:xfrm>
            <a:off x="7359548" y="1956816"/>
            <a:ext cx="16459" cy="164592"/>
          </a:xfrm>
          <a:prstGeom prst="line">
            <a:avLst/>
          </a:prstGeom>
          <a:ln w="9525">
            <a:solidFill>
              <a:srgbClr val="40708B"/>
            </a:solidFill>
            <a:tailEnd type="triangle" w="med" len="med"/>
          </a:ln>
        </p:spPr>
      </p:cxnSp>
      <p:cxnSp>
        <p:nvCxnSpPr>
          <p:cNvPr id="63" name="Connector 62"/>
          <p:cNvCxnSpPr/>
          <p:nvPr/>
        </p:nvCxnSpPr>
        <p:spPr>
          <a:xfrm flipV="1">
            <a:off x="8314181" y="1956816"/>
            <a:ext cx="16460" cy="164592"/>
          </a:xfrm>
          <a:prstGeom prst="line">
            <a:avLst/>
          </a:prstGeom>
          <a:ln w="9525">
            <a:solidFill>
              <a:srgbClr val="40708B"/>
            </a:solidFill>
            <a:tailEnd type="triangle" w="med" len="med"/>
          </a:ln>
        </p:spPr>
      </p:cxnSp>
      <p:cxnSp>
        <p:nvCxnSpPr>
          <p:cNvPr id="64" name="Connector 63"/>
          <p:cNvCxnSpPr/>
          <p:nvPr/>
        </p:nvCxnSpPr>
        <p:spPr>
          <a:xfrm flipV="1">
            <a:off x="7277252" y="1956816"/>
            <a:ext cx="65837" cy="475488"/>
          </a:xfrm>
          <a:prstGeom prst="line">
            <a:avLst/>
          </a:prstGeom>
          <a:ln w="9525">
            <a:solidFill>
              <a:srgbClr val="40708B"/>
            </a:solidFill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6397599" y="2670048"/>
            <a:ext cx="221284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━ 关键路径</a:t>
            </a:r>
            <a:r>
              <a:rPr sz="6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→ event 依赖边　任意多条 stream 同理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11615" y="1645920"/>
            <a:ext cx="2703423" cy="16093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多条 stream 并行时各类之和大于墙钟，按和排序会把被遮住的类排到前面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解法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用 event 依赖还原 step 内 DAG，求关键路径；kernel 时长拆成「在路径上 / 被遮蔽」，只按前者排序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474720"/>
            <a:ext cx="5446623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" y="3474720"/>
            <a:ext cx="64008" cy="2048256"/>
          </a:xfrm>
          <a:prstGeom prst="rect">
            <a:avLst/>
          </a:prstGeom>
          <a:solidFill>
            <a:srgbClr val="C257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3566160"/>
            <a:ext cx="511743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C  融合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" y="3931920"/>
            <a:ext cx="841248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profile 003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11679" y="3931920"/>
            <a:ext cx="841248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profile 004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" y="4151376"/>
            <a:ext cx="841248" cy="219456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attn  4.02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9536" y="4425696"/>
            <a:ext cx="841248" cy="219456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rope  1.21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" y="4700016"/>
            <a:ext cx="841248" cy="219456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norm  0.60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79" y="4151376"/>
            <a:ext cx="841248" cy="493776"/>
          </a:xfrm>
          <a:prstGeom prst="rect">
            <a:avLst/>
          </a:prstGeom>
          <a:solidFill>
            <a:srgbClr val="0F62CE"/>
          </a:solidFill>
          <a:ln w="19050">
            <a:solidFill>
              <a:srgbClr val="17795F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attn+rope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4.33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79" y="4700016"/>
            <a:ext cx="841248" cy="219456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norm  0.60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728216" y="4261104"/>
            <a:ext cx="256032" cy="137160"/>
          </a:xfrm>
          <a:prstGeom prst="line">
            <a:avLst/>
          </a:prstGeom>
          <a:ln w="15875">
            <a:solidFill>
              <a:srgbClr val="17795F"/>
            </a:solidFill>
            <a:tailEnd type="triangle" w="med" len="med"/>
          </a:ln>
        </p:spPr>
      </p:cxnSp>
      <p:cxnSp>
        <p:nvCxnSpPr>
          <p:cNvPr id="78" name="Connector 77"/>
          <p:cNvCxnSpPr/>
          <p:nvPr/>
        </p:nvCxnSpPr>
        <p:spPr>
          <a:xfrm flipV="1">
            <a:off x="1728216" y="4398264"/>
            <a:ext cx="256032" cy="137160"/>
          </a:xfrm>
          <a:prstGeom prst="line">
            <a:avLst/>
          </a:prstGeom>
          <a:ln w="15875">
            <a:solidFill>
              <a:srgbClr val="17795F"/>
            </a:solidFill>
            <a:tailEnd type="triangle" w="med" len="med"/>
          </a:ln>
        </p:spPr>
      </p:cxnSp>
      <p:cxnSp>
        <p:nvCxnSpPr>
          <p:cNvPr id="79" name="Connector 78"/>
          <p:cNvCxnSpPr/>
          <p:nvPr/>
        </p:nvCxnSpPr>
        <p:spPr>
          <a:xfrm>
            <a:off x="1728216" y="4809744"/>
            <a:ext cx="256032" cy="0"/>
          </a:xfrm>
          <a:prstGeom prst="line">
            <a:avLst/>
          </a:prstGeom>
          <a:ln w="9525">
            <a:solidFill>
              <a:srgbClr val="7FA4BA"/>
            </a:solidFill>
            <a:prstDash val="dash"/>
          </a:ln>
        </p:spPr>
      </p:cxnSp>
      <p:sp>
        <p:nvSpPr>
          <p:cNvPr id="80" name="TextBox 79"/>
          <p:cNvSpPr txBox="1"/>
          <p:nvPr/>
        </p:nvSpPr>
        <p:spPr>
          <a:xfrm>
            <a:off x="749808" y="4956048"/>
            <a:ext cx="221284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合并粒度比对：</a:t>
            </a:r>
            <a:r>
              <a:rPr sz="6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(attn+rope) 5.23 → 4.33 = −0.90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808" y="5138928"/>
            <a:ext cx="221284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绿边 = 谱系边</a:t>
            </a:r>
            <a:r>
              <a:rPr sz="6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（成员 → 复合 key）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63824" y="3877056"/>
            <a:ext cx="2703423" cy="16093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RoPE 融进 attention 后 rope 归零、attn 变大，两轮账逐类对不上；而每轮迭代都在融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解法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类别带谱系：融合 kernel 记复合 key 并声明成员，跨轮在最小公共划分上比对；下界按融合后算子重算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96431" y="3474720"/>
            <a:ext cx="5446623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6431" y="3474720"/>
            <a:ext cx="64008" cy="2048256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97599" y="3566160"/>
            <a:ext cx="511743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D  多卡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97599" y="4014216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964527" y="4133088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88" name="Rectangle 87"/>
          <p:cNvSpPr/>
          <p:nvPr/>
        </p:nvSpPr>
        <p:spPr>
          <a:xfrm>
            <a:off x="7063282" y="4059936"/>
            <a:ext cx="493776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57058" y="4059936"/>
            <a:ext cx="460857" cy="146304"/>
          </a:xfrm>
          <a:prstGeom prst="rect">
            <a:avLst/>
          </a:prstGeom>
          <a:solidFill>
            <a:srgbClr val="F0C9A8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等待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17916" y="4059936"/>
            <a:ext cx="197510" cy="14630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31886" y="4059936"/>
            <a:ext cx="213969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97599" y="4343400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rank 3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964527" y="4462272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94" name="Rectangle 93"/>
          <p:cNvSpPr/>
          <p:nvPr/>
        </p:nvSpPr>
        <p:spPr>
          <a:xfrm>
            <a:off x="7112660" y="4389120"/>
            <a:ext cx="592531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05191" y="4389120"/>
            <a:ext cx="312724" cy="146304"/>
          </a:xfrm>
          <a:prstGeom prst="rect">
            <a:avLst/>
          </a:prstGeom>
          <a:solidFill>
            <a:srgbClr val="F0C9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17916" y="4389120"/>
            <a:ext cx="197510" cy="14630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31886" y="4389120"/>
            <a:ext cx="213969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97599" y="4672584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rank 5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964527" y="4791456"/>
            <a:ext cx="164592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00" name="Rectangle 99"/>
          <p:cNvSpPr/>
          <p:nvPr/>
        </p:nvSpPr>
        <p:spPr>
          <a:xfrm>
            <a:off x="6997445" y="4718304"/>
            <a:ext cx="888796" cy="146304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expert_gemm +1.1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86242" y="4718304"/>
            <a:ext cx="131673" cy="146304"/>
          </a:xfrm>
          <a:prstGeom prst="rect">
            <a:avLst/>
          </a:prstGeom>
          <a:solidFill>
            <a:srgbClr val="F0C9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17916" y="4718304"/>
            <a:ext cx="197510" cy="14630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9144" tIns="0" rIns="914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31886" y="4718304"/>
            <a:ext cx="213969" cy="1463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8215426" y="3968496"/>
            <a:ext cx="0" cy="987552"/>
          </a:xfrm>
          <a:prstGeom prst="line">
            <a:avLst/>
          </a:prstGeom>
          <a:ln w="19050">
            <a:solidFill>
              <a:srgbClr val="17795F"/>
            </a:solidFill>
            <a:prstDash val="dash"/>
          </a:ln>
        </p:spPr>
      </p:cxnSp>
      <p:sp>
        <p:nvSpPr>
          <p:cNvPr id="105" name="TextBox 104"/>
          <p:cNvSpPr txBox="1"/>
          <p:nvPr/>
        </p:nvSpPr>
        <p:spPr>
          <a:xfrm>
            <a:off x="7301026" y="4937760"/>
            <a:ext cx="182880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锚：每步一次轻量 barrier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97599" y="5138928"/>
            <a:ext cx="221284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join key = (step 号, 集合序号)</a:t>
            </a:r>
            <a:r>
              <a:rPr sz="6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不用墙钟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11615" y="3877056"/>
            <a:ext cx="2703423" cy="16093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各 rank 步不对齐、跨节点时钟有偏移；通信 kernel 里混着等慢 rank 的时间，会把不均衡误判成通信慢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解法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按 (step 号, 集合序号) 对齐，跨节点每步注入一次轻量 barrier 做锚；通信 = 传输 + 等待，传输取字节/带宽下界，等待记到最晚到的 rank 及其超出中位数最多的类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5687568"/>
            <a:ext cx="11094415" cy="731520"/>
          </a:xfrm>
          <a:prstGeom prst="rect">
            <a:avLst/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8640" y="5687568"/>
            <a:ext cx="64008" cy="731520"/>
          </a:xfrm>
          <a:prstGeom prst="rect">
            <a:avLst/>
          </a:prstGeom>
          <a:solidFill>
            <a:srgbClr val="1B4D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9808" y="5687568"/>
            <a:ext cx="96012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任一不过，账本不出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37360" y="5742432"/>
            <a:ext cx="1834835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守恒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并集 + 空泡 = 墙钟；关键路径 = 墙钟；合并组前后总量不变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18499" y="5742432"/>
            <a:ext cx="1834835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下界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每类实测 ≥ 物理下界，比值 &lt; 0.9 判账错并隔离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99638" y="5742432"/>
            <a:ext cx="1834835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扰动注入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给某类人为加已知时长，账本须在该类找回 ≥ 95%，其余类漂移 &lt; 1%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80777" y="5742432"/>
            <a:ext cx="1834835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干预对照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开 graph 后 launch 空泡应归零，关 overlap 后遮蔽应归零——分类错了就露馅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61916" y="5742432"/>
            <a:ext cx="1834835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多卡一致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各 rank 每步墙钟一致、锚点离散 &lt; 20 μs；单 rank 账 + 等待 = 跨 rank 关键路径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