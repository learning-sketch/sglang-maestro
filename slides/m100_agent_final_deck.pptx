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设计方案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规划器只提方案，取证、建版与判决全部由确定性的控制器完成；编号 1–8 对应上一页八步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298448"/>
            <a:ext cx="10637215" cy="420624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457200" cy="420624"/>
          </a:xfrm>
          <a:prstGeom prst="rect">
            <a:avLst/>
          </a:prstGeom>
          <a:solidFill>
            <a:srgbClr val="1B4D69"/>
          </a:solidFill>
          <a:ln w="19050">
            <a:solidFill>
              <a:srgbClr val="FFFFF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三处介入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53312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1B4D69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定并冻结任务合同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4972" y="1353312"/>
            <a:ext cx="1883664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1B4D69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协同复杂改动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同样要过四道门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353312"/>
            <a:ext cx="10972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1B4D69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验收最优版本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93392"/>
            <a:ext cx="17099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29968"/>
            <a:ext cx="1563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任务合同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冻结 · 哈希校验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304288"/>
            <a:ext cx="1490472" cy="192024"/>
          </a:xfrm>
          <a:prstGeom prst="roundRect">
            <a:avLst>
              <a:gd name="adj" fmla="val 50000"/>
            </a:avLst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· 精度 · 负载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32888"/>
            <a:ext cx="1490472" cy="192024"/>
          </a:xfrm>
          <a:prstGeom prst="roundRect">
            <a:avLst>
              <a:gd name="adj" fmla="val 50000"/>
            </a:avLst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门限 · 预算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61488"/>
            <a:ext cx="1490472" cy="192024"/>
          </a:xfrm>
          <a:prstGeom prst="roundRect">
            <a:avLst>
              <a:gd name="adj" fmla="val 50000"/>
            </a:avLst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探针 · MMStar60 基准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14600" y="1993392"/>
            <a:ext cx="5989320" cy="1005840"/>
          </a:xfrm>
          <a:prstGeom prst="roundRect">
            <a:avLst>
              <a:gd name="adj" fmla="val 7272"/>
            </a:avLst>
          </a:prstGeom>
          <a:solidFill>
            <a:srgbClr val="FBE6D4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42616" y="2020824"/>
            <a:ext cx="57332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外部 Agent · 经 URL 接入，可长跑 · 全系统唯一用大模型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24328" y="2295144"/>
            <a:ext cx="304495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 wrap="square" lIns="32918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 Agent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读源码与证据，提出假设与补丁</a:t>
            </a:r>
          </a:p>
        </p:txBody>
      </p:sp>
      <p:sp>
        <p:nvSpPr>
          <p:cNvPr id="19" name="Oval 18"/>
          <p:cNvSpPr/>
          <p:nvPr/>
        </p:nvSpPr>
        <p:spPr>
          <a:xfrm>
            <a:off x="2697480" y="2340864"/>
            <a:ext cx="219456" cy="219456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2295144"/>
            <a:ext cx="263347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skills 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按需检索，每轮 ≤ 2 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2660904"/>
            <a:ext cx="4325112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信箱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请求与回复逐条校验 ID · SHA · 格式，全部落盘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660904"/>
            <a:ext cx="1353312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记忆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摘要 + 被拒原因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83280"/>
            <a:ext cx="11094415" cy="1975104"/>
          </a:xfrm>
          <a:prstGeom prst="roundRect">
            <a:avLst>
              <a:gd name="adj" fmla="val 4629"/>
            </a:avLst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419856"/>
            <a:ext cx="108018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确定性 · 无大模型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调度状态机：设备锁 · 断点恢复 · 全部落盘 · 生成报告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40965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3794760"/>
            <a:ext cx="45720" cy="146304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730752"/>
            <a:ext cx="380390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取证分析（证据层）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" y="4078224"/>
            <a:ext cx="1170432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+ 专家路由</a:t>
            </a:r>
          </a:p>
        </p:txBody>
      </p:sp>
      <p:sp>
        <p:nvSpPr>
          <p:cNvPr id="29" name="Oval 28"/>
          <p:cNvSpPr/>
          <p:nvPr/>
        </p:nvSpPr>
        <p:spPr>
          <a:xfrm>
            <a:off x="704088" y="3995928"/>
            <a:ext cx="219456" cy="219456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39696" y="4078224"/>
            <a:ext cx="1170432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kernel 对齐到源码</a:t>
            </a:r>
          </a:p>
        </p:txBody>
      </p:sp>
      <p:sp>
        <p:nvSpPr>
          <p:cNvPr id="31" name="Oval 30"/>
          <p:cNvSpPr/>
          <p:nvPr/>
        </p:nvSpPr>
        <p:spPr>
          <a:xfrm>
            <a:off x="2057400" y="3995928"/>
            <a:ext cx="219456" cy="219456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84248" y="4334256"/>
            <a:ext cx="12801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3493008" y="4078224"/>
            <a:ext cx="1170432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 账本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下界 · 差距倍数</a:t>
            </a:r>
          </a:p>
        </p:txBody>
      </p:sp>
      <p:sp>
        <p:nvSpPr>
          <p:cNvPr id="34" name="Oval 33"/>
          <p:cNvSpPr/>
          <p:nvPr/>
        </p:nvSpPr>
        <p:spPr>
          <a:xfrm>
            <a:off x="3410712" y="3995928"/>
            <a:ext cx="219456" cy="219456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37560" y="4334256"/>
            <a:ext cx="12801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49808" y="4700016"/>
            <a:ext cx="9235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硬件天花板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带宽与算力上限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46504" y="4700016"/>
            <a:ext cx="9235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账本自检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&lt; 0.9 即隔离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4700016"/>
            <a:ext cx="9235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瓶颈排序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按可压缩空间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39896" y="4700016"/>
            <a:ext cx="9235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probe 诊断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证据不足时补测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3730752"/>
            <a:ext cx="25603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47488" y="3794760"/>
            <a:ext cx="45720" cy="1463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57216" y="3730752"/>
            <a:ext cx="2267712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落地：建版与服务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65776" y="4078224"/>
            <a:ext cx="1078991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7FA4BA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校验提案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ID · SHA · 证据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27648" y="4078224"/>
            <a:ext cx="1078991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建版构建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 · 隔离补丁</a:t>
            </a:r>
          </a:p>
        </p:txBody>
      </p:sp>
      <p:sp>
        <p:nvSpPr>
          <p:cNvPr id="45" name="Oval 44"/>
          <p:cNvSpPr/>
          <p:nvPr/>
        </p:nvSpPr>
        <p:spPr>
          <a:xfrm>
            <a:off x="6245352" y="3995928"/>
            <a:ext cx="219456" cy="219456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72200" y="4334256"/>
            <a:ext cx="12801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7" name="Rounded Rectangle 46"/>
          <p:cNvSpPr/>
          <p:nvPr/>
        </p:nvSpPr>
        <p:spPr>
          <a:xfrm>
            <a:off x="5029200" y="4700016"/>
            <a:ext cx="1152143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核对库 SHA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不符则精确重测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54496" y="4700016"/>
            <a:ext cx="1152143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服务与压测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起停 · 3 次取中位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3730752"/>
            <a:ext cx="3852367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90688" y="3794760"/>
            <a:ext cx="45720" cy="1463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00416" y="3730752"/>
            <a:ext cx="355975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判决：四道门，由快到慢、一票否决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08976" y="4078224"/>
            <a:ext cx="812215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单算子初筛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≥ 2%</a:t>
            </a:r>
          </a:p>
        </p:txBody>
      </p:sp>
      <p:sp>
        <p:nvSpPr>
          <p:cNvPr id="53" name="Oval 52"/>
          <p:cNvSpPr/>
          <p:nvPr/>
        </p:nvSpPr>
        <p:spPr>
          <a:xfrm>
            <a:off x="7726680" y="3995928"/>
            <a:ext cx="219456" cy="219456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49207" y="4078224"/>
            <a:ext cx="812215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数值误差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≤ 0.03</a:t>
            </a:r>
          </a:p>
        </p:txBody>
      </p:sp>
      <p:sp>
        <p:nvSpPr>
          <p:cNvPr id="55" name="Oval 54"/>
          <p:cNvSpPr/>
          <p:nvPr/>
        </p:nvSpPr>
        <p:spPr>
          <a:xfrm>
            <a:off x="8666911" y="3995928"/>
            <a:ext cx="219456" cy="219456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648623" y="4334256"/>
            <a:ext cx="73152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57" name="Rounded Rectangle 56"/>
          <p:cNvSpPr/>
          <p:nvPr/>
        </p:nvSpPr>
        <p:spPr>
          <a:xfrm>
            <a:off x="9689439" y="4078224"/>
            <a:ext cx="812215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图文质量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正确率不降</a:t>
            </a:r>
          </a:p>
        </p:txBody>
      </p:sp>
      <p:sp>
        <p:nvSpPr>
          <p:cNvPr id="58" name="Oval 57"/>
          <p:cNvSpPr/>
          <p:nvPr/>
        </p:nvSpPr>
        <p:spPr>
          <a:xfrm>
            <a:off x="9607143" y="3995928"/>
            <a:ext cx="219456" cy="219456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588855" y="4334256"/>
            <a:ext cx="73152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0629671" y="4078224"/>
            <a:ext cx="812215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28016" tIns="18288" rIns="36576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 A/B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超出噪声</a:t>
            </a:r>
          </a:p>
        </p:txBody>
      </p:sp>
      <p:sp>
        <p:nvSpPr>
          <p:cNvPr id="61" name="Oval 60"/>
          <p:cNvSpPr/>
          <p:nvPr/>
        </p:nvSpPr>
        <p:spPr>
          <a:xfrm>
            <a:off x="10547375" y="3995928"/>
            <a:ext cx="219456" cy="219456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529087" y="4334256"/>
            <a:ext cx="73152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63" name="Rounded Rectangle 62"/>
          <p:cNvSpPr/>
          <p:nvPr/>
        </p:nvSpPr>
        <p:spPr>
          <a:xfrm>
            <a:off x="7772400" y="4700016"/>
            <a:ext cx="117439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任一不过，原因进记忆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19946" y="4700016"/>
            <a:ext cx="117439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叠加入包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小收益先攒，整包验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67492" y="4700016"/>
            <a:ext cx="117439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晋升新基线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全部通过，回到 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434071" y="4334256"/>
            <a:ext cx="347473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1417319" y="5742432"/>
            <a:ext cx="10225735" cy="475488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" y="5742432"/>
            <a:ext cx="868680" cy="475488"/>
          </a:xfrm>
          <a:prstGeom prst="rect">
            <a:avLst/>
          </a:prstGeom>
          <a:solidFill>
            <a:srgbClr val="40708B"/>
          </a:solidFill>
          <a:ln w="19050">
            <a:solidFill>
              <a:srgbClr val="FFFFF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被测系统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554479" y="5815584"/>
            <a:ext cx="228211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A4BA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SGLang 原仓库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0913" y="5815584"/>
            <a:ext cx="228211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A4BA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xInfer / xtorch_ops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667347" y="5815584"/>
            <a:ext cx="228211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A4BA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登记的独立算子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23781" y="5815584"/>
            <a:ext cx="228211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A4BA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M100 真机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737360" y="1746504"/>
            <a:ext cx="0" cy="219456"/>
          </a:xfrm>
          <a:prstGeom prst="line">
            <a:avLst/>
          </a:prstGeom>
          <a:ln w="19050">
            <a:solidFill>
              <a:srgbClr val="1B4D69"/>
            </a:solidFill>
            <a:tailEnd type="triangle" w="med" len="med"/>
          </a:ln>
        </p:spPr>
      </p:cxnSp>
      <p:cxnSp>
        <p:nvCxnSpPr>
          <p:cNvPr id="74" name="Connector 73"/>
          <p:cNvCxnSpPr/>
          <p:nvPr/>
        </p:nvCxnSpPr>
        <p:spPr>
          <a:xfrm>
            <a:off x="4146804" y="1746504"/>
            <a:ext cx="0" cy="219456"/>
          </a:xfrm>
          <a:prstGeom prst="line">
            <a:avLst/>
          </a:prstGeom>
          <a:ln w="19050">
            <a:solidFill>
              <a:srgbClr val="1B4D69"/>
            </a:solidFill>
            <a:headEnd type="triangle" w="med" len="med"/>
            <a:tailEnd type="triangle" w="med" len="med"/>
          </a:ln>
        </p:spPr>
      </p:cxnSp>
      <p:cxnSp>
        <p:nvCxnSpPr>
          <p:cNvPr id="75" name="Connector 74"/>
          <p:cNvCxnSpPr/>
          <p:nvPr/>
        </p:nvCxnSpPr>
        <p:spPr>
          <a:xfrm flipV="1">
            <a:off x="10607040" y="1746504"/>
            <a:ext cx="0" cy="1609344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10122408" y="2395728"/>
            <a:ext cx="9692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报告 + 最优版本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403604" y="3026664"/>
            <a:ext cx="0" cy="32918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2926080" y="3026664"/>
            <a:ext cx="0" cy="329184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79" name="Connector 78"/>
          <p:cNvCxnSpPr/>
          <p:nvPr/>
        </p:nvCxnSpPr>
        <p:spPr>
          <a:xfrm>
            <a:off x="4201668" y="3026664"/>
            <a:ext cx="0" cy="329184"/>
          </a:xfrm>
          <a:prstGeom prst="line">
            <a:avLst/>
          </a:prstGeom>
          <a:ln w="15875">
            <a:solidFill>
              <a:srgbClr val="D2690C"/>
            </a:solidFill>
            <a:prstDash val="dash"/>
            <a:tailEnd type="triangle" w="med" len="med"/>
          </a:ln>
        </p:spPr>
      </p:cxnSp>
      <p:cxnSp>
        <p:nvCxnSpPr>
          <p:cNvPr id="80" name="Connector 79"/>
          <p:cNvCxnSpPr/>
          <p:nvPr/>
        </p:nvCxnSpPr>
        <p:spPr>
          <a:xfrm>
            <a:off x="5605272" y="3026664"/>
            <a:ext cx="0" cy="32918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81" name="Connector 80"/>
          <p:cNvCxnSpPr/>
          <p:nvPr/>
        </p:nvCxnSpPr>
        <p:spPr>
          <a:xfrm flipV="1">
            <a:off x="8092440" y="3026664"/>
            <a:ext cx="0" cy="329184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82" name="Rounded Rectangle 81"/>
          <p:cNvSpPr/>
          <p:nvPr/>
        </p:nvSpPr>
        <p:spPr>
          <a:xfrm>
            <a:off x="1092708" y="3090672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冻结配置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377440" y="3090672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账本 + 瓶颈 + 证据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17620" y="3090672"/>
            <a:ext cx="76809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申请 probe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956048" y="3090672"/>
            <a:ext cx="129844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假设 + 补丁 + 证据引用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81544" y="3090672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被拒原因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2057400" y="5385816"/>
            <a:ext cx="0" cy="32918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1609344" y="5449824"/>
            <a:ext cx="89611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+ 路由</a:t>
            </a:r>
          </a:p>
        </p:txBody>
      </p:sp>
      <p:cxnSp>
        <p:nvCxnSpPr>
          <p:cNvPr id="89" name="Connector 88"/>
          <p:cNvCxnSpPr/>
          <p:nvPr/>
        </p:nvCxnSpPr>
        <p:spPr>
          <a:xfrm flipV="1">
            <a:off x="7086600" y="5385816"/>
            <a:ext cx="0" cy="32918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90" name="Rounded Rectangle 89"/>
          <p:cNvSpPr/>
          <p:nvPr/>
        </p:nvSpPr>
        <p:spPr>
          <a:xfrm>
            <a:off x="6784848" y="5449824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库 SHA</a:t>
            </a:r>
          </a:p>
        </p:txBody>
      </p:sp>
      <p:cxnSp>
        <p:nvCxnSpPr>
          <p:cNvPr id="91" name="Connector 90"/>
          <p:cNvCxnSpPr/>
          <p:nvPr/>
        </p:nvCxnSpPr>
        <p:spPr>
          <a:xfrm flipV="1">
            <a:off x="9601200" y="5385816"/>
            <a:ext cx="0" cy="32918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92" name="Rounded Rectangle 91"/>
          <p:cNvSpPr/>
          <p:nvPr/>
        </p:nvSpPr>
        <p:spPr>
          <a:xfrm>
            <a:off x="8979408" y="5449824"/>
            <a:ext cx="124358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数值 · 质量 · 吞吐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52160" y="5385816"/>
            <a:ext cx="0" cy="329184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94" name="Rounded Rectangle 93"/>
          <p:cNvSpPr/>
          <p:nvPr/>
        </p:nvSpPr>
        <p:spPr>
          <a:xfrm>
            <a:off x="5102352" y="5449824"/>
            <a:ext cx="14996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补丁 · 构建 · 起停服务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