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模型适配调优，是生态建设的关键成本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开源模型按天迭代，优化适配按月交付——生态跟进存在效率差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35024"/>
            <a:ext cx="4498848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35024"/>
            <a:ext cx="4498848" cy="50292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81328"/>
            <a:ext cx="404164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模型侧：高频上新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38528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多模型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3664" y="1938528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主流模型持续更新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Qwen · DeepSeek · Kimi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706624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新架构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83664" y="2706624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模型结构与计算精度持续演进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MoE、多模态、低比特量化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474720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快迭代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3664" y="3474720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开源社区实现快速演进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推理框架与底层算子需同步跟进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92824" y="1335024"/>
            <a:ext cx="4498848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92824" y="1335024"/>
            <a:ext cx="4498848" cy="5029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67144" y="1481328"/>
            <a:ext cx="404164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适配侧：链路冗长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7144" y="1938528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7848" y="1938528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从启动到精度、性能达标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跨层排查，依赖工程经验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7144" y="2706624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7848" y="2706624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框架特性与算子缺口逐项补齐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算子缺少实现或路径不匹配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7144" y="3474720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复验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7848" y="3474720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每次改动均需全流程重新验证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人工回归重复度高，调优经验难以沉淀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65495" y="2642615"/>
            <a:ext cx="1060704" cy="384048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迭代压力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535424"/>
            <a:ext cx="1109441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芯片竞争力取决于硬件能力、软件成熟度与模型覆盖度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864608"/>
            <a:ext cx="1109441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硬件能力在发布那天就定型，模型覆盖度每天被社区改写——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适配效率直接决定了硬件算力能否及时转化为业务价值。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358384"/>
            <a:ext cx="11094415" cy="78638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5358384"/>
            <a:ext cx="73152" cy="78638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" y="5449824"/>
            <a:ext cx="10436047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唯　</a:t>
            </a: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有大幅降低单模型适配成本，才能持续扩大模型生态覆盖面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797296"/>
            <a:ext cx="1043604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把重复的排查、评测与调优工作，沉淀为可复用的自动化 Agent 流水线。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38647" y="2779776"/>
            <a:ext cx="914400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072384"/>
            <a:ext cx="11094415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如何把 M100 上模型适配的成本打下来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昆仑芯 M100 软件栈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聚焦两大核心任务：</a:t>
            </a:r>
            <a:r>
              <a:rPr sz="12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模型</a:t>
            </a: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适配调优、</a:t>
            </a:r>
            <a:r>
              <a:rPr sz="12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算子</a:t>
            </a: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补齐提速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1727" y="1216152"/>
            <a:ext cx="128016" cy="12801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62895" y="1152144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Agent 直接参与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75103" y="1463040"/>
            <a:ext cx="9667951" cy="1335024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57984" y="1335024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模型层的工作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45920"/>
            <a:ext cx="1298448" cy="694944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645920"/>
            <a:ext cx="1298448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框架与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推理库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21408" y="1645920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21408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SGLang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42967" y="1645920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296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vLLM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64527" y="1645920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6452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FlashInfer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推理内核库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86087" y="1645920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8608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XInfer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7984" y="2395728"/>
            <a:ext cx="952164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模型接入 · 服务验证 · 按实测调优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75103" y="3621024"/>
            <a:ext cx="9667951" cy="1335024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157984" y="3493008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算子层的工作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803904"/>
            <a:ext cx="1298448" cy="694944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803904"/>
            <a:ext cx="1298448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21408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21408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XPU Math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42967" y="3803904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4296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XCN_ATEN_OPS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64527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6452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XHPC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XBLAS / XPUDNN / XFA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86087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8608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XCCL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57984" y="4553712"/>
            <a:ext cx="952164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算子缺口补齐 · 生成与调优 · 真机验证收益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2871216"/>
            <a:ext cx="1298448" cy="566928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2871216"/>
            <a:ext cx="129844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深度学习框架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08" y="2871216"/>
            <a:ext cx="9521647" cy="566928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21408" y="2871216"/>
            <a:ext cx="952164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PyTorch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029200"/>
            <a:ext cx="1298448" cy="731520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029200"/>
            <a:ext cx="1298448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编译器 · 运行时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硬件与驱动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121408" y="5029200"/>
            <a:ext cx="9521647" cy="731520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121408" y="5029200"/>
            <a:ext cx="9521647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XCUDA（XTDK）　·　xTriton　·　XPU Runtime &amp; Driver　·　昆仑芯 M100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总体方案（写判分离 · 双层同构 · 跨层闭环）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两层架构同构——Agent 仅负责生成优化方案，准入判定完全交由固定规则与真机实测；核心差异在于评测粒度。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1554480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261872"/>
            <a:ext cx="128016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层级定位</a:t>
            </a:r>
          </a:p>
        </p:txBody>
      </p:sp>
      <p:sp>
        <p:nvSpPr>
          <p:cNvPr id="8" name="Rectangle 7"/>
          <p:cNvSpPr/>
          <p:nvPr/>
        </p:nvSpPr>
        <p:spPr>
          <a:xfrm>
            <a:off x="2212848" y="1225296"/>
            <a:ext cx="1792224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59152" y="1261872"/>
            <a:ext cx="1517904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①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任务输入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42816" y="1225296"/>
            <a:ext cx="2670048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42816" y="1225296"/>
            <a:ext cx="2670048" cy="45720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261872"/>
            <a:ext cx="239572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②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AI 生成侧（写）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唯一引入大模型的位置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0608" y="1225296"/>
            <a:ext cx="2852928" cy="47548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1225296"/>
            <a:ext cx="2852928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96912" y="1261872"/>
            <a:ext cx="25786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③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确定性验证侧（判）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纯规则驱动 · 真机实测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41280" y="1225296"/>
            <a:ext cx="1389888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87584" y="1261872"/>
            <a:ext cx="111556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④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准入出口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1755648"/>
            <a:ext cx="11094415" cy="14813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1755648"/>
            <a:ext cx="64008" cy="148132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2029967"/>
            <a:ext cx="1225295" cy="93268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【模型层】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model-agent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模型接入与性能调优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12848" y="2103120"/>
            <a:ext cx="179222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59152" y="2157984"/>
            <a:ext cx="1426464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人：定目标与边界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负载 / 精度 / 预算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050791" y="2633472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24" name="Rectangle 23"/>
          <p:cNvSpPr/>
          <p:nvPr/>
        </p:nvSpPr>
        <p:spPr>
          <a:xfrm>
            <a:off x="4242816" y="2103120"/>
            <a:ext cx="267004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42816" y="2103120"/>
            <a:ext cx="64008" cy="10607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62272" y="2157984"/>
            <a:ext cx="230428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生成接入、优化方案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服务配置与图融合补丁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58583" y="2633472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28" name="Rectangle 27"/>
          <p:cNvSpPr/>
          <p:nvPr/>
        </p:nvSpPr>
        <p:spPr>
          <a:xfrm>
            <a:off x="7150608" y="2103120"/>
            <a:ext cx="285292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50608" y="2103120"/>
            <a:ext cx="64008" cy="106070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70064" y="2157984"/>
            <a:ext cx="248716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整模型真机端到端验收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输出对齐 · 质量不降 · 吞吐提升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049256" y="2633472"/>
            <a:ext cx="146303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32" name="Rectangle 31"/>
          <p:cNvSpPr/>
          <p:nvPr/>
        </p:nvSpPr>
        <p:spPr>
          <a:xfrm>
            <a:off x="10241280" y="2103120"/>
            <a:ext cx="138988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387584" y="2157984"/>
            <a:ext cx="102412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判断交付</a:t>
            </a:r>
          </a:p>
        </p:txBody>
      </p:sp>
      <p:sp>
        <p:nvSpPr>
          <p:cNvPr id="34" name="Freeform 33"/>
          <p:cNvSpPr/>
          <p:nvPr/>
        </p:nvSpPr>
        <p:spPr>
          <a:xfrm>
            <a:off x="5577840" y="2011680"/>
            <a:ext cx="2999232" cy="91440"/>
          </a:xfrm>
          <a:custGeom>
            <a:avLst/>
            <a:gdLst/>
            <a:ahLst/>
            <a:cxnLst/>
            <a:rect l="l" t="t" r="r" b="b"/>
            <a:pathLst>
              <a:path w="2999232" h="91440">
                <a:moveTo>
                  <a:pt x="2999232" y="91440"/>
                </a:moveTo>
                <a:lnTo>
                  <a:pt x="2999232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5577840" y="2011680"/>
            <a:ext cx="0" cy="73151"/>
          </a:xfrm>
          <a:prstGeom prst="line">
            <a:avLst/>
          </a:prstGeom>
          <a:ln w="15875">
            <a:solidFill>
              <a:srgbClr val="D2690C"/>
            </a:solidFill>
            <a:tailEnd type="triangle" w="med" len="med"/>
          </a:ln>
        </p:spPr>
      </p:cxnSp>
      <p:sp>
        <p:nvSpPr>
          <p:cNvPr id="36" name="TextBox 35"/>
          <p:cNvSpPr txBox="1"/>
          <p:nvPr/>
        </p:nvSpPr>
        <p:spPr>
          <a:xfrm>
            <a:off x="5614416" y="1783080"/>
            <a:ext cx="29260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✕　不过即回退，带着原因退回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114800"/>
            <a:ext cx="11094415" cy="14813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4114800"/>
            <a:ext cx="64008" cy="148132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4389120"/>
            <a:ext cx="1225295" cy="93268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【算子层】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xpugen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面向 M100 自动生成算子实现并调优，提升aten算子的覆盖泛化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12848" y="4462272"/>
            <a:ext cx="179222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59152" y="4517136"/>
            <a:ext cx="1426464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算子规格与约束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目标 Shape 与硬件规格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50791" y="4992624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3" name="Rectangle 42"/>
          <p:cNvSpPr/>
          <p:nvPr/>
        </p:nvSpPr>
        <p:spPr>
          <a:xfrm>
            <a:off x="4242816" y="4462272"/>
            <a:ext cx="267004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42816" y="4462272"/>
            <a:ext cx="64008" cy="10607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62272" y="4517136"/>
            <a:ext cx="230428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基于已有skills优化算子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生成并调优 Kernel 代码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958583" y="4992624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7" name="Rectangle 46"/>
          <p:cNvSpPr/>
          <p:nvPr/>
        </p:nvSpPr>
        <p:spPr>
          <a:xfrm>
            <a:off x="7150608" y="4462272"/>
            <a:ext cx="285292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150608" y="4462272"/>
            <a:ext cx="64008" cy="106070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70064" y="4517136"/>
            <a:ext cx="248716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Harness 单算子评测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编译通过 · Golden 对齐 · 真机实测更快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0049256" y="4992624"/>
            <a:ext cx="146303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51" name="Rectangle 50"/>
          <p:cNvSpPr/>
          <p:nvPr/>
        </p:nvSpPr>
        <p:spPr>
          <a:xfrm>
            <a:off x="10241280" y="4462272"/>
            <a:ext cx="138988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387584" y="4517136"/>
            <a:ext cx="102412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候选库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交付实现</a:t>
            </a:r>
          </a:p>
        </p:txBody>
      </p:sp>
      <p:sp>
        <p:nvSpPr>
          <p:cNvPr id="53" name="Freeform 52"/>
          <p:cNvSpPr/>
          <p:nvPr/>
        </p:nvSpPr>
        <p:spPr>
          <a:xfrm>
            <a:off x="5577840" y="4370832"/>
            <a:ext cx="2999232" cy="91440"/>
          </a:xfrm>
          <a:custGeom>
            <a:avLst/>
            <a:gdLst/>
            <a:ahLst/>
            <a:cxnLst/>
            <a:rect l="l" t="t" r="r" b="b"/>
            <a:pathLst>
              <a:path w="2999232" h="91440">
                <a:moveTo>
                  <a:pt x="2999232" y="91440"/>
                </a:moveTo>
                <a:lnTo>
                  <a:pt x="2999232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577840" y="4370832"/>
            <a:ext cx="0" cy="73152"/>
          </a:xfrm>
          <a:prstGeom prst="line">
            <a:avLst/>
          </a:prstGeom>
          <a:ln w="15875">
            <a:solidFill>
              <a:srgbClr val="D2690C"/>
            </a:solidFill>
            <a:tailEnd type="triangle" w="med" len="med"/>
          </a:ln>
        </p:spPr>
      </p:cxnSp>
      <p:sp>
        <p:nvSpPr>
          <p:cNvPr id="55" name="TextBox 54"/>
          <p:cNvSpPr txBox="1"/>
          <p:nvPr/>
        </p:nvSpPr>
        <p:spPr>
          <a:xfrm>
            <a:off x="5614416" y="4142232"/>
            <a:ext cx="29260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✕　不过即淘汰，带着证据退回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8640" y="3310128"/>
            <a:ext cx="11094415" cy="731520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 flipV="1">
            <a:off x="5577840" y="3401568"/>
            <a:ext cx="0" cy="548640"/>
          </a:xfrm>
          <a:prstGeom prst="line">
            <a:avLst/>
          </a:prstGeom>
          <a:ln w="22225">
            <a:solidFill>
              <a:srgbClr val="D2690C"/>
            </a:solidFill>
            <a:tailEnd type="triangle" w="med" len="med"/>
          </a:ln>
        </p:spPr>
      </p:cxnSp>
      <p:sp>
        <p:nvSpPr>
          <p:cNvPr id="58" name="TextBox 57"/>
          <p:cNvSpPr txBox="1"/>
          <p:nvPr/>
        </p:nvSpPr>
        <p:spPr>
          <a:xfrm>
            <a:off x="2212848" y="3310128"/>
            <a:ext cx="3182111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② </a:t>
            </a: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算子层 → 模型层</a:t>
            </a:r>
          </a:p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交付新算子内核，合入候选分支重跑整模型复验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577072" y="3401568"/>
            <a:ext cx="0" cy="548640"/>
          </a:xfrm>
          <a:prstGeom prst="line">
            <a:avLst/>
          </a:prstGeom>
          <a:ln w="22225">
            <a:solidFill>
              <a:srgbClr val="D2690C"/>
            </a:solidFill>
            <a:tailEnd type="triangle" w="med" len="med"/>
          </a:ln>
        </p:spPr>
      </p:cxnSp>
      <p:sp>
        <p:nvSpPr>
          <p:cNvPr id="60" name="TextBox 59"/>
          <p:cNvSpPr txBox="1"/>
          <p:nvPr/>
        </p:nvSpPr>
        <p:spPr>
          <a:xfrm>
            <a:off x="8759952" y="3310128"/>
            <a:ext cx="2883103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① </a:t>
            </a: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模型层 → 算子层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Trace 定位瓶颈算子，下发 Shape 规格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705856"/>
            <a:ext cx="11094415" cy="621792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8640" y="5705856"/>
            <a:ext cx="73152" cy="6217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77824" y="5797296"/>
            <a:ext cx="10436047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核心原则：　</a:t>
            </a: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算子局部加速 ≠ 整模型收益；任何算子优化必须回流通过整模型真机复验方可交付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7824" y="5980176"/>
            <a:ext cx="1043604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 bench 衡量的是局部收益；能否交付，由真实模型上的复测决定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Agent：模型层适配与优化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已有流程可自动执行；新架构、未知缺陷与关键决策仍需要人工参与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98448"/>
            <a:ext cx="3417722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新架构逐层验收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6986" y="1298448"/>
            <a:ext cx="3417722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1306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性能调优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实测环境下迭代优化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57802" y="1536192"/>
            <a:ext cx="237744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11" name="Rectangle 10"/>
          <p:cNvSpPr/>
          <p:nvPr/>
        </p:nvSpPr>
        <p:spPr>
          <a:xfrm>
            <a:off x="8225332" y="1298448"/>
            <a:ext cx="3417722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99652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持续优化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按 Trace 持续迭代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96148" y="1536192"/>
            <a:ext cx="237744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14" name="Rectangle 13"/>
          <p:cNvSpPr/>
          <p:nvPr/>
        </p:nvSpPr>
        <p:spPr>
          <a:xfrm>
            <a:off x="548640" y="1993392"/>
            <a:ext cx="2240280" cy="3621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93392"/>
            <a:ext cx="2240280" cy="6400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2176272"/>
            <a:ext cx="1837944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人：定义目标与边界</a:t>
            </a:r>
          </a:p>
        </p:txBody>
      </p:sp>
      <p:sp>
        <p:nvSpPr>
          <p:cNvPr id="17" name="Oval 16"/>
          <p:cNvSpPr/>
          <p:nvPr/>
        </p:nvSpPr>
        <p:spPr>
          <a:xfrm>
            <a:off x="822959" y="2939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2761488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模型 / 负载 / 并发</a:t>
            </a:r>
          </a:p>
        </p:txBody>
      </p:sp>
      <p:sp>
        <p:nvSpPr>
          <p:cNvPr id="19" name="Oval 18"/>
          <p:cNvSpPr/>
          <p:nvPr/>
        </p:nvSpPr>
        <p:spPr>
          <a:xfrm>
            <a:off x="822959" y="33969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3218688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精度阈值与预算</a:t>
            </a:r>
          </a:p>
        </p:txBody>
      </p:sp>
      <p:sp>
        <p:nvSpPr>
          <p:cNvPr id="21" name="Oval 20"/>
          <p:cNvSpPr/>
          <p:nvPr/>
        </p:nvSpPr>
        <p:spPr>
          <a:xfrm>
            <a:off x="822959" y="38541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3675887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已知缺陷与修复方案</a:t>
            </a:r>
          </a:p>
        </p:txBody>
      </p:sp>
      <p:sp>
        <p:nvSpPr>
          <p:cNvPr id="23" name="Oval 22"/>
          <p:cNvSpPr/>
          <p:nvPr/>
        </p:nvSpPr>
        <p:spPr>
          <a:xfrm>
            <a:off x="822959" y="43113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4133087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确定输入与任务约定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4791456"/>
            <a:ext cx="183794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目标改动后，历史结果不再沿用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83794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交给 </a:t>
            </a:r>
            <a:r>
              <a:rPr sz="11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Agent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53512" y="1993392"/>
            <a:ext cx="5212080" cy="3621024"/>
          </a:xfrm>
          <a:prstGeom prst="rect">
            <a:avLst/>
          </a:prstGeom>
          <a:solidFill>
            <a:srgbClr val="FFFFFF"/>
          </a:solidFill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91256" y="2139696"/>
            <a:ext cx="4754880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Agent：在固定约束内自动迭代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54680" y="2651760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246120" y="2761488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66744" y="2651760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建立基线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2651760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先完成环境预检，再验收基线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54680" y="3328416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246120" y="3438144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66744" y="3328416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采集 Trace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328416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执行性能剖析采样，仅用于瓶颈诊断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54680" y="4005072"/>
            <a:ext cx="4809744" cy="56692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246120" y="4114800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66744" y="4005072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候选迭代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17720" y="4005072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小步改动，逐轮验证收益（大型修改，人工介入）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54680" y="4681728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246120" y="4791455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66744" y="4681728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最终复验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17720" y="4681728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重测基线与候选，独立复核收益</a:t>
            </a:r>
          </a:p>
        </p:txBody>
      </p:sp>
      <p:sp>
        <p:nvSpPr>
          <p:cNvPr id="45" name="Freeform 44"/>
          <p:cNvSpPr/>
          <p:nvPr/>
        </p:nvSpPr>
        <p:spPr>
          <a:xfrm>
            <a:off x="7763256" y="4114800"/>
            <a:ext cx="310896" cy="347472"/>
          </a:xfrm>
          <a:custGeom>
            <a:avLst/>
            <a:gdLst/>
            <a:ahLst/>
            <a:cxnLst/>
            <a:rect l="l" t="t" r="r" b="b"/>
            <a:pathLst>
              <a:path w="310896" h="347472">
                <a:moveTo>
                  <a:pt x="0" y="0"/>
                </a:moveTo>
                <a:lnTo>
                  <a:pt x="310896" y="0"/>
                </a:lnTo>
                <a:lnTo>
                  <a:pt x="310896" y="347472"/>
                </a:lnTo>
                <a:lnTo>
                  <a:pt x="0" y="347472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91256" y="5285232"/>
            <a:ext cx="47548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每个候选如何验收 → 下一页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30183" y="1993392"/>
            <a:ext cx="3310128" cy="3621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330183" y="1993392"/>
            <a:ext cx="3310128" cy="6400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67928" y="2176272"/>
            <a:ext cx="2907792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人：判断交付</a:t>
            </a:r>
          </a:p>
        </p:txBody>
      </p:sp>
      <p:sp>
        <p:nvSpPr>
          <p:cNvPr id="50" name="Oval 49"/>
          <p:cNvSpPr/>
          <p:nvPr/>
        </p:nvSpPr>
        <p:spPr>
          <a:xfrm>
            <a:off x="8604504" y="2939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42248" y="2761488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复核最终精度、性能收益与失败日志</a:t>
            </a:r>
          </a:p>
        </p:txBody>
      </p:sp>
      <p:sp>
        <p:nvSpPr>
          <p:cNvPr id="52" name="Oval 51"/>
          <p:cNvSpPr/>
          <p:nvPr/>
        </p:nvSpPr>
        <p:spPr>
          <a:xfrm>
            <a:off x="8604504" y="33969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42248" y="3218688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验证通过：导出标准化部署与启动方案</a:t>
            </a:r>
          </a:p>
        </p:txBody>
      </p:sp>
      <p:sp>
        <p:nvSpPr>
          <p:cNvPr id="54" name="Oval 53"/>
          <p:cNvSpPr/>
          <p:nvPr/>
        </p:nvSpPr>
        <p:spPr>
          <a:xfrm>
            <a:off x="8604504" y="38541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842248" y="3675887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验收失败或无收益：转交人工深度诊断</a:t>
            </a:r>
          </a:p>
        </p:txBody>
      </p:sp>
      <p:sp>
        <p:nvSpPr>
          <p:cNvPr id="56" name="Oval 55"/>
          <p:cNvSpPr/>
          <p:nvPr/>
        </p:nvSpPr>
        <p:spPr>
          <a:xfrm>
            <a:off x="8604504" y="43113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42248" y="4133087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支持逐轮溯源，必要时一键回退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31352" y="4791456"/>
            <a:ext cx="290779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交付引用已验证的隔离副本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31352" y="5102352"/>
            <a:ext cx="290779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交回给人</a:t>
            </a:r>
          </a:p>
        </p:txBody>
      </p:sp>
      <p:sp>
        <p:nvSpPr>
          <p:cNvPr id="60" name="Freeform 59"/>
          <p:cNvSpPr/>
          <p:nvPr/>
        </p:nvSpPr>
        <p:spPr>
          <a:xfrm>
            <a:off x="1668780" y="5614416"/>
            <a:ext cx="8316468" cy="219456"/>
          </a:xfrm>
          <a:custGeom>
            <a:avLst/>
            <a:gdLst/>
            <a:ahLst/>
            <a:cxnLst/>
            <a:rect l="l" t="t" r="r" b="b"/>
            <a:pathLst>
              <a:path w="8316468" h="219456">
                <a:moveTo>
                  <a:pt x="8316468" y="0"/>
                </a:moveTo>
                <a:lnTo>
                  <a:pt x="8316468" y="219456"/>
                </a:lnTo>
                <a:lnTo>
                  <a:pt x="0" y="219456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1668780" y="5632704"/>
            <a:ext cx="0" cy="201168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62" name="TextBox 61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将验证过的规则、补丁与失败记录沉淀下来，供下一次任务复用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Agent：模型层Agent运行机制视图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1109441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941832"/>
            <a:ext cx="1063721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任务基准 · 锁定评测条件与版本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188720"/>
            <a:ext cx="106372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optimization-task.json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确定模型、精度、负载、准入门槛</a:t>
            </a:r>
            <a:r>
              <a:rPr sz="9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9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generation-task.json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设定固定文本对齐测试与评测集达标要求</a:t>
            </a:r>
            <a:r>
              <a:rPr sz="9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9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backup/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留存初始基线备份 + 加载调优知识库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10512"/>
            <a:ext cx="221284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10512"/>
            <a:ext cx="64008" cy="1188720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56231"/>
            <a:ext cx="1901952" cy="10972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1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性能采样（Trace）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拉起一次性独立服务，通过profile接口获取性能数据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3552" y="1810512"/>
            <a:ext cx="221284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73552" y="1810512"/>
            <a:ext cx="64008" cy="1188720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6432" y="1856231"/>
            <a:ext cx="1901952" cy="10972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2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耗时归因（对齐到代码）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获取目标阶段（Prefill/Decode），将kernel耗时直接映射到模型代码层，加入累加等数值校验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8464" y="1810512"/>
            <a:ext cx="221284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98464" y="1810512"/>
            <a:ext cx="64008" cy="1188720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1344" y="1856231"/>
            <a:ext cx="1901952" cy="10972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3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理论上限核算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解析模型配置 → 折算计算量与访存字节 → 推导理论耗时下界与差距倍数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798064" y="2404872"/>
            <a:ext cx="438912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18" name="TextBox 17"/>
          <p:cNvSpPr txBox="1"/>
          <p:nvPr/>
        </p:nvSpPr>
        <p:spPr>
          <a:xfrm>
            <a:off x="2798064" y="2450591"/>
            <a:ext cx="438912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Trace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文件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522976" y="2404872"/>
            <a:ext cx="438912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20" name="TextBox 19"/>
          <p:cNvSpPr txBox="1"/>
          <p:nvPr/>
        </p:nvSpPr>
        <p:spPr>
          <a:xfrm>
            <a:off x="5522976" y="2450591"/>
            <a:ext cx="438911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各类算子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耗时、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调用频次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47888" y="2404872"/>
            <a:ext cx="438912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22" name="TextBox 21"/>
          <p:cNvSpPr txBox="1"/>
          <p:nvPr/>
        </p:nvSpPr>
        <p:spPr>
          <a:xfrm>
            <a:off x="8247888" y="2450591"/>
            <a:ext cx="438911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瓶颈优先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级列表、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异常算子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耗时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23376" y="1810512"/>
            <a:ext cx="2916936" cy="2630805"/>
          </a:xfrm>
          <a:prstGeom prst="rect">
            <a:avLst/>
          </a:prstGeom>
          <a:solidFill>
            <a:srgbClr val="FFFFFF"/>
          </a:solidFill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23376" y="1810512"/>
            <a:ext cx="64008" cy="2630805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42832" y="1856231"/>
            <a:ext cx="253288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4 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方案与补丁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06255" y="2176272"/>
            <a:ext cx="2551176" cy="1114679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06255" y="2176272"/>
            <a:ext cx="50292" cy="1114679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70848" y="2212848"/>
            <a:ext cx="2221991" cy="10415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规划器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看证据写代码：结合模型源码与锁定的诊断证据，提出优化假设并判断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按需skills：默认只读目录索引，每轮最多按需调取 2 份专项调优指南（Skill），防上下文膨胀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06255" y="3382391"/>
            <a:ext cx="2551176" cy="967486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06255" y="3382391"/>
            <a:ext cx="50292" cy="967486"/>
          </a:xfrm>
          <a:prstGeom prst="rect">
            <a:avLst/>
          </a:prstGeom>
          <a:solidFill>
            <a:srgbClr val="123C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3418967"/>
            <a:ext cx="2221991" cy="89433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人 · 按需介入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复杂场景由人直接修改，或与规划器协同实现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人工介入不改变准入判定路径，同样须通过下方三道验收门禁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42032" y="3182112"/>
            <a:ext cx="5907024" cy="1719072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542032" y="3182112"/>
            <a:ext cx="5907024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61487" y="3273552"/>
            <a:ext cx="5486400" cy="1554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控制器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确定性调度机制（Python）：统一接管硬件设备锁、状态机流转、故障恢复、准入验证与报告生成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硬性约束：规划器无权自行宣告实验成功；数值精度、多模态生成质量及性能收益，全部由控制器独立核验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全量实验追溯：每次实验尝试（Trial）均独立落盘记录，涵盖：候选评估、构建准备、基线测试、基线复核与最终复验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闭环容错机制：方案被拒原因经历史记忆库（Memory）带回下一轮请求；底层基础设施中断不计入方案优化失败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029200"/>
            <a:ext cx="24688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074920"/>
            <a:ext cx="2157984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8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端到端A/B对比实验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多次压测取中位数，全程关闭性能剖析器（Profiler），增幅须跨越噪声门槛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73552" y="5029200"/>
            <a:ext cx="24688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73552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56432" y="5074920"/>
            <a:ext cx="2157984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7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端到端质量评估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数据集得分不降，格式解析失败与输出截断均严判计入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98464" y="5029200"/>
            <a:ext cx="24688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998464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81344" y="5074920"/>
            <a:ext cx="2157984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6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单算子性能初筛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隔离被改算子，直接测速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新旧版本同条件预热，确保对比公平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局部提速达标才进入整模型评测，快速淘汰无效补丁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23376" y="5029200"/>
            <a:ext cx="2916936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723376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06255" y="5074920"/>
            <a:ext cx="2606040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5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补丁合入与增量构建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在源码工作区执行原位构建，打入隔离补丁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1164824" y="4477893"/>
            <a:ext cx="0" cy="514731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48" name="TextBox 47"/>
          <p:cNvSpPr txBox="1"/>
          <p:nvPr/>
        </p:nvSpPr>
        <p:spPr>
          <a:xfrm>
            <a:off x="8814815" y="4532757"/>
            <a:ext cx="2203704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提交规划方案：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优化假设 + 代码补丁 + 证据引用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503919" y="5586984"/>
            <a:ext cx="182881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cxnSp>
        <p:nvCxnSpPr>
          <p:cNvPr id="50" name="Connector 49"/>
          <p:cNvCxnSpPr/>
          <p:nvPr/>
        </p:nvCxnSpPr>
        <p:spPr>
          <a:xfrm>
            <a:off x="5779008" y="5586984"/>
            <a:ext cx="182880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cxnSp>
        <p:nvCxnSpPr>
          <p:cNvPr id="51" name="Connector 50"/>
          <p:cNvCxnSpPr/>
          <p:nvPr/>
        </p:nvCxnSpPr>
        <p:spPr>
          <a:xfrm>
            <a:off x="3054096" y="5586984"/>
            <a:ext cx="182880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cxnSp>
        <p:nvCxnSpPr>
          <p:cNvPr id="52" name="Connector 51"/>
          <p:cNvCxnSpPr/>
          <p:nvPr/>
        </p:nvCxnSpPr>
        <p:spPr>
          <a:xfrm flipV="1">
            <a:off x="1591056" y="3035808"/>
            <a:ext cx="0" cy="1956816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53" name="TextBox 52"/>
          <p:cNvSpPr txBox="1"/>
          <p:nvPr/>
        </p:nvSpPr>
        <p:spPr>
          <a:xfrm>
            <a:off x="566928" y="3474720"/>
            <a:ext cx="932688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确认真实收益 → 更新为最新基线 → 触发新一轮采样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单算子理论下界与逐层核算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一个算子的四条路径并行推进，耗时由最慢的一条决定；逐算子求和得到单层，再乘层数得到整模型下界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6766560" cy="460857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280160"/>
            <a:ext cx="649224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单步 Decode 逐算子理论下界（µs / 层）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517904"/>
            <a:ext cx="12801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6815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路径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14015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 MB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07791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写 MB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GFLOP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95344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t_read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8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t_write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9472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t_comp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13248" y="1517904"/>
            <a:ext cx="53035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t_其它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8464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取 max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1517904"/>
            <a:ext cx="47548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×48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76656" y="1728216"/>
            <a:ext cx="6364224" cy="0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76656" y="1773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input_rmsnorm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56815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14015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07791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1568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95344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19472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98464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0528" y="1773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6656" y="20025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20025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qkv_proj GEMM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56815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14015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21.10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07791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01568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95344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16.23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19472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5.99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98464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16.23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0528" y="20025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0.779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22311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q_norm/k_norm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56815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14015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7791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01568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95344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07408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19472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98464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10528" y="22311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76656" y="24597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76656" y="24597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3D-RoPE(mrope)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956815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14015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07791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01568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95344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07408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19472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98464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10528" y="24597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6656" y="26883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store_kv(page)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56815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14015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07791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0.066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01568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895344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07408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19472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998464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10528" y="26883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76656" y="29169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76656" y="2916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decode attention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56815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414015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100.93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07791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0.262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401568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0.81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95344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54.85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07408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919472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7.19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13248" y="2916936"/>
            <a:ext cx="53035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32.4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98464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54.85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10528" y="2916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2.633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6656" y="31455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o_proj GEMM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956815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414015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17.04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907791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01568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895344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13.11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407408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919472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4.79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998464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13.11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510528" y="31455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0.629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76656" y="33741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76656" y="33741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post_rmsnorm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956815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414015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07791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401568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895344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407408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919472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998464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10528" y="33741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76656" y="36027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router gate GEMM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956815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414015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0.66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907791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401568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895344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407408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919472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998464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510528" y="36027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0.024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76656" y="38313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76656" y="38313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topk+softmax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956815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414015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907791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401568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895344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407408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919472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998464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510528" y="38313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76656" y="4059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act_quant(fp8)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956815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414015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907791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0.066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401568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895344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407408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919472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998464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510528" y="4059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76656" y="42885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76656" y="42885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permute/shuffle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956815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414015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907791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401568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95344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407408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919472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998464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510528" y="42885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0.034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6656" y="45171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expert gate+up GEMM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956815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414015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127.76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907791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0.786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401568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1.61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895344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98.28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407408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4.27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919472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7.19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998464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98.28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510528" y="45171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4.717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76656" y="47457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76656" y="47457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silu_and_mul(+quant)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956815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414015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907791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0.197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401568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895344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407408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0.27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919472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5413248" y="4745736"/>
            <a:ext cx="53035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6.6(SFU)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998464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6.55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510528" y="47457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0.315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76656" y="49743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expert down GEMM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956815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414015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63.82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907791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1.049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401568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0.81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895344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49.09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407408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5.70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919472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3.60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998464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49.09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510528" y="49743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2.356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676656" y="52029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676656" y="5202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unpermute+combine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956815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2414015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2907791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401568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895344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407408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919472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5998464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510528" y="5202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0.068</a:t>
            </a:r>
          </a:p>
        </p:txBody>
      </p:sp>
      <p:cxnSp>
        <p:nvCxnSpPr>
          <p:cNvPr id="190" name="Connector 189"/>
          <p:cNvCxnSpPr/>
          <p:nvPr/>
        </p:nvCxnSpPr>
        <p:spPr>
          <a:xfrm>
            <a:off x="5980176" y="1517904"/>
            <a:ext cx="0" cy="3913632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191" name="Rectangle 190"/>
          <p:cNvSpPr/>
          <p:nvPr/>
        </p:nvSpPr>
        <p:spPr>
          <a:xfrm>
            <a:off x="676656" y="5468112"/>
            <a:ext cx="6364224" cy="237744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731520" y="5468112"/>
            <a:ext cx="18288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单层合计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998464" y="5468112"/>
            <a:ext cx="4572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242.3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6510528" y="5468112"/>
            <a:ext cx="47548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11.629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676656" y="5577840"/>
            <a:ext cx="64922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橙色为决定该算子下界的那一列：16 个算子里 15 个卡在读，唯一例外是 silu_and_mul 卡在 SFU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7443216" y="1225296"/>
            <a:ext cx="4199839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7626096" y="1280160"/>
            <a:ext cx="387065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单算子理论下界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7626096" y="1499616"/>
            <a:ext cx="3834079" cy="29260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7626096" y="1499616"/>
            <a:ext cx="3834079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t_算子 ＝ max（ t_读, t_写, t_算, t_其它 ）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7626096" y="1810512"/>
            <a:ext cx="38340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四条路径在硬件上并行推进，算子耗时由最慢的一条决定，不是四项求和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7662672" y="201168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t_读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174736" y="201168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读字节 ÷ 读带宽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7662672" y="219456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t_写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8174736" y="219456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写字节 ÷ 写带宽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662672" y="237744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t_算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8174736" y="237744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FLOP ÷ 路径算力（cluster / sdnn × bf16 / fp8）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7662672" y="256032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t_其它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8174736" y="256032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特殊单元耗时，如 SFU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7626096" y="2779776"/>
            <a:ext cx="3834079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7626096" y="2779776"/>
            <a:ext cx="54864" cy="6035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7772400" y="2798064"/>
            <a:ext cx="363291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代入一个算子：expert gate+up GEMM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772400" y="2980944"/>
            <a:ext cx="3632911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max（ 读 98.28 ， 写 4.27 ， 算 7.19 ）＝ 98.28 µs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7772400" y="3182112"/>
            <a:ext cx="363291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 127.76 MB 定死了下界，算力只跑到 7.3%，写和算全被读掩盖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7443216" y="3584448"/>
            <a:ext cx="4199839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7626096" y="3639312"/>
            <a:ext cx="387065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Roofline：所有算子都落在访存区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8010144" y="3968496"/>
            <a:ext cx="2454783" cy="128016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17" name="Connector 216"/>
          <p:cNvCxnSpPr/>
          <p:nvPr/>
        </p:nvCxnSpPr>
        <p:spPr>
          <a:xfrm flipV="1">
            <a:off x="8010144" y="3968496"/>
            <a:ext cx="3016211" cy="1154147"/>
          </a:xfrm>
          <a:prstGeom prst="line">
            <a:avLst/>
          </a:prstGeom>
          <a:ln w="19050">
            <a:solidFill>
              <a:srgbClr val="40708B"/>
            </a:solidFill>
          </a:ln>
        </p:spPr>
      </p:cxnSp>
      <p:cxnSp>
        <p:nvCxnSpPr>
          <p:cNvPr id="218" name="Connector 217"/>
          <p:cNvCxnSpPr/>
          <p:nvPr/>
        </p:nvCxnSpPr>
        <p:spPr>
          <a:xfrm>
            <a:off x="10464927" y="4181856"/>
            <a:ext cx="885520" cy="0"/>
          </a:xfrm>
          <a:prstGeom prst="line">
            <a:avLst/>
          </a:prstGeom>
          <a:ln w="15875">
            <a:solidFill>
              <a:srgbClr val="0F62CE"/>
            </a:solidFill>
          </a:ln>
        </p:spPr>
      </p:cxnSp>
      <p:sp>
        <p:nvSpPr>
          <p:cNvPr id="219" name="Oval 218"/>
          <p:cNvSpPr/>
          <p:nvPr/>
        </p:nvSpPr>
        <p:spPr>
          <a:xfrm>
            <a:off x="10428351" y="4145280"/>
            <a:ext cx="73152" cy="73152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20" name="Connector 219"/>
          <p:cNvCxnSpPr/>
          <p:nvPr/>
        </p:nvCxnSpPr>
        <p:spPr>
          <a:xfrm>
            <a:off x="11026355" y="3968496"/>
            <a:ext cx="324092" cy="0"/>
          </a:xfrm>
          <a:prstGeom prst="line">
            <a:avLst/>
          </a:prstGeom>
          <a:ln w="15875">
            <a:solidFill>
              <a:srgbClr val="D2690C"/>
            </a:solidFill>
          </a:ln>
        </p:spPr>
      </p:cxnSp>
      <p:sp>
        <p:nvSpPr>
          <p:cNvPr id="221" name="Oval 220"/>
          <p:cNvSpPr/>
          <p:nvPr/>
        </p:nvSpPr>
        <p:spPr>
          <a:xfrm>
            <a:off x="10989779" y="3931920"/>
            <a:ext cx="73152" cy="7315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8083296" y="3986783"/>
            <a:ext cx="170078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带宽屋顶 ＝ 算术强度 × 带宽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8083296" y="4151375"/>
            <a:ext cx="170078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fp8 算力屋顶（拐点 171）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8083296" y="4315968"/>
            <a:ext cx="170078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bf16 算力屋顶（拐点 85）</a:t>
            </a:r>
          </a:p>
        </p:txBody>
      </p:sp>
      <p:cxnSp>
        <p:nvCxnSpPr>
          <p:cNvPr id="225" name="Connector 224"/>
          <p:cNvCxnSpPr/>
          <p:nvPr/>
        </p:nvCxnSpPr>
        <p:spPr>
          <a:xfrm>
            <a:off x="8010144" y="5248656"/>
            <a:ext cx="3340303" cy="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cxnSp>
        <p:nvCxnSpPr>
          <p:cNvPr id="226" name="Connector 225"/>
          <p:cNvCxnSpPr/>
          <p:nvPr/>
        </p:nvCxnSpPr>
        <p:spPr>
          <a:xfrm>
            <a:off x="8010144" y="3968496"/>
            <a:ext cx="0" cy="128016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sp>
        <p:nvSpPr>
          <p:cNvPr id="227" name="TextBox 226"/>
          <p:cNvSpPr txBox="1"/>
          <p:nvPr/>
        </p:nvSpPr>
        <p:spPr>
          <a:xfrm>
            <a:off x="7827264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8940698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0054132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64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1167567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256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607808" y="495300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1/16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7607808" y="452628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1/4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7607808" y="409956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7607808" y="388620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35" name="Oval 234"/>
          <p:cNvSpPr/>
          <p:nvPr/>
        </p:nvSpPr>
        <p:spPr>
          <a:xfrm>
            <a:off x="8516569" y="4862668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8649157" y="5004400"/>
            <a:ext cx="109728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decode attention</a:t>
            </a:r>
          </a:p>
        </p:txBody>
      </p:sp>
      <p:sp>
        <p:nvSpPr>
          <p:cNvPr id="237" name="Oval 236"/>
          <p:cNvSpPr/>
          <p:nvPr/>
        </p:nvSpPr>
        <p:spPr>
          <a:xfrm>
            <a:off x="8875015" y="4725958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9007603" y="4785394"/>
            <a:ext cx="109728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expert GEMM ×2</a:t>
            </a:r>
          </a:p>
        </p:txBody>
      </p:sp>
      <p:sp>
        <p:nvSpPr>
          <p:cNvPr id="239" name="Oval 238"/>
          <p:cNvSpPr/>
          <p:nvPr/>
        </p:nvSpPr>
        <p:spPr>
          <a:xfrm>
            <a:off x="9612239" y="4441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9744827" y="4501232"/>
            <a:ext cx="109728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qkv_proj / o_proj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7626096" y="5440680"/>
            <a:ext cx="3870655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算术强度（FLOP / Byte）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7662672" y="5559552"/>
            <a:ext cx="379750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6 个带计算的算子强度 8–31 FLOP/Byte，另外 10 个 FLOP ＝ 0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548640" y="5943600"/>
            <a:ext cx="11094415" cy="493776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548640" y="5943600"/>
            <a:ext cx="73152" cy="49377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877824" y="5943600"/>
            <a:ext cx="10436047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单层 242.3 µs × 48 层 ＝ 11.63 ms/步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——　</a:t>
            </a: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其中 97.7% 是把权重与 KV 读一遍的时间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Qwen3-VL- 30B-A3B 优化记录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9592056" cy="36576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896112"/>
            <a:ext cx="9226296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使用模型：</a:t>
            </a: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Qwen3-VL-30B-A3B-Instruct-channel-fp8</a:t>
            </a: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·　M100 单卡 TP1　·　1K/1K　·　场景优化 Decode 阶段输出吞吐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89888"/>
            <a:ext cx="6565392" cy="3785615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463040"/>
            <a:ext cx="6126479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各类算子耗时与理论上限（Roofline）差距：32 并发纯 Decode · 单位：ms/步 · 理论上限 = 访存字节数 ÷ 硬件带宽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066543"/>
            <a:ext cx="184708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类别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06624" y="2066543"/>
            <a:ext cx="166420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7D8894"/>
                </a:solidFill>
                <a:latin typeface="Microsoft YaHei"/>
                <a:ea typeface="Microsoft YaHei"/>
                <a:cs typeface="Microsoft YaHei"/>
              </a:rPr>
              <a:t>■上限内　</a:t>
            </a:r>
            <a:r>
              <a:rPr sz="800" b="0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■超出　</a:t>
            </a:r>
            <a:r>
              <a:rPr sz="8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□优化部分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2066543"/>
            <a:ext cx="118872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耗时：基线 → 交付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2066543"/>
            <a:ext cx="74980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距理论上限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2066543"/>
            <a:ext cx="804672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关联优化项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8096" y="2322576"/>
            <a:ext cx="6126479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768096" y="2377439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专家 GEMM（fp8）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06624" y="2496312"/>
            <a:ext cx="1458565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5189" y="2496312"/>
            <a:ext cx="22762" cy="164592"/>
          </a:xfrm>
          <a:prstGeom prst="rect">
            <a:avLst/>
          </a:prstGeom>
          <a:noFill/>
          <a:ln w="9525">
            <a:solidFill>
              <a:srgbClr val="7FA4B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79" y="2377439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8.46 → 8.33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22976" y="2377439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2377439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2779775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06624" y="2898648"/>
            <a:ext cx="493775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79" y="2779775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2.82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22976" y="2779775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59" y="2779775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3182111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稠密 GEMM（QKV/O/头）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06624" y="3300984"/>
            <a:ext cx="376460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79" y="3182111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22976" y="3182111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59" y="3182111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" y="3584448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专家重排与合并（含路由）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06624" y="3703320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34056" y="3703320"/>
            <a:ext cx="521791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79" y="3584448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3.1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22976" y="3584448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27×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59" y="3584448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</a:t>
            </a: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 · </a:t>
            </a:r>
            <a:r>
              <a:rPr sz="100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4</a:t>
            </a: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 · </a:t>
            </a: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8096" y="3986783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逐元素操作 + 量化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06624" y="4105655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34056" y="4105655"/>
            <a:ext cx="299417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033473" y="4105655"/>
            <a:ext cx="308172" cy="164592"/>
          </a:xfrm>
          <a:prstGeom prst="rect">
            <a:avLst/>
          </a:prstGeom>
          <a:noFill/>
          <a:ln w="9525">
            <a:solidFill>
              <a:srgbClr val="7FA4B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97679" y="3986783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3.51 → 1.75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22976" y="3986783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82× → 41×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59" y="3986783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8096" y="4389120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3D-RoPE（多模态）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06624" y="4507992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734056" y="4507992"/>
            <a:ext cx="322180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97679" y="4389120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1.87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22976" y="4389120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73×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9359" y="4389120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8096" y="4791456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Norm 与其他小算子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06624" y="4910328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734056" y="4910328"/>
            <a:ext cx="171595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97679" y="4791456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~1.0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22976" y="4791456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44×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59" y="4791456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33488" y="1389888"/>
            <a:ext cx="4309567" cy="3785615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71231" y="1463040"/>
            <a:ext cx="385236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优化记录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424927" y="1865376"/>
            <a:ext cx="4126687" cy="65836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52944" y="1865376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08975" y="1901952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融合 swiglu + 动态量化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单算子优化后 1.75 ms/步（原 3.51）· D device 24.7 → 22.2 ms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71455" y="1865376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424927" y="2569464"/>
            <a:ext cx="4126687" cy="65836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552944" y="2569464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08975" y="2606040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量化 + shuffle 融合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单算子测试快5.43倍，端到端吞吐增加3%，TPOT 减少3.4%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271455" y="2569464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52944" y="3273552"/>
            <a:ext cx="2743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08975" y="3310128"/>
            <a:ext cx="2389327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尝试grouped-GEMM group-mode 不同分组策略，没有明显受益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271455" y="3273552"/>
            <a:ext cx="11887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放弃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552944" y="3867912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808975" y="3904488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FFN 输出合并换 shuffle_mul_sum_sdnn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劣化0.61×，更慢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71455" y="3867912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放弃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552944" y="4572000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808975" y="4608576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路由 softmax + topk + renorm 融合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tpot受益只有0.9%小于波动线，放弃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271455" y="4572000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收益不明显，放弃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8640" y="5285232"/>
            <a:ext cx="2231136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同一优化方案在不同并发下的表现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输出 TPS：并发越高，吞吐收益越显著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871216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999232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c1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+9.9%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94.9 → 104.3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651187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79203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c32 · Trace 工作点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+22.5%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959.6 → 1175.7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431158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559174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c64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+30.7%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1199.9 → 1567.7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211129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339145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+35.3%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1307.3 → 1768.8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991100" y="5285232"/>
            <a:ext cx="1651955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19116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c128 · 峰值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+37.4%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1370.0 → 1883.0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48640" y="5943600"/>
            <a:ext cx="11094415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48640" y="5943600"/>
            <a:ext cx="73152" cy="47548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77824" y="5943600"/>
            <a:ext cx="10436047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经　</a:t>
            </a: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多轮自动化迭代，128并发吞吐提升 37.4%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Agent：算子层对抗生成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算子需求或既有实现出发，先保精度对齐，再做性能寻优；生成与评测严格解耦，评测侧完全基于确定性规则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19072"/>
            <a:ext cx="3785615" cy="33467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865376"/>
            <a:ext cx="332841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写算子</a:t>
            </a:r>
            <a:r>
              <a:rPr sz="1500" b="0">
                <a:solidFill>
                  <a:srgbClr val="E8C9AC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Agent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全流程唯一的模型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432304"/>
            <a:ext cx="3236975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澄清需求与约束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比较方案，固定输入语义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66160"/>
            <a:ext cx="3236975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依据硬件规格生成实现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显式规划数据搬运（DMA）、计算流水与同步机制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35424" y="1719072"/>
            <a:ext cx="4617720" cy="334670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9744" y="1865376"/>
            <a:ext cx="4160520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判算子</a:t>
            </a:r>
            <a:r>
              <a:rPr sz="15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Harness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规则驱动，无模型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241401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L0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31536" y="241401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编译与运行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编译构建并拉起测试，失败即打回重改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3054096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L1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31536" y="3054096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数值验证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多 Shape、多精度下与golden比较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8" y="369417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31536" y="369417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真机计时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固定负载，重复测量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3168" y="433425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Profile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31536" y="433425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瓶颈分析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模拟器定位，不作判据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54312" y="1719072"/>
            <a:ext cx="2288743" cy="33467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92056" y="1847088"/>
            <a:ext cx="1831543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batch_norm实测样例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37192" y="2286000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20072" y="2340864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固定工作负载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256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FP32 总数据量8.39MB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37192" y="3163824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20072" y="3218688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相对基线加速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1.37 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13.24 → 9.66 µs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37192" y="4041648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20072" y="4096511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最优版本测量200轮平均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9.66 µs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92056" y="4736592"/>
            <a:ext cx="1831543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详细迭代过程见下一页</a:t>
            </a:r>
          </a:p>
        </p:txBody>
      </p:sp>
      <p:sp>
        <p:nvSpPr>
          <p:cNvPr id="29" name="Freeform 28"/>
          <p:cNvSpPr/>
          <p:nvPr/>
        </p:nvSpPr>
        <p:spPr>
          <a:xfrm>
            <a:off x="2441448" y="1481328"/>
            <a:ext cx="4402835" cy="237744"/>
          </a:xfrm>
          <a:custGeom>
            <a:avLst/>
            <a:gdLst/>
            <a:ahLst/>
            <a:cxnLst/>
            <a:rect l="l" t="t" r="r" b="b"/>
            <a:pathLst>
              <a:path w="4402835" h="237744">
                <a:moveTo>
                  <a:pt x="0" y="237744"/>
                </a:moveTo>
                <a:lnTo>
                  <a:pt x="0" y="0"/>
                </a:lnTo>
                <a:lnTo>
                  <a:pt x="4402835" y="0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44283" y="1481328"/>
            <a:ext cx="0" cy="219456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2606040" y="1207007"/>
            <a:ext cx="36576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交付候选实现</a:t>
            </a:r>
          </a:p>
        </p:txBody>
      </p:sp>
      <p:sp>
        <p:nvSpPr>
          <p:cNvPr id="32" name="Freeform 31"/>
          <p:cNvSpPr/>
          <p:nvPr/>
        </p:nvSpPr>
        <p:spPr>
          <a:xfrm>
            <a:off x="2441448" y="5065776"/>
            <a:ext cx="4402835" cy="256032"/>
          </a:xfrm>
          <a:custGeom>
            <a:avLst/>
            <a:gdLst/>
            <a:ahLst/>
            <a:cxnLst/>
            <a:rect l="l" t="t" r="r" b="b"/>
            <a:pathLst>
              <a:path w="4402835" h="256032">
                <a:moveTo>
                  <a:pt x="4402835" y="0"/>
                </a:moveTo>
                <a:lnTo>
                  <a:pt x="4402835" y="256032"/>
                </a:lnTo>
                <a:lnTo>
                  <a:pt x="0" y="256032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V="1">
            <a:off x="2441448" y="5084064"/>
            <a:ext cx="0" cy="237744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34" name="TextBox 33"/>
          <p:cNvSpPr txBox="1"/>
          <p:nvPr/>
        </p:nvSpPr>
        <p:spPr>
          <a:xfrm>
            <a:off x="2606040" y="5340096"/>
            <a:ext cx="420624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评测结果与瓶颈证据回传，进入下一轮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632704"/>
            <a:ext cx="11094415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5632704"/>
            <a:ext cx="73152" cy="640080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536" y="5705856"/>
            <a:ext cx="1045433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与硬件耦合的只有后端这一层：编译 · 运行 · 性能采集　</a:t>
            </a:r>
            <a:r>
              <a:rPr sz="12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backend/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" y="5943600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迁移至新芯片时仅需适配该后端接口，“生成与评测”主流程无需改动。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使用算子团队相关skills 和 算子开发优化经验;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batch_norm算子优化过程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9592056" cy="4206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896112"/>
            <a:ext cx="92262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目标shape</a:t>
            </a: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　N=1 · C=256 · HW=4096 · fp32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1,048,576 元素，读写各 4 MB，总流量 8.39 MB　｜　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roofline </a:t>
            </a:r>
            <a:r>
              <a:rPr sz="10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7.049 µs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（按纯带宽上限推算，不含指令发射约束与 Kernel Launch 固定开销）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26464"/>
            <a:ext cx="5943600" cy="369417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499616"/>
            <a:ext cx="29260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带宽达成率（Achieved）= 理论极限耗时 ÷ 实测耗时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75887" y="1499616"/>
            <a:ext cx="1371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- - </a:t>
            </a: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目标 0.70 · 10.07 µs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65775" y="1499616"/>
            <a:ext cx="1371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- - </a:t>
            </a: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拷贝地板 0.717 · 9.83 µs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52144" y="3983736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658368" y="3864864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0.45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52144" y="3714105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658368" y="3595233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52144" y="3444474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658368" y="3325602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52144" y="3174843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58368" y="3055971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0.60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52144" y="2905212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58368" y="2786340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0.65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152144" y="2635582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658368" y="2516710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0.70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52144" y="2365951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658368" y="2247079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0.75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52144" y="2635582"/>
            <a:ext cx="4864608" cy="0"/>
          </a:xfrm>
          <a:prstGeom prst="line">
            <a:avLst/>
          </a:prstGeom>
          <a:ln w="12700">
            <a:solidFill>
              <a:srgbClr val="7FA4BA"/>
            </a:solidFill>
            <a:prstDash val="dash"/>
          </a:ln>
        </p:spPr>
      </p:cxnSp>
      <p:cxnSp>
        <p:nvCxnSpPr>
          <p:cNvPr id="26" name="Connector 25"/>
          <p:cNvCxnSpPr/>
          <p:nvPr/>
        </p:nvCxnSpPr>
        <p:spPr>
          <a:xfrm>
            <a:off x="1152144" y="2543907"/>
            <a:ext cx="4864608" cy="0"/>
          </a:xfrm>
          <a:prstGeom prst="line">
            <a:avLst/>
          </a:prstGeom>
          <a:ln w="12700">
            <a:solidFill>
              <a:srgbClr val="D2690C"/>
            </a:solidFill>
            <a:prstDash val="dash"/>
          </a:ln>
        </p:spPr>
      </p:cxnSp>
      <p:cxnSp>
        <p:nvCxnSpPr>
          <p:cNvPr id="27" name="Connector 26"/>
          <p:cNvCxnSpPr/>
          <p:nvPr/>
        </p:nvCxnSpPr>
        <p:spPr>
          <a:xfrm>
            <a:off x="1152144" y="4334256"/>
            <a:ext cx="4864608" cy="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1121054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7515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93976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80436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6897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53358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39819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12740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99201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38" name="Freeform 37"/>
          <p:cNvSpPr/>
          <p:nvPr/>
        </p:nvSpPr>
        <p:spPr>
          <a:xfrm>
            <a:off x="1395374" y="2473803"/>
            <a:ext cx="4378147" cy="1067738"/>
          </a:xfrm>
          <a:custGeom>
            <a:avLst/>
            <a:gdLst/>
            <a:ahLst/>
            <a:cxnLst/>
            <a:rect l="l" t="t" r="r" b="b"/>
            <a:pathLst>
              <a:path w="4378147" h="1067738">
                <a:moveTo>
                  <a:pt x="0" y="1067738"/>
                </a:moveTo>
                <a:lnTo>
                  <a:pt x="486461" y="1067738"/>
                </a:lnTo>
                <a:lnTo>
                  <a:pt x="972922" y="695648"/>
                </a:lnTo>
                <a:lnTo>
                  <a:pt x="1945843" y="695648"/>
                </a:lnTo>
                <a:lnTo>
                  <a:pt x="2432304" y="59319"/>
                </a:lnTo>
                <a:lnTo>
                  <a:pt x="3891686" y="59319"/>
                </a:lnTo>
                <a:lnTo>
                  <a:pt x="4378147" y="0"/>
                </a:lnTo>
              </a:path>
            </a:pathLst>
          </a:custGeom>
          <a:noFill/>
          <a:ln w="254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317650" y="3463817"/>
            <a:ext cx="155448" cy="155448"/>
          </a:xfrm>
          <a:prstGeom prst="ellipse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3038" y="3651269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0.532</a:t>
            </a:r>
          </a:p>
        </p:txBody>
      </p:sp>
      <p:sp>
        <p:nvSpPr>
          <p:cNvPr id="41" name="Oval 40"/>
          <p:cNvSpPr/>
          <p:nvPr/>
        </p:nvSpPr>
        <p:spPr>
          <a:xfrm>
            <a:off x="2290572" y="3091727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965960" y="2858555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0.601</a:t>
            </a:r>
          </a:p>
        </p:txBody>
      </p:sp>
      <p:sp>
        <p:nvSpPr>
          <p:cNvPr id="43" name="Oval 42"/>
          <p:cNvSpPr/>
          <p:nvPr/>
        </p:nvSpPr>
        <p:spPr>
          <a:xfrm>
            <a:off x="2777032" y="3808944"/>
            <a:ext cx="155448" cy="155448"/>
          </a:xfrm>
          <a:prstGeom prst="ellipse">
            <a:avLst/>
          </a:prstGeom>
          <a:solidFill>
            <a:srgbClr val="B438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452420" y="3575772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0.468</a:t>
            </a:r>
          </a:p>
        </p:txBody>
      </p:sp>
      <p:sp>
        <p:nvSpPr>
          <p:cNvPr id="45" name="Oval 44"/>
          <p:cNvSpPr/>
          <p:nvPr/>
        </p:nvSpPr>
        <p:spPr>
          <a:xfrm>
            <a:off x="3263493" y="4170250"/>
            <a:ext cx="155448" cy="155448"/>
          </a:xfrm>
          <a:prstGeom prst="ellipse">
            <a:avLst/>
          </a:prstGeom>
          <a:solidFill>
            <a:srgbClr val="B438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38881" y="3937078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0.401</a:t>
            </a:r>
          </a:p>
        </p:txBody>
      </p:sp>
      <p:sp>
        <p:nvSpPr>
          <p:cNvPr id="47" name="Oval 46"/>
          <p:cNvSpPr/>
          <p:nvPr/>
        </p:nvSpPr>
        <p:spPr>
          <a:xfrm>
            <a:off x="3749954" y="2455398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25342" y="2222226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0.719</a:t>
            </a:r>
          </a:p>
        </p:txBody>
      </p:sp>
      <p:sp>
        <p:nvSpPr>
          <p:cNvPr id="49" name="Oval 48"/>
          <p:cNvSpPr/>
          <p:nvPr/>
        </p:nvSpPr>
        <p:spPr>
          <a:xfrm>
            <a:off x="4236415" y="2455398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695797" y="2396079"/>
            <a:ext cx="155448" cy="155448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71185" y="2162907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0.730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8096" y="4791455"/>
            <a:ext cx="54864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保留　</a:t>
            </a:r>
            <a:r>
              <a:rPr sz="1000" b="0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真机实测更慢，废弃　</a:t>
            </a: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交付复测　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11696" y="1426464"/>
            <a:ext cx="4931359" cy="3694176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11696" y="1499616"/>
            <a:ext cx="4931359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八轮迭代优化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94576" y="1901952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43216" y="1901952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batch_norm 基线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90911" y="1901952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13.24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30991" y="1901952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94576" y="2249424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43216" y="2249424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标定纯内存拷贝耗时下限（探针）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90911" y="2249424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130991" y="2249424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探针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94576" y="2596896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43216" y="2596896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替换为硬件原生 rsqrt 指令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490911" y="2596896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11.72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130991" y="2596896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803136" y="2944368"/>
            <a:ext cx="4748479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94576" y="2944368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43216" y="2944368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shared 广播系数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90911" y="2944368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15.06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130991" y="2944368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803136" y="3291840"/>
            <a:ext cx="4748479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894576" y="3291840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43216" y="3291840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host 折系数 + 每次 H2D（非 kernel耗时）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490911" y="3291840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17.60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130991" y="3291840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94576" y="3639312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43216" y="3639312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修 copy 的寄存器 spill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490911" y="3639312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30991" y="3639312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94576" y="3986784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43216" y="3986784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计算折叠为 scale * x + shift（乘加融合）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90911" y="3986784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130991" y="3986784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94576" y="4334256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 · 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443216" y="4334256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完善模拟器脚手架与修复 ABI 接口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490911" y="4334256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–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130991" y="4334256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基建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803136" y="4681728"/>
            <a:ext cx="4748479" cy="347472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94576" y="4681728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443216" y="4681728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空闲卡复测 iters=200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490911" y="4681728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9.66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130991" y="4681728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8640" y="5230368"/>
            <a:ext cx="2743200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同一算子实现，泛化至不同 Shape 的实测表现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 launch 开销约 1.95 µs，小 Shape 下 Launch 固定开销占比极高，稀释了计算优化收益。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328416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456432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 × 1600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0.143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0.344 → 2.407 µs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43651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571667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32 × 6400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0.364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1.377 → 3.788 µs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558887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686903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64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0.449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1.762 → 3.925 µs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674123" y="5230368"/>
            <a:ext cx="1968931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802139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256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0.724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7.049 → 9.736 µs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48640" y="5943600"/>
            <a:ext cx="11094415" cy="493776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48640" y="5943600"/>
            <a:ext cx="73152" cy="49377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77824" y="5943600"/>
            <a:ext cx="10436047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对比纯内存拷贝极限（9.83 µs），当前算子优化耗时（9.66 µs）已逼近硬件物理极限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Agent：Agent 的内部组件与内外交互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两层 Agent 由同一套组件拼成：记忆 → 观察 → 思考 → 行动；差别只在订阅哪些消息、调用哪些工具、由谁判决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2615184" cy="4626864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207008"/>
            <a:ext cx="2615184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298448"/>
            <a:ext cx="2322576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环境（Environment）</a:t>
            </a:r>
            <a:r>
              <a:rPr sz="9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消息总线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536192"/>
            <a:ext cx="2322576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源码工作区 · 设备锁 · Trial 逐次落盘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1792224"/>
            <a:ext cx="22860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1828800"/>
            <a:ext cx="2066543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瓶颈算子 + Shape 规格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模型层 → 算子层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2450591"/>
            <a:ext cx="22860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2487168"/>
            <a:ext cx="2066543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新算子内核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算子层 → 模型层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3108960"/>
            <a:ext cx="22860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3145536"/>
            <a:ext cx="2066543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Trace 与耗时归因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工具 → 本层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3767328"/>
            <a:ext cx="22860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" y="3803904"/>
            <a:ext cx="2066543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评测报告与判定结论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判决侧 → 两层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4425696"/>
            <a:ext cx="22860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4462272"/>
            <a:ext cx="2066543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新基线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判定通过后整体更新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5248656"/>
            <a:ext cx="2286000" cy="47548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两层 Agent 都挂在这条总线上，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各自订阅自己关心的消息类型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84448" y="1207008"/>
            <a:ext cx="3968496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Agent 内部组件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27264" y="1207008"/>
            <a:ext cx="3815791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外部对接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84448" y="1444752"/>
            <a:ext cx="3968496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584448" y="1444752"/>
            <a:ext cx="64008" cy="74980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85615" y="1490472"/>
            <a:ext cx="3602736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记忆</a:t>
            </a:r>
            <a:r>
              <a:rPr sz="9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　Memory</a:t>
            </a: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把任务约束与历史带进每一轮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契约锁定评测条件；被拒原因与历次 Trial 逐轮回灌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27264" y="1444752"/>
            <a:ext cx="3815791" cy="749808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1856" y="1490472"/>
            <a:ext cx="3486607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任务契约与知识库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optimization-task.json 锁定模型、精度、负载、准入门槛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调优知识库与 Skills：只读目录索引，每轮最多调取 2 份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7589519" y="1819656"/>
            <a:ext cx="201169" cy="0"/>
          </a:xfrm>
          <a:prstGeom prst="line">
            <a:avLst/>
          </a:prstGeom>
          <a:ln w="15875">
            <a:solidFill>
              <a:srgbClr val="7FA4BA"/>
            </a:solidFill>
            <a:tailEnd type="triangle" w="med" len="med"/>
          </a:ln>
        </p:spPr>
      </p:cxnSp>
      <p:sp>
        <p:nvSpPr>
          <p:cNvPr id="29" name="Rectangle 28"/>
          <p:cNvSpPr/>
          <p:nvPr/>
        </p:nvSpPr>
        <p:spPr>
          <a:xfrm>
            <a:off x="3584448" y="2322576"/>
            <a:ext cx="3968496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84448" y="2322576"/>
            <a:ext cx="64008" cy="74980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85615" y="2368296"/>
            <a:ext cx="3602736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观察</a:t>
            </a:r>
            <a:r>
              <a:rPr sz="9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　Observation</a:t>
            </a: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只接收消息与证据，不自行解释成败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订阅本层关心的消息：Trace 归因、评测报告、Shape 规格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27264" y="2322576"/>
            <a:ext cx="3815791" cy="749808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91856" y="2368296"/>
            <a:ext cx="3486607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工具采集的证据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profile 接口采 Trace，golden 比对数值，真机重复计时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证据先锁定再进入下一环，观察环节不改写证据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589519" y="2697480"/>
            <a:ext cx="201169" cy="0"/>
          </a:xfrm>
          <a:prstGeom prst="line">
            <a:avLst/>
          </a:prstGeom>
          <a:ln w="15875">
            <a:solidFill>
              <a:srgbClr val="7FA4BA"/>
            </a:solidFill>
            <a:tailEnd type="triangle" w="med" len="med"/>
          </a:ln>
        </p:spPr>
      </p:cxnSp>
      <p:sp>
        <p:nvSpPr>
          <p:cNvPr id="35" name="Rectangle 34"/>
          <p:cNvSpPr/>
          <p:nvPr/>
        </p:nvSpPr>
        <p:spPr>
          <a:xfrm>
            <a:off x="3584448" y="3200400"/>
            <a:ext cx="3968496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584448" y="3200400"/>
            <a:ext cx="64008" cy="74980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785615" y="3246120"/>
            <a:ext cx="3602736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思考</a:t>
            </a:r>
            <a:r>
              <a:rPr sz="9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　Thought</a:t>
            </a: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全流程唯一调用模型的环节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看证据写代码：结合源码与锁定证据提出优化假设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27264" y="3200400"/>
            <a:ext cx="3815791" cy="749808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91856" y="3246120"/>
            <a:ext cx="3486607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大模型 + 人按需介入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全流程唯一的模型；复杂场景由人直接改或与之协同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人工介入同样走下方那道判定，不另开通道</a:t>
            </a:r>
          </a:p>
        </p:txBody>
      </p:sp>
      <p:cxnSp>
        <p:nvCxnSpPr>
          <p:cNvPr id="40" name="Connector 39"/>
          <p:cNvCxnSpPr/>
          <p:nvPr/>
        </p:nvCxnSpPr>
        <p:spPr>
          <a:xfrm flipH="1">
            <a:off x="7589519" y="3575304"/>
            <a:ext cx="201169" cy="0"/>
          </a:xfrm>
          <a:prstGeom prst="line">
            <a:avLst/>
          </a:prstGeom>
          <a:ln w="15875">
            <a:solidFill>
              <a:srgbClr val="7FA4BA"/>
            </a:solidFill>
            <a:tailEnd type="triangle" w="med" len="med"/>
          </a:ln>
        </p:spPr>
      </p:cxnSp>
      <p:sp>
        <p:nvSpPr>
          <p:cNvPr id="41" name="Rectangle 40"/>
          <p:cNvSpPr/>
          <p:nvPr/>
        </p:nvSpPr>
        <p:spPr>
          <a:xfrm>
            <a:off x="3584448" y="4078224"/>
            <a:ext cx="3968496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584448" y="4078224"/>
            <a:ext cx="64008" cy="74980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85615" y="4123944"/>
            <a:ext cx="3602736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行动</a:t>
            </a:r>
            <a:r>
              <a:rPr sz="9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　Action</a:t>
            </a: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产出一律是候选，不是结论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模型层出代码补丁；算子层出算子实现（显式规划 DMA 与流水）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27264" y="4078224"/>
            <a:ext cx="3815791" cy="749808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91856" y="4123944"/>
            <a:ext cx="3486607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工具（Tools）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编译构建 · 运行 · 性能采集 · 数值比对 · 模拟器定位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与硬件耦合的只有 backend/ 这一层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589519" y="4453128"/>
            <a:ext cx="201169" cy="0"/>
          </a:xfrm>
          <a:prstGeom prst="line">
            <a:avLst/>
          </a:prstGeom>
          <a:ln w="15875">
            <a:solidFill>
              <a:srgbClr val="D2690C"/>
            </a:solidFill>
            <a:tailEnd type="triangle" w="med" len="med"/>
          </a:ln>
        </p:spPr>
      </p:cxnSp>
      <p:cxnSp>
        <p:nvCxnSpPr>
          <p:cNvPr id="47" name="Connector 46"/>
          <p:cNvCxnSpPr/>
          <p:nvPr/>
        </p:nvCxnSpPr>
        <p:spPr>
          <a:xfrm>
            <a:off x="5568696" y="2203703"/>
            <a:ext cx="0" cy="109729"/>
          </a:xfrm>
          <a:prstGeom prst="line">
            <a:avLst/>
          </a:prstGeom>
          <a:ln w="15875">
            <a:solidFill>
              <a:srgbClr val="D2690C"/>
            </a:solidFill>
            <a:tailEnd type="triangle" w="med" len="med"/>
          </a:ln>
        </p:spPr>
      </p:cxnSp>
      <p:cxnSp>
        <p:nvCxnSpPr>
          <p:cNvPr id="48" name="Connector 47"/>
          <p:cNvCxnSpPr/>
          <p:nvPr/>
        </p:nvCxnSpPr>
        <p:spPr>
          <a:xfrm>
            <a:off x="5568696" y="3081527"/>
            <a:ext cx="0" cy="109729"/>
          </a:xfrm>
          <a:prstGeom prst="line">
            <a:avLst/>
          </a:prstGeom>
          <a:ln w="15875">
            <a:solidFill>
              <a:srgbClr val="D2690C"/>
            </a:solidFill>
            <a:tailEnd type="triangle" w="med" len="med"/>
          </a:ln>
        </p:spPr>
      </p:cxnSp>
      <p:cxnSp>
        <p:nvCxnSpPr>
          <p:cNvPr id="49" name="Connector 48"/>
          <p:cNvCxnSpPr/>
          <p:nvPr/>
        </p:nvCxnSpPr>
        <p:spPr>
          <a:xfrm>
            <a:off x="5568696" y="3959352"/>
            <a:ext cx="0" cy="109728"/>
          </a:xfrm>
          <a:prstGeom prst="line">
            <a:avLst/>
          </a:prstGeom>
          <a:ln w="15875">
            <a:solidFill>
              <a:srgbClr val="D2690C"/>
            </a:solidFill>
            <a:tailEnd type="triangle" w="med" len="med"/>
          </a:ln>
        </p:spPr>
      </p:cxnSp>
      <p:sp>
        <p:nvSpPr>
          <p:cNvPr id="50" name="Rectangle 49"/>
          <p:cNvSpPr/>
          <p:nvPr/>
        </p:nvSpPr>
        <p:spPr>
          <a:xfrm>
            <a:off x="3584448" y="5102352"/>
            <a:ext cx="8058607" cy="749808"/>
          </a:xfrm>
          <a:prstGeom prst="rect">
            <a:avLst/>
          </a:prstGeom>
          <a:solidFill>
            <a:srgbClr val="FFFFFF"/>
          </a:solidFill>
          <a:ln w="1905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584448" y="5102352"/>
            <a:ext cx="73152" cy="74980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858768" y="5148072"/>
            <a:ext cx="7601407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判决侧 · 规则驱动，无模型</a:t>
            </a:r>
            <a:r>
              <a:rPr sz="105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无权自行宣告成功：行动的产出必须先过这里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58768" y="5431536"/>
            <a:ext cx="3754983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模型层＝控制器：单算子初筛 → 质量评估 → 端到端 A/B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13751" y="5431536"/>
            <a:ext cx="3754983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算子层＝Harness：L0 编译运行 → L1 数值验证 → Bench 计时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3200400" y="2697480"/>
            <a:ext cx="347472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56" name="TextBox 55"/>
          <p:cNvSpPr txBox="1"/>
          <p:nvPr/>
        </p:nvSpPr>
        <p:spPr>
          <a:xfrm>
            <a:off x="3200400" y="2478024"/>
            <a:ext cx="34747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订阅</a:t>
            </a:r>
          </a:p>
        </p:txBody>
      </p:sp>
      <p:cxnSp>
        <p:nvCxnSpPr>
          <p:cNvPr id="57" name="Connector 56"/>
          <p:cNvCxnSpPr/>
          <p:nvPr/>
        </p:nvCxnSpPr>
        <p:spPr>
          <a:xfrm flipH="1">
            <a:off x="3200400" y="5477256"/>
            <a:ext cx="347472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58" name="TextBox 57"/>
          <p:cNvSpPr txBox="1"/>
          <p:nvPr/>
        </p:nvSpPr>
        <p:spPr>
          <a:xfrm>
            <a:off x="3200400" y="5257800"/>
            <a:ext cx="34747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回写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568696" y="4837176"/>
            <a:ext cx="0" cy="256032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60" name="TextBox 59"/>
          <p:cNvSpPr txBox="1"/>
          <p:nvPr/>
        </p:nvSpPr>
        <p:spPr>
          <a:xfrm>
            <a:off x="5660136" y="4828032"/>
            <a:ext cx="1097280" cy="274319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提交候选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925312"/>
            <a:ext cx="11094415" cy="512064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8640" y="5925312"/>
            <a:ext cx="73152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77824" y="5925312"/>
            <a:ext cx="10436047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与通用 Agent 框架的唯一差别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→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「行动」不能直接产生新消息，必须先过一道确定性判决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Agent：全栈模型 Roofline 协同优化体系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演进目标（Target State）：算子 · 计算图 · 引擎三层协同寻优；优化目标由约束条件正向推导，最终准入交由真机实测一锤定音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" y="1261872"/>
            <a:ext cx="10838383" cy="78638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" y="1261872"/>
            <a:ext cx="54864" cy="78638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1143000"/>
            <a:ext cx="2047453" cy="237744"/>
          </a:xfrm>
          <a:prstGeom prst="roundRect">
            <a:avLst>
              <a:gd name="adj" fmla="val 5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目标层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锚定上限 · 拆解差距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" y="1389888"/>
            <a:ext cx="21031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426464"/>
            <a:ext cx="173736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人（输入约束）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业务流量画像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服务时延约束（SLO）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36391" y="1655063"/>
            <a:ext cx="237745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2" name="Rectangle 11"/>
          <p:cNvSpPr/>
          <p:nvPr/>
        </p:nvSpPr>
        <p:spPr>
          <a:xfrm>
            <a:off x="3419856" y="1389888"/>
            <a:ext cx="40233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1024" y="1426464"/>
            <a:ext cx="36576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上限核算器 · 纯理论推导（无模型）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仅依据模型配置与硬件物理规格直接推算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理论上限不含实测校准项，不靠实测数据反向拼凑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88936" y="1655063"/>
            <a:ext cx="237744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5" name="Rectangle 14"/>
          <p:cNvSpPr/>
          <p:nvPr/>
        </p:nvSpPr>
        <p:spPr>
          <a:xfrm>
            <a:off x="7772400" y="1389888"/>
            <a:ext cx="3867912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1426464"/>
            <a:ext cx="350215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总差距拆解为三个维度</a:t>
            </a: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（三个倍率相乘，不是耗时相加）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73568" y="1636776"/>
            <a:ext cx="562115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工作点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5683" y="1627632"/>
            <a:ext cx="2011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6851" y="1636776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步间调度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9282" y="1627632"/>
            <a:ext cx="2011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20450" y="1636776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单步执行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73568" y="1847088"/>
            <a:ext cx="3502152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责任到层，每一项差距均有明确的优化归属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87552" y="2185415"/>
            <a:ext cx="10655503" cy="0"/>
          </a:xfrm>
          <a:prstGeom prst="line">
            <a:avLst/>
          </a:prstGeom>
          <a:ln w="9525">
            <a:solidFill>
              <a:srgbClr val="AFCEE1"/>
            </a:solidFill>
            <a:prstDash val="dash"/>
          </a:ln>
        </p:spPr>
      </p:cxnSp>
      <p:sp>
        <p:nvSpPr>
          <p:cNvPr id="24" name="Rectangle 23"/>
          <p:cNvSpPr/>
          <p:nvPr/>
        </p:nvSpPr>
        <p:spPr>
          <a:xfrm>
            <a:off x="987552" y="2084831"/>
            <a:ext cx="3540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2084831"/>
            <a:ext cx="3540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↓　任务派发：按理论差距大小排序，明确标注归属层级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" y="2450592"/>
            <a:ext cx="10838383" cy="18470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" y="2450592"/>
            <a:ext cx="54864" cy="184708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2331720"/>
            <a:ext cx="2936453" cy="237744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规划层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外环寻优工作点 · 内环逼近硬件上限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71472" y="2331720"/>
            <a:ext cx="1771583" cy="23774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1472" y="2331720"/>
            <a:ext cx="177158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方括号标签表示当前能力成熟度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7552" y="2578608"/>
            <a:ext cx="10655503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88720" y="2606040"/>
            <a:ext cx="115021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外环 · 推理引擎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412090" y="2615184"/>
            <a:ext cx="731520" cy="182880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[ 探索中 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88720" y="2807208"/>
            <a:ext cx="768096" cy="164592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工作点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48256" y="2807208"/>
            <a:ext cx="9393631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显存切分策略 · 单步批大小（Batch Size） · 投机解码（Speculative Decoding）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88720" y="2990088"/>
            <a:ext cx="768096" cy="164592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步间调度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48256" y="2990088"/>
            <a:ext cx="9393631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调度与执行重叠（Overlap Scheduler） · 分块预填充（Chunked Prefill）与混跑 · 前缀缓存 · PD 分离部署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88720" y="3182112"/>
            <a:ext cx="3096447" cy="201168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↓　下发：张量形状（Shape）分布 + 新算子需求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22911" y="3182112"/>
            <a:ext cx="3260076" cy="201168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反馈：单步耗时代价曲线 + 时延余量（Budget）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" y="3419856"/>
            <a:ext cx="10655503" cy="841248"/>
          </a:xfrm>
          <a:prstGeom prst="rect">
            <a:avLst/>
          </a:prstGeom>
          <a:solidFill>
            <a:srgbClr val="FFFFFF"/>
          </a:solidFill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88720" y="3447288"/>
            <a:ext cx="5120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内环 · 计算图 + 算子：在锁定工作点上逼近硬件极限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59456" y="3456432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单步执行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88720" y="3657600"/>
            <a:ext cx="76809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计算图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975104" y="3666744"/>
            <a:ext cx="804672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[ 部分就绪 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71216" y="3657600"/>
            <a:ext cx="857067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算子融合 · 多流并发（Multi-Stream） · 通信窗口预取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88720" y="4041648"/>
            <a:ext cx="76809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算子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975104" y="4050791"/>
            <a:ext cx="804672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[ 已就绪 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71216" y="4041648"/>
            <a:ext cx="857067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聚焦单个算子内核（Kernel）的极致代码实现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88720" y="3858768"/>
            <a:ext cx="2125097" cy="164592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↓　下发：算子融合规范（契约）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51561" y="3858768"/>
            <a:ext cx="2150096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反馈：新算子内核 + 实测耗时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87552" y="4434840"/>
            <a:ext cx="10655503" cy="0"/>
          </a:xfrm>
          <a:prstGeom prst="line">
            <a:avLst/>
          </a:prstGeom>
          <a:ln w="9525">
            <a:solidFill>
              <a:srgbClr val="AFCEE1"/>
            </a:solidFill>
            <a:prstDash val="dash"/>
          </a:ln>
        </p:spPr>
      </p:cxnSp>
      <p:sp>
        <p:nvSpPr>
          <p:cNvPr id="52" name="Rectangle 51"/>
          <p:cNvSpPr/>
          <p:nvPr/>
        </p:nvSpPr>
        <p:spPr>
          <a:xfrm>
            <a:off x="987552" y="4334256"/>
            <a:ext cx="2397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7552" y="4334256"/>
            <a:ext cx="2397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↓　提交候选方案（附带层级标签）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0912" y="4334256"/>
            <a:ext cx="2524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10912" y="4334256"/>
            <a:ext cx="2524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淘汰打回：附带失败原因退回重改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4672" y="4700016"/>
            <a:ext cx="10838383" cy="1335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04672" y="4700016"/>
            <a:ext cx="54864" cy="133502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87552" y="4581144"/>
            <a:ext cx="3063453" cy="237744"/>
          </a:xfrm>
          <a:prstGeom prst="roundRect">
            <a:avLst>
              <a:gd name="adj" fmla="val 5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判决层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规则驱动（无大模型） · 真机实测终审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7552" y="4828031"/>
            <a:ext cx="3454191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88720" y="4882895"/>
            <a:ext cx="3088431" cy="10607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仿真器 · 仅做初筛淘汰，不作准入放行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快速筛除明显劣化的候选方案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（主要用于引擎层策略初筛）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41743" y="5193792"/>
            <a:ext cx="78638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→　初筛送测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41743" y="5431536"/>
            <a:ext cx="78638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←　实测校准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228127" y="4828031"/>
            <a:ext cx="6414927" cy="1170432"/>
          </a:xfrm>
          <a:prstGeom prst="rect">
            <a:avLst/>
          </a:prstGeom>
          <a:solidFill>
            <a:srgbClr val="FFFFFF"/>
          </a:solidFill>
          <a:ln w="1587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29295" y="4864607"/>
            <a:ext cx="60491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真机实测 · 唯一准入终审（一票否决）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29295" y="5065775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算子级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5407" y="5065775"/>
            <a:ext cx="51164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L0（编译）/ L1（精度）/ Bench（测速），严格按引擎下发的真实 Shape 评测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29295" y="5248655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计算图级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5407" y="5248655"/>
            <a:ext cx="51164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整模型端到端 A/B 性能压测 + 生成质量门禁评测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29295" y="5431536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引擎级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5407" y="5431536"/>
            <a:ext cx="5116479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真实流量回放 · 约束下的吞吐与 P99 · 实测接受长度 · OOM 与抢占 · 长稳 · 多画像不退化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重叠开关前后一致性校验：固定批次逐位一致，混合负载按质量门禁容差判定；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高负载长稳压测排查并发竞态（Race Condition）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04672" y="6071616"/>
            <a:ext cx="10838383" cy="310896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04672" y="6071616"/>
            <a:ext cx="54864" cy="310896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6223863" y="6126479"/>
            <a:ext cx="0" cy="201169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74" name="TextBox 73"/>
          <p:cNvSpPr txBox="1"/>
          <p:nvPr/>
        </p:nvSpPr>
        <p:spPr>
          <a:xfrm>
            <a:off x="1024128" y="6071616"/>
            <a:ext cx="514487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闭环演进　</a:t>
            </a:r>
            <a:r>
              <a:rPr sz="10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验证通过即晋升为最新基线，回流目标层重新核算差距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43319" y="6071616"/>
            <a:ext cx="514487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收敛条件　</a:t>
            </a:r>
            <a:r>
              <a:rPr sz="10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候选收益无法跨越系统噪声门限时，迭代自动收敛终止</a:t>
            </a:r>
          </a:p>
        </p:txBody>
      </p:sp>
      <p:sp>
        <p:nvSpPr>
          <p:cNvPr id="76" name="Freeform 75"/>
          <p:cNvSpPr/>
          <p:nvPr/>
        </p:nvSpPr>
        <p:spPr>
          <a:xfrm>
            <a:off x="603504" y="1664207"/>
            <a:ext cx="201168" cy="4562857"/>
          </a:xfrm>
          <a:custGeom>
            <a:avLst/>
            <a:gdLst/>
            <a:ahLst/>
            <a:cxnLst/>
            <a:rect l="l" t="t" r="r" b="b"/>
            <a:pathLst>
              <a:path w="201168" h="4562857">
                <a:moveTo>
                  <a:pt x="201168" y="4562857"/>
                </a:moveTo>
                <a:lnTo>
                  <a:pt x="0" y="4562857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603504" y="1664207"/>
            <a:ext cx="182880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78" name="TextBox 77"/>
          <p:cNvSpPr txBox="1"/>
          <p:nvPr/>
        </p:nvSpPr>
        <p:spPr>
          <a:xfrm>
            <a:off x="548640" y="6419088"/>
            <a:ext cx="85953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第 7–8 页是单步口径（ms/步），本页是服务口径（约束下的吞吐），两种口径的数不能直接对齐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38647" y="2779776"/>
            <a:ext cx="914400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072384"/>
            <a:ext cx="11094415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从『我们自己做生态』到『合作伙伴共建生态飞轮』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把M100 + Agent 能力沉淀为可交付的智能体产品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把内部沉淀的适配智能体能力产品化，做到可复用、可交付、可复制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98448"/>
            <a:ext cx="11094415" cy="859536"/>
          </a:xfrm>
          <a:prstGeom prst="rect">
            <a:avLst/>
          </a:prstGeom>
          <a:solidFill>
            <a:srgbClr val="E6F0FC"/>
          </a:solidFill>
          <a:ln w="1587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71600"/>
            <a:ext cx="2194560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核心目标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1792224"/>
            <a:ext cx="56692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面向昆仑芯M100智能体产品：可复用 Skills + 统一知识库 + 多智能体协同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426464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模型适配与评估优化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42832" y="1426464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算子性能分析与生成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73936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故障诊断与智能问答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42832" y="1773936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性能与精度自动化评估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Skill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执行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标准化 SOP：能力快照 / 启动配置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框架与插件缺口清单，换版即同步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6026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6026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3770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知识库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沉淀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3770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源码级事实：缺口、热点与拐点清单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不靠人工维护，结论跟着版本走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03412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03412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1156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测评体系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1156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收益评估 · 压测校准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SLO 与单机容量验证，结果回流知识库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657600"/>
            <a:ext cx="11094415" cy="402336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657600"/>
            <a:ext cx="11094415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统一编排 · 自我进化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→　</a:t>
            </a: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把三套体系沉淀为一个多Agent产品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Teams协作流程编排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8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分阶段执行工作流，每个阶段明确 输入 / 输出 / 条件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定义模型适配、调优、算子绑定工作流程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并行调度：多Agent并行执行，减少等待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93082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12538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Agent角色执行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94250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8842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角色：可行性评估Agent、适配与性能分析Agent、算子绑定与开发Agent、测试验证Agent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每个Agent独立执行，协同推进</a:t>
            </a:r>
          </a:p>
        </p:txBody>
      </p:sp>
      <p:sp>
        <p:nvSpPr>
          <p:cNvPr id="35" name="Pentagon 34"/>
          <p:cNvSpPr/>
          <p:nvPr/>
        </p:nvSpPr>
        <p:spPr>
          <a:xfrm>
            <a:off x="3972458" y="4279392"/>
            <a:ext cx="384048" cy="438912"/>
          </a:xfrm>
          <a:prstGeom prst="homePlate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37524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56980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Skill 知识技能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38692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03284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包含硬件产品、源码、文档、工具、等先验知识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调试工具和结果可挂载到Agent上下文全面分析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优化分析过程和结果可作为Skill自进化输入</a:t>
            </a:r>
          </a:p>
        </p:txBody>
      </p:sp>
      <p:sp>
        <p:nvSpPr>
          <p:cNvPr id="40" name="Pentagon 39"/>
          <p:cNvSpPr/>
          <p:nvPr/>
        </p:nvSpPr>
        <p:spPr>
          <a:xfrm>
            <a:off x="7816900" y="4279392"/>
            <a:ext cx="384048" cy="438912"/>
          </a:xfrm>
          <a:prstGeom prst="homePlate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生态飞轮：面向伙伴、最终客户，放大生态收益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把 M100智能体产品 开放出去 —— </a:t>
            </a: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降低适配门槛、加速模型覆盖，让昆仑芯生态进入正循环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028535" y="2296700"/>
            <a:ext cx="874009" cy="38705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7" name="Connector 6"/>
          <p:cNvCxnSpPr/>
          <p:nvPr/>
        </p:nvCxnSpPr>
        <p:spPr>
          <a:xfrm flipH="1">
            <a:off x="8047224" y="3581418"/>
            <a:ext cx="529665" cy="993611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8" name="Connector 7"/>
          <p:cNvCxnSpPr/>
          <p:nvPr/>
        </p:nvCxnSpPr>
        <p:spPr>
          <a:xfrm flipH="1">
            <a:off x="5335502" y="5059661"/>
            <a:ext cx="1520690" cy="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3614805" y="3581418"/>
            <a:ext cx="529666" cy="993611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10" name="Connector 9"/>
          <p:cNvCxnSpPr/>
          <p:nvPr/>
        </p:nvCxnSpPr>
        <p:spPr>
          <a:xfrm flipV="1">
            <a:off x="4289150" y="2296700"/>
            <a:ext cx="874009" cy="38705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sp>
        <p:nvSpPr>
          <p:cNvPr id="11" name="Rounded Rectangle 10"/>
          <p:cNvSpPr/>
          <p:nvPr/>
        </p:nvSpPr>
        <p:spPr>
          <a:xfrm>
            <a:off x="5272887" y="1508760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降低模型适配成本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2272" y="2721882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扩大模型覆盖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65920" y="4684757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反哺软件栈能力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79854" y="4684757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提升芯片竞争力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33502" y="2721882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吸引更多伙伴与客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5687" y="3364992"/>
            <a:ext cx="25603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Looping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70448"/>
            <a:ext cx="11094415" cy="56692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870448"/>
            <a:ext cx="73152" cy="56692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5870448"/>
            <a:ext cx="1043604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生态收益最大化</a:t>
            </a:r>
            <a:r>
              <a:rPr sz="13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——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让每一次适配都可沉淀、可复用，把个体投入转化为昆仑芯的生态资产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