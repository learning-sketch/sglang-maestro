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Agent：模型层内部组件与人机交互机制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控制器确定性调度，规划器唯一引入大模型；人仅在契约下发、协同介入、终审验收三处交互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23113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人机交互边界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Human in the 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9624" y="1207008"/>
            <a:ext cx="424281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 核心架构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控制器定规则 · 规划器出方案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15984" y="1207008"/>
            <a:ext cx="262707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被测系统与落盘库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SUT &amp; Local Artifacts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54480"/>
            <a:ext cx="237744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54480"/>
            <a:ext cx="64008" cy="11521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00200"/>
            <a:ext cx="2048256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冻结下发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人 → 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优化配置：模型 · 负载 · 门限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质量契约：数值探针 + 评测集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调优知识库：10 份 Skill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授权与跳过边界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52928"/>
            <a:ext cx="237744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852928"/>
            <a:ext cx="64008" cy="11521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898648"/>
            <a:ext cx="2048256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判决回报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Agent → 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最优版本与优化报告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全量可溯源证据链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账本自检异常说明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结论适用边界声明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237744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151376"/>
            <a:ext cx="64008" cy="135331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97096"/>
            <a:ext cx="2048256" cy="12618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按需介入</a:t>
            </a:r>
            <a:r>
              <a:rPr sz="800" b="1">
                <a:solidFill>
                  <a:srgbClr val="D2690C"/>
                </a:solidFill>
                <a:latin typeface="Consolas"/>
                <a:ea typeface="Microsoft YaHei"/>
                <a:cs typeface="Microsoft YaHei"/>
              </a:rPr>
              <a:t>　人 ⇄ 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复杂改动由人工操刀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与规划器结对写补丁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人工补丁同样走四道门禁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不改变准入判定路径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1554480"/>
            <a:ext cx="277337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9680" y="1554480"/>
            <a:ext cx="64008" cy="128016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59" y="1600200"/>
            <a:ext cx="2444191" cy="118871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被测系统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SUT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SGLang 原仓库原位建版本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增量编译登记的算子组件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物理卡 · 服务启停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回传 Trace · Logprob · 吞吐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3456432"/>
            <a:ext cx="2773375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3456432"/>
            <a:ext cx="64008" cy="16093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59" y="3502151"/>
            <a:ext cx="2444191" cy="15179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证据与产物库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Artifacts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35 次 Trial 独立成目录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冻结快照与组件 SHA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账本 · Trace · Probe 结果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规划器往来全量报文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完整证据留本地，按需调取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1517904"/>
            <a:ext cx="4389120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34993" y="1554480"/>
            <a:ext cx="4125772" cy="21762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34993" y="1554480"/>
            <a:ext cx="4125772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1297" y="1627632"/>
            <a:ext cx="383316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Python 控制器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确定性中枢 · 无模型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81297" y="1901952"/>
            <a:ext cx="185257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09313" y="1947672"/>
            <a:ext cx="1614830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状态与工作区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optimization.py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设备锁 · 状态机 · 恢复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原位构建 · 精确重测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61888" y="1901952"/>
            <a:ext cx="185257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9903" y="1947672"/>
            <a:ext cx="1614830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采样与账本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roofline.py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一次性服务 Trace 采样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对齐源码 · 下界核算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81297" y="2798064"/>
            <a:ext cx="185257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09313" y="2843784"/>
            <a:ext cx="1614830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四道门禁流水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selfiterate_gates.py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 算子微测 ≥ 2% · 数值门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评测集不降 · D 三方 A/B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61888" y="2798064"/>
            <a:ext cx="185257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9903" y="2843784"/>
            <a:ext cx="1614830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有界取证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planner_diagnostics.py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独立进程探针 ≤ 64 KiB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账本异常自检与隔离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34993" y="3950208"/>
            <a:ext cx="4125772" cy="621792"/>
          </a:xfrm>
          <a:prstGeom prst="rect">
            <a:avLst/>
          </a:prstGeom>
          <a:solidFill>
            <a:srgbClr val="E6F0FC"/>
          </a:solidFill>
          <a:ln w="12700">
            <a:solidFill>
              <a:srgbClr val="0F62C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81297" y="3986784"/>
            <a:ext cx="383316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可审计通信与记忆层</a:t>
            </a:r>
            <a:r>
              <a:rPr sz="7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planner_mailbox.py · planner_memory.py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81297" y="4197096"/>
            <a:ext cx="383316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mailbox</a:t>
            </a: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UUID + 请求 SHA 校验　·　单条消息 ≤ 28 KB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81297" y="4361688"/>
            <a:ext cx="383316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memory</a:t>
            </a: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滚动压缩：提案摘要 + 修改指纹 + 拒绝原因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34993" y="4791456"/>
            <a:ext cx="4125772" cy="713232"/>
          </a:xfrm>
          <a:prstGeom prst="roundRect">
            <a:avLst>
              <a:gd name="adj" fmla="val 10256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81297" y="4837176"/>
            <a:ext cx="226039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Codex 外部托管会话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14846" y="4864608"/>
            <a:ext cx="1499616" cy="20116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硬约束：不能自行宣告成功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81297" y="5102352"/>
            <a:ext cx="38331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读源码与冻结证据，提假设写补丁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动作受限：read / search / probe / patch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562855" y="3749039"/>
            <a:ext cx="0" cy="182881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48" name="Connector 47"/>
          <p:cNvCxnSpPr/>
          <p:nvPr/>
        </p:nvCxnSpPr>
        <p:spPr>
          <a:xfrm>
            <a:off x="4562855" y="4590288"/>
            <a:ext cx="0" cy="18288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49" name="Connector 48"/>
          <p:cNvCxnSpPr/>
          <p:nvPr/>
        </p:nvCxnSpPr>
        <p:spPr>
          <a:xfrm flipV="1">
            <a:off x="7232903" y="3712464"/>
            <a:ext cx="0" cy="256032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 flipV="1">
            <a:off x="7232903" y="4553712"/>
            <a:ext cx="0" cy="256032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1" name="TextBox 50"/>
          <p:cNvSpPr txBox="1"/>
          <p:nvPr/>
        </p:nvSpPr>
        <p:spPr>
          <a:xfrm>
            <a:off x="4626864" y="3749039"/>
            <a:ext cx="1243584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下发：账本 + 被拒记忆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25311" y="3749039"/>
            <a:ext cx="1243584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提交：假设 + 补丁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962656" y="2130552"/>
            <a:ext cx="835761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54" name="Connector 53"/>
          <p:cNvCxnSpPr/>
          <p:nvPr/>
        </p:nvCxnSpPr>
        <p:spPr>
          <a:xfrm flipH="1">
            <a:off x="2962656" y="3429000"/>
            <a:ext cx="835761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55" name="Connector 54"/>
          <p:cNvCxnSpPr/>
          <p:nvPr/>
        </p:nvCxnSpPr>
        <p:spPr>
          <a:xfrm>
            <a:off x="2962656" y="5148072"/>
            <a:ext cx="835761" cy="0"/>
          </a:xfrm>
          <a:prstGeom prst="line">
            <a:avLst/>
          </a:prstGeom>
          <a:ln w="19050">
            <a:solidFill>
              <a:srgbClr val="D2690C"/>
            </a:solidFill>
            <a:headEnd type="triangle" w="med" len="med"/>
            <a:tailEnd type="triangle" w="med" len="med"/>
          </a:ln>
        </p:spPr>
      </p:cxnSp>
      <p:sp>
        <p:nvSpPr>
          <p:cNvPr id="56" name="Rounded Rectangle 55"/>
          <p:cNvSpPr/>
          <p:nvPr/>
        </p:nvSpPr>
        <p:spPr>
          <a:xfrm>
            <a:off x="2958084" y="1874520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契约 · 授权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958084" y="3172968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报告 · 证据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958084" y="4892040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协同写补丁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997342" y="2029968"/>
            <a:ext cx="83576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60" name="Connector 59"/>
          <p:cNvCxnSpPr/>
          <p:nvPr/>
        </p:nvCxnSpPr>
        <p:spPr>
          <a:xfrm flipH="1">
            <a:off x="7997342" y="2542032"/>
            <a:ext cx="83576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61" name="Rounded Rectangle 60"/>
          <p:cNvSpPr/>
          <p:nvPr/>
        </p:nvSpPr>
        <p:spPr>
          <a:xfrm>
            <a:off x="8124443" y="1773936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补丁 · 构建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70163" y="2286000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实测数据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326880" y="2852927"/>
            <a:ext cx="0" cy="5852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64" name="TextBox 63"/>
          <p:cNvSpPr txBox="1"/>
          <p:nvPr/>
        </p:nvSpPr>
        <p:spPr>
          <a:xfrm>
            <a:off x="9436607" y="2834639"/>
            <a:ext cx="2206447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结果与报文落盘</a:t>
            </a:r>
          </a:p>
        </p:txBody>
      </p:sp>
      <p:cxnSp>
        <p:nvCxnSpPr>
          <p:cNvPr id="65" name="Connector 64"/>
          <p:cNvCxnSpPr/>
          <p:nvPr/>
        </p:nvCxnSpPr>
        <p:spPr>
          <a:xfrm flipH="1">
            <a:off x="7997342" y="4261104"/>
            <a:ext cx="83576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66" name="Rounded Rectangle 65"/>
          <p:cNvSpPr/>
          <p:nvPr/>
        </p:nvSpPr>
        <p:spPr>
          <a:xfrm>
            <a:off x="8170163" y="4005072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按需调取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规划器只提假设与补丁；数值、质量与性能收益全部由控制器独立核验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5054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1104" y="1207008"/>
            <a:ext cx="32552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076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1207008"/>
            <a:ext cx="306598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23744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23744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9463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77056"/>
            <a:ext cx="265176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64008" cy="129844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22776"/>
            <a:ext cx="2322576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572768"/>
            <a:ext cx="3212287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1572768"/>
            <a:ext cx="64008" cy="10789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8" y="1618488"/>
            <a:ext cx="2883103" cy="98755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0768" y="3877056"/>
            <a:ext cx="3212287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3877056"/>
            <a:ext cx="64008" cy="12984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3922776"/>
            <a:ext cx="2883103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517904"/>
            <a:ext cx="3401568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8894" y="1572768"/>
            <a:ext cx="2993379" cy="457200"/>
          </a:xfrm>
          <a:prstGeom prst="roundRect">
            <a:avLst>
              <a:gd name="adj" fmla="val 16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894" y="2176272"/>
            <a:ext cx="2993379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15584" y="2039111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318894" y="2798064"/>
            <a:ext cx="2993379" cy="1316736"/>
          </a:xfrm>
          <a:prstGeom prst="roundRect">
            <a:avLst>
              <a:gd name="adj" fmla="val 5555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8894" y="2999232"/>
            <a:ext cx="299337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3337560"/>
            <a:ext cx="1316736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894" y="3639312"/>
            <a:ext cx="299337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15584" y="2660903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318894" y="4261104"/>
            <a:ext cx="2993379" cy="530352"/>
          </a:xfrm>
          <a:prstGeom prst="roundRect">
            <a:avLst>
              <a:gd name="adj" fmla="val 13793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15584" y="4123944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318894" y="4974336"/>
            <a:ext cx="2993379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交付最优 Kernel 代码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5584" y="4800600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5907024" y="4791456"/>
            <a:ext cx="10058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发布达标实现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236976" y="1609344"/>
            <a:ext cx="146304" cy="1609343"/>
          </a:xfrm>
          <a:prstGeom prst="rightBrace">
            <a:avLst>
              <a:gd name="adj1" fmla="val 80000"/>
              <a:gd name="adj2" fmla="val 50000"/>
            </a:avLst>
          </a:pr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414015"/>
            <a:ext cx="87160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3401568" y="2157984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 / 感知</a:t>
            </a:r>
          </a:p>
        </p:txBody>
      </p:sp>
      <p:sp>
        <p:nvSpPr>
          <p:cNvPr id="44" name="Freeform 43"/>
          <p:cNvSpPr/>
          <p:nvPr/>
        </p:nvSpPr>
        <p:spPr>
          <a:xfrm>
            <a:off x="2871216" y="3456432"/>
            <a:ext cx="1411102" cy="393192"/>
          </a:xfrm>
          <a:custGeom>
            <a:avLst/>
            <a:gdLst/>
            <a:ahLst/>
            <a:cxnLst/>
            <a:rect l="l" t="t" r="r" b="b"/>
            <a:pathLst>
              <a:path w="1411102" h="393192">
                <a:moveTo>
                  <a:pt x="0" y="393192"/>
                </a:moveTo>
                <a:lnTo>
                  <a:pt x="0" y="0"/>
                </a:lnTo>
                <a:lnTo>
                  <a:pt x="1411102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38727" y="320040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6" name="Freeform 45"/>
          <p:cNvSpPr/>
          <p:nvPr/>
        </p:nvSpPr>
        <p:spPr>
          <a:xfrm>
            <a:off x="7348849" y="2688336"/>
            <a:ext cx="1411103" cy="768096"/>
          </a:xfrm>
          <a:custGeom>
            <a:avLst/>
            <a:gdLst/>
            <a:ahLst/>
            <a:cxnLst/>
            <a:rect l="l" t="t" r="r" b="b"/>
            <a:pathLst>
              <a:path w="1411103" h="768096">
                <a:moveTo>
                  <a:pt x="0" y="768096"/>
                </a:moveTo>
                <a:lnTo>
                  <a:pt x="1411103" y="768096"/>
                </a:lnTo>
                <a:lnTo>
                  <a:pt x="1411103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6" y="3200400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按需调用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48849" y="4526280"/>
            <a:ext cx="1045343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671816" y="4270248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50" name="Freeform 49"/>
          <p:cNvSpPr/>
          <p:nvPr/>
        </p:nvSpPr>
        <p:spPr>
          <a:xfrm>
            <a:off x="1874519" y="5212080"/>
            <a:ext cx="8162392" cy="493776"/>
          </a:xfrm>
          <a:custGeom>
            <a:avLst/>
            <a:gdLst/>
            <a:ahLst/>
            <a:cxnLst/>
            <a:rect l="l" t="t" r="r" b="b"/>
            <a:pathLst>
              <a:path w="8162392" h="493776">
                <a:moveTo>
                  <a:pt x="8162392" y="0"/>
                </a:moveTo>
                <a:lnTo>
                  <a:pt x="8162392" y="493776"/>
                </a:lnTo>
                <a:lnTo>
                  <a:pt x="0" y="49377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45152" y="5605272"/>
            <a:ext cx="23408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8–9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