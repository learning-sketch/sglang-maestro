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Agent：内部组件与人机交互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证据感知 — 假设推演 — 确定性核验；人只在下发契约、协同改动、终审验收三处介入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45059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契约与证据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207008"/>
            <a:ext cx="36941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508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1392" y="1207008"/>
            <a:ext cx="279166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确定性工具与评测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无大模型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60934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0934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5506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冻结契约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模型 · 精度 · 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门限 · 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2596896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08376"/>
            <a:ext cx="2267712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协同补丁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复杂改动由人主导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同样要过四道门禁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8678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3250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判决与证据黑板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Verdict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门禁判决与被拒原因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数值与质量偏差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实测与下界的差距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1609344"/>
            <a:ext cx="2937967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05088" y="1609344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67" y="1655064"/>
            <a:ext cx="2608783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源码与冻结证据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Evidence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原仓库只读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探针按需补测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全程留痕落盘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冻结快照 + SHA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3602736"/>
            <a:ext cx="2937967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05088" y="3602736"/>
            <a:ext cx="64008" cy="13716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7" y="3648456"/>
            <a:ext cx="2608783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构建与真机评测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Build &amp; Bench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原位建版 · 精确重测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四道门禁，一票否决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单算子 ≥ 2% · 数值 ≤ 0.03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整模 A/B 超出噪声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真机实测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41648" y="1517904"/>
            <a:ext cx="38404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72076" y="1609344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Orchestration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状态流转 · 断点恢复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2076" y="2286000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通信与记忆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Mailbox / 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逐条校验 ID 与 SHA，只回传摘要与被拒原因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61888" y="2093976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272076" y="2962656"/>
            <a:ext cx="3379622" cy="1207008"/>
          </a:xfrm>
          <a:prstGeom prst="roundRect">
            <a:avLst>
              <a:gd name="adj" fmla="val 6060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2076" y="2980944"/>
            <a:ext cx="337962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　外部 Agent 长跑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325526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6940" y="3511296"/>
            <a:ext cx="3269894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读源码与证据，提出假设与补丁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动作限定：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不能自行宣告成功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61888" y="2770632"/>
            <a:ext cx="0" cy="18288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272076" y="4370832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打包补丁，触发构建与门禁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61888" y="4178808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272076" y="5047488"/>
            <a:ext cx="3379622" cy="402336"/>
          </a:xfrm>
          <a:prstGeom prst="roundRect">
            <a:avLst>
              <a:gd name="adj" fmla="val 18181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判决报告 → 人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最优版本 + 全程证据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61888" y="4855464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6053327" y="4846320"/>
            <a:ext cx="1005840" cy="20116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终审验收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45536" y="1847088"/>
            <a:ext cx="108996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3273551" y="17465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下发契约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45536" y="3310128"/>
            <a:ext cx="1089964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3273551" y="320954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结对补丁</a:t>
            </a:r>
          </a:p>
        </p:txBody>
      </p:sp>
      <p:sp>
        <p:nvSpPr>
          <p:cNvPr id="45" name="Freeform 44"/>
          <p:cNvSpPr/>
          <p:nvPr/>
        </p:nvSpPr>
        <p:spPr>
          <a:xfrm>
            <a:off x="2816352" y="3840480"/>
            <a:ext cx="1419148" cy="118872"/>
          </a:xfrm>
          <a:custGeom>
            <a:avLst/>
            <a:gdLst/>
            <a:ahLst/>
            <a:cxnLst/>
            <a:rect l="l" t="t" r="r" b="b"/>
            <a:pathLst>
              <a:path w="1419148" h="118872">
                <a:moveTo>
                  <a:pt x="0" y="118872"/>
                </a:moveTo>
                <a:lnTo>
                  <a:pt x="0" y="0"/>
                </a:lnTo>
                <a:lnTo>
                  <a:pt x="1419148" y="0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83279" y="3739896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7" name="Freeform 46"/>
          <p:cNvSpPr/>
          <p:nvPr/>
        </p:nvSpPr>
        <p:spPr>
          <a:xfrm>
            <a:off x="7688275" y="2706624"/>
            <a:ext cx="1419149" cy="859536"/>
          </a:xfrm>
          <a:custGeom>
            <a:avLst/>
            <a:gdLst/>
            <a:ahLst/>
            <a:cxnLst/>
            <a:rect l="l" t="t" r="r" b="b"/>
            <a:pathLst>
              <a:path w="1419149" h="859536">
                <a:moveTo>
                  <a:pt x="0" y="859536"/>
                </a:moveTo>
                <a:lnTo>
                  <a:pt x="1419149" y="859536"/>
                </a:lnTo>
                <a:lnTo>
                  <a:pt x="1419149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73568" y="3465576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调取证据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88275" y="4608576"/>
            <a:ext cx="980237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7918704" y="450799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构建 · 门禁</a:t>
            </a:r>
          </a:p>
        </p:txBody>
      </p:sp>
      <p:sp>
        <p:nvSpPr>
          <p:cNvPr id="51" name="Freeform 50"/>
          <p:cNvSpPr/>
          <p:nvPr/>
        </p:nvSpPr>
        <p:spPr>
          <a:xfrm>
            <a:off x="1847088" y="5010912"/>
            <a:ext cx="8326983" cy="694944"/>
          </a:xfrm>
          <a:custGeom>
            <a:avLst/>
            <a:gdLst/>
            <a:ahLst/>
            <a:cxnLst/>
            <a:rect l="l" t="t" r="r" b="b"/>
            <a:pathLst>
              <a:path w="8326983" h="694944">
                <a:moveTo>
                  <a:pt x="8326983" y="0"/>
                </a:moveTo>
                <a:lnTo>
                  <a:pt x="8326983" y="694944"/>
                </a:lnTo>
                <a:lnTo>
                  <a:pt x="0" y="6949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02936" y="5605272"/>
            <a:ext cx="15179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回写：判决 · 偏差 · 耗时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规划器只提假设与补丁；数值、质量与收益全部由控制器独立核验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Agent：组件串联与 Agent 范畴划分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全链路只有规划器用大模型；提案先过守门员，变更只走唯一闸口，判决由四道门实测给出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2224" y="1170432"/>
            <a:ext cx="40233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确定性 Python 调度区（非 Agent 范畴）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5648" y="1481328"/>
            <a:ext cx="4023360" cy="4535424"/>
          </a:xfrm>
          <a:prstGeom prst="roundRect">
            <a:avLst>
              <a:gd name="adj" fmla="val 1363"/>
            </a:avLst>
          </a:prstGeom>
          <a:solidFill>
            <a:srgbClr val="F4F9FD"/>
          </a:solidFill>
          <a:ln w="15875">
            <a:solidFill>
              <a:srgbClr val="0F62C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7376" y="1170432"/>
            <a:ext cx="52422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大模型 Agent 范畴（唯一引入 AI 的区域）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81328"/>
            <a:ext cx="5242255" cy="4535424"/>
          </a:xfrm>
          <a:prstGeom prst="roundRect">
            <a:avLst>
              <a:gd name="adj" fmla="val 1046"/>
            </a:avLst>
          </a:prstGeom>
          <a:solidFill>
            <a:srgbClr val="FDF8E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01952" y="1627632"/>
            <a:ext cx="1700784" cy="713232"/>
          </a:xfrm>
          <a:prstGeom prst="roundRect">
            <a:avLst>
              <a:gd name="adj" fmla="val 8974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7672" y="1883664"/>
            <a:ext cx="1609344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93392" y="1627632"/>
            <a:ext cx="151790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契约与硬件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83664"/>
            <a:ext cx="1481328" cy="4114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任务冻结与硬件预检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模型规格推导 · 显存预检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2" y="1627632"/>
            <a:ext cx="1810511" cy="713232"/>
          </a:xfrm>
          <a:prstGeom prst="roundRect">
            <a:avLst>
              <a:gd name="adj" fmla="val 8974"/>
            </a:avLst>
          </a:prstGeom>
          <a:solidFill>
            <a:srgbClr val="0F62CE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67912" y="1883664"/>
            <a:ext cx="1719071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1627632"/>
            <a:ext cx="1627631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883664"/>
            <a:ext cx="1591055" cy="4114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主循环与状态机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三重独占文件锁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4016" y="2706624"/>
            <a:ext cx="3218688" cy="914400"/>
          </a:xfrm>
          <a:prstGeom prst="roundRect">
            <a:avLst>
              <a:gd name="adj" fmla="val 7000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59736" y="2962656"/>
            <a:ext cx="3127248" cy="612647"/>
          </a:xfrm>
          <a:prstGeom prst="roundRect">
            <a:avLst>
              <a:gd name="adj" fmla="val 746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05456" y="2706624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采样与账本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2962656"/>
            <a:ext cx="2999232" cy="61264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归因 → 理论下界与差距比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产出待优化目标队列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自检：比值 &lt; 0.9 自动报错隔离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1952" y="4078224"/>
            <a:ext cx="3730752" cy="822960"/>
          </a:xfrm>
          <a:prstGeom prst="roundRect">
            <a:avLst>
              <a:gd name="adj" fmla="val 7777"/>
            </a:avLst>
          </a:prstGeom>
          <a:solidFill>
            <a:srgbClr val="DCEFE7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47672" y="4334256"/>
            <a:ext cx="3639312" cy="521207"/>
          </a:xfrm>
          <a:prstGeom prst="roundRect">
            <a:avLst>
              <a:gd name="adj" fmla="val 877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93392" y="4078224"/>
            <a:ext cx="3547872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晋升判决器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34256"/>
            <a:ext cx="3511296" cy="5212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晋升：更新基线</a:t>
            </a: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　</a:t>
            </a: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淘汰：记入记忆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重测：签名漂移回退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　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决定下一轮循环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5175504"/>
            <a:ext cx="3730752" cy="566928"/>
          </a:xfrm>
          <a:prstGeom prst="roundRect">
            <a:avLst>
              <a:gd name="adj" fmla="val 11290"/>
            </a:avLst>
          </a:prstGeom>
          <a:solidFill>
            <a:srgbClr val="0A2B45"/>
          </a:solidFill>
          <a:ln w="12700">
            <a:solidFill>
              <a:srgbClr val="0A2B45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7FD2F5"/>
                </a:solidFill>
                <a:latin typeface="Microsoft YaHei"/>
                <a:ea typeface="Microsoft YaHei"/>
                <a:cs typeface="Microsoft YaHei"/>
              </a:rPr>
              <a:t>证据落盘组件（强制执行 · 不可绕过）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E1FC"/>
                </a:solidFill>
                <a:latin typeface="Microsoft YaHei"/>
                <a:ea typeface="Microsoft YaHei"/>
                <a:cs typeface="Microsoft YaHei"/>
              </a:rPr>
              <a:t>事件流 · 每次实验独立目录 · 全局状态与自动报告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7104" y="1627632"/>
            <a:ext cx="2340864" cy="713232"/>
          </a:xfrm>
          <a:prstGeom prst="roundRect">
            <a:avLst>
              <a:gd name="adj" fmla="val 8974"/>
            </a:avLst>
          </a:prstGeom>
          <a:solidFill>
            <a:srgbClr val="FBEBD6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24" y="1883664"/>
            <a:ext cx="2249424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1627632"/>
            <a:ext cx="215798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通信压缩器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1883664"/>
            <a:ext cx="2121408" cy="4114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装配账本 + 历史记忆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18 KB 有序降级压缩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07424" y="1627632"/>
            <a:ext cx="2389327" cy="713232"/>
          </a:xfrm>
          <a:prstGeom prst="roundRect">
            <a:avLst>
              <a:gd name="adj" fmla="val 8974"/>
            </a:avLst>
          </a:prstGeom>
          <a:solidFill>
            <a:srgbClr val="D2690C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53144" y="1883664"/>
            <a:ext cx="2297887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1627632"/>
            <a:ext cx="220644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规划器（Agent）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7152" y="1883664"/>
            <a:ext cx="2169871" cy="4114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查技能库 · 提单动作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读码 · 搜索 · 探针 · 补丁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零执行权限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47104" y="2706624"/>
            <a:ext cx="4949647" cy="822960"/>
          </a:xfrm>
          <a:prstGeom prst="roundRect">
            <a:avLst>
              <a:gd name="adj" fmla="val 7777"/>
            </a:avLst>
          </a:prstGeom>
          <a:solidFill>
            <a:srgbClr val="FBECEA"/>
          </a:solidFill>
          <a:ln w="12700">
            <a:solidFill>
              <a:srgbClr val="B438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92824" y="2962656"/>
            <a:ext cx="4858207" cy="521207"/>
          </a:xfrm>
          <a:prstGeom prst="roundRect">
            <a:avLst>
              <a:gd name="adj" fmla="val 877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2706624"/>
            <a:ext cx="476676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动作守门员（写入前严格拦截）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832" y="2962656"/>
            <a:ext cx="4730191" cy="5212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动作白名单 · 已读文件门 · 拒绝重复动作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提案守卫：账本许可 + 证据引用 + 已登记开关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冻结黑名单：模型 / 设备 / 并行度 / 种子一律不许改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47104" y="3749039"/>
            <a:ext cx="4949647" cy="658368"/>
          </a:xfrm>
          <a:prstGeom prst="roundRect">
            <a:avLst>
              <a:gd name="adj" fmla="val 9722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92824" y="4005072"/>
            <a:ext cx="4858207" cy="35661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3749039"/>
            <a:ext cx="476676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构建器（唯一变更闸口）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6832" y="4005072"/>
            <a:ext cx="4730191" cy="35661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暂存校验后统一写入 · 原仓原位构建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增量编译算子组件 · 校验实际加载库签名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4" y="4626864"/>
            <a:ext cx="4949647" cy="786384"/>
          </a:xfrm>
          <a:prstGeom prst="roundRect">
            <a:avLst>
              <a:gd name="adj" fmla="val 8139"/>
            </a:avLst>
          </a:prstGeom>
          <a:solidFill>
            <a:srgbClr val="0F62CE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92824" y="4882896"/>
            <a:ext cx="4858207" cy="484631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38544" y="4626864"/>
            <a:ext cx="476676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服务与评测器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6832" y="4882896"/>
            <a:ext cx="4730191" cy="48463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拉起受控推理服务（核对活进程身份）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算子微测 → 数值探针 → 质量门 → 性能门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5559552"/>
            <a:ext cx="4949647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7FA4BA"/>
            </a:solidFill>
            <a:prstDash val="dash"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xpugen 跨层算子通道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算子请求与结果的版本化传输（本轮禁用）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1664208"/>
            <a:ext cx="1078992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任务负责人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命令行启动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169664"/>
            <a:ext cx="1078992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最终交付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最优版本与报告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5063" y="1984248"/>
            <a:ext cx="219457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630168" y="1984248"/>
            <a:ext cx="16459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>
            <a:off x="5093208" y="2368296"/>
            <a:ext cx="0" cy="31089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>
            <a:off x="8915400" y="1984248"/>
            <a:ext cx="164592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4" name="Connector 53"/>
          <p:cNvCxnSpPr/>
          <p:nvPr/>
        </p:nvCxnSpPr>
        <p:spPr>
          <a:xfrm>
            <a:off x="10302087" y="2368296"/>
            <a:ext cx="0" cy="31089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5" name="Connector 54"/>
          <p:cNvCxnSpPr/>
          <p:nvPr/>
        </p:nvCxnSpPr>
        <p:spPr>
          <a:xfrm>
            <a:off x="9021927" y="3557015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6" name="Connector 55"/>
          <p:cNvCxnSpPr/>
          <p:nvPr/>
        </p:nvCxnSpPr>
        <p:spPr>
          <a:xfrm>
            <a:off x="9021927" y="4434840"/>
            <a:ext cx="0" cy="164591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7" name="Connector 56"/>
          <p:cNvCxnSpPr/>
          <p:nvPr/>
        </p:nvCxnSpPr>
        <p:spPr>
          <a:xfrm>
            <a:off x="3767328" y="4928616"/>
            <a:ext cx="0" cy="219456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58" name="Connector 57"/>
          <p:cNvCxnSpPr/>
          <p:nvPr/>
        </p:nvCxnSpPr>
        <p:spPr>
          <a:xfrm flipH="1">
            <a:off x="1655063" y="4489704"/>
            <a:ext cx="219457" cy="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59" name="Freeform 58"/>
          <p:cNvSpPr/>
          <p:nvPr/>
        </p:nvSpPr>
        <p:spPr>
          <a:xfrm>
            <a:off x="5660136" y="1984248"/>
            <a:ext cx="859536" cy="1179576"/>
          </a:xfrm>
          <a:custGeom>
            <a:avLst/>
            <a:gdLst/>
            <a:ahLst/>
            <a:cxnLst/>
            <a:rect l="l" t="t" r="r" b="b"/>
            <a:pathLst>
              <a:path w="859536" h="1179576">
                <a:moveTo>
                  <a:pt x="0" y="1179576"/>
                </a:moveTo>
                <a:lnTo>
                  <a:pt x="429768" y="1179576"/>
                </a:lnTo>
                <a:lnTo>
                  <a:pt x="429768" y="0"/>
                </a:lnTo>
                <a:lnTo>
                  <a:pt x="859536" y="0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97296" y="2473452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排序目标</a:t>
            </a:r>
          </a:p>
        </p:txBody>
      </p:sp>
      <p:sp>
        <p:nvSpPr>
          <p:cNvPr id="61" name="Freeform 60"/>
          <p:cNvSpPr/>
          <p:nvPr/>
        </p:nvSpPr>
        <p:spPr>
          <a:xfrm>
            <a:off x="5660136" y="4489704"/>
            <a:ext cx="859536" cy="530351"/>
          </a:xfrm>
          <a:custGeom>
            <a:avLst/>
            <a:gdLst/>
            <a:ahLst/>
            <a:cxnLst/>
            <a:rect l="l" t="t" r="r" b="b"/>
            <a:pathLst>
              <a:path w="859536" h="530351">
                <a:moveTo>
                  <a:pt x="859536" y="530351"/>
                </a:moveTo>
                <a:lnTo>
                  <a:pt x="429768" y="530351"/>
                </a:lnTo>
                <a:lnTo>
                  <a:pt x="429768" y="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779008" y="4654295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四道门判决</a:t>
            </a:r>
          </a:p>
        </p:txBody>
      </p:sp>
      <p:sp>
        <p:nvSpPr>
          <p:cNvPr id="63" name="Freeform 62"/>
          <p:cNvSpPr/>
          <p:nvPr/>
        </p:nvSpPr>
        <p:spPr>
          <a:xfrm>
            <a:off x="2157984" y="2368296"/>
            <a:ext cx="2203704" cy="1719072"/>
          </a:xfrm>
          <a:custGeom>
            <a:avLst/>
            <a:gdLst/>
            <a:ahLst/>
            <a:cxnLst/>
            <a:rect l="l" t="t" r="r" b="b"/>
            <a:pathLst>
              <a:path w="2203704" h="1719072">
                <a:moveTo>
                  <a:pt x="0" y="1719072"/>
                </a:moveTo>
                <a:lnTo>
                  <a:pt x="0" y="155448"/>
                </a:lnTo>
                <a:lnTo>
                  <a:pt x="2203704" y="155448"/>
                </a:lnTo>
                <a:lnTo>
                  <a:pt x="2203704" y="0"/>
                </a:lnTo>
              </a:path>
            </a:pathLst>
          </a:custGeom>
          <a:noFill/>
          <a:ln w="19050">
            <a:solidFill>
              <a:srgbClr val="17795F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967228" y="2423160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晋升循环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Agent：耗时归因与理论空间核算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不靠名字猜归属，不按占比拍脑袋——算清「实际耗时」与「物理极限」，自动分流优化方向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43584"/>
            <a:ext cx="5394960" cy="2267712"/>
          </a:xfrm>
          <a:prstGeom prst="roundRect">
            <a:avLst>
              <a:gd name="adj" fmla="val 2419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7" y="1609344"/>
            <a:ext cx="5266944" cy="1837944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43584"/>
            <a:ext cx="4992624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一、耗时归因：时间花在哪段代码？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 源码贴标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 类代码位置打标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9967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2. 划定步界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记实测上下文长度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10511" y="2121408"/>
            <a:ext cx="19202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3364991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3. 任务对号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嵌套取最里层代码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45535" y="2121408"/>
            <a:ext cx="19202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4700016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0F62C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4. 分类汇总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耗时 + 调用次数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59" y="2121408"/>
            <a:ext cx="19202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694944" y="2578608"/>
            <a:ext cx="5102352" cy="438912"/>
          </a:xfrm>
          <a:prstGeom prst="roundRect">
            <a:avLst>
              <a:gd name="adj" fmla="val 12500"/>
            </a:avLst>
          </a:prstGeom>
          <a:solidFill>
            <a:srgbClr val="F2F8FD"/>
          </a:solidFill>
          <a:ln w="9525">
            <a:solidFill>
              <a:srgbClr val="7FA4BA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8 条防呆检查（不重算、不漏算，不达标直接拒出账本）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3090672"/>
            <a:ext cx="5102352" cy="347472"/>
          </a:xfrm>
          <a:prstGeom prst="roundRect">
            <a:avLst>
              <a:gd name="adj" fmla="val 15789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导出结果：</a:t>
            </a: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每类代码的【实际耗时】与【每步调用次数】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243584"/>
            <a:ext cx="5388559" cy="2267712"/>
          </a:xfrm>
          <a:prstGeom prst="roundRect">
            <a:avLst>
              <a:gd name="adj" fmla="val 2419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18504" y="1609344"/>
            <a:ext cx="5260543" cy="1837944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243584"/>
            <a:ext cx="4986223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二、上限核算：理论上最快能跑多快？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E8C9A4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直读模型位数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 8 位 / 16 位算数据量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8218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D2690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实测激活专家数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用多少搬多少（拒用均值）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95636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E8C9A4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硬件速度极限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算力上限 + 显存带宽上限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578608"/>
            <a:ext cx="5095951" cy="438912"/>
          </a:xfrm>
          <a:prstGeom prst="roundRect">
            <a:avLst>
              <a:gd name="adj" fmla="val 12500"/>
            </a:avLst>
          </a:prstGeom>
          <a:solidFill>
            <a:srgbClr val="FDF5E9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算力最快耗时 = 计算量 ÷ 算力极限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搬运最快耗时 = 最少数据量 ÷ 带宽极限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注：特殊运算的上限没测到时，单独标记为「待测」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090672"/>
            <a:ext cx="5095951" cy="347472"/>
          </a:xfrm>
          <a:prstGeom prst="roundRect">
            <a:avLst>
              <a:gd name="adj" fmla="val 15789"/>
            </a:avLst>
          </a:prstGeom>
          <a:solidFill>
            <a:srgbClr val="FBEBD6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导出结果：</a:t>
            </a: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取两者更大值 = 每类代码的【理论最快耗时】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46120" y="3538727"/>
            <a:ext cx="502920" cy="14630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 flipH="1">
            <a:off x="8445855" y="3538727"/>
            <a:ext cx="502920" cy="14630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1981047" y="3712463"/>
            <a:ext cx="8229600" cy="493776"/>
          </a:xfrm>
          <a:prstGeom prst="roundRect">
            <a:avLst>
              <a:gd name="adj" fmla="val 50000"/>
            </a:avLst>
          </a:prstGeom>
          <a:solidFill>
            <a:srgbClr val="0A2B45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三、自动判断与分流：</a:t>
            </a: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1300" b="1">
                <a:solidFill>
                  <a:srgbClr val="F6B860"/>
                </a:solidFill>
                <a:latin typeface="Microsoft YaHei"/>
                <a:ea typeface="Microsoft YaHei"/>
                <a:cs typeface="Microsoft YaHei"/>
              </a:rPr>
              <a:t>差距倍数 = 实际耗时 ÷ 理论最快耗时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866861" y="4224527"/>
            <a:ext cx="479946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548640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2647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DF1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1：倍数 &lt; 0.9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账本自检报错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实测不可能快过物理极限（账算错了）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F7DDD8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动作：隔离挂账，不参与排序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686185" y="4224527"/>
            <a:ext cx="0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3367963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431971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ECF7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9131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2：倍数 ≤ 1.1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5979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已贴近硬件极限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实际耗时已经逼近理论最快值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14267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D3EBE1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动作：没有空间，停止投入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05509" y="4224527"/>
            <a:ext cx="0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6187287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51295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455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3：调用 ≥ 16 次 且 单次 &lt; 1MB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5303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病因：</a:t>
            </a:r>
            <a:r>
              <a:rPr sz="12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任务发得太碎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调用极频繁、每次极短、搬数极少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3591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FAE3C6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改法：算子合并、融合、批处理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844887" y="4224527"/>
            <a:ext cx="479946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9006611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70619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0F6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07779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4：差距大 + 其余情况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627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病因：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数据搬运不划算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任务不算碎，但远慢于理论搬运速度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52915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D8E8FB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改法：查访存模式与代码路径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