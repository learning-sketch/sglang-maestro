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模型适配调优，是生态建设的关键成本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开源模型按天迭代，优化适配按月交付——生态跟进存在效率差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4498848" cy="50292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模型侧：高频上新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多模型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83664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主流模型持续更新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Qwen · DeepSeek · Kimi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新架构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83664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模型结构与计算精度持续演进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MoE、多模态、低比特量化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快迭代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83664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开源社区实现快速演进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推理框架与底层算子需同步跟进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92824" y="1335024"/>
            <a:ext cx="4498848" cy="299923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92824" y="1335024"/>
            <a:ext cx="4498848" cy="5029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67144" y="1481328"/>
            <a:ext cx="4041648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适配侧：链路冗长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67144" y="1938528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1938528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从启动到精度、性能达标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跨层排查，依赖工程经验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67144" y="2706624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27848" y="2706624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框架特性与算子缺口逐项补齐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算子缺少实现或路径不匹配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3474720"/>
            <a:ext cx="100584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复验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27848" y="3474720"/>
            <a:ext cx="2926080" cy="6766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每次改动均需全流程重新验证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人工回归重复度高，调优经验难以沉淀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65495" y="2642615"/>
            <a:ext cx="1060704" cy="384048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迭代压力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535424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芯片竞争力取决于硬件能力、软件成熟度与模型覆盖度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4864608"/>
            <a:ext cx="1109441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硬件能力在发布那天就定型，模型覆盖度每天被社区改写——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适配效率直接决定了硬件算力能否及时转化为业务价值。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358384"/>
            <a:ext cx="11094415" cy="78638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48640" y="5358384"/>
            <a:ext cx="73152" cy="78638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" y="5449824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唯　</a:t>
            </a: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有大幅降低单模型适配成本，才能持续扩大模型生态覆盖面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797296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把重复的排查、评测与调优工作，沉淀为可复用的自动化 Agent 流水线。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如何把 M100 上模型适配的成本打下来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昆仑芯 M100 软件栈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聚焦两大核心任务：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模型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适配调优、</a:t>
            </a:r>
            <a:r>
              <a:rPr sz="12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算子</a:t>
            </a: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补齐提速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1727" y="1216152"/>
            <a:ext cx="128016" cy="12801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62895" y="1152144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Agent 直接参与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5103" y="1463040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157984" y="1335024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模型层的工作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645920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推理库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21408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SGLang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4296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vLLM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6452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FlashInfer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推理内核库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86087" y="1645920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XInfer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7984" y="2395728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模型接入 · 服务验证 · 按实测调优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75103" y="3621024"/>
            <a:ext cx="9667951" cy="1335024"/>
          </a:xfrm>
          <a:prstGeom prst="roundRect">
            <a:avLst>
              <a:gd name="adj" fmla="val 5000"/>
            </a:avLst>
          </a:pr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157984" y="3493008"/>
            <a:ext cx="1225296" cy="256032"/>
          </a:xfrm>
          <a:prstGeom prst="roundRect">
            <a:avLst>
              <a:gd name="adj" fmla="val 50000"/>
            </a:avLst>
          </a:prstGeom>
          <a:solidFill>
            <a:srgbClr val="D2690C"/>
          </a:solidFill>
          <a:ln>
            <a:noFill/>
          </a:ln>
        </p:spPr>
        <p:txBody>
          <a:bodyPr rtlCol="0" anchor="ctr" wrap="square" lIns="36576" tIns="0" rIns="36576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算子层的工作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803904"/>
            <a:ext cx="1298448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21408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XPU Math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4296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XCN_ATEN_OPS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6452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XHPC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XBLAS / XPUDNN / XFA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86087" y="3803904"/>
            <a:ext cx="2256967" cy="6949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XCCL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7984" y="4553712"/>
            <a:ext cx="9521647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算子缺口补齐 · 生成与调优 · 真机验证收益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2871216"/>
            <a:ext cx="1298448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深度学习框架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21408" y="2871216"/>
            <a:ext cx="95216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PyTorch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029200"/>
            <a:ext cx="1298448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编译器 · 运行时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硬件与驱动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121408" y="5029200"/>
            <a:ext cx="9521647" cy="7315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XCUDA（XTDK）　·　xTriton　·　XPU Runtime &amp; Driver　·　昆仑芯 M100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总体方案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两层架构同构——Agent 仅负责生成优化方案，准入判定完全交由固定规则与真机实测；核心差异在于评测粒度。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33502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33502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426464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model-agent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模型接入与性能调优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066543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66543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定目标与边界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60320" y="2066543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560320" y="2066543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9776" y="210312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生成接入、优化方案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2066543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2066543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7376" y="210312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规则验收 + 真机实测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整模型端到端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真实服务 + 固定评测集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332720" y="2066543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2066543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判断交付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2494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0" name="Connector 19"/>
          <p:cNvCxnSpPr/>
          <p:nvPr/>
        </p:nvCxnSpPr>
        <p:spPr>
          <a:xfrm>
            <a:off x="5815583" y="256032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21" name="Connector 20"/>
          <p:cNvCxnSpPr/>
          <p:nvPr/>
        </p:nvCxnSpPr>
        <p:spPr>
          <a:xfrm>
            <a:off x="10021824" y="256032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22" name="Freeform 21"/>
          <p:cNvSpPr/>
          <p:nvPr/>
        </p:nvSpPr>
        <p:spPr>
          <a:xfrm>
            <a:off x="4160520" y="1901952"/>
            <a:ext cx="3931920" cy="164591"/>
          </a:xfrm>
          <a:custGeom>
            <a:avLst/>
            <a:gdLst/>
            <a:ahLst/>
            <a:cxnLst/>
            <a:rect l="l" t="t" r="r" b="b"/>
            <a:pathLst>
              <a:path w="3931920" h="164591">
                <a:moveTo>
                  <a:pt x="3931920" y="164591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160520" y="1901952"/>
            <a:ext cx="0" cy="146303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4754879" y="1609344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不过即回退，带着原因退回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895344"/>
            <a:ext cx="1109441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895344"/>
            <a:ext cx="11094415" cy="4572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8" y="3986783"/>
            <a:ext cx="10692079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xpugen</a:t>
            </a:r>
            <a:r>
              <a:rPr sz="11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算子层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面向 M100 自动生成算子实现并调优，提升aten算子的覆盖泛化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26864"/>
            <a:ext cx="146304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626864"/>
            <a:ext cx="128016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需求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输入规格与约束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4626864"/>
            <a:ext cx="3200400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560320" y="4626864"/>
            <a:ext cx="64008" cy="98755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79776" y="4663440"/>
            <a:ext cx="2834640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基于已有skills优化算子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4626864"/>
            <a:ext cx="3749039" cy="987552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626864"/>
            <a:ext cx="64008" cy="987552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37376" y="4663440"/>
            <a:ext cx="3383279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Harness 判算子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规则驱动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单算子、多 Shape，与 Golden 对齐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332720" y="4626864"/>
            <a:ext cx="1188720" cy="987552"/>
          </a:xfrm>
          <a:prstGeom prst="rect">
            <a:avLst/>
          </a:prstGeom>
          <a:solidFill>
            <a:srgbClr val="F2F8FD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424160" y="4626864"/>
            <a:ext cx="1005840" cy="9875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</a:t>
            </a:r>
          </a:p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交付实现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22494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39" name="Connector 38"/>
          <p:cNvCxnSpPr/>
          <p:nvPr/>
        </p:nvCxnSpPr>
        <p:spPr>
          <a:xfrm>
            <a:off x="5815583" y="5120640"/>
            <a:ext cx="347473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cxnSp>
        <p:nvCxnSpPr>
          <p:cNvPr id="40" name="Connector 39"/>
          <p:cNvCxnSpPr/>
          <p:nvPr/>
        </p:nvCxnSpPr>
        <p:spPr>
          <a:xfrm>
            <a:off x="10021824" y="5120640"/>
            <a:ext cx="256032" cy="0"/>
          </a:xfrm>
          <a:prstGeom prst="line">
            <a:avLst/>
          </a:prstGeom>
          <a:ln w="19050">
            <a:solidFill>
              <a:srgbClr val="40708B"/>
            </a:solidFill>
            <a:tailEnd type="triangle" w="med" len="med"/>
          </a:ln>
        </p:spPr>
      </p:cxnSp>
      <p:sp>
        <p:nvSpPr>
          <p:cNvPr id="41" name="Freeform 40"/>
          <p:cNvSpPr/>
          <p:nvPr/>
        </p:nvSpPr>
        <p:spPr>
          <a:xfrm>
            <a:off x="4160520" y="4462272"/>
            <a:ext cx="3931920" cy="164592"/>
          </a:xfrm>
          <a:custGeom>
            <a:avLst/>
            <a:gdLst/>
            <a:ahLst/>
            <a:cxnLst/>
            <a:rect l="l" t="t" r="r" b="b"/>
            <a:pathLst>
              <a:path w="3931920" h="164592">
                <a:moveTo>
                  <a:pt x="3931920" y="164592"/>
                </a:moveTo>
                <a:lnTo>
                  <a:pt x="3931920" y="0"/>
                </a:lnTo>
                <a:lnTo>
                  <a:pt x="0" y="0"/>
                </a:lnTo>
              </a:path>
            </a:pathLst>
          </a:custGeom>
          <a:noFill/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2" name="Connector 41"/>
          <p:cNvCxnSpPr/>
          <p:nvPr/>
        </p:nvCxnSpPr>
        <p:spPr>
          <a:xfrm>
            <a:off x="4160520" y="4462272"/>
            <a:ext cx="0" cy="146304"/>
          </a:xfrm>
          <a:prstGeom prst="line">
            <a:avLst/>
          </a:prstGeom>
          <a:ln w="15875">
            <a:solidFill>
              <a:srgbClr val="D2690C"/>
            </a:solidFill>
            <a:tailEnd type="triangle" w="med" len="med"/>
          </a:ln>
        </p:spPr>
      </p:cxnSp>
      <p:sp>
        <p:nvSpPr>
          <p:cNvPr id="43" name="TextBox 42"/>
          <p:cNvSpPr txBox="1"/>
          <p:nvPr/>
        </p:nvSpPr>
        <p:spPr>
          <a:xfrm>
            <a:off x="4754879" y="4169663"/>
            <a:ext cx="27432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不过即淘汰，带着证据退回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3236976"/>
            <a:ext cx="11094415" cy="548640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9601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6" name="TextBox 45"/>
          <p:cNvSpPr txBox="1"/>
          <p:nvPr/>
        </p:nvSpPr>
        <p:spPr>
          <a:xfrm>
            <a:off x="11430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模型层 → 算子层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Trace 定位的瓶颈算子，转成带输入规格的算子请求</a:t>
            </a:r>
          </a:p>
        </p:txBody>
      </p:sp>
      <p:cxnSp>
        <p:nvCxnSpPr>
          <p:cNvPr id="47" name="Connector 46"/>
          <p:cNvCxnSpPr/>
          <p:nvPr/>
        </p:nvCxnSpPr>
        <p:spPr>
          <a:xfrm flipV="1">
            <a:off x="6446520" y="3346704"/>
            <a:ext cx="0" cy="329183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6629400" y="3236976"/>
            <a:ext cx="512064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算子层 → 模型层　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新内核合入候选分支，重新执行模型层验收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998464"/>
            <a:ext cx="11094415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998464"/>
            <a:ext cx="73152" cy="65836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7824" y="6089903"/>
            <a:ext cx="10436047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关键：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算子kernel优化既要通过算子验收，更要通过整模型复验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6309359"/>
            <a:ext cx="10436047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 bench 衡量的是局部收益；能否交付，由真实模型上的复测决定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Agent：模型层适配与优化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已有流程可自动执行；新架构、未知缺陷与关键决策仍需要人工参与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新架构逐层验收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6986" y="1298448"/>
            <a:ext cx="3417722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1306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性能调优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实测环境下迭代优化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57802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1" name="Rectangle 10"/>
          <p:cNvSpPr/>
          <p:nvPr/>
        </p:nvSpPr>
        <p:spPr>
          <a:xfrm>
            <a:off x="8225332" y="1298448"/>
            <a:ext cx="3417722" cy="47548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99652" y="1298448"/>
            <a:ext cx="2960522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持续优化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按 Trace 持续迭代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96148" y="1536192"/>
            <a:ext cx="237744" cy="0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14" name="Rectangle 13"/>
          <p:cNvSpPr/>
          <p:nvPr/>
        </p:nvSpPr>
        <p:spPr>
          <a:xfrm>
            <a:off x="548640" y="1993392"/>
            <a:ext cx="2240280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1993392"/>
            <a:ext cx="2240280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" y="2176272"/>
            <a:ext cx="1837944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人：定义目标与边界</a:t>
            </a:r>
          </a:p>
        </p:txBody>
      </p:sp>
      <p:sp>
        <p:nvSpPr>
          <p:cNvPr id="17" name="Oval 16"/>
          <p:cNvSpPr/>
          <p:nvPr/>
        </p:nvSpPr>
        <p:spPr>
          <a:xfrm>
            <a:off x="822959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27614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模型 / 负载 / 并发</a:t>
            </a:r>
          </a:p>
        </p:txBody>
      </p:sp>
      <p:sp>
        <p:nvSpPr>
          <p:cNvPr id="19" name="Oval 18"/>
          <p:cNvSpPr/>
          <p:nvPr/>
        </p:nvSpPr>
        <p:spPr>
          <a:xfrm>
            <a:off x="822959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0704" y="3218688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精度阈值与预算</a:t>
            </a:r>
          </a:p>
        </p:txBody>
      </p:sp>
      <p:sp>
        <p:nvSpPr>
          <p:cNvPr id="21" name="Oval 20"/>
          <p:cNvSpPr/>
          <p:nvPr/>
        </p:nvSpPr>
        <p:spPr>
          <a:xfrm>
            <a:off x="822959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0704" y="36758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已知缺陷与修复方案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0704" y="4133087"/>
            <a:ext cx="1545336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确定输入与任务约定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4791456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目标改动后，历史结果不再沿用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5102352"/>
            <a:ext cx="1837944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交给 </a:t>
            </a:r>
            <a:r>
              <a:rPr sz="11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53512" y="1993392"/>
            <a:ext cx="5212080" cy="3621024"/>
          </a:xfrm>
          <a:prstGeom prst="rect">
            <a:avLst/>
          </a:prstGeom>
          <a:solidFill>
            <a:srgbClr val="FFFFFF"/>
          </a:solidFill>
          <a:ln w="15875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91256" y="2139696"/>
            <a:ext cx="475488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Agent：在固定约束内自动迭代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2651760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246120" y="2761488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66744" y="2651760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建立基线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7720" y="2651760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先完成环境预检，再验收基线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154680" y="3328416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3246120" y="3438144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66744" y="3328416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采集 Trace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3328416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执行性能剖析采样，仅用于瓶颈诊断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54680" y="4005072"/>
            <a:ext cx="4809744" cy="56692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246120" y="4114800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66744" y="4005072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候选迭代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17720" y="4005072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小步改动，逐轮验证收益（大型修改，人工介入）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4681728"/>
            <a:ext cx="4809744" cy="566928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246120" y="4791455"/>
            <a:ext cx="347472" cy="347472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66744" y="4681728"/>
            <a:ext cx="914400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最终复验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4681728"/>
            <a:ext cx="2999232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重测基线与候选，独立复核收益</a:t>
            </a:r>
          </a:p>
        </p:txBody>
      </p:sp>
      <p:sp>
        <p:nvSpPr>
          <p:cNvPr id="45" name="Freeform 44"/>
          <p:cNvSpPr/>
          <p:nvPr/>
        </p:nvSpPr>
        <p:spPr>
          <a:xfrm>
            <a:off x="7763256" y="4114800"/>
            <a:ext cx="310896" cy="347472"/>
          </a:xfrm>
          <a:custGeom>
            <a:avLst/>
            <a:gdLst/>
            <a:ahLst/>
            <a:cxnLst/>
            <a:rect l="l" t="t" r="r" b="b"/>
            <a:pathLst>
              <a:path w="310896" h="347472">
                <a:moveTo>
                  <a:pt x="0" y="0"/>
                </a:moveTo>
                <a:lnTo>
                  <a:pt x="310896" y="0"/>
                </a:lnTo>
                <a:lnTo>
                  <a:pt x="310896" y="347472"/>
                </a:lnTo>
                <a:lnTo>
                  <a:pt x="0" y="34747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91256" y="5285232"/>
            <a:ext cx="47548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每个候选如何验收 → 下一页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0183" y="1993392"/>
            <a:ext cx="3310128" cy="36210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0183" y="1993392"/>
            <a:ext cx="3310128" cy="6400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67928" y="2176272"/>
            <a:ext cx="2907792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人：判断交付</a:t>
            </a:r>
          </a:p>
        </p:txBody>
      </p:sp>
      <p:sp>
        <p:nvSpPr>
          <p:cNvPr id="50" name="Oval 49"/>
          <p:cNvSpPr/>
          <p:nvPr/>
        </p:nvSpPr>
        <p:spPr>
          <a:xfrm>
            <a:off x="8604504" y="29397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42248" y="27614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复核最终精度、性能收益与失败日志</a:t>
            </a:r>
          </a:p>
        </p:txBody>
      </p:sp>
      <p:sp>
        <p:nvSpPr>
          <p:cNvPr id="52" name="Oval 51"/>
          <p:cNvSpPr/>
          <p:nvPr/>
        </p:nvSpPr>
        <p:spPr>
          <a:xfrm>
            <a:off x="8604504" y="33969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842248" y="3218688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验证通过：导出标准化部署与启动方案</a:t>
            </a:r>
          </a:p>
        </p:txBody>
      </p:sp>
      <p:sp>
        <p:nvSpPr>
          <p:cNvPr id="54" name="Oval 53"/>
          <p:cNvSpPr/>
          <p:nvPr/>
        </p:nvSpPr>
        <p:spPr>
          <a:xfrm>
            <a:off x="8604504" y="38541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842248" y="36758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验收失败或无收益：转交人工深度诊断</a:t>
            </a:r>
          </a:p>
        </p:txBody>
      </p:sp>
      <p:sp>
        <p:nvSpPr>
          <p:cNvPr id="56" name="Oval 55"/>
          <p:cNvSpPr/>
          <p:nvPr/>
        </p:nvSpPr>
        <p:spPr>
          <a:xfrm>
            <a:off x="8604504" y="4311396"/>
            <a:ext cx="100584" cy="100584"/>
          </a:xfrm>
          <a:prstGeom prst="ellipse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42248" y="4133087"/>
            <a:ext cx="2615184" cy="4572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支持逐轮溯源，必要时一键回退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31352" y="4791456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交付引用已验证的隔离副本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31352" y="5102352"/>
            <a:ext cx="2907792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交回给人</a:t>
            </a:r>
          </a:p>
        </p:txBody>
      </p:sp>
      <p:sp>
        <p:nvSpPr>
          <p:cNvPr id="60" name="Freeform 59"/>
          <p:cNvSpPr/>
          <p:nvPr/>
        </p:nvSpPr>
        <p:spPr>
          <a:xfrm>
            <a:off x="1668780" y="5614416"/>
            <a:ext cx="8316468" cy="219456"/>
          </a:xfrm>
          <a:custGeom>
            <a:avLst/>
            <a:gdLst/>
            <a:ahLst/>
            <a:cxnLst/>
            <a:rect l="l" t="t" r="r" b="b"/>
            <a:pathLst>
              <a:path w="8316468" h="219456">
                <a:moveTo>
                  <a:pt x="8316468" y="0"/>
                </a:moveTo>
                <a:lnTo>
                  <a:pt x="8316468" y="219456"/>
                </a:lnTo>
                <a:lnTo>
                  <a:pt x="0" y="219456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1" name="Connector 60"/>
          <p:cNvCxnSpPr/>
          <p:nvPr/>
        </p:nvCxnSpPr>
        <p:spPr>
          <a:xfrm flipV="1">
            <a:off x="1668780" y="5632704"/>
            <a:ext cx="0" cy="201168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62" name="TextBox 61"/>
          <p:cNvSpPr txBox="1"/>
          <p:nvPr/>
        </p:nvSpPr>
        <p:spPr>
          <a:xfrm>
            <a:off x="548640" y="6016752"/>
            <a:ext cx="11094415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将验证过的规则、补丁与失败记录沉淀下来，供下一次任务复用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Agent：模型层Agent运行机制视图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1109441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AFCEE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941832"/>
            <a:ext cx="10637215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任务基准 · 锁定评测条件与版本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188720"/>
            <a:ext cx="1063721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optimization-task.json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确定模型、精度、负载、准入门槛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generation-task.json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设定固定文本对齐测试与评测集达标要求</a:t>
            </a:r>
            <a:r>
              <a:rPr sz="9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9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backup/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留存初始基线备份 + 加载调优知识库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1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性能采样（Trace）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拉起一次性独立服务，通过profile接口获取性能数据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3552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73552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6432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2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耗时归因（对齐到代码）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获取目标阶段（Prefill/Decode），将kernel耗时直接映射到模型代码层，加入累加等数值校验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8464" y="1810512"/>
            <a:ext cx="2212848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98464" y="1810512"/>
            <a:ext cx="64008" cy="1188720"/>
          </a:xfrm>
          <a:prstGeom prst="rect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1856231"/>
            <a:ext cx="1901952" cy="109728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3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理论上限核算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解析模型配置 → 折算计算量与访存字节 → 推导理论耗时下界与差距倍数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798064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18" name="TextBox 17"/>
          <p:cNvSpPr txBox="1"/>
          <p:nvPr/>
        </p:nvSpPr>
        <p:spPr>
          <a:xfrm>
            <a:off x="2798064" y="2450591"/>
            <a:ext cx="438912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Trace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文件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2976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0" name="TextBox 19"/>
          <p:cNvSpPr txBox="1"/>
          <p:nvPr/>
        </p:nvSpPr>
        <p:spPr>
          <a:xfrm>
            <a:off x="5522976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各类算子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调用频次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47888" y="2404872"/>
            <a:ext cx="438912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22" name="TextBox 21"/>
          <p:cNvSpPr txBox="1"/>
          <p:nvPr/>
        </p:nvSpPr>
        <p:spPr>
          <a:xfrm>
            <a:off x="8247888" y="2450591"/>
            <a:ext cx="438911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瓶颈优先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级列表、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异常算子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23376" y="1810512"/>
            <a:ext cx="2916936" cy="2630805"/>
          </a:xfrm>
          <a:prstGeom prst="rect">
            <a:avLst/>
          </a:prstGeom>
          <a:solidFill>
            <a:srgbClr val="FFFFFF"/>
          </a:solidFill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23376" y="1810512"/>
            <a:ext cx="64008" cy="2630805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42832" y="1856231"/>
            <a:ext cx="2532888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4 </a:t>
            </a: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方案与补丁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6255" y="2176272"/>
            <a:ext cx="2551176" cy="1114679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6255" y="2176272"/>
            <a:ext cx="50292" cy="1114679"/>
          </a:xfrm>
          <a:prstGeom prst="rect">
            <a:avLst/>
          </a:prstGeom>
          <a:solidFill>
            <a:srgbClr val="C2570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0848" y="2212848"/>
            <a:ext cx="2221991" cy="10415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规划器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看证据写代码：结合模型源码与锁定的诊断证据，提出优化假设并判断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按需skills：默认只读目录索引，每轮最多按需调取 2 份专项调优指南（Skill），防上下文膨胀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906255" y="3382391"/>
            <a:ext cx="2551176" cy="96748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906255" y="3382391"/>
            <a:ext cx="50292" cy="967486"/>
          </a:xfrm>
          <a:prstGeom prst="rect">
            <a:avLst/>
          </a:prstGeom>
          <a:solidFill>
            <a:srgbClr val="123C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3418967"/>
            <a:ext cx="2221991" cy="89433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23C5B"/>
                </a:solidFill>
                <a:latin typeface="Microsoft YaHei"/>
                <a:ea typeface="Microsoft YaHei"/>
                <a:cs typeface="Microsoft YaHei"/>
              </a:rPr>
              <a:t>人 · 按需介入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复杂场景由人直接修改，或与规划器协同实现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人工介入不改变准入判定路径，同样须通过下方三道验收门禁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42032" y="3182112"/>
            <a:ext cx="5907024" cy="1719072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42032" y="3182112"/>
            <a:ext cx="5907024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61487" y="3273552"/>
            <a:ext cx="5486400" cy="155448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控制器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确定性调度机制（Python）：统一接管硬件设备锁、状态机流转、故障恢复、准入验证与报告生成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硬性约束：规划器无权自行宣告实验成功；数值精度、多模态生成质量及性能收益，全部由控制器独立核验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全量实验追溯：每次实验尝试（Trial）均独立落盘记录，涵盖：候选评估、构建准备、基线测试、基线复核与最终复验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闭环容错机制：方案被拒原因经历史记忆库（Memory）带回下一轮请求；底层基础设施中断不计入方案优化失败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8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端到端A/B对比实验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多次压测取中位数，全程关闭性能剖析器（Profiler），增幅须跨越噪声门槛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73552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73552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56432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7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端到端质量评估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数据集得分不降，格式解析失败与输出截断均严判计入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98464" y="5029200"/>
            <a:ext cx="2468880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98464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81344" y="5074920"/>
            <a:ext cx="2157984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6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单算子性能初筛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隔离被改算子，直接测速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新旧版本同条件预热，确保对比公平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局部提速达标才进入整模型评测，快速淘汰无效补丁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23376" y="5029200"/>
            <a:ext cx="2916936" cy="1115568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723376" y="5029200"/>
            <a:ext cx="64008" cy="111556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06255" y="5074920"/>
            <a:ext cx="2606040" cy="1024127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5 </a:t>
            </a: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补丁合入与增量构建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在源码工作区执行原位构建，打入隔离补丁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11164824" y="4477893"/>
            <a:ext cx="0" cy="514731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48" name="TextBox 47"/>
          <p:cNvSpPr txBox="1"/>
          <p:nvPr/>
        </p:nvSpPr>
        <p:spPr>
          <a:xfrm>
            <a:off x="8814815" y="4532757"/>
            <a:ext cx="2203704" cy="53035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提交规划方案：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优化假设 + 代码补丁 + 证据引用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8503919" y="5586984"/>
            <a:ext cx="182881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0" name="Connector 49"/>
          <p:cNvCxnSpPr/>
          <p:nvPr/>
        </p:nvCxnSpPr>
        <p:spPr>
          <a:xfrm>
            <a:off x="5779008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1" name="Connector 50"/>
          <p:cNvCxnSpPr/>
          <p:nvPr/>
        </p:nvCxnSpPr>
        <p:spPr>
          <a:xfrm>
            <a:off x="3054096" y="5586984"/>
            <a:ext cx="182880" cy="0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cxnSp>
        <p:nvCxnSpPr>
          <p:cNvPr id="52" name="Connector 51"/>
          <p:cNvCxnSpPr/>
          <p:nvPr/>
        </p:nvCxnSpPr>
        <p:spPr>
          <a:xfrm flipV="1">
            <a:off x="1591056" y="3035808"/>
            <a:ext cx="0" cy="1956816"/>
          </a:xfrm>
          <a:prstGeom prst="line">
            <a:avLst/>
          </a:prstGeom>
          <a:ln w="15875">
            <a:solidFill>
              <a:srgbClr val="40708B"/>
            </a:solidFill>
            <a:tailEnd type="triangle" w="med" len="med"/>
          </a:ln>
        </p:spPr>
      </p:cxnSp>
      <p:sp>
        <p:nvSpPr>
          <p:cNvPr id="53" name="TextBox 52"/>
          <p:cNvSpPr txBox="1"/>
          <p:nvPr/>
        </p:nvSpPr>
        <p:spPr>
          <a:xfrm>
            <a:off x="566928" y="3474720"/>
            <a:ext cx="932688" cy="91440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确认真实收益 → 更新为最新基线 → 触发新一轮采样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Qwen3-VL- 30B-A3B 优化记录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365760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使用模型：</a:t>
            </a: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Qwen3-VL-30B-A3B-Instruct-channel-fp8</a:t>
            </a: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·　M100 单卡 TP1　·　1K/1K　·　场景优化 Decode 阶段输出吞吐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89888"/>
            <a:ext cx="6565392" cy="3785615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63040"/>
            <a:ext cx="6126479" cy="54864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各类算子耗时与理论上限（Roofline）差距：32 并发纯 Decode · 单位：ms/步 · 理论上限 = 访存字节数 ÷ 硬件带宽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66543"/>
            <a:ext cx="184708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类别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624" y="2066543"/>
            <a:ext cx="16642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7D8894"/>
                </a:solidFill>
                <a:latin typeface="Microsoft YaHei"/>
                <a:ea typeface="Microsoft YaHei"/>
                <a:cs typeface="Microsoft YaHei"/>
              </a:rPr>
              <a:t>■上限内　</a:t>
            </a:r>
            <a:r>
              <a:rPr sz="80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■超出　</a:t>
            </a:r>
            <a:r>
              <a:rPr sz="8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□优化部分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79" y="2066543"/>
            <a:ext cx="118872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耗时：基线 → 交付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2066543"/>
            <a:ext cx="749808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距理论上限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59" y="2066543"/>
            <a:ext cx="804672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关联优化项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8096" y="2322576"/>
            <a:ext cx="6126479" cy="0"/>
          </a:xfrm>
          <a:prstGeom prst="line">
            <a:avLst/>
          </a:prstGeom>
          <a:ln w="9525">
            <a:solidFill>
              <a:srgbClr val="CFE3F0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8096" y="2377439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 GEMM（fp8）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06624" y="2496312"/>
            <a:ext cx="145856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65189" y="2496312"/>
            <a:ext cx="2276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79" y="2377439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8.46 → 8.33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2976" y="2377439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2377439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" y="2779775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Attention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06624" y="2898648"/>
            <a:ext cx="493775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2779775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2976" y="2779775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59" y="2779775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" y="3182111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稠密 GEMM（QKV/O/头）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06624" y="3300984"/>
            <a:ext cx="376460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97679" y="3182111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2.15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2976" y="3182111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≈1×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182111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8096" y="3584448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专家重排与合并（含路由）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06624" y="3703320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34056" y="3703320"/>
            <a:ext cx="521791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97679" y="3584448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22976" y="3584448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27×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59" y="3584448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 · </a:t>
            </a: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8096" y="3986783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逐元素操作 + 量化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06624" y="4105655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734056" y="4105655"/>
            <a:ext cx="299417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033473" y="4105655"/>
            <a:ext cx="308172" cy="164592"/>
          </a:xfrm>
          <a:prstGeom prst="rect">
            <a:avLst/>
          </a:prstGeom>
          <a:noFill/>
          <a:ln w="9525">
            <a:solidFill>
              <a:srgbClr val="7FA4BA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79" y="3986783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3.51 → 1.75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22976" y="3986783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82× → 41×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59" y="3986783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8096" y="4389120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3D-RoPE（多模态）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06624" y="4507992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734056" y="4507992"/>
            <a:ext cx="322180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79" y="4389120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1.87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22976" y="4389120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73×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59" y="4389120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8096" y="4791456"/>
            <a:ext cx="184708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Norm 与其他小算子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06624" y="4910328"/>
            <a:ext cx="27432" cy="164592"/>
          </a:xfrm>
          <a:prstGeom prst="rect">
            <a:avLst/>
          </a:prstGeom>
          <a:solidFill>
            <a:srgbClr val="7D889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734056" y="4910328"/>
            <a:ext cx="171595" cy="164592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297679" y="4791456"/>
            <a:ext cx="1188720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~1.0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22976" y="4791456"/>
            <a:ext cx="749808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44×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59" y="4791456"/>
            <a:ext cx="804672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7FA4BA"/>
                </a:solidFill>
                <a:latin typeface="Consolas"/>
                <a:ea typeface="Microsoft YaHei"/>
                <a:cs typeface="Microsoft YaHei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3488" y="1389888"/>
            <a:ext cx="4309567" cy="3785615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571231" y="1463040"/>
            <a:ext cx="3852367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优化记录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424927" y="1865376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552944" y="1865376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808975" y="1901952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融合 swiglu + 动态量化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单算子优化后 1.75 ms/步（原 3.51）· D device 24.7 → 22.2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71455" y="1865376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24927" y="2569464"/>
            <a:ext cx="4126687" cy="65836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52944" y="2569464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08975" y="2606040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量化 + shuffle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单算子测试快5.43倍，端到端吞吐增加3%，TPOT 减少3.4%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71455" y="2569464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52944" y="3273552"/>
            <a:ext cx="274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808975" y="3310128"/>
            <a:ext cx="238932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尝试grouped-GEMM group-mode 不同分组策略，没有明显受益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271455" y="3273552"/>
            <a:ext cx="11887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552944" y="3867912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808975" y="3904488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FFN 输出合并换 shuffle_mul_sum_sdnn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劣化0.61×，更慢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71455" y="3867912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放弃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52944" y="4572000"/>
            <a:ext cx="2743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808975" y="4608576"/>
            <a:ext cx="2389327" cy="58521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路由 softmax + topk + renorm 融合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tpot受益只有0.9%小于波动线，放弃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271455" y="4572000"/>
            <a:ext cx="1188720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收益不明显，放弃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8640" y="5285232"/>
            <a:ext cx="2231136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同一优化方案在不同并发下的表现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输出 TPS：并发越高，吞吐收益越显著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71216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99232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c1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+9.9%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94.9 → 104.3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651187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779203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c32 · Trace 工作点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+22.5%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959.6 → 1175.7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31158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59174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+30.7%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1199.9 → 1567.7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211129" y="5285232"/>
            <a:ext cx="1651955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39145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c96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+35.3%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1307.3 → 1768.8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991100" y="5285232"/>
            <a:ext cx="1651955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119116" y="5312664"/>
            <a:ext cx="1414211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c128 · 峰值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+37.4%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1370.0 → 1883.0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48640" y="5943600"/>
            <a:ext cx="11094415" cy="475488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548640" y="5943600"/>
            <a:ext cx="73152" cy="475488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7824" y="5943600"/>
            <a:ext cx="10436047" cy="47548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经　</a:t>
            </a: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Agent 多轮自动化迭代，128并发吞吐提升 37.4%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Agent：算子层对抗生成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算子需求或既有实现出发，先保精度对齐，再做性能寻优；生成与评测严格解耦，评测侧完全基于确定性规则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19072"/>
            <a:ext cx="3785615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865376"/>
            <a:ext cx="3328415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写算子</a:t>
            </a:r>
            <a:r>
              <a:rPr sz="1500" b="0">
                <a:solidFill>
                  <a:srgbClr val="E8C9AC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Agent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全流程唯一的模型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432304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澄清需求与约束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比较方案，固定输入语义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566160"/>
            <a:ext cx="3236975" cy="914400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依据硬件规格生成实现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显式规划数据搬运（DMA）、计算流水与同步机制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5424" y="1719072"/>
            <a:ext cx="4617720" cy="334670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9744" y="1865376"/>
            <a:ext cx="4160520" cy="3657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判算子</a:t>
            </a:r>
            <a:r>
              <a:rPr sz="15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30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Harness</a:t>
            </a:r>
            <a:r>
              <a:rPr sz="10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规则驱动，无模型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73168" y="241401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31536" y="241401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编译与运行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编译构建并拉起测试，失败即打回重改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054096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31536" y="3054096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数值验证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多 Shape、多精度下与golden比较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69417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31536" y="369417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真机计时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固定负载，重复测量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3168" y="4334255"/>
            <a:ext cx="658368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Profile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31536" y="4334255"/>
            <a:ext cx="3483863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瓶颈分析</a:t>
            </a: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　模拟器定位，不作判据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1719072"/>
            <a:ext cx="2288743" cy="33467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92056" y="1847088"/>
            <a:ext cx="1831543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batch_norm实测样例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37192" y="2286000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2340864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固定工作负载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FP32 总数据量8.39MB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537192" y="3163824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0072" y="3218688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相对基线加速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1.37 ×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13.24 → 9.66 µs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37192" y="4041648"/>
            <a:ext cx="1922983" cy="76809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20072" y="4096511"/>
            <a:ext cx="1557223" cy="65836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最优版本测量200轮平均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9.66 µs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92056" y="4736592"/>
            <a:ext cx="1831543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详细迭代过程见下一页</a:t>
            </a:r>
          </a:p>
        </p:txBody>
      </p:sp>
      <p:sp>
        <p:nvSpPr>
          <p:cNvPr id="29" name="Freeform 28"/>
          <p:cNvSpPr/>
          <p:nvPr/>
        </p:nvSpPr>
        <p:spPr>
          <a:xfrm>
            <a:off x="2441448" y="1481328"/>
            <a:ext cx="4402835" cy="237744"/>
          </a:xfrm>
          <a:custGeom>
            <a:avLst/>
            <a:gdLst/>
            <a:ahLst/>
            <a:cxnLst/>
            <a:rect l="l" t="t" r="r" b="b"/>
            <a:pathLst>
              <a:path w="4402835" h="237744">
                <a:moveTo>
                  <a:pt x="0" y="237744"/>
                </a:moveTo>
                <a:lnTo>
                  <a:pt x="0" y="0"/>
                </a:lnTo>
                <a:lnTo>
                  <a:pt x="4402835" y="0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6844283" y="1481328"/>
            <a:ext cx="0" cy="219456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1" name="TextBox 30"/>
          <p:cNvSpPr txBox="1"/>
          <p:nvPr/>
        </p:nvSpPr>
        <p:spPr>
          <a:xfrm>
            <a:off x="2606040" y="1207007"/>
            <a:ext cx="365760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交付候选实现</a:t>
            </a:r>
          </a:p>
        </p:txBody>
      </p:sp>
      <p:sp>
        <p:nvSpPr>
          <p:cNvPr id="32" name="Freeform 31"/>
          <p:cNvSpPr/>
          <p:nvPr/>
        </p:nvSpPr>
        <p:spPr>
          <a:xfrm>
            <a:off x="2441448" y="5065776"/>
            <a:ext cx="4402835" cy="256032"/>
          </a:xfrm>
          <a:custGeom>
            <a:avLst/>
            <a:gdLst/>
            <a:ahLst/>
            <a:cxnLst/>
            <a:rect l="l" t="t" r="r" b="b"/>
            <a:pathLst>
              <a:path w="4402835" h="256032">
                <a:moveTo>
                  <a:pt x="4402835" y="0"/>
                </a:moveTo>
                <a:lnTo>
                  <a:pt x="4402835" y="256032"/>
                </a:lnTo>
                <a:lnTo>
                  <a:pt x="0" y="256032"/>
                </a:lnTo>
              </a:path>
            </a:pathLst>
          </a:custGeom>
          <a:noFill/>
          <a:ln w="19050">
            <a:solidFill>
              <a:srgbClr val="D2690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 flipV="1">
            <a:off x="2441448" y="5084064"/>
            <a:ext cx="0" cy="237744"/>
          </a:xfrm>
          <a:prstGeom prst="line">
            <a:avLst/>
          </a:prstGeom>
          <a:ln w="19050">
            <a:solidFill>
              <a:srgbClr val="D2690C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2606040" y="5340096"/>
            <a:ext cx="420624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评测结果与瓶颈证据回传，进入下一轮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5632704"/>
            <a:ext cx="11094415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5632704"/>
            <a:ext cx="73152" cy="640080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59536" y="5705856"/>
            <a:ext cx="10454335" cy="29260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与硬件耦合的只有后端这一层：编译 · 运行 · 性能采集　</a:t>
            </a:r>
            <a:r>
              <a:rPr sz="12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backend/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" y="5943600"/>
            <a:ext cx="10454335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迁移至新芯片时仅需适配该后端接口，“生成与评测”主流程无需改动。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382512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使用算子团队相关skills 和 算子开发优化经验;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 batch_norm算子优化过程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96112"/>
            <a:ext cx="9592056" cy="420624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896112"/>
            <a:ext cx="9226296" cy="42062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目标shape</a:t>
            </a:r>
            <a:r>
              <a:rPr sz="1000" b="1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　N=1 · C=256 · HW=4096 · fp32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　1,048,576 元素，读写各 4 MB，总流量 8.39 MB　｜　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roofline </a:t>
            </a:r>
            <a:r>
              <a:rPr sz="1000" b="1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7.049 µs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（按纯带宽上限推算，不含指令发射约束与 Kernel Launch 固定开销）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26464"/>
            <a:ext cx="5943600" cy="3694176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499616"/>
            <a:ext cx="29260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带宽达成率（Achieved）= 理论极限耗时 ÷ 实测耗时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75887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目标 0.70 · 10.07 µs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65775" y="1499616"/>
            <a:ext cx="13716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D2690C"/>
                </a:solidFill>
                <a:latin typeface="Microsoft YaHei"/>
                <a:ea typeface="Microsoft YaHei"/>
                <a:cs typeface="Microsoft YaHei"/>
              </a:rPr>
              <a:t>- - </a:t>
            </a:r>
            <a:r>
              <a:rPr sz="8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拷贝地板 0.717 · 9.83 µs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52144" y="3983736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658368" y="3864864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0.45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52144" y="3714105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58368" y="3595233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52144" y="3444474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658368" y="3325602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0.55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52144" y="3174843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58368" y="3055971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52144" y="290521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658368" y="278634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0.65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658368" y="2516710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52144" y="2365951"/>
            <a:ext cx="4864608" cy="0"/>
          </a:xfrm>
          <a:prstGeom prst="line">
            <a:avLst/>
          </a:prstGeom>
          <a:ln w="6350">
            <a:solidFill>
              <a:srgbClr val="CFE3F0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658368" y="2247079"/>
            <a:ext cx="420624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0.75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52144" y="2635582"/>
            <a:ext cx="4864608" cy="0"/>
          </a:xfrm>
          <a:prstGeom prst="line">
            <a:avLst/>
          </a:prstGeom>
          <a:ln w="12700">
            <a:solidFill>
              <a:srgbClr val="7FA4BA"/>
            </a:solidFill>
            <a:prstDash val="dash"/>
          </a:ln>
        </p:spPr>
      </p:cxnSp>
      <p:cxnSp>
        <p:nvCxnSpPr>
          <p:cNvPr id="26" name="Connector 25"/>
          <p:cNvCxnSpPr/>
          <p:nvPr/>
        </p:nvCxnSpPr>
        <p:spPr>
          <a:xfrm>
            <a:off x="1152144" y="2543907"/>
            <a:ext cx="4864608" cy="0"/>
          </a:xfrm>
          <a:prstGeom prst="line">
            <a:avLst/>
          </a:prstGeom>
          <a:ln w="12700">
            <a:solidFill>
              <a:srgbClr val="D2690C"/>
            </a:solidFill>
            <a:prstDash val="dash"/>
          </a:ln>
        </p:spPr>
      </p:cxnSp>
      <p:cxnSp>
        <p:nvCxnSpPr>
          <p:cNvPr id="27" name="Connector 26"/>
          <p:cNvCxnSpPr/>
          <p:nvPr/>
        </p:nvCxnSpPr>
        <p:spPr>
          <a:xfrm>
            <a:off x="1152144" y="4334256"/>
            <a:ext cx="4864608" cy="0"/>
          </a:xfrm>
          <a:prstGeom prst="line">
            <a:avLst/>
          </a:prstGeom>
          <a:ln w="9525">
            <a:solidFill>
              <a:srgbClr val="7FA4BA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1121054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7515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9397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80436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6897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53358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39819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2740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9201" y="4370832"/>
            <a:ext cx="548640" cy="23774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38" name="Freeform 37"/>
          <p:cNvSpPr/>
          <p:nvPr/>
        </p:nvSpPr>
        <p:spPr>
          <a:xfrm>
            <a:off x="1395374" y="2473803"/>
            <a:ext cx="4378147" cy="1067738"/>
          </a:xfrm>
          <a:custGeom>
            <a:avLst/>
            <a:gdLst/>
            <a:ahLst/>
            <a:cxnLst/>
            <a:rect l="l" t="t" r="r" b="b"/>
            <a:pathLst>
              <a:path w="4378147" h="1067738">
                <a:moveTo>
                  <a:pt x="0" y="1067738"/>
                </a:moveTo>
                <a:lnTo>
                  <a:pt x="486461" y="1067738"/>
                </a:lnTo>
                <a:lnTo>
                  <a:pt x="972922" y="695648"/>
                </a:lnTo>
                <a:lnTo>
                  <a:pt x="1945843" y="695648"/>
                </a:lnTo>
                <a:lnTo>
                  <a:pt x="2432304" y="59319"/>
                </a:lnTo>
                <a:lnTo>
                  <a:pt x="3891686" y="59319"/>
                </a:lnTo>
                <a:lnTo>
                  <a:pt x="4378147" y="0"/>
                </a:lnTo>
              </a:path>
            </a:pathLst>
          </a:custGeom>
          <a:noFill/>
          <a:ln w="25400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317650" y="3463817"/>
            <a:ext cx="155448" cy="155448"/>
          </a:xfrm>
          <a:prstGeom prst="ellipse">
            <a:avLst/>
          </a:prstGeom>
          <a:solidFill>
            <a:srgbClr val="40708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93038" y="3651269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0.532</a:t>
            </a:r>
          </a:p>
        </p:txBody>
      </p:sp>
      <p:sp>
        <p:nvSpPr>
          <p:cNvPr id="41" name="Oval 40"/>
          <p:cNvSpPr/>
          <p:nvPr/>
        </p:nvSpPr>
        <p:spPr>
          <a:xfrm>
            <a:off x="2290572" y="3091727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965960" y="2858555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0.601</a:t>
            </a:r>
          </a:p>
        </p:txBody>
      </p:sp>
      <p:sp>
        <p:nvSpPr>
          <p:cNvPr id="43" name="Oval 42"/>
          <p:cNvSpPr/>
          <p:nvPr/>
        </p:nvSpPr>
        <p:spPr>
          <a:xfrm>
            <a:off x="2777032" y="3808944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452420" y="3575772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0.468</a:t>
            </a:r>
          </a:p>
        </p:txBody>
      </p:sp>
      <p:sp>
        <p:nvSpPr>
          <p:cNvPr id="45" name="Oval 44"/>
          <p:cNvSpPr/>
          <p:nvPr/>
        </p:nvSpPr>
        <p:spPr>
          <a:xfrm>
            <a:off x="3263493" y="4170250"/>
            <a:ext cx="155448" cy="155448"/>
          </a:xfrm>
          <a:prstGeom prst="ellipse">
            <a:avLst/>
          </a:prstGeom>
          <a:solidFill>
            <a:srgbClr val="B4382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38881" y="3937078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0.401</a:t>
            </a:r>
          </a:p>
        </p:txBody>
      </p:sp>
      <p:sp>
        <p:nvSpPr>
          <p:cNvPr id="47" name="Oval 46"/>
          <p:cNvSpPr/>
          <p:nvPr/>
        </p:nvSpPr>
        <p:spPr>
          <a:xfrm>
            <a:off x="3749954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25342" y="2222226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0.719</a:t>
            </a:r>
          </a:p>
        </p:txBody>
      </p:sp>
      <p:sp>
        <p:nvSpPr>
          <p:cNvPr id="49" name="Oval 48"/>
          <p:cNvSpPr/>
          <p:nvPr/>
        </p:nvSpPr>
        <p:spPr>
          <a:xfrm>
            <a:off x="4236415" y="2455398"/>
            <a:ext cx="155448" cy="155448"/>
          </a:xfrm>
          <a:prstGeom prst="ellipse">
            <a:avLst/>
          </a:prstGeom>
          <a:solidFill>
            <a:srgbClr val="17795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695797" y="2396079"/>
            <a:ext cx="155448" cy="155448"/>
          </a:xfrm>
          <a:prstGeom prst="ellipse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371185" y="2162907"/>
            <a:ext cx="804672" cy="21945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0.730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" y="4791455"/>
            <a:ext cx="548640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保留　</a:t>
            </a:r>
            <a:r>
              <a:rPr sz="1000" b="0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真机实测更慢，废弃　</a:t>
            </a: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● </a:t>
            </a:r>
            <a:r>
              <a:rPr sz="9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交付复测　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711696" y="1426464"/>
            <a:ext cx="4931359" cy="3694176"/>
          </a:xfrm>
          <a:prstGeom prst="rect">
            <a:avLst/>
          </a:prstGeom>
          <a:solidFill>
            <a:srgbClr val="F2F8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11696" y="1499616"/>
            <a:ext cx="4931359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八轮迭代优化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94576" y="190195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Consolas"/>
                <a:ea typeface="Microsoft YaHei"/>
                <a:cs typeface="Microsoft YaHei"/>
              </a:rPr>
              <a:t>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43216" y="190195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batch_norm 基线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90911" y="190195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13.24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130991" y="190195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基线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94576" y="224942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43216" y="224942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标定纯内存拷贝耗时下限（探针）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490911" y="224942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130991" y="224942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探针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94576" y="259689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43216" y="259689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替换为硬件原生 rsqrt 指令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490911" y="259689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11.72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130991" y="259689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803136" y="2944368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894576" y="294436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443216" y="294436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shared 广播系数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490911" y="294436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15.06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30991" y="294436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803136" y="3291840"/>
            <a:ext cx="4748479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94576" y="3291840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Consolas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443216" y="3291840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host 折系数 + 每次 H2D（非 kernel耗时）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490911" y="3291840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17.60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130991" y="3291840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4382F"/>
                </a:solidFill>
                <a:latin typeface="Microsoft YaHei"/>
                <a:ea typeface="Microsoft YaHei"/>
                <a:cs typeface="Microsoft YaHei"/>
              </a:rPr>
              <a:t>丢弃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94576" y="3639312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43216" y="3639312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修 copy 的寄存器 spill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490911" y="3639312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30991" y="3639312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94576" y="3986784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Consolas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43216" y="3986784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计算折叠为 scale * x + shift（乘加融合）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490911" y="3986784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9.82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130991" y="3986784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7795F"/>
                </a:solidFill>
                <a:latin typeface="Microsoft YaHei"/>
                <a:ea typeface="Microsoft YaHei"/>
                <a:cs typeface="Microsoft YaHei"/>
              </a:rPr>
              <a:t>保留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94576" y="4334256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 · 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443216" y="4334256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完善模拟器脚手架与修复 ABI 接口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490911" y="4334256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1130991" y="4334256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基建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803136" y="4681728"/>
            <a:ext cx="4748479" cy="347472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894576" y="4681728"/>
            <a:ext cx="51206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Consolas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443216" y="4681728"/>
            <a:ext cx="3011119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空闲卡复测 iters=200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490911" y="4681728"/>
            <a:ext cx="603504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0A2B45"/>
                </a:solidFill>
                <a:latin typeface="Consolas"/>
                <a:ea typeface="Microsoft YaHei"/>
                <a:cs typeface="Microsoft YaHei"/>
              </a:rPr>
              <a:t>9.66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130991" y="4681728"/>
            <a:ext cx="365760" cy="34747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48640" y="5230368"/>
            <a:ext cx="2743200" cy="60350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同一算子实现，泛化至不同 Shape 的实测表现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固定 launch 开销约 1.95 µs，小 Shape 下 Launch 固定开销占比极高，稀释了计算优化收益。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28416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456432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2 × 1600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0.143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0.344 → 2.407 µs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443651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571667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32 × 6400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0.364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1.377 → 3.788 µs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58887" y="5230368"/>
            <a:ext cx="1968931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686903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64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0.449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1.762 → 3.925 µs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9674123" y="5230368"/>
            <a:ext cx="1968931" cy="603504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802139" y="5257800"/>
            <a:ext cx="1731187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2570A"/>
                </a:solidFill>
                <a:latin typeface="Consolas"/>
                <a:ea typeface="Microsoft YaHei"/>
                <a:cs typeface="Microsoft YaHei"/>
              </a:rPr>
              <a:t>256 × 4096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570A"/>
                </a:solidFill>
                <a:latin typeface="Microsoft YaHei"/>
                <a:ea typeface="Microsoft YaHei"/>
                <a:cs typeface="Microsoft YaHei"/>
              </a:rPr>
              <a:t>0.724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7.049 → 9.736 µs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8640" y="5943600"/>
            <a:ext cx="11094415" cy="493776"/>
          </a:xfrm>
          <a:prstGeom prst="rect">
            <a:avLst/>
          </a:prstGeom>
          <a:solidFill>
            <a:srgbClr val="FBE6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548640" y="5943600"/>
            <a:ext cx="73152" cy="493776"/>
          </a:xfrm>
          <a:prstGeom prst="rect">
            <a:avLst/>
          </a:prstGeom>
          <a:solidFill>
            <a:srgbClr val="D2690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77824" y="5943600"/>
            <a:ext cx="10436047" cy="49377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对比纯内存拷贝极限（9.83 µs），当前算子优化耗时（9.66 µs）已逼近硬件物理极限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M100 Agent：模型Roofline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638647" y="2779776"/>
            <a:ext cx="914400" cy="548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072384"/>
            <a:ext cx="11094415" cy="82296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从『我们自己做生态』到『合作伙伴共建生态飞轮』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把M100 + Agent 能力沉淀为可交付的智能体产品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把内部沉淀的适配智能体能力产品化，做到可复用、可交付、可复制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98448"/>
            <a:ext cx="11094415" cy="859536"/>
          </a:xfrm>
          <a:prstGeom prst="rect">
            <a:avLst/>
          </a:prstGeom>
          <a:solidFill>
            <a:srgbClr val="E6F0FC"/>
          </a:solidFill>
          <a:ln w="15875">
            <a:solidFill>
              <a:srgbClr val="0F62C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371600"/>
            <a:ext cx="2194560" cy="38404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核心目标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1792224"/>
            <a:ext cx="5669280" cy="27432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面向昆仑芯M100智能体产品：可复用 Skills + 统一知识库 + 多智能体协同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模型适配与评估优化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42832" y="1426464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算子性能分析与生成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故障诊断与智能问答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42832" y="1773936"/>
            <a:ext cx="24871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9E1FC"/>
            </a:solidFill>
          </a:ln>
        </p:spPr>
        <p:txBody>
          <a:bodyPr rtlCol="0" anchor="ctr" wrap="square" lIns="109728" tIns="0" rIns="54864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FC3F7"/>
                </a:solidFill>
                <a:latin typeface="Microsoft YaHei"/>
                <a:ea typeface="Microsoft YaHei"/>
                <a:cs typeface="Microsoft YaHei"/>
              </a:rPr>
              <a:t>●　</a:t>
            </a:r>
            <a:r>
              <a:rPr sz="950" b="0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性能与精度自动化评估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Skill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执行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标准化 SOP：能力快照 / 启动配置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框架与插件缺口清单，换版即同步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6026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26026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3770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知识库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沉淀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3770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源码级事实：缺口、热点与拐点清单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不靠人工维护，结论跟着版本走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03412" y="2322576"/>
            <a:ext cx="3539642" cy="1188720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03412" y="2322576"/>
            <a:ext cx="3539642" cy="45720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41156" y="2450592"/>
            <a:ext cx="3082442" cy="32918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测评体系</a:t>
            </a:r>
            <a:r>
              <a:rPr sz="1200" b="0">
                <a:solidFill>
                  <a:srgbClr val="AFCEE1"/>
                </a:solidFill>
                <a:latin typeface="Microsoft YaHei"/>
                <a:ea typeface="Microsoft YaHei"/>
                <a:cs typeface="Microsoft YaHei"/>
              </a:rPr>
              <a:t>　｜　</a:t>
            </a:r>
            <a:r>
              <a:rPr sz="1200" b="1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把关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1156" y="2852928"/>
            <a:ext cx="3082442" cy="566928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收益评估 · 压测校准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SLO 与单机容量验证，结果回流知识库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3657600"/>
            <a:ext cx="11094415" cy="40233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统一编排 · 自我进化</a:t>
            </a:r>
            <a:r>
              <a:rPr sz="12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→　</a:t>
            </a:r>
            <a:r>
              <a:rPr sz="12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把三套体系沉淀为一个多Agent产品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8096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Teams协作流程编排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分阶段执行工作流，每个阶段明确 输入 / 输出 / 条件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定义模型适配、调优、算子绑定工作流程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并行调度：多Agent并行执行，减少等待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93082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12538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Agent角色执行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94250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8842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角色：可行性评估Agent、适配与性能分析Agent、算子绑定与开发Agent、测试验证Agent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每个Agent独立执行，协同推进</a:t>
            </a:r>
          </a:p>
        </p:txBody>
      </p:sp>
      <p:sp>
        <p:nvSpPr>
          <p:cNvPr id="35" name="Pentagon 34"/>
          <p:cNvSpPr/>
          <p:nvPr/>
        </p:nvSpPr>
        <p:spPr>
          <a:xfrm>
            <a:off x="3972458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37524" y="4242816"/>
            <a:ext cx="3405530" cy="512064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56980" y="4242816"/>
            <a:ext cx="3003194" cy="512064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Skill 知识技能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38692" y="4864607"/>
            <a:ext cx="3204362" cy="1444751"/>
          </a:xfrm>
          <a:prstGeom prst="rect">
            <a:avLst/>
          </a:prstGeom>
          <a:solidFill>
            <a:srgbClr val="FFFFFF"/>
          </a:solidFill>
          <a:ln w="9525">
            <a:solidFill>
              <a:srgbClr val="CFE3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03284" y="4956048"/>
            <a:ext cx="2856890" cy="1261872"/>
          </a:xfrm>
          <a:prstGeom prst="rect">
            <a:avLst/>
          </a:prstGeom>
          <a:noFill/>
        </p:spPr>
        <p:txBody>
          <a:bodyPr wrap="square" anchor="t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包含硬件产品、源码、文档、工具、等先验知识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调试工具和结果可挂载到Agent上下文全面分析</a:t>
            </a:r>
          </a:p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•</a:t>
            </a:r>
            <a:r>
              <a:rPr sz="10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优化分析过程和结果可作为Skill自进化输入</a:t>
            </a:r>
          </a:p>
        </p:txBody>
      </p:sp>
      <p:sp>
        <p:nvSpPr>
          <p:cNvPr id="40" name="Pentagon 39"/>
          <p:cNvSpPr/>
          <p:nvPr/>
        </p:nvSpPr>
        <p:spPr>
          <a:xfrm>
            <a:off x="7816900" y="4279392"/>
            <a:ext cx="384048" cy="438912"/>
          </a:xfrm>
          <a:prstGeom prst="homePlate">
            <a:avLst/>
          </a:prstGeom>
          <a:solidFill>
            <a:srgbClr val="C9E1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pl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384048"/>
            <a:ext cx="68580" cy="38404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8096" y="310896"/>
            <a:ext cx="9372600" cy="53035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生态飞轮：面向伙伴、最终客户，放大生态收益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59536"/>
            <a:ext cx="9592056" cy="310896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0708B"/>
                </a:solidFill>
                <a:latin typeface="Microsoft YaHei"/>
                <a:ea typeface="Microsoft YaHei"/>
                <a:cs typeface="Microsoft YaHei"/>
              </a:rPr>
              <a:t>把 M100智能体产品 开放出去 —— </a:t>
            </a:r>
            <a:r>
              <a:rPr sz="1200" b="0">
                <a:solidFill>
                  <a:srgbClr val="1B4D69"/>
                </a:solidFill>
                <a:latin typeface="Microsoft YaHei"/>
                <a:ea typeface="Microsoft YaHei"/>
                <a:cs typeface="Microsoft YaHei"/>
              </a:rPr>
              <a:t>降低适配门槛、加速模型覆盖，让昆仑芯生态进入正循环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028535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7" name="Connector 6"/>
          <p:cNvCxnSpPr/>
          <p:nvPr/>
        </p:nvCxnSpPr>
        <p:spPr>
          <a:xfrm flipH="1">
            <a:off x="8047224" y="3581418"/>
            <a:ext cx="529665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8" name="Connector 7"/>
          <p:cNvCxnSpPr/>
          <p:nvPr/>
        </p:nvCxnSpPr>
        <p:spPr>
          <a:xfrm flipH="1">
            <a:off x="5335502" y="5059661"/>
            <a:ext cx="1520690" cy="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9" name="Connector 8"/>
          <p:cNvCxnSpPr/>
          <p:nvPr/>
        </p:nvCxnSpPr>
        <p:spPr>
          <a:xfrm flipH="1" flipV="1">
            <a:off x="3614805" y="3581418"/>
            <a:ext cx="529666" cy="993611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cxnSp>
        <p:nvCxnSpPr>
          <p:cNvPr id="10" name="Connector 9"/>
          <p:cNvCxnSpPr/>
          <p:nvPr/>
        </p:nvCxnSpPr>
        <p:spPr>
          <a:xfrm flipV="1">
            <a:off x="4289150" y="2296700"/>
            <a:ext cx="874009" cy="387050"/>
          </a:xfrm>
          <a:prstGeom prst="line">
            <a:avLst/>
          </a:prstGeom>
          <a:ln w="22225">
            <a:solidFill>
              <a:srgbClr val="0F62CE"/>
            </a:solidFill>
            <a:tailEnd type="triangle" w="med" len="med"/>
          </a:ln>
        </p:spPr>
      </p:cxnSp>
      <p:sp>
        <p:nvSpPr>
          <p:cNvPr id="11" name="Rounded Rectangle 10"/>
          <p:cNvSpPr/>
          <p:nvPr/>
        </p:nvSpPr>
        <p:spPr>
          <a:xfrm>
            <a:off x="5272887" y="1508760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降低模型适配成本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227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扩大模型覆盖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5920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反哺软件栈能力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9854" y="4684757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提升芯片竞争力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533502" y="2721882"/>
            <a:ext cx="1645920" cy="749808"/>
          </a:xfrm>
          <a:prstGeom prst="roundRect">
            <a:avLst>
              <a:gd name="adj" fmla="val 12000"/>
            </a:avLst>
          </a:prstGeom>
          <a:solidFill>
            <a:srgbClr val="0F62CE"/>
          </a:solidFill>
          <a:ln>
            <a:noFill/>
          </a:ln>
        </p:spPr>
        <p:txBody>
          <a:bodyPr rtlCol="0" anchor="ctr" wrap="square" lIns="73152" tIns="0" rIns="73152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吸引更多伙伴与客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5687" y="3364992"/>
            <a:ext cx="2560320" cy="548640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ct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Looping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870448"/>
            <a:ext cx="11094415" cy="566928"/>
          </a:xfrm>
          <a:prstGeom prst="rect">
            <a:avLst/>
          </a:prstGeom>
          <a:solidFill>
            <a:srgbClr val="E6F0F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5870448"/>
            <a:ext cx="73152" cy="566928"/>
          </a:xfrm>
          <a:prstGeom prst="rect">
            <a:avLst/>
          </a:prstGeom>
          <a:solidFill>
            <a:srgbClr val="0F62C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5870448"/>
            <a:ext cx="10436047" cy="566928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l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F62CE"/>
                </a:solidFill>
                <a:latin typeface="Microsoft YaHei"/>
                <a:ea typeface="Microsoft YaHei"/>
                <a:cs typeface="Microsoft YaHei"/>
              </a:rPr>
              <a:t>生态收益最大化</a:t>
            </a:r>
            <a:r>
              <a:rPr sz="1300" b="0">
                <a:solidFill>
                  <a:srgbClr val="7FA4BA"/>
                </a:solidFill>
                <a:latin typeface="Microsoft YaHei"/>
                <a:ea typeface="Microsoft YaHei"/>
                <a:cs typeface="Microsoft YaHei"/>
              </a:rPr>
              <a:t>　——　</a:t>
            </a:r>
            <a:r>
              <a:rPr sz="1300" b="1">
                <a:solidFill>
                  <a:srgbClr val="0A2B45"/>
                </a:solidFill>
                <a:latin typeface="Microsoft YaHei"/>
                <a:ea typeface="Microsoft YaHei"/>
                <a:cs typeface="Microsoft YaHei"/>
              </a:rPr>
              <a:t>让每一次适配都可沉淀、可复用，把个体投入转化为昆仑芯的生态资产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62895" y="6473952"/>
            <a:ext cx="1280160" cy="256032"/>
          </a:xfrm>
          <a:prstGeom prst="rect">
            <a:avLst/>
          </a:prstGeom>
          <a:noFill/>
        </p:spPr>
        <p:txBody>
          <a:bodyPr wrap="square" anchor="ctr" lIns="0" tIns="0" rIns="0" bIns="0">
            <a:noAutofit/>
          </a:bodyPr>
          <a:lstStyle/>
          <a:p>
            <a:pPr algn="r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40708B"/>
                </a:solidFill>
                <a:latin typeface="Consolas"/>
                <a:ea typeface="Microsoft YaHei"/>
                <a:cs typeface="Microsoft YaHei"/>
              </a:rP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