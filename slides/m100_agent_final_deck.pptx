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 Agent 运行机制视图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八步闭环：诊断取证 → 形成方案 → 确定性验收 → 更新基线，再开一轮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07008"/>
            <a:ext cx="1063721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准入门槛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质量达标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基线备份 + 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182660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" y="1901952"/>
            <a:ext cx="54864" cy="219456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78169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诊断取证</a:t>
            </a:r>
            <a:r>
              <a:rPr sz="80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　Diagnose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1919" y="1828800"/>
            <a:ext cx="2231135" cy="1280160"/>
          </a:xfrm>
          <a:prstGeom prst="rect">
            <a:avLst/>
          </a:prstGeom>
          <a:solidFill>
            <a:srgbClr val="FBE6D4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39935" y="1901952"/>
            <a:ext cx="54864" cy="21945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86239" y="1874519"/>
            <a:ext cx="18653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形成方案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45152"/>
            <a:ext cx="11094415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4718304"/>
            <a:ext cx="54864" cy="21945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90872"/>
            <a:ext cx="1072865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确定性验收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（Trace）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8410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34714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186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（对齐到代码）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164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46468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3940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9935" y="2212848"/>
            <a:ext cx="1975103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86239" y="2304288"/>
            <a:ext cx="274320" cy="274320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3711" y="2286000"/>
            <a:ext cx="140817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86239" y="267004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9743" y="2670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 A/B 对比实验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8410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4714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2186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00164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46468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3940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1919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8223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5695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16352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2827477" y="249631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 文件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28106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5812383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39860" y="2596896"/>
            <a:ext cx="863499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8788146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瓶颈列表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2816352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2900629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质量不降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5728106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5812383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提速达标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8639860" y="5413248"/>
            <a:ext cx="735483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8678418" y="5312664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新版本就绪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972800" y="3145536"/>
            <a:ext cx="0" cy="146304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10506456" y="3429000"/>
            <a:ext cx="9326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补丁 + 证据引用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930384" y="3145536"/>
            <a:ext cx="0" cy="1463040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9390888" y="4123944"/>
            <a:ext cx="10789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打回 · 原因入记忆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728216" y="3145536"/>
            <a:ext cx="0" cy="146304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143000" y="3776472"/>
            <a:ext cx="11704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更新基线 · 再开一轮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8410" y="3456432"/>
            <a:ext cx="5014874" cy="84124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588410" y="3456432"/>
            <a:ext cx="73152" cy="8412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44442" y="3529584"/>
            <a:ext cx="45759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· 无模型 · 全流程接管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4442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确定性调度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0437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硬性约束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6431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全量实验追溯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72426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闭环容错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Agent：内部组件与人机交互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证据感知 — 假设推演 — 确定性核验；人只在下发契约、协同改动、终审验收三处介入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45059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 · 契约与证据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207008"/>
            <a:ext cx="36941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508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1392" y="1207008"/>
            <a:ext cx="279166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确定性工具与评测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无大模型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609344"/>
            <a:ext cx="2596896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09344"/>
            <a:ext cx="64008" cy="98755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55064"/>
            <a:ext cx="2267712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冻结契约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模型 · 精度 · 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门限 · 预算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调优知识库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2596896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62656"/>
            <a:ext cx="64008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08376"/>
            <a:ext cx="2267712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协同补丁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复杂改动由人主导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同样要过四道门禁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2596896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86784"/>
            <a:ext cx="64008" cy="987552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32504"/>
            <a:ext cx="2267712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判决与证据黑板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Verdict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门禁判决与被拒原因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数值与质量偏差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实测与下界的差距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05088" y="1609344"/>
            <a:ext cx="2937967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05088" y="1609344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87967" y="1655064"/>
            <a:ext cx="2608783" cy="96926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源码与冻结证据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Evidence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原仓库只读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探针按需补测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全程留痕落盘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冻结快照 + SHA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3602736"/>
            <a:ext cx="2937967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05088" y="3602736"/>
            <a:ext cx="64008" cy="137160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7" y="3648456"/>
            <a:ext cx="2608783" cy="12801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构建与真机评测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Build &amp; Bench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原位建版 · 精确重测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四道门禁，一票否决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单算子 ≥ 2% · 数值 ≤ 0.03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整模 A/B 超出噪声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真机实测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41648" y="1517904"/>
            <a:ext cx="384048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72076" y="1609344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状态机与编排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Orchestration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设备锁 · 状态流转 · 断点恢复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2076" y="2286000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通信与记忆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Mailbox / 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逐条校验 ID 与 SHA，只回传摘要与被拒原因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61888" y="2093976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272076" y="2962656"/>
            <a:ext cx="3379622" cy="1207008"/>
          </a:xfrm>
          <a:prstGeom prst="roundRect">
            <a:avLst>
              <a:gd name="adj" fmla="val 6060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2076" y="2980944"/>
            <a:ext cx="337962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　外部 Agent 长跑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0" y="3255264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6940" y="3511296"/>
            <a:ext cx="3269894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读源码与证据，提出假设与补丁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动作限定：</a:t>
            </a: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read · search · probe · patch · stop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不能自行宣告成功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61888" y="2770632"/>
            <a:ext cx="0" cy="18288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272076" y="4370832"/>
            <a:ext cx="3379622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打包补丁，触发构建与门禁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61888" y="4178808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272076" y="5047488"/>
            <a:ext cx="3379622" cy="402336"/>
          </a:xfrm>
          <a:prstGeom prst="roundRect">
            <a:avLst>
              <a:gd name="adj" fmla="val 18181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判决报告 → 人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最优版本 + 全程证据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61888" y="4855464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6053327" y="4846320"/>
            <a:ext cx="1005840" cy="20116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终审验收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45536" y="1847088"/>
            <a:ext cx="1089964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3273551" y="174650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下发契约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45536" y="3310128"/>
            <a:ext cx="1089964" cy="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3273551" y="320954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结对补丁</a:t>
            </a:r>
          </a:p>
        </p:txBody>
      </p:sp>
      <p:sp>
        <p:nvSpPr>
          <p:cNvPr id="45" name="Freeform 44"/>
          <p:cNvSpPr/>
          <p:nvPr/>
        </p:nvSpPr>
        <p:spPr>
          <a:xfrm>
            <a:off x="2816352" y="3840480"/>
            <a:ext cx="1419148" cy="118872"/>
          </a:xfrm>
          <a:custGeom>
            <a:avLst/>
            <a:gdLst/>
            <a:ahLst/>
            <a:cxnLst/>
            <a:rect l="l" t="t" r="r" b="b"/>
            <a:pathLst>
              <a:path w="1419148" h="118872">
                <a:moveTo>
                  <a:pt x="0" y="118872"/>
                </a:moveTo>
                <a:lnTo>
                  <a:pt x="0" y="0"/>
                </a:lnTo>
                <a:lnTo>
                  <a:pt x="1419148" y="0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83279" y="3739896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7" name="Freeform 46"/>
          <p:cNvSpPr/>
          <p:nvPr/>
        </p:nvSpPr>
        <p:spPr>
          <a:xfrm>
            <a:off x="7688275" y="2706624"/>
            <a:ext cx="1419149" cy="859536"/>
          </a:xfrm>
          <a:custGeom>
            <a:avLst/>
            <a:gdLst/>
            <a:ahLst/>
            <a:cxnLst/>
            <a:rect l="l" t="t" r="r" b="b"/>
            <a:pathLst>
              <a:path w="1419149" h="859536">
                <a:moveTo>
                  <a:pt x="0" y="859536"/>
                </a:moveTo>
                <a:lnTo>
                  <a:pt x="1419149" y="859536"/>
                </a:lnTo>
                <a:lnTo>
                  <a:pt x="1419149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973568" y="3465576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调取证据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88275" y="4608576"/>
            <a:ext cx="980237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7918704" y="450799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构建 · 门禁</a:t>
            </a:r>
          </a:p>
        </p:txBody>
      </p:sp>
      <p:sp>
        <p:nvSpPr>
          <p:cNvPr id="51" name="Freeform 50"/>
          <p:cNvSpPr/>
          <p:nvPr/>
        </p:nvSpPr>
        <p:spPr>
          <a:xfrm>
            <a:off x="1847088" y="5010912"/>
            <a:ext cx="8326983" cy="694944"/>
          </a:xfrm>
          <a:custGeom>
            <a:avLst/>
            <a:gdLst/>
            <a:ahLst/>
            <a:cxnLst/>
            <a:rect l="l" t="t" r="r" b="b"/>
            <a:pathLst>
              <a:path w="8326983" h="694944">
                <a:moveTo>
                  <a:pt x="8326983" y="0"/>
                </a:moveTo>
                <a:lnTo>
                  <a:pt x="8326983" y="694944"/>
                </a:lnTo>
                <a:lnTo>
                  <a:pt x="0" y="6949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02936" y="5605272"/>
            <a:ext cx="15179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回写：判决 · 偏差 · 耗时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规划器只提假设与补丁；数值、质量与收益全部由控制器独立核验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Agent：耗时归因与理论空间核算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不靠名字猜归属，不按占比拍脑袋——算清「实际耗时」与「物理极限」，自动分流优化方向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43584"/>
            <a:ext cx="5394960" cy="2267712"/>
          </a:xfrm>
          <a:prstGeom prst="roundRect">
            <a:avLst>
              <a:gd name="adj" fmla="val 2419"/>
            </a:avLst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7" y="1609344"/>
            <a:ext cx="5266944" cy="1837944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43584"/>
            <a:ext cx="4992624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一、耗时归因：时间花在哪段代码？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 源码贴标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 类代码位置打标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29967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2. 划定步界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记实测上下文长度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10511" y="2121408"/>
            <a:ext cx="19202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3364991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3. 任务对号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嵌套取最里层代码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45535" y="2121408"/>
            <a:ext cx="19202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4700016" y="1773936"/>
            <a:ext cx="1097280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0F62C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4. 分类汇总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耗时 + 调用次数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59" y="2121408"/>
            <a:ext cx="19202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694944" y="2578608"/>
            <a:ext cx="5102352" cy="438912"/>
          </a:xfrm>
          <a:prstGeom prst="roundRect">
            <a:avLst>
              <a:gd name="adj" fmla="val 12500"/>
            </a:avLst>
          </a:prstGeom>
          <a:solidFill>
            <a:srgbClr val="F2F8FD"/>
          </a:solidFill>
          <a:ln w="9525">
            <a:solidFill>
              <a:srgbClr val="7FA4BA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8 条防呆检查（不重算、不漏算，不达标直接拒出账本）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3090672"/>
            <a:ext cx="5102352" cy="347472"/>
          </a:xfrm>
          <a:prstGeom prst="roundRect">
            <a:avLst>
              <a:gd name="adj" fmla="val 15789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导出结果：</a:t>
            </a: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每类代码的【实际耗时】与【每步调用次数】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243584"/>
            <a:ext cx="5388559" cy="2267712"/>
          </a:xfrm>
          <a:prstGeom prst="roundRect">
            <a:avLst>
              <a:gd name="adj" fmla="val 2419"/>
            </a:avLst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18504" y="1609344"/>
            <a:ext cx="5260543" cy="1837944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243584"/>
            <a:ext cx="4986223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二、上限核算：理论上最快能跑多快？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773936"/>
            <a:ext cx="1601114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E8C9A4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直读模型位数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 8 位 / 16 位算数据量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8218" y="1773936"/>
            <a:ext cx="1601114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D2690C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实测激活专家数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用多少搬多少（拒用均值）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95636" y="1773936"/>
            <a:ext cx="1601114" cy="694944"/>
          </a:xfrm>
          <a:prstGeom prst="roundRect">
            <a:avLst>
              <a:gd name="adj" fmla="val 9210"/>
            </a:avLst>
          </a:prstGeom>
          <a:solidFill>
            <a:srgbClr val="F2F8FD"/>
          </a:solidFill>
          <a:ln w="9525">
            <a:solidFill>
              <a:srgbClr val="E8C9A4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硬件速度极限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算力上限 + 显存带宽上限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578608"/>
            <a:ext cx="5095951" cy="438912"/>
          </a:xfrm>
          <a:prstGeom prst="roundRect">
            <a:avLst>
              <a:gd name="adj" fmla="val 12500"/>
            </a:avLst>
          </a:prstGeom>
          <a:solidFill>
            <a:srgbClr val="FDF5E9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算力最快耗时 = 计算量 ÷ 算力极限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搬运最快耗时 = 最少数据量 ÷ 带宽极限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注：特殊运算的上限没测到时，单独标记为「待测」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090672"/>
            <a:ext cx="5095951" cy="347472"/>
          </a:xfrm>
          <a:prstGeom prst="roundRect">
            <a:avLst>
              <a:gd name="adj" fmla="val 15789"/>
            </a:avLst>
          </a:prstGeom>
          <a:solidFill>
            <a:srgbClr val="FBEBD6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导出结果：</a:t>
            </a: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取两者更大值 = 每类代码的【理论最快耗时】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46120" y="3538727"/>
            <a:ext cx="502920" cy="14630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 flipH="1">
            <a:off x="8445855" y="3538727"/>
            <a:ext cx="502920" cy="146304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1981047" y="3712463"/>
            <a:ext cx="8229600" cy="493776"/>
          </a:xfrm>
          <a:prstGeom prst="roundRect">
            <a:avLst>
              <a:gd name="adj" fmla="val 50000"/>
            </a:avLst>
          </a:prstGeom>
          <a:solidFill>
            <a:srgbClr val="0A2B45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三、自动判断与分流：</a:t>
            </a: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1300" b="1">
                <a:solidFill>
                  <a:srgbClr val="F6B860"/>
                </a:solidFill>
                <a:latin typeface="Microsoft YaHei"/>
                <a:ea typeface="Microsoft YaHei"/>
                <a:cs typeface="Microsoft YaHei"/>
              </a:rPr>
              <a:t>差距倍数 = 实际耗时 ÷ 理论最快耗时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866861" y="4224527"/>
            <a:ext cx="479946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548640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2647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FDF1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1：倍数 &lt; 0.9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账本自检报错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实测不可能快过物理极限（账算错了）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F7DDD8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动作：隔离挂账，不参与排序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686185" y="4224527"/>
            <a:ext cx="0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3367963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431971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ECF7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9131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2：倍数 ≤ 1.1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5979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已贴近硬件极限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实际耗时已经逼近理论最快值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14267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D3EBE1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动作：没有空间，停止投入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505509" y="4224527"/>
            <a:ext cx="0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6187287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51295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FE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455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3：调用 ≥ 16 次 且 单次 &lt; 1MB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5303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病因：</a:t>
            </a:r>
            <a:r>
              <a:rPr sz="12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任务发得太碎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调用极频繁、每次极短、搬数极少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33591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FAE3C6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改法：算子合并、融合、批处理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844887" y="4224527"/>
            <a:ext cx="479946" cy="246889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9006611" y="4498848"/>
            <a:ext cx="2636443" cy="1627632"/>
          </a:xfrm>
          <a:prstGeom prst="roundRect">
            <a:avLst>
              <a:gd name="adj" fmla="val 3370"/>
            </a:avLst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70619" y="4809744"/>
            <a:ext cx="2508427" cy="1252728"/>
          </a:xfrm>
          <a:prstGeom prst="roundRect">
            <a:avLst>
              <a:gd name="adj" fmla="val 3472"/>
            </a:avLst>
          </a:prstGeom>
          <a:solidFill>
            <a:srgbClr val="F0F6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07779" y="4498848"/>
            <a:ext cx="22341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 4：差距大 + 其余情况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4627" y="4809744"/>
            <a:ext cx="2380411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病因：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数据搬运不划算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任务不算碎，但远慢于理论搬运速度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52915" y="5724144"/>
            <a:ext cx="2343835" cy="256032"/>
          </a:xfrm>
          <a:prstGeom prst="roundRect">
            <a:avLst>
              <a:gd name="adj" fmla="val 50000"/>
            </a:avLst>
          </a:prstGeom>
          <a:solidFill>
            <a:srgbClr val="D8E8FB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改法：查访存模式与代码路径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