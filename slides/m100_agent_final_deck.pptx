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总体方案（写判分离 · 双层同构 · 跨层闭环）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1554480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261872"/>
            <a:ext cx="128016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层级定位</a:t>
            </a:r>
          </a:p>
        </p:txBody>
      </p:sp>
      <p:sp>
        <p:nvSpPr>
          <p:cNvPr id="8" name="Rectangle 7"/>
          <p:cNvSpPr/>
          <p:nvPr/>
        </p:nvSpPr>
        <p:spPr>
          <a:xfrm>
            <a:off x="2212848" y="1225296"/>
            <a:ext cx="1792224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9152" y="1261872"/>
            <a:ext cx="1517904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任务输入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42816" y="1225296"/>
            <a:ext cx="2670048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42816" y="1225296"/>
            <a:ext cx="2670048" cy="45720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261872"/>
            <a:ext cx="239572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AI 生成侧（写）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唯一引入大模型的位置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0608" y="1225296"/>
            <a:ext cx="2852928" cy="47548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1225296"/>
            <a:ext cx="285292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12" y="1261872"/>
            <a:ext cx="25786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确定性验证侧（判）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纯规则驱动 · 真机实测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41280" y="1225296"/>
            <a:ext cx="1389888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87584" y="1261872"/>
            <a:ext cx="111556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④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准入出口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1755648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1755648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029967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【模型层】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模型接入与性能调优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12848" y="2103120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59152" y="2157984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人：定目标与边界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负载 / 精度 / 预算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050791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4242816" y="2103120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42816" y="2103120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62272" y="2157984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服务配置与图融合补丁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958583" y="2633472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7150608" y="2103120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50608" y="2103120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2157984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整模型真机端到端验收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输出对齐 · 质量不降 · 吞吐提升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049256" y="2633472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32" name="Rectangle 31"/>
          <p:cNvSpPr/>
          <p:nvPr/>
        </p:nvSpPr>
        <p:spPr>
          <a:xfrm>
            <a:off x="10241280" y="2103120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87584" y="2157984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sp>
        <p:nvSpPr>
          <p:cNvPr id="34" name="Freeform 33"/>
          <p:cNvSpPr/>
          <p:nvPr/>
        </p:nvSpPr>
        <p:spPr>
          <a:xfrm>
            <a:off x="5577840" y="2011680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577840" y="2011680"/>
            <a:ext cx="0" cy="73151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5614416" y="1783080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不过即回退，带着原因退回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94415" cy="14813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64008" cy="148132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4389120"/>
            <a:ext cx="1225295" cy="93268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【算子层】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自动生成算子实现并调优，提升aten算子的覆盖泛化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12848" y="4462272"/>
            <a:ext cx="179222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59152" y="4517136"/>
            <a:ext cx="1426464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算子规格与约束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目标 Shape 与硬件规格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50791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3" name="Rectangle 42"/>
          <p:cNvSpPr/>
          <p:nvPr/>
        </p:nvSpPr>
        <p:spPr>
          <a:xfrm>
            <a:off x="4242816" y="4462272"/>
            <a:ext cx="267004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42816" y="4462272"/>
            <a:ext cx="64008" cy="10607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2272" y="4517136"/>
            <a:ext cx="230428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生成并调优 Kernel 代码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958583" y="4992624"/>
            <a:ext cx="146305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7" name="Rectangle 46"/>
          <p:cNvSpPr/>
          <p:nvPr/>
        </p:nvSpPr>
        <p:spPr>
          <a:xfrm>
            <a:off x="7150608" y="4462272"/>
            <a:ext cx="285292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4462272"/>
            <a:ext cx="64008" cy="106070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4517136"/>
            <a:ext cx="248716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单算子评测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编译通过 · Golden 对齐 · 真机实测更快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049256" y="4992624"/>
            <a:ext cx="14630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51" name="Rectangle 50"/>
          <p:cNvSpPr/>
          <p:nvPr/>
        </p:nvSpPr>
        <p:spPr>
          <a:xfrm>
            <a:off x="10241280" y="4462272"/>
            <a:ext cx="1389888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7584" y="4517136"/>
            <a:ext cx="1024128" cy="9509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sp>
        <p:nvSpPr>
          <p:cNvPr id="53" name="Freeform 52"/>
          <p:cNvSpPr/>
          <p:nvPr/>
        </p:nvSpPr>
        <p:spPr>
          <a:xfrm>
            <a:off x="5577840" y="4370832"/>
            <a:ext cx="2999232" cy="91440"/>
          </a:xfrm>
          <a:custGeom>
            <a:avLst/>
            <a:gdLst/>
            <a:ahLst/>
            <a:cxnLst/>
            <a:rect l="l" t="t" r="r" b="b"/>
            <a:pathLst>
              <a:path w="2999232" h="91440">
                <a:moveTo>
                  <a:pt x="2999232" y="91440"/>
                </a:moveTo>
                <a:lnTo>
                  <a:pt x="2999232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5577840" y="4370832"/>
            <a:ext cx="0" cy="73152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5614416" y="4142232"/>
            <a:ext cx="292608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✕　不过即淘汰，带着证据退回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3310128"/>
            <a:ext cx="11094415" cy="73152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5577840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58" name="TextBox 57"/>
          <p:cNvSpPr txBox="1"/>
          <p:nvPr/>
        </p:nvSpPr>
        <p:spPr>
          <a:xfrm>
            <a:off x="2212848" y="3310128"/>
            <a:ext cx="3182111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→ 模型层</a:t>
            </a:r>
          </a:p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交付新算子内核，合入候选分支重跑整模型复验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77072" y="3401568"/>
            <a:ext cx="0" cy="548640"/>
          </a:xfrm>
          <a:prstGeom prst="line">
            <a:avLst/>
          </a:prstGeom>
          <a:ln w="22225">
            <a:solidFill>
              <a:srgbClr val="D2690C"/>
            </a:solidFill>
            <a:tailEnd type="triangle" w="med" len="med"/>
          </a:ln>
        </p:spPr>
      </p:cxnSp>
      <p:sp>
        <p:nvSpPr>
          <p:cNvPr id="60" name="TextBox 59"/>
          <p:cNvSpPr txBox="1"/>
          <p:nvPr/>
        </p:nvSpPr>
        <p:spPr>
          <a:xfrm>
            <a:off x="8759952" y="3310128"/>
            <a:ext cx="2883103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→ 算子层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定位瓶颈算子，下发 Shape 规格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705856"/>
            <a:ext cx="11094415" cy="62179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8640" y="5705856"/>
            <a:ext cx="73152" cy="6217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7824" y="5797296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核心原则：　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算子局部加速 ≠ 整模型收益；任何算子优化必须回流通过整模型真机复验方可交付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" y="598017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单算子理论下界与逐层核算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一个算子的四条路径并行推进，耗时由最慢的一条决定；逐算子求和得到单层，再乘层数得到整模型下界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25296"/>
            <a:ext cx="6766560" cy="46085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280160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5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4015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534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8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9472" y="1517904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1517904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8464" y="151790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1517904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76656" y="1728216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76656" y="1773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56815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14015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07791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534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9472" y="1773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98464" y="1773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0528" y="1773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76656" y="2002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2002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56815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07791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9534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9472" y="2002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2002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002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2231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6815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14015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7791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01568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9534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07408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19472" y="2231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98464" y="2231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10528" y="2231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" y="2459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76656" y="2459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56815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14015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07791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01568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9534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07408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19472" y="2459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98464" y="2459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10528" y="2459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" y="2688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956815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14015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7791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01568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9534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07408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19472" y="2688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98464" y="2688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10528" y="2688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" y="2916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" y="2916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56815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14015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907791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401568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9534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7408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919472" y="2916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13248" y="29169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98464" y="2916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10528" y="2916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6656" y="3145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956815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414015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07791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89534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07408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19472" y="3145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98464" y="3145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510528" y="3145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76656" y="33741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76656" y="3374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956815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414015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07791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401568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9534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407408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919472" y="3374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998464" y="3374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10528" y="3374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76656" y="3602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56815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414015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907791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01568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9534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407408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919472" y="3602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998464" y="3602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510528" y="3602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76656" y="38313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76656" y="3831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6815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414015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907791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401568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89534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407408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919472" y="3831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998464" y="3831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10528" y="3831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6656" y="4059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956815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414015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907791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401568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89534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07408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919472" y="4059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998464" y="4059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510528" y="4059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76656" y="42885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76656" y="42885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56815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414015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907791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401568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89534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407408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919472" y="42885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5998464" y="42885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510528" y="42885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656" y="45171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956815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414015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907791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401568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9534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407408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919472" y="45171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998464" y="45171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510528" y="45171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76656" y="47457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76656" y="47457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956815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414015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907791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01568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9534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407408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4919472" y="47457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5413248" y="4745736"/>
            <a:ext cx="53035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5998464" y="47457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510528" y="47457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76656" y="49743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956815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414015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907791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01568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89534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407408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919472" y="49743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998464" y="49743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510528" y="49743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76656" y="5202936"/>
            <a:ext cx="6364224" cy="22860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676656" y="5202936"/>
            <a:ext cx="128016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956815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2414015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2907791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3401568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389534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407408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4919472" y="5202936"/>
            <a:ext cx="438912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998464" y="5202936"/>
            <a:ext cx="457200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6510528" y="5202936"/>
            <a:ext cx="475488" cy="2286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0" name="Connector 189"/>
          <p:cNvCxnSpPr/>
          <p:nvPr/>
        </p:nvCxnSpPr>
        <p:spPr>
          <a:xfrm>
            <a:off x="5980176" y="1517904"/>
            <a:ext cx="0" cy="3913632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1" name="Rectangle 190"/>
          <p:cNvSpPr/>
          <p:nvPr/>
        </p:nvSpPr>
        <p:spPr>
          <a:xfrm>
            <a:off x="676656" y="5468112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731520" y="5468112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998464" y="5468112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6510528" y="5468112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676656" y="5577840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7443216" y="1225296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626096" y="1280160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单算子理论下界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626096" y="1499616"/>
            <a:ext cx="3834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t_算子 ＝ max（ t_读, t_写, t_算, t_其它 ）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7626096" y="1810512"/>
            <a:ext cx="38340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四条路径在硬件上并行推进，算子耗时由最慢的一条决定，不是四项求和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7662672" y="201168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t_读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174736" y="201168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读字节 ÷ 读带宽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7662672" y="219456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t_写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8174736" y="219456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写字节 ÷ 写带宽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662672" y="237744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t_算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8174736" y="237744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÷ 路径算力（cluster / sdnn × bf16 / fp8）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662672" y="2560320"/>
            <a:ext cx="47548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8174736" y="2560320"/>
            <a:ext cx="326715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特殊单元耗时，如 SFU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7626096" y="2779776"/>
            <a:ext cx="3834079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26096" y="2779776"/>
            <a:ext cx="54864" cy="60350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7772400" y="2798064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代入一个算子：expert gate+up GEMM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772400" y="2980944"/>
            <a:ext cx="3632911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max（ 读 98.28 ， 写 4.27 ， 算 7.19 ）＝ 98.28 µs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7772400" y="3182112"/>
            <a:ext cx="363291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127.76 MB 定死了下界，算力只跑到 7.3%，写和算全被读掩盖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7443216" y="3584448"/>
            <a:ext cx="4199839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7626096" y="3639312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8010144" y="3968496"/>
            <a:ext cx="2454783" cy="12801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17" name="Connector 216"/>
          <p:cNvCxnSpPr/>
          <p:nvPr/>
        </p:nvCxnSpPr>
        <p:spPr>
          <a:xfrm flipV="1">
            <a:off x="8010144" y="3968496"/>
            <a:ext cx="3016211" cy="1154147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18" name="Connector 217"/>
          <p:cNvCxnSpPr/>
          <p:nvPr/>
        </p:nvCxnSpPr>
        <p:spPr>
          <a:xfrm>
            <a:off x="10464927" y="4181856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19" name="Oval 218"/>
          <p:cNvSpPr/>
          <p:nvPr/>
        </p:nvSpPr>
        <p:spPr>
          <a:xfrm>
            <a:off x="10428351" y="4145280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20" name="Connector 219"/>
          <p:cNvCxnSpPr/>
          <p:nvPr/>
        </p:nvCxnSpPr>
        <p:spPr>
          <a:xfrm>
            <a:off x="11026355" y="3968496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21" name="Oval 220"/>
          <p:cNvSpPr/>
          <p:nvPr/>
        </p:nvSpPr>
        <p:spPr>
          <a:xfrm>
            <a:off x="10989779" y="3931920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083296" y="3986783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083296" y="4151375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083296" y="4315968"/>
            <a:ext cx="1700784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8010144" y="5248656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26" name="Connector 225"/>
          <p:cNvCxnSpPr/>
          <p:nvPr/>
        </p:nvCxnSpPr>
        <p:spPr>
          <a:xfrm>
            <a:off x="8010144" y="3968496"/>
            <a:ext cx="0" cy="128016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27" name="TextBox 226"/>
          <p:cNvSpPr txBox="1"/>
          <p:nvPr/>
        </p:nvSpPr>
        <p:spPr>
          <a:xfrm>
            <a:off x="7827264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8940698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0054132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1167567" y="5266944"/>
            <a:ext cx="36576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607808" y="49530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607808" y="452628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7607808" y="409956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607808" y="3886200"/>
            <a:ext cx="347472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35" name="Oval 234"/>
          <p:cNvSpPr/>
          <p:nvPr/>
        </p:nvSpPr>
        <p:spPr>
          <a:xfrm>
            <a:off x="8516569" y="486266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6" name="TextBox 235"/>
          <p:cNvSpPr txBox="1"/>
          <p:nvPr/>
        </p:nvSpPr>
        <p:spPr>
          <a:xfrm>
            <a:off x="8649157" y="5004400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37" name="Oval 236"/>
          <p:cNvSpPr/>
          <p:nvPr/>
        </p:nvSpPr>
        <p:spPr>
          <a:xfrm>
            <a:off x="8875015" y="472595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9007603" y="4785394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39" name="Oval 238"/>
          <p:cNvSpPr/>
          <p:nvPr/>
        </p:nvSpPr>
        <p:spPr>
          <a:xfrm>
            <a:off x="9612239" y="4441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9744827" y="4501232"/>
            <a:ext cx="1097280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7626096" y="5440680"/>
            <a:ext cx="3870655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7662672" y="5559552"/>
            <a:ext cx="37975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43" name="Rectangle 24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Rectangle 24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单层 242.3 µs × 48 层 ＝ 11.63 ms/步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其中 97.7% 是把权重与 KV 读一遍的时间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Agent：Agent 的内部组件与内外交互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 Agent 同构：同一套内部组件，差别只在订阅哪些消息、调用哪些工具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60704" y="1536192"/>
            <a:ext cx="0" cy="100584"/>
          </a:xfrm>
          <a:prstGeom prst="line">
            <a:avLst/>
          </a:prstGeom>
          <a:ln w="15875">
            <a:solidFill>
              <a:srgbClr val="40708B"/>
            </a:solidFill>
          </a:ln>
        </p:spPr>
      </p:cxnSp>
      <p:sp>
        <p:nvSpPr>
          <p:cNvPr id="7" name="Oval 6"/>
          <p:cNvSpPr/>
          <p:nvPr/>
        </p:nvSpPr>
        <p:spPr>
          <a:xfrm>
            <a:off x="1010412" y="1435608"/>
            <a:ext cx="100584" cy="100584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3815" y="1645920"/>
            <a:ext cx="493776" cy="402336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28115" y="1773936"/>
            <a:ext cx="82296" cy="82296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0996" y="1773936"/>
            <a:ext cx="82296" cy="82296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58951" y="2093976"/>
            <a:ext cx="603504" cy="100584"/>
          </a:xfrm>
          <a:prstGeom prst="roundRect">
            <a:avLst>
              <a:gd name="adj" fmla="val 50000"/>
            </a:avLst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5" y="2267712"/>
            <a:ext cx="131673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344168" y="1847088"/>
            <a:ext cx="374904" cy="0"/>
          </a:xfrm>
          <a:prstGeom prst="line">
            <a:avLst/>
          </a:prstGeom>
          <a:ln w="15875">
            <a:solidFill>
              <a:srgbClr val="40708B"/>
            </a:solidFill>
            <a:headEnd type="triangle" w="med" len="med"/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1060704" y="3547872"/>
            <a:ext cx="0" cy="100584"/>
          </a:xfrm>
          <a:prstGeom prst="line">
            <a:avLst/>
          </a:prstGeom>
          <a:ln w="15875">
            <a:solidFill>
              <a:srgbClr val="40708B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10412" y="3447287"/>
            <a:ext cx="100584" cy="100584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5" y="3657600"/>
            <a:ext cx="493776" cy="402336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9050">
            <a:solidFill>
              <a:srgbClr val="4070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8115" y="3785615"/>
            <a:ext cx="82296" cy="82296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0996" y="3785615"/>
            <a:ext cx="82296" cy="82296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58951" y="4105656"/>
            <a:ext cx="603504" cy="100584"/>
          </a:xfrm>
          <a:prstGeom prst="roundRect">
            <a:avLst>
              <a:gd name="adj" fmla="val 50000"/>
            </a:avLst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5" y="4279392"/>
            <a:ext cx="1316736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算子层 Agent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344168" y="3858768"/>
            <a:ext cx="374904" cy="0"/>
          </a:xfrm>
          <a:prstGeom prst="line">
            <a:avLst/>
          </a:prstGeom>
          <a:ln w="15875">
            <a:solidFill>
              <a:srgbClr val="40708B"/>
            </a:solidFill>
            <a:headEnd type="triangle" w="med" len="med"/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530352" y="1225296"/>
            <a:ext cx="10607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发布 ⇄ 订阅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55648" y="1225296"/>
            <a:ext cx="2706624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92807" y="1298448"/>
            <a:ext cx="243230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环境（Environment）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7" y="1536192"/>
            <a:ext cx="2432304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 Agent 在此发布与订阅</a:t>
            </a:r>
          </a:p>
        </p:txBody>
      </p:sp>
      <p:sp>
        <p:nvSpPr>
          <p:cNvPr id="26" name="Document 25"/>
          <p:cNvSpPr/>
          <p:nvPr/>
        </p:nvSpPr>
        <p:spPr>
          <a:xfrm>
            <a:off x="1938528" y="1828800"/>
            <a:ext cx="2340864" cy="530352"/>
          </a:xfrm>
          <a:prstGeom prst="flowChartDocument">
            <a:avLst/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lIns="54864" tIns="18288" rIns="54864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与耗时归因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38528" y="2596896"/>
            <a:ext cx="2340864" cy="530352"/>
          </a:xfrm>
          <a:prstGeom prst="roundRect">
            <a:avLst>
              <a:gd name="adj" fmla="val 40000"/>
            </a:avLst>
          </a:prstGeom>
          <a:solidFill>
            <a:srgbClr val="FBE6D4"/>
          </a:solidFill>
          <a:ln w="9525">
            <a:solidFill>
              <a:srgbClr val="C2570A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瓶颈算子 + Shape 规格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模型层 → 算子层</a:t>
            </a:r>
          </a:p>
        </p:txBody>
      </p:sp>
      <p:sp>
        <p:nvSpPr>
          <p:cNvPr id="28" name="Document 27"/>
          <p:cNvSpPr/>
          <p:nvPr/>
        </p:nvSpPr>
        <p:spPr>
          <a:xfrm>
            <a:off x="1938528" y="3364991"/>
            <a:ext cx="2340864" cy="530352"/>
          </a:xfrm>
          <a:prstGeom prst="flowChartDocument">
            <a:avLst/>
          </a:prstGeom>
          <a:solidFill>
            <a:srgbClr val="FBE6D4"/>
          </a:solidFill>
          <a:ln w="9525">
            <a:solidFill>
              <a:srgbClr val="C2570A"/>
            </a:solidFill>
          </a:ln>
        </p:spPr>
        <p:txBody>
          <a:bodyPr rtlCol="0" anchor="ctr" wrap="square" lIns="54864" tIns="18288" rIns="54864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新算子内核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算子层 → 模型层</a:t>
            </a:r>
          </a:p>
        </p:txBody>
      </p:sp>
      <p:sp>
        <p:nvSpPr>
          <p:cNvPr id="29" name="Document 28"/>
          <p:cNvSpPr/>
          <p:nvPr/>
        </p:nvSpPr>
        <p:spPr>
          <a:xfrm>
            <a:off x="1938528" y="4133087"/>
            <a:ext cx="2340864" cy="530352"/>
          </a:xfrm>
          <a:prstGeom prst="flowChartDocument">
            <a:avLst/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lIns="54864" tIns="18288" rIns="54864" bIns="9144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评测报告与判定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38528" y="4901183"/>
            <a:ext cx="2340864" cy="530352"/>
          </a:xfrm>
          <a:prstGeom prst="roundRect">
            <a:avLst>
              <a:gd name="adj" fmla="val 40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lIns="54864" tIns="18288" rIns="54864" bIns="18288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新基线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21808" y="1225296"/>
            <a:ext cx="3200400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58968" y="1298448"/>
            <a:ext cx="292608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Agent（两层同构）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53328" y="1682496"/>
            <a:ext cx="1737360" cy="566928"/>
          </a:xfrm>
          <a:prstGeom prst="roundRect">
            <a:avLst>
              <a:gd name="adj" fmla="val 18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记忆</a:t>
            </a: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Memory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53328" y="2450592"/>
            <a:ext cx="1737360" cy="566928"/>
          </a:xfrm>
          <a:prstGeom prst="roundRect">
            <a:avLst>
              <a:gd name="adj" fmla="val 18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观察</a:t>
            </a: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Observation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922008" y="2258568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6053328" y="3218688"/>
            <a:ext cx="1737360" cy="566928"/>
          </a:xfrm>
          <a:prstGeom prst="roundRect">
            <a:avLst>
              <a:gd name="adj" fmla="val 18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思考</a:t>
            </a: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Thought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922008" y="3026664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6053328" y="3986784"/>
            <a:ext cx="1737360" cy="566928"/>
          </a:xfrm>
          <a:prstGeom prst="roundRect">
            <a:avLst>
              <a:gd name="adj" fmla="val 18000"/>
            </a:avLst>
          </a:prstGeom>
          <a:solidFill>
            <a:srgbClr val="E6F0FC"/>
          </a:solidFill>
          <a:ln w="9525">
            <a:solidFill>
              <a:srgbClr val="0F62CE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行动</a:t>
            </a: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Action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922008" y="3794760"/>
            <a:ext cx="0" cy="18288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0" name="Rounded Rectangle 39"/>
          <p:cNvSpPr/>
          <p:nvPr/>
        </p:nvSpPr>
        <p:spPr>
          <a:xfrm>
            <a:off x="9144000" y="2450592"/>
            <a:ext cx="2499055" cy="51206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7FA4BA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3163824"/>
            <a:ext cx="2499055" cy="640080"/>
          </a:xfrm>
          <a:prstGeom prst="roundRect">
            <a:avLst>
              <a:gd name="adj" fmla="val 30000"/>
            </a:avLst>
          </a:prstGeom>
          <a:solidFill>
            <a:srgbClr val="FBE6D4"/>
          </a:solidFill>
          <a:ln w="9525">
            <a:solidFill>
              <a:srgbClr val="D2690C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大模型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全流程唯一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3931920"/>
            <a:ext cx="249905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40708B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工具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 · 运行 · 采集 · 比对 · 仿真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21808" y="5230368"/>
            <a:ext cx="6321247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21808" y="523036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96128" y="5230368"/>
            <a:ext cx="5864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判决侧</a:t>
            </a:r>
            <a:r>
              <a:rPr sz="105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规则驱动 · 无模型</a:t>
            </a:r>
            <a:r>
              <a:rPr sz="105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模型层＝控制器 · 算子层＝Harness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25696" y="2093976"/>
            <a:ext cx="1591056" cy="64008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47" name="Connector 46"/>
          <p:cNvCxnSpPr/>
          <p:nvPr/>
        </p:nvCxnSpPr>
        <p:spPr>
          <a:xfrm flipV="1">
            <a:off x="4425696" y="2734056"/>
            <a:ext cx="1591056" cy="1280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48" name="Connector 47"/>
          <p:cNvCxnSpPr/>
          <p:nvPr/>
        </p:nvCxnSpPr>
        <p:spPr>
          <a:xfrm flipV="1">
            <a:off x="4425696" y="2734056"/>
            <a:ext cx="1591056" cy="1664208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9" name="TextBox 48"/>
          <p:cNvSpPr txBox="1"/>
          <p:nvPr/>
        </p:nvSpPr>
        <p:spPr>
          <a:xfrm>
            <a:off x="4553712" y="2139696"/>
            <a:ext cx="73152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订阅</a:t>
            </a:r>
          </a:p>
        </p:txBody>
      </p:sp>
      <p:cxnSp>
        <p:nvCxnSpPr>
          <p:cNvPr id="50" name="Connector 49"/>
          <p:cNvCxnSpPr/>
          <p:nvPr/>
        </p:nvCxnSpPr>
        <p:spPr>
          <a:xfrm flipH="1">
            <a:off x="7827263" y="2706624"/>
            <a:ext cx="1280161" cy="667512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 flipH="1">
            <a:off x="7827263" y="3483864"/>
            <a:ext cx="1280161" cy="10972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>
            <a:off x="7827263" y="4270248"/>
            <a:ext cx="1280161" cy="0"/>
          </a:xfrm>
          <a:prstGeom prst="line">
            <a:avLst/>
          </a:prstGeom>
          <a:ln w="15875">
            <a:solidFill>
              <a:srgbClr val="40708B"/>
            </a:solidFill>
            <a:prstDash val="dash"/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8229600" y="4032504"/>
            <a:ext cx="822960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922008" y="4562856"/>
            <a:ext cx="0" cy="6583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55" name="TextBox 54"/>
          <p:cNvSpPr txBox="1"/>
          <p:nvPr/>
        </p:nvSpPr>
        <p:spPr>
          <a:xfrm>
            <a:off x="7031736" y="4992624"/>
            <a:ext cx="10972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提交候选</a:t>
            </a:r>
          </a:p>
        </p:txBody>
      </p:sp>
      <p:cxnSp>
        <p:nvCxnSpPr>
          <p:cNvPr id="56" name="Connector 55"/>
          <p:cNvCxnSpPr/>
          <p:nvPr/>
        </p:nvCxnSpPr>
        <p:spPr>
          <a:xfrm flipH="1">
            <a:off x="4498848" y="5513831"/>
            <a:ext cx="786384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57" name="TextBox 56"/>
          <p:cNvSpPr txBox="1"/>
          <p:nvPr/>
        </p:nvSpPr>
        <p:spPr>
          <a:xfrm>
            <a:off x="4535424" y="5276088"/>
            <a:ext cx="749808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判定通过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8640" y="5925312"/>
            <a:ext cx="11094415" cy="51206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48640" y="5925312"/>
            <a:ext cx="73152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7824" y="5925312"/>
            <a:ext cx="10436047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与通用 Agent 框架的唯一差别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「行动」不能直接产生新消息，必须先过一道确定性判决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Agent：全栈模型 Roofline 协同优化体系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演进目标（Target State）：算子 · 计算图 · 引擎三层协同寻优；优化目标由约束条件正向推导，最终准入交由真机实测一锤定音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" y="1261872"/>
            <a:ext cx="10838383" cy="78638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4672" y="1261872"/>
            <a:ext cx="54864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1143000"/>
            <a:ext cx="2047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目标层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锚定上限 · 拆解差距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389888"/>
            <a:ext cx="210312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426464"/>
            <a:ext cx="17373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人（输入约束）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业务流量画像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服务时延约束（SLO）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36391" y="1655063"/>
            <a:ext cx="23774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2" name="Rectangle 11"/>
          <p:cNvSpPr/>
          <p:nvPr/>
        </p:nvSpPr>
        <p:spPr>
          <a:xfrm>
            <a:off x="3419856" y="1389888"/>
            <a:ext cx="40233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21024" y="1426464"/>
            <a:ext cx="36576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上限核算器 · 纯理论推导（无模型）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仅依据模型配置与硬件物理规格直接推算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理论上限不含实测校准项，不靠实测数据反向拼凑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488936" y="1655063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7772400" y="1389888"/>
            <a:ext cx="3867912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1426464"/>
            <a:ext cx="35021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总差距拆解为三个维度</a:t>
            </a: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（三个倍率相乘，不是耗时相加）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73568" y="1636776"/>
            <a:ext cx="562115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35683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6851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9282" y="1627632"/>
            <a:ext cx="20116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20450" y="1636776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73568" y="1847088"/>
            <a:ext cx="3502152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责任到层，每一项差距均有明确的优化归属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87552" y="2185415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24" name="Rectangle 23"/>
          <p:cNvSpPr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084831"/>
            <a:ext cx="3540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任务派发：按理论差距大小排序，明确标注归属层级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2450592"/>
            <a:ext cx="10838383" cy="18470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" y="2450592"/>
            <a:ext cx="54864" cy="18470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87552" y="2331720"/>
            <a:ext cx="2936453" cy="237744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规划层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外环寻优工作点 · 内环逼近硬件上限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1472" y="2331720"/>
            <a:ext cx="177158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方括号标签表示当前能力成熟度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" y="2578608"/>
            <a:ext cx="106555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2606040"/>
            <a:ext cx="115021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外环 · 推理引擎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412090" y="2615184"/>
            <a:ext cx="731520" cy="182880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[ 探索中 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88720" y="280720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工作点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48256" y="280720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显存切分策略 · 单步批大小（Batch Size） · 投机解码（Speculative Decoding）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88720" y="2990088"/>
            <a:ext cx="768096" cy="164592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步间调度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48256" y="2990088"/>
            <a:ext cx="9393631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调度与执行重叠（Overlap Scheduler） · 分块预填充（Chunked Prefill）与混跑 · 前缀缓存 · PD 分离部署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88720" y="3182112"/>
            <a:ext cx="3096447" cy="201168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下发：张量形状（Shape）分布 + 新算子需求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2911" y="3182112"/>
            <a:ext cx="3260076" cy="201168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反馈：单步耗时代价曲线 + 时延余量（Budget）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87552" y="3419856"/>
            <a:ext cx="10655503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88720" y="3447288"/>
            <a:ext cx="51206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内环 · 计算图 + 算子：在锁定工作点上逼近硬件极限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59456" y="3456432"/>
            <a:ext cx="682431" cy="182880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单步执行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3657600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计算图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4" y="3666744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部分就绪 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71216" y="3657600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算子融合 · 多流并发（Multi-Stream） · 通信窗口预取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88720" y="4041648"/>
            <a:ext cx="76809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975104" y="4050791"/>
            <a:ext cx="804672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[ 已就绪 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1216" y="4041648"/>
            <a:ext cx="857067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聚焦单个算子内核（Kernel）的极致代码实现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88720" y="3858768"/>
            <a:ext cx="2125097" cy="164592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↓　下发：算子融合规范（契约）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51561" y="3858768"/>
            <a:ext cx="2150096" cy="164592"/>
          </a:xfrm>
          <a:prstGeom prst="roundRect">
            <a:avLst>
              <a:gd name="adj" fmla="val 50000"/>
            </a:avLst>
          </a:prstGeom>
          <a:solidFill>
            <a:srgbClr val="DEEDFA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反馈：新算子内核 + 实测耗时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7552" y="4434840"/>
            <a:ext cx="10655503" cy="0"/>
          </a:xfrm>
          <a:prstGeom prst="line">
            <a:avLst/>
          </a:prstGeom>
          <a:ln w="9525">
            <a:solidFill>
              <a:srgbClr val="AFCEE1"/>
            </a:solidFill>
            <a:prstDash val="dash"/>
          </a:ln>
        </p:spPr>
      </p:cxnSp>
      <p:sp>
        <p:nvSpPr>
          <p:cNvPr id="52" name="Rectangle 51"/>
          <p:cNvSpPr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552" y="4334256"/>
            <a:ext cx="2397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↓　提交候选方案（附带层级标签）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0912" y="4334256"/>
            <a:ext cx="25247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↑　淘汰打回：附带失败原因退回重改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4672" y="4700016"/>
            <a:ext cx="10838383" cy="1335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" y="4700016"/>
            <a:ext cx="54864" cy="133502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87552" y="4581144"/>
            <a:ext cx="3063453" cy="237744"/>
          </a:xfrm>
          <a:prstGeom prst="roundRect">
            <a:avLst>
              <a:gd name="adj" fmla="val 5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46304" tIns="0" rIns="109728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判决层</a:t>
            </a:r>
            <a:r>
              <a:rPr sz="950" b="0">
                <a:solidFill>
                  <a:srgbClr val="F2F8FD"/>
                </a:solidFill>
                <a:latin typeface="Microsoft YaHei"/>
                <a:ea typeface="Microsoft YaHei"/>
                <a:cs typeface="Microsoft YaHei"/>
              </a:rPr>
              <a:t>　规则驱动（无大模型） · 真机实测终审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7552" y="4828031"/>
            <a:ext cx="3454191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88720" y="4882895"/>
            <a:ext cx="3088431" cy="10607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仿真器 · 仅做初筛淘汰，不作准入放行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快速筛除明显劣化的候选方案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（主要用于引擎层策略初筛）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1743" y="5193792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→　初筛送测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1743" y="5431536"/>
            <a:ext cx="78638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←　实测校准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28127" y="4828031"/>
            <a:ext cx="6414927" cy="1170432"/>
          </a:xfrm>
          <a:prstGeom prst="rect">
            <a:avLst/>
          </a:prstGeom>
          <a:solidFill>
            <a:srgbClr val="FFFFFF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29295" y="4864607"/>
            <a:ext cx="60491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真机实测 · 唯一准入终审（一票否决）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29295" y="506577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算子级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5407" y="506577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L0（编译）/ L1（精度）/ Bench（测速），严格按引擎下发的真实 Shape 评测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29295" y="5248655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计算图级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5407" y="5248655"/>
            <a:ext cx="5116479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 A/B 性能压测 + 生成质量门禁评测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29295" y="5431536"/>
            <a:ext cx="859536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引擎级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5407" y="5431536"/>
            <a:ext cx="5116479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真实流量回放 · 约束下的吞吐与 P99 · 实测接受长度 · OOM 与抢占 · 长稳 · 多画像不退化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重叠开关前后一致性校验：固定批次逐位一致，混合负载按质量门禁容差判定；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高负载长稳压测排查并发竞态（Race Condition）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04672" y="6071616"/>
            <a:ext cx="10838383" cy="31089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4672" y="6071616"/>
            <a:ext cx="54864" cy="310896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6223863" y="6126479"/>
            <a:ext cx="0" cy="201169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74" name="TextBox 73"/>
          <p:cNvSpPr txBox="1"/>
          <p:nvPr/>
        </p:nvSpPr>
        <p:spPr>
          <a:xfrm>
            <a:off x="1024128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闭环演进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验证通过即晋升为最新基线，回流目标层重新核算差距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43319" y="6071616"/>
            <a:ext cx="514487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收敛条件　</a:t>
            </a:r>
            <a:r>
              <a:rPr sz="10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候选收益无法跨越系统噪声门限时，迭代自动收敛终止</a:t>
            </a:r>
          </a:p>
        </p:txBody>
      </p:sp>
      <p:sp>
        <p:nvSpPr>
          <p:cNvPr id="76" name="Freeform 75"/>
          <p:cNvSpPr/>
          <p:nvPr/>
        </p:nvSpPr>
        <p:spPr>
          <a:xfrm>
            <a:off x="603504" y="1664207"/>
            <a:ext cx="201168" cy="4562857"/>
          </a:xfrm>
          <a:custGeom>
            <a:avLst/>
            <a:gdLst/>
            <a:ahLst/>
            <a:cxnLst/>
            <a:rect l="l" t="t" r="r" b="b"/>
            <a:pathLst>
              <a:path w="201168" h="4562857">
                <a:moveTo>
                  <a:pt x="201168" y="4562857"/>
                </a:moveTo>
                <a:lnTo>
                  <a:pt x="0" y="4562857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>
            <a:off x="603504" y="1664207"/>
            <a:ext cx="182880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78" name="TextBox 77"/>
          <p:cNvSpPr txBox="1"/>
          <p:nvPr/>
        </p:nvSpPr>
        <p:spPr>
          <a:xfrm>
            <a:off x="548640" y="6419088"/>
            <a:ext cx="85953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7–8 页是单步口径（ms/步），本页是服务口径（约束下的吞吐），两种口径的数不能直接对齐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