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 Agent 运行机制视图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八步闭环：诊断取证 → 形成方案 → 确定性验收 → 更新基线，再开一轮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1094415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207008"/>
            <a:ext cx="10637215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准入门槛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质量达标</a:t>
            </a:r>
            <a:r>
              <a:rPr sz="10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基线备份 + 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8182660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656" y="1901952"/>
            <a:ext cx="54864" cy="219456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78169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诊断取证</a:t>
            </a:r>
            <a:r>
              <a:rPr sz="80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　Diagnose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1919" y="1828800"/>
            <a:ext cx="2231135" cy="1280160"/>
          </a:xfrm>
          <a:prstGeom prst="rect">
            <a:avLst/>
          </a:prstGeom>
          <a:solidFill>
            <a:srgbClr val="FBE6D4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539935" y="1901952"/>
            <a:ext cx="54864" cy="21945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86239" y="1874519"/>
            <a:ext cx="186537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形成方案</a:t>
            </a:r>
            <a:r>
              <a:rPr sz="800" b="1">
                <a:solidFill>
                  <a:srgbClr val="D2690C"/>
                </a:solidFill>
                <a:latin typeface="Consolas"/>
                <a:ea typeface="Microsoft YaHei"/>
                <a:cs typeface="Microsoft YaHei"/>
              </a:rPr>
              <a:t>　Plan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645152"/>
            <a:ext cx="11094415" cy="1280160"/>
          </a:xfrm>
          <a:prstGeom prst="rect">
            <a:avLst/>
          </a:prstGeom>
          <a:solidFill>
            <a:srgbClr val="F2F8FD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" y="4718304"/>
            <a:ext cx="54864" cy="21945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690872"/>
            <a:ext cx="1072865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确定性验收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Verify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（Trace）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8410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34714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2186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</a:t>
            </a: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（对齐到代码）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164" y="2212848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17795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46468" y="2459736"/>
            <a:ext cx="274320" cy="274320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3940" y="2212848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9935" y="2212848"/>
            <a:ext cx="1975103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86239" y="2304288"/>
            <a:ext cx="274320" cy="274320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3711" y="2286000"/>
            <a:ext cx="140817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86239" y="2670048"/>
            <a:ext cx="548640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9743" y="2670048"/>
            <a:ext cx="91440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 A/B 对比实验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8410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734714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2186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00164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646468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3940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11919" y="5029200"/>
            <a:ext cx="21031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58223" y="527608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05695" y="5029200"/>
            <a:ext cx="1554479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816352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2827477" y="2496312"/>
            <a:ext cx="7132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 文件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28106" y="2596896"/>
            <a:ext cx="73548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6" name="Rounded Rectangle 45"/>
          <p:cNvSpPr/>
          <p:nvPr/>
        </p:nvSpPr>
        <p:spPr>
          <a:xfrm>
            <a:off x="5812383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639860" y="2596896"/>
            <a:ext cx="863499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8" name="Rounded Rectangle 47"/>
          <p:cNvSpPr/>
          <p:nvPr/>
        </p:nvSpPr>
        <p:spPr>
          <a:xfrm>
            <a:off x="8788146" y="2496312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瓶颈列表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2816352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0" name="Rounded Rectangle 49"/>
          <p:cNvSpPr/>
          <p:nvPr/>
        </p:nvSpPr>
        <p:spPr>
          <a:xfrm>
            <a:off x="2900629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质量不降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5728106" y="5413248"/>
            <a:ext cx="735482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2" name="Rounded Rectangle 51"/>
          <p:cNvSpPr/>
          <p:nvPr/>
        </p:nvSpPr>
        <p:spPr>
          <a:xfrm>
            <a:off x="5812383" y="5312664"/>
            <a:ext cx="56692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提速达标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8639860" y="5413248"/>
            <a:ext cx="735483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4" name="Rounded Rectangle 53"/>
          <p:cNvSpPr/>
          <p:nvPr/>
        </p:nvSpPr>
        <p:spPr>
          <a:xfrm>
            <a:off x="8678418" y="5312664"/>
            <a:ext cx="65836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新版本就绪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972800" y="3145536"/>
            <a:ext cx="0" cy="146304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6" name="Rounded Rectangle 55"/>
          <p:cNvSpPr/>
          <p:nvPr/>
        </p:nvSpPr>
        <p:spPr>
          <a:xfrm>
            <a:off x="10506456" y="3429000"/>
            <a:ext cx="9326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补丁 + 证据引用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9930384" y="3145536"/>
            <a:ext cx="0" cy="1463040"/>
          </a:xfrm>
          <a:prstGeom prst="line">
            <a:avLst/>
          </a:prstGeom>
          <a:ln w="15875">
            <a:solidFill>
              <a:srgbClr val="B4382F"/>
            </a:solidFill>
            <a:prstDash val="dash"/>
            <a:tailEnd type="triangle" w="med" len="med"/>
          </a:ln>
        </p:spPr>
      </p:cxnSp>
      <p:sp>
        <p:nvSpPr>
          <p:cNvPr id="58" name="Rounded Rectangle 57"/>
          <p:cNvSpPr/>
          <p:nvPr/>
        </p:nvSpPr>
        <p:spPr>
          <a:xfrm>
            <a:off x="9390888" y="4123944"/>
            <a:ext cx="107899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4382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打回 · 原因入记忆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1728216" y="3145536"/>
            <a:ext cx="0" cy="1463040"/>
          </a:xfrm>
          <a:prstGeom prst="line">
            <a:avLst/>
          </a:prstGeom>
          <a:ln w="19050">
            <a:solidFill>
              <a:srgbClr val="17795F"/>
            </a:solidFill>
            <a:tailEnd type="triangle" w="med" len="med"/>
          </a:ln>
        </p:spPr>
      </p:cxnSp>
      <p:sp>
        <p:nvSpPr>
          <p:cNvPr id="60" name="Rounded Rectangle 59"/>
          <p:cNvSpPr/>
          <p:nvPr/>
        </p:nvSpPr>
        <p:spPr>
          <a:xfrm>
            <a:off x="1143000" y="3776472"/>
            <a:ext cx="1170432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7795F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更新基线 · 再开一轮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88410" y="3456432"/>
            <a:ext cx="5014874" cy="84124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588410" y="3456432"/>
            <a:ext cx="73152" cy="8412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44442" y="3529584"/>
            <a:ext cx="457596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Python · 无模型 · 全流程接管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844442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确定性调度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0437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硬性约束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96431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全量实验追溯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72426" y="3895344"/>
            <a:ext cx="104797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闭环容错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Agent：模型层内外双环与人机交互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外环是确定性控制器（无模型），内环是一轮试验；人只在下发契约、结对补丁、终审验收三处接入，交互物全部落盘</a:t>
            </a:r>
          </a:p>
        </p:txBody>
      </p:sp>
      <p:sp>
        <p:nvSpPr>
          <p:cNvPr id="6" name="Oval 5"/>
          <p:cNvSpPr/>
          <p:nvPr/>
        </p:nvSpPr>
        <p:spPr>
          <a:xfrm>
            <a:off x="635508" y="1261872"/>
            <a:ext cx="155448" cy="1554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4D69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713232" y="1417319"/>
            <a:ext cx="0" cy="91441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594360" y="1453895"/>
            <a:ext cx="237744" cy="0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>
            <a:off x="621792" y="1508760"/>
            <a:ext cx="91440" cy="100583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713232" y="1508760"/>
            <a:ext cx="91440" cy="100583"/>
          </a:xfrm>
          <a:prstGeom prst="line">
            <a:avLst/>
          </a:prstGeom>
          <a:ln w="15875">
            <a:solidFill>
              <a:srgbClr val="1B4D69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932688" y="1261872"/>
            <a:ext cx="1682495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 · 任务负责人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Human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700784"/>
            <a:ext cx="2066543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700784"/>
            <a:ext cx="64008" cy="131673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1746504"/>
            <a:ext cx="1792223" cy="12252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下发 · 冻结契约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人 → 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优化任务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optimization-task.json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质量契约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generation-task.json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调优知识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planner-skills/ × 10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授权边界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测试范围 · 可跳过项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127248"/>
            <a:ext cx="2066543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127248"/>
            <a:ext cx="64008" cy="84124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172968"/>
            <a:ext cx="1792223" cy="7498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结对 · 协同补丁</a:t>
            </a:r>
            <a:r>
              <a:rPr sz="8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人 ⇄ 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复杂改动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changes.patch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同等准入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同样走四道门禁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78224"/>
            <a:ext cx="2066543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078224"/>
            <a:ext cx="64008" cy="1316736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123944"/>
            <a:ext cx="1792223" cy="1225295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验收 · 判决报告</a:t>
            </a: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Agent → 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优化报告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optimization-report.md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最优版本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best.json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证据链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　attempts/ · planner/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·　边界声明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　自检异常 · 适用范围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61488" y="1225296"/>
            <a:ext cx="4206240" cy="4315968"/>
          </a:xfrm>
          <a:prstGeom prst="roundRect">
            <a:avLst>
              <a:gd name="adj" fmla="val 2000"/>
            </a:avLst>
          </a:prstGeom>
          <a:solidFill>
            <a:srgbClr val="F2F8FD"/>
          </a:solidFill>
          <a:ln w="12700">
            <a:solidFill>
              <a:srgbClr val="7FA4B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89504" y="1316736"/>
            <a:ext cx="54864" cy="237744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99232" y="1280160"/>
            <a:ext cx="384047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确定性控制器</a:t>
            </a:r>
            <a:r>
              <a:rPr sz="8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无模型 · 规则判决 · 逐轮核验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54096" y="1700784"/>
            <a:ext cx="1316736" cy="731520"/>
          </a:xfrm>
          <a:prstGeom prst="roundRect">
            <a:avLst>
              <a:gd name="adj" fmla="val 10000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状态机与编排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optimization.py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设备锁 · 状态流转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中断恢复 · 版本晋升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645919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01183" y="1700784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46320" y="1755648"/>
            <a:ext cx="1554480" cy="621792"/>
          </a:xfrm>
          <a:prstGeom prst="roundRect">
            <a:avLst>
              <a:gd name="adj" fmla="val 11764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试验队列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试验 1 … 试验 35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attempts/ 全量留痕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07407" y="2066544"/>
            <a:ext cx="402337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398263" y="196596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拆解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54096" y="2542032"/>
            <a:ext cx="3657599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判决后对试验队列的三类处置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272491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晋升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Promotion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63824" y="294436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108960" y="299923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过四道门禁 → 晋升基线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best.json 更新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45643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打回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Rejection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3824" y="367588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108960" y="373075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未过门禁 → 被拒原因进记忆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planner_memory.py 滚动压缩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187952"/>
            <a:ext cx="160934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回退</a:t>
            </a:r>
            <a:r>
              <a:rPr sz="7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Rollback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163824" y="4407408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108960" y="4462272"/>
            <a:ext cx="1609344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构建漂移 → 工作区回退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精确重测后再判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47488" y="3584448"/>
            <a:ext cx="1792224" cy="731520"/>
          </a:xfrm>
          <a:prstGeom prst="roundRect">
            <a:avLst>
              <a:gd name="adj" fmla="val 10000"/>
            </a:avLst>
          </a:prstGeom>
          <a:solidFill>
            <a:srgbClr val="C9E1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判决与晋升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比对下界账本 · 核验真实收益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晋升基线 · 生成判决报告</a:t>
            </a:r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4809744" y="3218687"/>
            <a:ext cx="201168" cy="731521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cxnSp>
        <p:nvCxnSpPr>
          <p:cNvPr id="42" name="Connector 41"/>
          <p:cNvCxnSpPr/>
          <p:nvPr/>
        </p:nvCxnSpPr>
        <p:spPr>
          <a:xfrm flipH="1">
            <a:off x="4809744" y="3950208"/>
            <a:ext cx="201168" cy="0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cxnSp>
        <p:nvCxnSpPr>
          <p:cNvPr id="43" name="Connector 42"/>
          <p:cNvCxnSpPr/>
          <p:nvPr/>
        </p:nvCxnSpPr>
        <p:spPr>
          <a:xfrm flipH="1">
            <a:off x="4809744" y="3950208"/>
            <a:ext cx="201168" cy="731520"/>
          </a:xfrm>
          <a:prstGeom prst="line">
            <a:avLst/>
          </a:prstGeom>
          <a:ln w="15875">
            <a:solidFill>
              <a:srgbClr val="0F62CE"/>
            </a:solidFill>
            <a:headEnd type="triangle" w="med" len="med"/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1040" y="1225296"/>
            <a:ext cx="3322015" cy="4315968"/>
          </a:xfrm>
          <a:prstGeom prst="roundRect">
            <a:avLst>
              <a:gd name="adj" fmla="val 2000"/>
            </a:avLst>
          </a:prstGeom>
          <a:solidFill>
            <a:srgbClr val="F2F8FD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49056" y="1316736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58784" y="1280160"/>
            <a:ext cx="295625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一轮试验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规划器是唯一引入大模型的位置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49056" y="1755648"/>
            <a:ext cx="3065983" cy="621792"/>
          </a:xfrm>
          <a:prstGeom prst="roundRect">
            <a:avLst>
              <a:gd name="adj" fmla="val 11764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取证与检索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planner_diagnostics.py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源码只读 · attempts/ · planner/ · probes/ 按需调取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有界探针：独立进程 · 产物 ≤ 64 KiB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449056" y="2523744"/>
            <a:ext cx="3065983" cy="1188720"/>
          </a:xfrm>
          <a:prstGeom prst="roundRect">
            <a:avLst>
              <a:gd name="adj" fmla="val 6153"/>
            </a:avLst>
          </a:prstGeom>
          <a:solidFill>
            <a:srgbClr val="FBE6D4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49056" y="2569463"/>
            <a:ext cx="30659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</a:t>
            </a: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　Codex 外部托管会话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3679" y="2834639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3090672"/>
            <a:ext cx="295625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读证据形成假设，提出结构化动作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动作：</a:t>
            </a: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read · search · list · probe · patch · stop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硬约束：不能自行宣告成功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982047" y="2386584"/>
            <a:ext cx="0" cy="12801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3" name="Rounded Rectangle 52"/>
          <p:cNvSpPr/>
          <p:nvPr/>
        </p:nvSpPr>
        <p:spPr>
          <a:xfrm>
            <a:off x="8449056" y="3858768"/>
            <a:ext cx="3065983" cy="676656"/>
          </a:xfrm>
          <a:prstGeom prst="roundRect">
            <a:avLst>
              <a:gd name="adj" fmla="val 10810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构建与真机实测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git_workspace.py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原位建版本 · 登记构建 · 起停服务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物理卡 · 精确重测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982047" y="3721607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5" name="Rounded Rectangle 54"/>
          <p:cNvSpPr/>
          <p:nvPr/>
        </p:nvSpPr>
        <p:spPr>
          <a:xfrm>
            <a:off x="8449056" y="4681728"/>
            <a:ext cx="3065983" cy="768096"/>
          </a:xfrm>
          <a:prstGeom prst="roundRect">
            <a:avLst>
              <a:gd name="adj" fmla="val 9523"/>
            </a:avLst>
          </a:prstGeom>
          <a:solidFill>
            <a:srgbClr val="E6F0FC"/>
          </a:solidFill>
          <a:ln w="12700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四道门禁核验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selfiterate_gates.py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 设备微测 ≥ 2%　① 数值门 ≤ 0.03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② 质量门 不降　D 整模三方 A/B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982047" y="4544568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cxnSp>
        <p:nvCxnSpPr>
          <p:cNvPr id="57" name="Connector 56"/>
          <p:cNvCxnSpPr/>
          <p:nvPr/>
        </p:nvCxnSpPr>
        <p:spPr>
          <a:xfrm>
            <a:off x="2615184" y="2103120"/>
            <a:ext cx="402336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8" name="Freeform 57"/>
          <p:cNvSpPr/>
          <p:nvPr/>
        </p:nvSpPr>
        <p:spPr>
          <a:xfrm>
            <a:off x="2615184" y="2340864"/>
            <a:ext cx="402336" cy="1207008"/>
          </a:xfrm>
          <a:custGeom>
            <a:avLst/>
            <a:gdLst/>
            <a:ahLst/>
            <a:cxnLst/>
            <a:rect l="l" t="t" r="r" b="b"/>
            <a:pathLst>
              <a:path w="402336" h="1207008">
                <a:moveTo>
                  <a:pt x="0" y="1207008"/>
                </a:moveTo>
                <a:lnTo>
                  <a:pt x="256032" y="1207008"/>
                </a:lnTo>
                <a:lnTo>
                  <a:pt x="256032" y="0"/>
                </a:lnTo>
                <a:lnTo>
                  <a:pt x="402336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6547104" y="2066544"/>
            <a:ext cx="1865376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7031736" y="1700784"/>
            <a:ext cx="122529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逐个试验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31736" y="2121408"/>
            <a:ext cx="122529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mailbox 请求 ≤ 28 KB</a:t>
            </a:r>
          </a:p>
        </p:txBody>
      </p:sp>
      <p:sp>
        <p:nvSpPr>
          <p:cNvPr id="62" name="Freeform 61"/>
          <p:cNvSpPr/>
          <p:nvPr/>
        </p:nvSpPr>
        <p:spPr>
          <a:xfrm>
            <a:off x="6876288" y="3950208"/>
            <a:ext cx="1536192" cy="1115568"/>
          </a:xfrm>
          <a:custGeom>
            <a:avLst/>
            <a:gdLst/>
            <a:ahLst/>
            <a:cxnLst/>
            <a:rect l="l" t="t" r="r" b="b"/>
            <a:pathLst>
              <a:path w="1536192" h="1115568">
                <a:moveTo>
                  <a:pt x="1536192" y="1115568"/>
                </a:moveTo>
                <a:lnTo>
                  <a:pt x="768095" y="1115568"/>
                </a:lnTo>
                <a:lnTo>
                  <a:pt x="768095" y="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406640" y="4261103"/>
            <a:ext cx="475488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回执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95744" y="453542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门禁判决 · 被拒原因</a:t>
            </a:r>
          </a:p>
        </p:txBody>
      </p:sp>
      <p:cxnSp>
        <p:nvCxnSpPr>
          <p:cNvPr id="65" name="Connector 64"/>
          <p:cNvCxnSpPr/>
          <p:nvPr/>
        </p:nvCxnSpPr>
        <p:spPr>
          <a:xfrm flipV="1">
            <a:off x="5650992" y="2414016"/>
            <a:ext cx="0" cy="113385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66" name="TextBox 65"/>
          <p:cNvSpPr txBox="1"/>
          <p:nvPr/>
        </p:nvSpPr>
        <p:spPr>
          <a:xfrm>
            <a:off x="5742431" y="2761488"/>
            <a:ext cx="10972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迭代 × 35 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按新基线重排试验队列</a:t>
            </a:r>
          </a:p>
        </p:txBody>
      </p:sp>
      <p:sp>
        <p:nvSpPr>
          <p:cNvPr id="67" name="Freeform 66"/>
          <p:cNvSpPr/>
          <p:nvPr/>
        </p:nvSpPr>
        <p:spPr>
          <a:xfrm>
            <a:off x="2615184" y="4352544"/>
            <a:ext cx="3035808" cy="768096"/>
          </a:xfrm>
          <a:custGeom>
            <a:avLst/>
            <a:gdLst/>
            <a:ahLst/>
            <a:cxnLst/>
            <a:rect l="l" t="t" r="r" b="b"/>
            <a:pathLst>
              <a:path w="3035808" h="768096">
                <a:moveTo>
                  <a:pt x="3035808" y="0"/>
                </a:moveTo>
                <a:lnTo>
                  <a:pt x="3035808" y="768096"/>
                </a:lnTo>
                <a:lnTo>
                  <a:pt x="0" y="768096"/>
                </a:lnTo>
              </a:path>
            </a:pathLst>
          </a:custGeom>
          <a:noFill/>
          <a:ln w="19050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2999232" y="5020055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全部完成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规划器只提假设与补丁；数值、质量与性能收益全部由控制器独立核验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Agent：算子层（xpugen）内部组件与交互机制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基于「环境感知 — 认知推理 — 工具执行」闭环，把专家调优经验（Skills）沉淀为确定性的算子实现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34440"/>
            <a:ext cx="54864" cy="237744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07008"/>
            <a:ext cx="2505456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任务环境与知识</a:t>
            </a: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Environment &amp;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234440"/>
            <a:ext cx="54864" cy="2377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1104" y="1207008"/>
            <a:ext cx="32552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xpugen Agent 内部</a:t>
            </a:r>
            <a:r>
              <a:rPr sz="8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　唯一引入大模型的位置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30768" y="1234440"/>
            <a:ext cx="54864" cy="23774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1207008"/>
            <a:ext cx="3065983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工具与评测后端</a:t>
            </a: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确定性执行 · 无模型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572768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618488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任务上下文池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Task Context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算子规格与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输入输出语义约束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23744"/>
            <a:ext cx="26517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23744"/>
            <a:ext cx="64008" cy="731520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569463"/>
            <a:ext cx="2322576" cy="6400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领域知识挂载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Domain Knowledge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M100 硬件规格卡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算子调优 Skills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77056"/>
            <a:ext cx="265176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64008" cy="1298448"/>
          </a:xfrm>
          <a:prstGeom prst="rect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922776"/>
            <a:ext cx="2322576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评测反馈黑板</a:t>
            </a:r>
            <a:r>
              <a:rPr sz="8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Feedback Blackboard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编译报错日志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精度偏差详情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瓶颈证据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30768" y="1572768"/>
            <a:ext cx="3212287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30768" y="1572768"/>
            <a:ext cx="64008" cy="10789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8" y="1618488"/>
            <a:ext cx="2883103" cy="987551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源码与检索工具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Source &amp; Retrieval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算子模板读取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AST 语法树检查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代码补丁生成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30768" y="3877056"/>
            <a:ext cx="3212287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30768" y="3877056"/>
            <a:ext cx="64008" cy="12984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13648" y="3922776"/>
            <a:ext cx="2883103" cy="120700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&amp; 后端</a:t>
            </a:r>
            <a:r>
              <a:rPr sz="8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backend/ 耦合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L0 交叉编译运行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L1 Golden 精度对齐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Bench 真机微秒计时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·　Profile 模拟器分析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1517904"/>
            <a:ext cx="3401568" cy="3986783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18894" y="1572768"/>
            <a:ext cx="2993379" cy="457200"/>
          </a:xfrm>
          <a:prstGeom prst="roundRect">
            <a:avLst>
              <a:gd name="adj" fmla="val 16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迭代记忆库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历史补丁与失败避坑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18894" y="2176272"/>
            <a:ext cx="2993379" cy="475488"/>
          </a:xfrm>
          <a:prstGeom prst="roundRect">
            <a:avLst>
              <a:gd name="adj" fmla="val 15384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状态感知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汇总需求 + 报错 + 瓶颈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815584" y="2039111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4318894" y="2798064"/>
            <a:ext cx="2993379" cy="1316736"/>
          </a:xfrm>
          <a:prstGeom prst="roundRect">
            <a:avLst>
              <a:gd name="adj" fmla="val 5555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8894" y="2999232"/>
            <a:ext cx="299337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策略推演</a:t>
            </a:r>
            <a:r>
              <a:rPr sz="8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57216" y="3337560"/>
            <a:ext cx="1316736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大模型唯一介入点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8894" y="3639312"/>
            <a:ext cx="299337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规划 DMA 搬运 / 计算流水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寄存器分配与指令替换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15584" y="2660903"/>
            <a:ext cx="0" cy="128017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4318894" y="4261104"/>
            <a:ext cx="2993379" cy="530352"/>
          </a:xfrm>
          <a:prstGeom prst="roundRect">
            <a:avLst>
              <a:gd name="adj" fmla="val 13793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动作执行</a:t>
            </a:r>
            <a:r>
              <a:rPr sz="8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生成补丁，触发编译与评测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815584" y="4123944"/>
            <a:ext cx="0" cy="128016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4318894" y="4974336"/>
            <a:ext cx="2993379" cy="438912"/>
          </a:xfrm>
          <a:prstGeom prst="roundRect">
            <a:avLst>
              <a:gd name="adj" fmla="val 16666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达标输出 · 候选库</a:t>
            </a: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交付最优 Kernel 代码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15584" y="4800600"/>
            <a:ext cx="0" cy="164592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TextBox 39"/>
          <p:cNvSpPr txBox="1"/>
          <p:nvPr/>
        </p:nvSpPr>
        <p:spPr>
          <a:xfrm>
            <a:off x="5907024" y="4791456"/>
            <a:ext cx="100584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发布达标实现</a:t>
            </a:r>
          </a:p>
        </p:txBody>
      </p:sp>
      <p:sp>
        <p:nvSpPr>
          <p:cNvPr id="41" name="Right Brace 40"/>
          <p:cNvSpPr/>
          <p:nvPr/>
        </p:nvSpPr>
        <p:spPr>
          <a:xfrm>
            <a:off x="3236976" y="1609344"/>
            <a:ext cx="146304" cy="1609343"/>
          </a:xfrm>
          <a:prstGeom prst="rightBrace">
            <a:avLst>
              <a:gd name="adj1" fmla="val 80000"/>
              <a:gd name="adj2" fmla="val 50000"/>
            </a:avLst>
          </a:prstGeom>
          <a:noFill/>
          <a:ln w="15875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3410712" y="2414015"/>
            <a:ext cx="871606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3" name="Rounded Rectangle 42"/>
          <p:cNvSpPr/>
          <p:nvPr/>
        </p:nvSpPr>
        <p:spPr>
          <a:xfrm>
            <a:off x="3401568" y="2157984"/>
            <a:ext cx="69494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读取 / 感知</a:t>
            </a:r>
          </a:p>
        </p:txBody>
      </p:sp>
      <p:sp>
        <p:nvSpPr>
          <p:cNvPr id="44" name="Freeform 43"/>
          <p:cNvSpPr/>
          <p:nvPr/>
        </p:nvSpPr>
        <p:spPr>
          <a:xfrm>
            <a:off x="2871216" y="3456432"/>
            <a:ext cx="1411102" cy="393192"/>
          </a:xfrm>
          <a:custGeom>
            <a:avLst/>
            <a:gdLst/>
            <a:ahLst/>
            <a:cxnLst/>
            <a:rect l="l" t="t" r="r" b="b"/>
            <a:pathLst>
              <a:path w="1411102" h="393192">
                <a:moveTo>
                  <a:pt x="0" y="393192"/>
                </a:moveTo>
                <a:lnTo>
                  <a:pt x="0" y="0"/>
                </a:lnTo>
                <a:lnTo>
                  <a:pt x="1411102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538727" y="3200400"/>
            <a:ext cx="42062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观察</a:t>
            </a:r>
          </a:p>
        </p:txBody>
      </p:sp>
      <p:sp>
        <p:nvSpPr>
          <p:cNvPr id="46" name="Freeform 45"/>
          <p:cNvSpPr/>
          <p:nvPr/>
        </p:nvSpPr>
        <p:spPr>
          <a:xfrm>
            <a:off x="7348849" y="2688336"/>
            <a:ext cx="1411103" cy="768096"/>
          </a:xfrm>
          <a:custGeom>
            <a:avLst/>
            <a:gdLst/>
            <a:ahLst/>
            <a:cxnLst/>
            <a:rect l="l" t="t" r="r" b="b"/>
            <a:pathLst>
              <a:path w="1411103" h="768096">
                <a:moveTo>
                  <a:pt x="0" y="768096"/>
                </a:moveTo>
                <a:lnTo>
                  <a:pt x="1411103" y="768096"/>
                </a:lnTo>
                <a:lnTo>
                  <a:pt x="1411103" y="0"/>
                </a:lnTo>
              </a:path>
            </a:pathLst>
          </a:custGeom>
          <a:noFill/>
          <a:ln w="19050">
            <a:solidFill>
              <a:srgbClr val="D2690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71816" y="3200400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按需调用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348849" y="4526280"/>
            <a:ext cx="1045343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9" name="Rounded Rectangle 48"/>
          <p:cNvSpPr/>
          <p:nvPr/>
        </p:nvSpPr>
        <p:spPr>
          <a:xfrm>
            <a:off x="7671816" y="4270248"/>
            <a:ext cx="60350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2570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触发评测</a:t>
            </a:r>
          </a:p>
        </p:txBody>
      </p:sp>
      <p:sp>
        <p:nvSpPr>
          <p:cNvPr id="50" name="Freeform 49"/>
          <p:cNvSpPr/>
          <p:nvPr/>
        </p:nvSpPr>
        <p:spPr>
          <a:xfrm>
            <a:off x="1874519" y="5212080"/>
            <a:ext cx="8162392" cy="493776"/>
          </a:xfrm>
          <a:custGeom>
            <a:avLst/>
            <a:gdLst/>
            <a:ahLst/>
            <a:cxnLst/>
            <a:rect l="l" t="t" r="r" b="b"/>
            <a:pathLst>
              <a:path w="8162392" h="493776">
                <a:moveTo>
                  <a:pt x="8162392" y="0"/>
                </a:moveTo>
                <a:lnTo>
                  <a:pt x="8162392" y="493776"/>
                </a:lnTo>
                <a:lnTo>
                  <a:pt x="0" y="493776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40708B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645152" y="5605272"/>
            <a:ext cx="2340864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0708B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回写：编译报错 · 精度偏差 · 瓶颈证据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907024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907024"/>
            <a:ext cx="73152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77824" y="5907024"/>
            <a:ext cx="10436047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核心设计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只负责消费证据做推演；编译、对精度、测速全部交由右侧确定性工具完成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8–9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