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 Agent 运行机制视图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八步闭环：诊断取证 → 形成方案 → 确定性验收 → 更新基线，再开一轮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07008"/>
            <a:ext cx="10637215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准入门槛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质量达标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基线备份 + 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8182660" cy="1280160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656" y="1901952"/>
            <a:ext cx="54864" cy="219456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78169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诊断取证</a:t>
            </a:r>
            <a:r>
              <a:rPr sz="80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　Diagnose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1919" y="1828800"/>
            <a:ext cx="2231135" cy="1280160"/>
          </a:xfrm>
          <a:prstGeom prst="rect">
            <a:avLst/>
          </a:prstGeom>
          <a:solidFill>
            <a:srgbClr val="FBE6D4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39935" y="1901952"/>
            <a:ext cx="54864" cy="21945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86239" y="1874519"/>
            <a:ext cx="186537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形成方案</a:t>
            </a:r>
            <a:r>
              <a:rPr sz="800" b="1">
                <a:solidFill>
                  <a:srgbClr val="D2690C"/>
                </a:solidFill>
                <a:latin typeface="Consolas"/>
                <a:ea typeface="Microsoft YaHei"/>
                <a:cs typeface="Microsoft YaHei"/>
              </a:rPr>
              <a:t>　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45152"/>
            <a:ext cx="11094415" cy="1280160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" y="4718304"/>
            <a:ext cx="54864" cy="21945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690872"/>
            <a:ext cx="1072865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确定性验收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Verify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（Trace）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8410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34714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2186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（对齐到代码）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164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46468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3940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9935" y="2212848"/>
            <a:ext cx="1975103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86239" y="2304288"/>
            <a:ext cx="274320" cy="274320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33711" y="2286000"/>
            <a:ext cx="140817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86239" y="2670048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89743" y="2670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0432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 A/B 对比实验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88410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34714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2186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00164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646468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3940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11919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558223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5695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816352" y="2596896"/>
            <a:ext cx="73548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2827477" y="2496312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 文件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728106" y="2596896"/>
            <a:ext cx="73548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6" name="Rounded Rectangle 45"/>
          <p:cNvSpPr/>
          <p:nvPr/>
        </p:nvSpPr>
        <p:spPr>
          <a:xfrm>
            <a:off x="5812383" y="2496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639860" y="2596896"/>
            <a:ext cx="863499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8" name="Rounded Rectangle 47"/>
          <p:cNvSpPr/>
          <p:nvPr/>
        </p:nvSpPr>
        <p:spPr>
          <a:xfrm>
            <a:off x="8788146" y="2496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瓶颈列表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2816352" y="5413248"/>
            <a:ext cx="73548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2900629" y="531266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质量不降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5728106" y="5413248"/>
            <a:ext cx="73548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2" name="Rounded Rectangle 51"/>
          <p:cNvSpPr/>
          <p:nvPr/>
        </p:nvSpPr>
        <p:spPr>
          <a:xfrm>
            <a:off x="5812383" y="531266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提速达标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8639860" y="5413248"/>
            <a:ext cx="735483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4" name="Rounded Rectangle 53"/>
          <p:cNvSpPr/>
          <p:nvPr/>
        </p:nvSpPr>
        <p:spPr>
          <a:xfrm>
            <a:off x="8678418" y="5312664"/>
            <a:ext cx="6583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新版本就绪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0972800" y="3145536"/>
            <a:ext cx="0" cy="146304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6" name="Rounded Rectangle 55"/>
          <p:cNvSpPr/>
          <p:nvPr/>
        </p:nvSpPr>
        <p:spPr>
          <a:xfrm>
            <a:off x="10506456" y="3429000"/>
            <a:ext cx="93268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补丁 + 证据引用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9930384" y="3145536"/>
            <a:ext cx="0" cy="1463040"/>
          </a:xfrm>
          <a:prstGeom prst="line">
            <a:avLst/>
          </a:prstGeom>
          <a:ln w="15875">
            <a:solidFill>
              <a:srgbClr val="B4382F"/>
            </a:solidFill>
            <a:prstDash val="dash"/>
            <a:tailEnd type="triangle" w="med" len="med"/>
          </a:ln>
        </p:spPr>
      </p:cxnSp>
      <p:sp>
        <p:nvSpPr>
          <p:cNvPr id="58" name="Rounded Rectangle 57"/>
          <p:cNvSpPr/>
          <p:nvPr/>
        </p:nvSpPr>
        <p:spPr>
          <a:xfrm>
            <a:off x="9390888" y="4123944"/>
            <a:ext cx="107899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4382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打回 · 原因入记忆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1728216" y="3145536"/>
            <a:ext cx="0" cy="1463040"/>
          </a:xfrm>
          <a:prstGeom prst="line">
            <a:avLst/>
          </a:prstGeom>
          <a:ln w="19050">
            <a:solidFill>
              <a:srgbClr val="17795F"/>
            </a:solidFill>
            <a:tailEnd type="triangle" w="med" len="med"/>
          </a:ln>
        </p:spPr>
      </p:cxnSp>
      <p:sp>
        <p:nvSpPr>
          <p:cNvPr id="60" name="Rounded Rectangle 59"/>
          <p:cNvSpPr/>
          <p:nvPr/>
        </p:nvSpPr>
        <p:spPr>
          <a:xfrm>
            <a:off x="1143000" y="3776472"/>
            <a:ext cx="11704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7795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更新基线 · 再开一轮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588410" y="3456432"/>
            <a:ext cx="5014874" cy="84124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588410" y="3456432"/>
            <a:ext cx="73152" cy="8412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44442" y="3529584"/>
            <a:ext cx="45759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Python · 无模型 · 全流程接管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844442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确定性调度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0437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硬性约束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96431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全量实验追溯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372426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闭环容错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Agent：内部组件与人机交互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证据感知 — 假设推演 — 确定性核验；人只在下发契约、协同改动、终审验收三处介入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45059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 · 契约与证据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Human in the Loop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7952" y="1207008"/>
            <a:ext cx="36941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0508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51392" y="1207008"/>
            <a:ext cx="279166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确定性工具与评测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无大模型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609344"/>
            <a:ext cx="2596896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09344"/>
            <a:ext cx="64008" cy="987552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55064"/>
            <a:ext cx="2267712" cy="8961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冻结契约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人 → 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模型 · 精度 · 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门限 · 预算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调优知识库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62656"/>
            <a:ext cx="2596896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62656"/>
            <a:ext cx="64008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008376"/>
            <a:ext cx="2267712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协同补丁</a:t>
            </a:r>
            <a:r>
              <a:rPr sz="800" b="1">
                <a:solidFill>
                  <a:srgbClr val="D2690C"/>
                </a:solidFill>
                <a:latin typeface="Consolas"/>
                <a:ea typeface="Microsoft YaHei"/>
                <a:cs typeface="Microsoft YaHei"/>
              </a:rPr>
              <a:t>　人 ⇄ 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复杂改动由人主导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同样要过四道门禁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86784"/>
            <a:ext cx="2596896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986784"/>
            <a:ext cx="64008" cy="987552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32504"/>
            <a:ext cx="2267712" cy="8961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判决与证据黑板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Verdict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门禁判决与被拒原因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数值与质量偏差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实测与下界的差距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05088" y="1609344"/>
            <a:ext cx="2937967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05088" y="1609344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87967" y="1655064"/>
            <a:ext cx="2608783" cy="96926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源码与冻结证据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Evidence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原仓库只读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探针按需补测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全程留痕落盘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冻结快照 + SHA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5088" y="3602736"/>
            <a:ext cx="2937967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705088" y="3602736"/>
            <a:ext cx="64008" cy="137160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87967" y="3648456"/>
            <a:ext cx="2608783" cy="12801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构建与真机评测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Build &amp; Bench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原位建版 · 精确重测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四道门禁，一票否决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单算子 ≥ 2% · 数值 ≤ 0.03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整模 A/B 超出噪声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真机实测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41648" y="1517904"/>
            <a:ext cx="3840480" cy="4005072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72076" y="1609344"/>
            <a:ext cx="3379622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状态机与编排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Orchestration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设备锁 · 状态流转 · 断点恢复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2076" y="2286000"/>
            <a:ext cx="3379622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通信与记忆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Mailbox / 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逐条校验 ID 与 SHA，只回传摘要与被拒原因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61888" y="2093976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272076" y="2962656"/>
            <a:ext cx="3379622" cy="1207008"/>
          </a:xfrm>
          <a:prstGeom prst="roundRect">
            <a:avLst>
              <a:gd name="adj" fmla="val 6060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2076" y="2980944"/>
            <a:ext cx="337962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　外部 Agent 长跑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0" y="3255264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6940" y="3511296"/>
            <a:ext cx="3269894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读源码与证据，提出假设与补丁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动作限定：</a:t>
            </a:r>
            <a:r>
              <a:rPr sz="75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read · search · probe · patch · stop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不能自行宣告成功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61888" y="2770632"/>
            <a:ext cx="0" cy="182880"/>
          </a:xfrm>
          <a:prstGeom prst="line">
            <a:avLst/>
          </a:prstGeom>
          <a:ln w="19050">
            <a:solidFill>
              <a:srgbClr val="D2690C"/>
            </a:solidFill>
            <a:headEnd type="triangle" w="med" len="med"/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272076" y="4370832"/>
            <a:ext cx="3379622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打包补丁，触发构建与门禁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961888" y="4178808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272076" y="5047488"/>
            <a:ext cx="3379622" cy="402336"/>
          </a:xfrm>
          <a:prstGeom prst="roundRect">
            <a:avLst>
              <a:gd name="adj" fmla="val 18181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判决报告 → 人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最优版本 + 全程证据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961888" y="4855464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6053327" y="4846320"/>
            <a:ext cx="1005840" cy="20116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终审验收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145536" y="1847088"/>
            <a:ext cx="1089964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2" name="Rounded Rectangle 41"/>
          <p:cNvSpPr/>
          <p:nvPr/>
        </p:nvSpPr>
        <p:spPr>
          <a:xfrm>
            <a:off x="3273551" y="1746504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下发契约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145536" y="3310128"/>
            <a:ext cx="1089964" cy="0"/>
          </a:xfrm>
          <a:prstGeom prst="line">
            <a:avLst/>
          </a:prstGeom>
          <a:ln w="19050">
            <a:solidFill>
              <a:srgbClr val="D2690C"/>
            </a:solidFill>
            <a:headEnd type="triangle" w="med" len="med"/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3273551" y="3209544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结对补丁</a:t>
            </a:r>
          </a:p>
        </p:txBody>
      </p:sp>
      <p:sp>
        <p:nvSpPr>
          <p:cNvPr id="45" name="Freeform 44"/>
          <p:cNvSpPr/>
          <p:nvPr/>
        </p:nvSpPr>
        <p:spPr>
          <a:xfrm>
            <a:off x="2816352" y="3840480"/>
            <a:ext cx="1419148" cy="118872"/>
          </a:xfrm>
          <a:custGeom>
            <a:avLst/>
            <a:gdLst/>
            <a:ahLst/>
            <a:cxnLst/>
            <a:rect l="l" t="t" r="r" b="b"/>
            <a:pathLst>
              <a:path w="1419148" h="118872">
                <a:moveTo>
                  <a:pt x="0" y="118872"/>
                </a:moveTo>
                <a:lnTo>
                  <a:pt x="0" y="0"/>
                </a:lnTo>
                <a:lnTo>
                  <a:pt x="1419148" y="0"/>
                </a:lnTo>
              </a:path>
            </a:pathLst>
          </a:custGeom>
          <a:noFill/>
          <a:ln w="19050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83279" y="3739896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7" name="Freeform 46"/>
          <p:cNvSpPr/>
          <p:nvPr/>
        </p:nvSpPr>
        <p:spPr>
          <a:xfrm>
            <a:off x="7688275" y="2706624"/>
            <a:ext cx="1419149" cy="859536"/>
          </a:xfrm>
          <a:custGeom>
            <a:avLst/>
            <a:gdLst/>
            <a:ahLst/>
            <a:cxnLst/>
            <a:rect l="l" t="t" r="r" b="b"/>
            <a:pathLst>
              <a:path w="1419149" h="859536">
                <a:moveTo>
                  <a:pt x="0" y="859536"/>
                </a:moveTo>
                <a:lnTo>
                  <a:pt x="1419149" y="859536"/>
                </a:lnTo>
                <a:lnTo>
                  <a:pt x="1419149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973568" y="3465576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调取证据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688275" y="4608576"/>
            <a:ext cx="980237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7918704" y="450799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构建 · 门禁</a:t>
            </a:r>
          </a:p>
        </p:txBody>
      </p:sp>
      <p:sp>
        <p:nvSpPr>
          <p:cNvPr id="51" name="Freeform 50"/>
          <p:cNvSpPr/>
          <p:nvPr/>
        </p:nvSpPr>
        <p:spPr>
          <a:xfrm>
            <a:off x="1847088" y="5010912"/>
            <a:ext cx="8326983" cy="694944"/>
          </a:xfrm>
          <a:custGeom>
            <a:avLst/>
            <a:gdLst/>
            <a:ahLst/>
            <a:cxnLst/>
            <a:rect l="l" t="t" r="r" b="b"/>
            <a:pathLst>
              <a:path w="8326983" h="694944">
                <a:moveTo>
                  <a:pt x="8326983" y="0"/>
                </a:moveTo>
                <a:lnTo>
                  <a:pt x="8326983" y="694944"/>
                </a:lnTo>
                <a:lnTo>
                  <a:pt x="0" y="6949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202936" y="5605272"/>
            <a:ext cx="15179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回写：判决 · 偏差 · 耗时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规划器只提假设与补丁；数值、质量与收益全部由控制器独立核验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Agent：算子层（xpugen）内部组件与交互机制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基于「环境感知 — 认知推理 — 工具执行」闭环，把专家调优经验（Skills）沉淀为确定性的算子实现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50545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任务环境与知识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Environment &amp;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1104" y="1207008"/>
            <a:ext cx="32552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xpugen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3076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1207008"/>
            <a:ext cx="306598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工具与评测后端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任务上下文池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Task Context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算子规格与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输入输出语义约束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23744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23744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69463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领域知识挂载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Domain Knowledge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硬件规格卡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算子调优 Skills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77056"/>
            <a:ext cx="265176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64008" cy="1298448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22776"/>
            <a:ext cx="2322576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评测反馈黑板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Feedback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编译报错日志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精度偏差详情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瓶颈证据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1572768"/>
            <a:ext cx="3212287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8" y="1572768"/>
            <a:ext cx="64008" cy="10789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8" y="1618488"/>
            <a:ext cx="2883103" cy="987551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源码与检索工具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Retrieval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算子模板读取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AST 语法树检查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代码补丁生成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30768" y="3877056"/>
            <a:ext cx="3212287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0768" y="3877056"/>
            <a:ext cx="64008" cy="12984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13648" y="3922776"/>
            <a:ext cx="2883103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&amp; 后端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backend/ 耦合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交叉编译运行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Golden 精度对齐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Bench 真机微秒计时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模拟器分析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517904"/>
            <a:ext cx="3401568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8894" y="1572768"/>
            <a:ext cx="2993379" cy="457200"/>
          </a:xfrm>
          <a:prstGeom prst="roundRect">
            <a:avLst>
              <a:gd name="adj" fmla="val 16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迭代记忆库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历史补丁与失败避坑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894" y="2176272"/>
            <a:ext cx="2993379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状态感知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Observation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汇总需求 + 报错 + 瓶颈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15584" y="2039111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318894" y="2798064"/>
            <a:ext cx="2993379" cy="1316736"/>
          </a:xfrm>
          <a:prstGeom prst="roundRect">
            <a:avLst>
              <a:gd name="adj" fmla="val 5555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8894" y="2999232"/>
            <a:ext cx="299337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策略推演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7216" y="3337560"/>
            <a:ext cx="1316736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8894" y="3639312"/>
            <a:ext cx="299337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规划 DMA 搬运 / 计算流水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寄存器分配与指令替换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15584" y="2660903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318894" y="4261104"/>
            <a:ext cx="2993379" cy="530352"/>
          </a:xfrm>
          <a:prstGeom prst="roundRect">
            <a:avLst>
              <a:gd name="adj" fmla="val 13793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生成补丁，触发编译与评测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15584" y="4123944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318894" y="4974336"/>
            <a:ext cx="2993379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达标输出 · 候选库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交付最优 Kernel 代码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15584" y="4800600"/>
            <a:ext cx="0" cy="164592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5907024" y="4791456"/>
            <a:ext cx="100584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发布达标实现</a:t>
            </a:r>
          </a:p>
        </p:txBody>
      </p:sp>
      <p:sp>
        <p:nvSpPr>
          <p:cNvPr id="41" name="Right Brace 40"/>
          <p:cNvSpPr/>
          <p:nvPr/>
        </p:nvSpPr>
        <p:spPr>
          <a:xfrm>
            <a:off x="3236976" y="1609344"/>
            <a:ext cx="146304" cy="1609343"/>
          </a:xfrm>
          <a:prstGeom prst="rightBrace">
            <a:avLst>
              <a:gd name="adj1" fmla="val 80000"/>
              <a:gd name="adj2" fmla="val 50000"/>
            </a:avLst>
          </a:prstGeom>
          <a:noFill/>
          <a:ln w="1587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410712" y="2414015"/>
            <a:ext cx="87160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3401568" y="2157984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读取 / 感知</a:t>
            </a:r>
          </a:p>
        </p:txBody>
      </p:sp>
      <p:sp>
        <p:nvSpPr>
          <p:cNvPr id="44" name="Freeform 43"/>
          <p:cNvSpPr/>
          <p:nvPr/>
        </p:nvSpPr>
        <p:spPr>
          <a:xfrm>
            <a:off x="2871216" y="3456432"/>
            <a:ext cx="1411102" cy="393192"/>
          </a:xfrm>
          <a:custGeom>
            <a:avLst/>
            <a:gdLst/>
            <a:ahLst/>
            <a:cxnLst/>
            <a:rect l="l" t="t" r="r" b="b"/>
            <a:pathLst>
              <a:path w="1411102" h="393192">
                <a:moveTo>
                  <a:pt x="0" y="393192"/>
                </a:moveTo>
                <a:lnTo>
                  <a:pt x="0" y="0"/>
                </a:lnTo>
                <a:lnTo>
                  <a:pt x="1411102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38727" y="3200400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6" name="Freeform 45"/>
          <p:cNvSpPr/>
          <p:nvPr/>
        </p:nvSpPr>
        <p:spPr>
          <a:xfrm>
            <a:off x="7348849" y="2688336"/>
            <a:ext cx="1411103" cy="768096"/>
          </a:xfrm>
          <a:custGeom>
            <a:avLst/>
            <a:gdLst/>
            <a:ahLst/>
            <a:cxnLst/>
            <a:rect l="l" t="t" r="r" b="b"/>
            <a:pathLst>
              <a:path w="1411103" h="768096">
                <a:moveTo>
                  <a:pt x="0" y="768096"/>
                </a:moveTo>
                <a:lnTo>
                  <a:pt x="1411103" y="768096"/>
                </a:lnTo>
                <a:lnTo>
                  <a:pt x="1411103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6" y="3200400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按需调用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48849" y="4526280"/>
            <a:ext cx="1045343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9" name="Rounded Rectangle 48"/>
          <p:cNvSpPr/>
          <p:nvPr/>
        </p:nvSpPr>
        <p:spPr>
          <a:xfrm>
            <a:off x="7671816" y="4270248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触发评测</a:t>
            </a:r>
          </a:p>
        </p:txBody>
      </p:sp>
      <p:sp>
        <p:nvSpPr>
          <p:cNvPr id="50" name="Freeform 49"/>
          <p:cNvSpPr/>
          <p:nvPr/>
        </p:nvSpPr>
        <p:spPr>
          <a:xfrm>
            <a:off x="1874519" y="5212080"/>
            <a:ext cx="8162392" cy="493776"/>
          </a:xfrm>
          <a:custGeom>
            <a:avLst/>
            <a:gdLst/>
            <a:ahLst/>
            <a:cxnLst/>
            <a:rect l="l" t="t" r="r" b="b"/>
            <a:pathLst>
              <a:path w="8162392" h="493776">
                <a:moveTo>
                  <a:pt x="8162392" y="0"/>
                </a:moveTo>
                <a:lnTo>
                  <a:pt x="8162392" y="493776"/>
                </a:lnTo>
                <a:lnTo>
                  <a:pt x="0" y="493776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645152" y="5605272"/>
            <a:ext cx="23408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回写：编译报错 · 精度偏差 · 瓶颈证据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只负责消费证据做推演；编译、对精度、测速全部交由右侧确定性工具完成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8–9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