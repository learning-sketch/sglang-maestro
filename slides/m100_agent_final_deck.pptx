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开源模型按天迭代，优化适配按月交付——生态跟进存在效率差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4498848" cy="50292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模型侧：高频上新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模型结构与计算精度持续演进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开源社区实现快速演进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推理框架与底层算子需同步跟进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92824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92824" y="1335024"/>
            <a:ext cx="4498848" cy="502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7144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适配侧：链路冗长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4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框架特性与算子缺口逐项补齐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算子缺少实现或路径不匹配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7144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每次改动均需全流程重新验证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人工回归重复度高，调优经验难以沉淀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65495" y="2642615"/>
            <a:ext cx="1060704" cy="384048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35424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64608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硬件能力在发布那天就定型，模型覆盖度每天被社区改写——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适配效率直接决定了硬件算力能否及时转化为业务价值。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358384"/>
            <a:ext cx="11094415" cy="78638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358384"/>
            <a:ext cx="73152" cy="78638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5449824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唯　</a:t>
            </a: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有大幅降低单模型适配成本，才能持续扩大模型生态覆盖面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79729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把重复的排查、评测与调优工作，沉淀为可复用的自动化 Agent 流水线。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如何把 M100 上模型适配的成本打下来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聚焦两大核心任务：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适配调优、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补齐提速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1727" y="1216152"/>
            <a:ext cx="128016" cy="12801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62895" y="1152144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Agent 直接参与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5103" y="1463040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57984" y="133502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7984" y="2395728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75103" y="3621024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57984" y="3493008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7984" y="4553712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总体方案（写判分离 · 双层同构 · 跨层闭环）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两层架构同构——Agent 仅负责生成优化方案，准入判定完全交由固定规则与真机实测；核心差异在于评测粒度。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554480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61872"/>
            <a:ext cx="128016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层级定位</a:t>
            </a:r>
          </a:p>
        </p:txBody>
      </p:sp>
      <p:sp>
        <p:nvSpPr>
          <p:cNvPr id="8" name="Rectangle 7"/>
          <p:cNvSpPr/>
          <p:nvPr/>
        </p:nvSpPr>
        <p:spPr>
          <a:xfrm>
            <a:off x="2212848" y="1225296"/>
            <a:ext cx="1792224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9152" y="1261872"/>
            <a:ext cx="1517904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任务输入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6" y="1225296"/>
            <a:ext cx="2670048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42816" y="1225296"/>
            <a:ext cx="2670048" cy="45720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261872"/>
            <a:ext cx="239572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AI 生成侧（写）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唯一引入大模型的位置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225296"/>
            <a:ext cx="2852928" cy="47548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1225296"/>
            <a:ext cx="2852928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12" y="1261872"/>
            <a:ext cx="25786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③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确定性验证侧（判）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纯规则驱动 · 真机实测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0" y="1225296"/>
            <a:ext cx="1389888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87584" y="1261872"/>
            <a:ext cx="111556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④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准入出口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1755648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1755648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029967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【模型层】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model-agent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模型接入与性能调优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12848" y="2103120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59152" y="2157984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人：定目标与边界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负载 / 精度 / 预算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50791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4242816" y="2103120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42816" y="2103120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2272" y="2157984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生成接入、优化方案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服务配置与图融合补丁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58583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7150608" y="2103120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2103120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2157984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整模型真机端到端验收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输出对齐 · 质量不降 · 吞吐提升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49256" y="2633472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32" name="Rectangle 31"/>
          <p:cNvSpPr/>
          <p:nvPr/>
        </p:nvSpPr>
        <p:spPr>
          <a:xfrm>
            <a:off x="10241280" y="2103120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87584" y="2157984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判断交付</a:t>
            </a:r>
          </a:p>
        </p:txBody>
      </p:sp>
      <p:sp>
        <p:nvSpPr>
          <p:cNvPr id="34" name="Freeform 33"/>
          <p:cNvSpPr/>
          <p:nvPr/>
        </p:nvSpPr>
        <p:spPr>
          <a:xfrm>
            <a:off x="5577840" y="2011680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577840" y="2011680"/>
            <a:ext cx="0" cy="73151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5614416" y="1783080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不过即回退，带着原因退回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14800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114800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389120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【算子层】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xpugen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面向 M100 自动生成算子实现并调优，提升aten算子的覆盖泛化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" y="4462272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59152" y="4517136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算子规格与约束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目标 Shape 与硬件规格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50791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3" name="Rectangle 42"/>
          <p:cNvSpPr/>
          <p:nvPr/>
        </p:nvSpPr>
        <p:spPr>
          <a:xfrm>
            <a:off x="4242816" y="4462272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42816" y="4462272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4517136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基于已有skills优化算子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生成并调优 Kernel 代码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958583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7" name="Rectangle 46"/>
          <p:cNvSpPr/>
          <p:nvPr/>
        </p:nvSpPr>
        <p:spPr>
          <a:xfrm>
            <a:off x="7150608" y="4462272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4462272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70064" y="4517136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单算子评测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编译通过 · Golden 对齐 · 真机实测更快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049256" y="4992624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51" name="Rectangle 50"/>
          <p:cNvSpPr/>
          <p:nvPr/>
        </p:nvSpPr>
        <p:spPr>
          <a:xfrm>
            <a:off x="10241280" y="4462272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87584" y="4517136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候选库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交付实现</a:t>
            </a:r>
          </a:p>
        </p:txBody>
      </p:sp>
      <p:sp>
        <p:nvSpPr>
          <p:cNvPr id="53" name="Freeform 52"/>
          <p:cNvSpPr/>
          <p:nvPr/>
        </p:nvSpPr>
        <p:spPr>
          <a:xfrm>
            <a:off x="5577840" y="4370832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577840" y="4370832"/>
            <a:ext cx="0" cy="73152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5614416" y="4142232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不过即淘汰，带着证据退回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3310128"/>
            <a:ext cx="11094415" cy="731520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5577840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58" name="TextBox 57"/>
          <p:cNvSpPr txBox="1"/>
          <p:nvPr/>
        </p:nvSpPr>
        <p:spPr>
          <a:xfrm>
            <a:off x="2212848" y="3310128"/>
            <a:ext cx="3182111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 → 模型层</a:t>
            </a:r>
          </a:p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交付新算子内核，合入候选分支重跑整模型复验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77072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60" name="TextBox 59"/>
          <p:cNvSpPr txBox="1"/>
          <p:nvPr/>
        </p:nvSpPr>
        <p:spPr>
          <a:xfrm>
            <a:off x="8759952" y="3310128"/>
            <a:ext cx="2883103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→ 算子层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Trace 定位瓶颈算子，下发 Shape 规格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705856"/>
            <a:ext cx="11094415" cy="62179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8640" y="5705856"/>
            <a:ext cx="73152" cy="6217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7824" y="5797296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核心原则：　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算子局部加速 ≠ 整模型收益；任何算子优化必须回流通过整模型真机复验方可交付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" y="598017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Agent：模型层适配与优化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新架构逐层验收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986" y="1298448"/>
            <a:ext cx="3417722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1306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实测环境下迭代优化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7802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8225332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9652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 Trace 持续迭代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96148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548640" y="1993392"/>
            <a:ext cx="2240280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93392"/>
            <a:ext cx="2240280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176272"/>
            <a:ext cx="1837944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人：定义目标与边界</a:t>
            </a:r>
          </a:p>
        </p:txBody>
      </p:sp>
      <p:sp>
        <p:nvSpPr>
          <p:cNvPr id="17" name="Oval 16"/>
          <p:cNvSpPr/>
          <p:nvPr/>
        </p:nvSpPr>
        <p:spPr>
          <a:xfrm>
            <a:off x="822959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27614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9" name="Oval 18"/>
          <p:cNvSpPr/>
          <p:nvPr/>
        </p:nvSpPr>
        <p:spPr>
          <a:xfrm>
            <a:off x="822959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32186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21" name="Oval 20"/>
          <p:cNvSpPr/>
          <p:nvPr/>
        </p:nvSpPr>
        <p:spPr>
          <a:xfrm>
            <a:off x="822959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6758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1330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791456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目标改动后，历史结果不再沿用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交给 </a:t>
            </a:r>
            <a:r>
              <a:rPr sz="11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3512" y="1993392"/>
            <a:ext cx="5212080" cy="3621024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2139696"/>
            <a:ext cx="475488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Agent：在固定约束内自动迭代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2651760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46120" y="2761488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66744" y="2651760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2651760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先完成环境预检，再验收基线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54680" y="3328416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46120" y="3438144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6744" y="3328416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328416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执行性能剖析采样，仅用于瓶颈诊断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4005072"/>
            <a:ext cx="4809744" cy="56692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46120" y="4114800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66744" y="4005072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7720" y="4005072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小步改动，逐轮验证收益（大型修改，人工介入）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680" y="4681728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246120" y="4791455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66744" y="4681728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4681728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重测基线与候选，独立复核收益</a:t>
            </a:r>
          </a:p>
        </p:txBody>
      </p:sp>
      <p:sp>
        <p:nvSpPr>
          <p:cNvPr id="45" name="Freeform 44"/>
          <p:cNvSpPr/>
          <p:nvPr/>
        </p:nvSpPr>
        <p:spPr>
          <a:xfrm>
            <a:off x="7763256" y="4114800"/>
            <a:ext cx="310896" cy="347472"/>
          </a:xfrm>
          <a:custGeom>
            <a:avLst/>
            <a:gdLst/>
            <a:ahLst/>
            <a:cxnLst/>
            <a:rect l="l" t="t" r="r" b="b"/>
            <a:pathLst>
              <a:path w="310896" h="347472">
                <a:moveTo>
                  <a:pt x="0" y="0"/>
                </a:moveTo>
                <a:lnTo>
                  <a:pt x="310896" y="0"/>
                </a:lnTo>
                <a:lnTo>
                  <a:pt x="310896" y="347472"/>
                </a:lnTo>
                <a:lnTo>
                  <a:pt x="0" y="34747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5285232"/>
            <a:ext cx="47548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每个候选如何验收 → 下一页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30183" y="1993392"/>
            <a:ext cx="3310128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30183" y="1993392"/>
            <a:ext cx="3310128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67928" y="2176272"/>
            <a:ext cx="2907792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人：判断交付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8604504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42248" y="27614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复核最终精度、性能收益与失败日志</a:t>
            </a:r>
          </a:p>
        </p:txBody>
      </p:sp>
      <p:sp>
        <p:nvSpPr>
          <p:cNvPr id="52" name="Oval 51"/>
          <p:cNvSpPr/>
          <p:nvPr/>
        </p:nvSpPr>
        <p:spPr>
          <a:xfrm>
            <a:off x="8604504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42248" y="32186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验证通过：导出标准化部署与启动方案</a:t>
            </a:r>
          </a:p>
        </p:txBody>
      </p:sp>
      <p:sp>
        <p:nvSpPr>
          <p:cNvPr id="54" name="Oval 53"/>
          <p:cNvSpPr/>
          <p:nvPr/>
        </p:nvSpPr>
        <p:spPr>
          <a:xfrm>
            <a:off x="8604504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42248" y="36758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验收失败或无收益：转交人工深度诊断</a:t>
            </a:r>
          </a:p>
        </p:txBody>
      </p:sp>
      <p:sp>
        <p:nvSpPr>
          <p:cNvPr id="56" name="Oval 55"/>
          <p:cNvSpPr/>
          <p:nvPr/>
        </p:nvSpPr>
        <p:spPr>
          <a:xfrm>
            <a:off x="8604504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42248" y="41330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支持逐轮溯源，必要时一键回退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31352" y="4791456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31352" y="5102352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60" name="Freeform 59"/>
          <p:cNvSpPr/>
          <p:nvPr/>
        </p:nvSpPr>
        <p:spPr>
          <a:xfrm>
            <a:off x="1668780" y="5614416"/>
            <a:ext cx="8316468" cy="219456"/>
          </a:xfrm>
          <a:custGeom>
            <a:avLst/>
            <a:gdLst/>
            <a:ahLst/>
            <a:cxnLst/>
            <a:rect l="l" t="t" r="r" b="b"/>
            <a:pathLst>
              <a:path w="8316468" h="219456">
                <a:moveTo>
                  <a:pt x="8316468" y="0"/>
                </a:moveTo>
                <a:lnTo>
                  <a:pt x="8316468" y="219456"/>
                </a:lnTo>
                <a:lnTo>
                  <a:pt x="0" y="219456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668780" y="5632704"/>
            <a:ext cx="0" cy="20116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62" name="TextBox 61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Agent：模型层Agent运行机制视图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109441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941832"/>
            <a:ext cx="10637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任务基准 · 锁定评测条件与版本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188720"/>
            <a:ext cx="10637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optimization-task.json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确定模型、精度、负载、准入门槛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generation-task.json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设定固定文本对齐测试与评测集达标要求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backup/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留存初始基线备份 + 加载调优知识库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1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性能采样（Trace）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拉起一次性独立服务，通过profile接口获取性能数据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2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耗时归因（对齐到代码）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获取目标阶段（Prefill/Decode），将kernel耗时直接映射到模型代码层，加入累加等数值校验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8464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8464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3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理论上限核算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解析模型配置 → 折算计算量与访存字节 → 推导理论耗时下界与差距倍数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98064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18" name="TextBox 17"/>
          <p:cNvSpPr txBox="1"/>
          <p:nvPr/>
        </p:nvSpPr>
        <p:spPr>
          <a:xfrm>
            <a:off x="2798064" y="2450591"/>
            <a:ext cx="438912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Trace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文件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22976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0" name="TextBox 19"/>
          <p:cNvSpPr txBox="1"/>
          <p:nvPr/>
        </p:nvSpPr>
        <p:spPr>
          <a:xfrm>
            <a:off x="5522976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各类算子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调用频次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47888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2" name="TextBox 21"/>
          <p:cNvSpPr txBox="1"/>
          <p:nvPr/>
        </p:nvSpPr>
        <p:spPr>
          <a:xfrm>
            <a:off x="8247888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瓶颈优先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级列表、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异常算子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23376" y="1810512"/>
            <a:ext cx="2916936" cy="2630805"/>
          </a:xfrm>
          <a:prstGeom prst="rect">
            <a:avLst/>
          </a:prstGeom>
          <a:solidFill>
            <a:srgbClr val="FFFFFF"/>
          </a:solidFill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23376" y="1810512"/>
            <a:ext cx="64008" cy="2630805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42832" y="1856231"/>
            <a:ext cx="25328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4 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方案与补丁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6255" y="2176272"/>
            <a:ext cx="2551176" cy="1114679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06255" y="2176272"/>
            <a:ext cx="50292" cy="1114679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0848" y="2212848"/>
            <a:ext cx="2221991" cy="10415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规划器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看证据写代码：结合模型源码与锁定的诊断证据，提出优化假设并判断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按需skills：默认只读目录索引，每轮最多按需调取 2 份专项调优指南（Skill），防上下文膨胀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6255" y="3382391"/>
            <a:ext cx="2551176" cy="96748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06255" y="3382391"/>
            <a:ext cx="50292" cy="967486"/>
          </a:xfrm>
          <a:prstGeom prst="rect">
            <a:avLst/>
          </a:prstGeom>
          <a:solidFill>
            <a:srgbClr val="123C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3418967"/>
            <a:ext cx="2221991" cy="89433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人 · 按需介入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复杂场景由人直接修改，或与规划器协同实现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人工介入不改变准入判定路径，同样须通过下方三道验收门禁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42032" y="3182112"/>
            <a:ext cx="5907024" cy="1719072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42032" y="3182112"/>
            <a:ext cx="5907024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61487" y="3273552"/>
            <a:ext cx="5486400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控制器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确定性调度机制（Python）：统一接管硬件设备锁、状态机流转、故障恢复、准入验证与报告生成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硬性约束：规划器无权自行宣告实验成功；数值精度、多模态生成质量及性能收益，全部由控制器独立核验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全量实验追溯：每次实验尝试（Trial）均独立落盘记录，涵盖：候选评估、构建准备、基线测试、基线复核与最终复验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闭环容错机制：方案被拒原因经历史记忆库（Memory）带回下一轮请求；底层基础设施中断不计入方案优化失败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8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端到端A/B对比实验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多次压测取中位数，全程关闭性能剖析器（Profiler），增幅须跨越噪声门槛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73552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73552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56432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7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端到端质量评估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数据集得分不降，格式解析失败与输出截断均严判计入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98464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98464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81344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6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单算子性能初筛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隔离被改算子，直接测速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新旧版本同条件预热，确保对比公平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局部提速达标才进入整模型评测，快速淘汰无效补丁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23376" y="5029200"/>
            <a:ext cx="2916936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23376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06255" y="5074920"/>
            <a:ext cx="2606040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5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补丁合入与增量构建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在源码工作区执行原位构建，打入隔离补丁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1164824" y="4477893"/>
            <a:ext cx="0" cy="514731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8" name="TextBox 47"/>
          <p:cNvSpPr txBox="1"/>
          <p:nvPr/>
        </p:nvSpPr>
        <p:spPr>
          <a:xfrm>
            <a:off x="8814815" y="4532757"/>
            <a:ext cx="2203704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提交规划方案：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优化假设 + 代码补丁 + 证据引用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503919" y="5586984"/>
            <a:ext cx="182881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0" name="Connector 49"/>
          <p:cNvCxnSpPr/>
          <p:nvPr/>
        </p:nvCxnSpPr>
        <p:spPr>
          <a:xfrm>
            <a:off x="5779008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1" name="Connector 50"/>
          <p:cNvCxnSpPr/>
          <p:nvPr/>
        </p:nvCxnSpPr>
        <p:spPr>
          <a:xfrm>
            <a:off x="3054096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2" name="Connector 51"/>
          <p:cNvCxnSpPr/>
          <p:nvPr/>
        </p:nvCxnSpPr>
        <p:spPr>
          <a:xfrm flipV="1">
            <a:off x="1591056" y="3035808"/>
            <a:ext cx="0" cy="1956816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53" name="TextBox 52"/>
          <p:cNvSpPr txBox="1"/>
          <p:nvPr/>
        </p:nvSpPr>
        <p:spPr>
          <a:xfrm>
            <a:off x="566928" y="3474720"/>
            <a:ext cx="932688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确认真实收益 → 更新为最新基线 → 触发新一轮采样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Agent：模型层内外双环与人机交互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外环是确定性控制器（无模型），内环是一轮试验；人只在下发契约、结对补丁、终审验收三处接入，交互物全部落盘</a:t>
            </a:r>
          </a:p>
        </p:txBody>
      </p:sp>
      <p:sp>
        <p:nvSpPr>
          <p:cNvPr id="6" name="Oval 5"/>
          <p:cNvSpPr/>
          <p:nvPr/>
        </p:nvSpPr>
        <p:spPr>
          <a:xfrm>
            <a:off x="635508" y="1261872"/>
            <a:ext cx="155448" cy="1554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4D69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13232" y="1417319"/>
            <a:ext cx="0" cy="91441"/>
          </a:xfrm>
          <a:prstGeom prst="line">
            <a:avLst/>
          </a:prstGeom>
          <a:ln w="15875">
            <a:solidFill>
              <a:srgbClr val="1B4D6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594360" y="1453895"/>
            <a:ext cx="237744" cy="0"/>
          </a:xfrm>
          <a:prstGeom prst="line">
            <a:avLst/>
          </a:prstGeom>
          <a:ln w="15875">
            <a:solidFill>
              <a:srgbClr val="1B4D69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>
            <a:off x="621792" y="1508760"/>
            <a:ext cx="91440" cy="100583"/>
          </a:xfrm>
          <a:prstGeom prst="line">
            <a:avLst/>
          </a:prstGeom>
          <a:ln w="15875">
            <a:solidFill>
              <a:srgbClr val="1B4D69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713232" y="1508760"/>
            <a:ext cx="91440" cy="100583"/>
          </a:xfrm>
          <a:prstGeom prst="line">
            <a:avLst/>
          </a:prstGeom>
          <a:ln w="15875">
            <a:solidFill>
              <a:srgbClr val="1B4D69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932688" y="1261872"/>
            <a:ext cx="1682495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 · 任务负责人</a:t>
            </a: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Human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700784"/>
            <a:ext cx="2066543" cy="131673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700784"/>
            <a:ext cx="64008" cy="1316736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1746504"/>
            <a:ext cx="1792223" cy="1225295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下发 · 冻结契约</a:t>
            </a: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人 → 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·　优化任务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　optimization-task.json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·　质量契约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　generation-task.json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·　调优知识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　planner-skills/ × 10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·　授权边界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　测试范围 · 可跳过项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127248"/>
            <a:ext cx="2066543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127248"/>
            <a:ext cx="64008" cy="84124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172968"/>
            <a:ext cx="1792223" cy="7498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结对 · 协同补丁</a:t>
            </a:r>
            <a:r>
              <a:rPr sz="8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人 ⇄ 规划器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·　复杂改动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　changes.patch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·　同等准入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　同样走四道门禁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078224"/>
            <a:ext cx="2066543" cy="131673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078224"/>
            <a:ext cx="64008" cy="1316736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123944"/>
            <a:ext cx="1792223" cy="1225295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验收 · 判决报告</a:t>
            </a: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Agent → 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·　优化报告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　optimization-report.md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·　最优版本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　best.json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·　证据链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　attempts/ · planner/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·　边界声明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　自检异常 · 适用范围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61488" y="1225296"/>
            <a:ext cx="4206240" cy="4315968"/>
          </a:xfrm>
          <a:prstGeom prst="roundRect">
            <a:avLst>
              <a:gd name="adj" fmla="val 2000"/>
            </a:avLst>
          </a:prstGeom>
          <a:solidFill>
            <a:srgbClr val="F2F8FD"/>
          </a:solidFill>
          <a:ln w="12700">
            <a:solidFill>
              <a:srgbClr val="7FA4B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89504" y="1316736"/>
            <a:ext cx="54864" cy="237744"/>
          </a:xfrm>
          <a:prstGeom prst="rect">
            <a:avLst/>
          </a:prstGeom>
          <a:solidFill>
            <a:srgbClr val="7FA4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9232" y="1280160"/>
            <a:ext cx="384047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外环 · 确定性控制器</a:t>
            </a:r>
            <a:r>
              <a:rPr sz="850" b="1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无模型 · 规则判决 · 逐轮核验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54096" y="1700784"/>
            <a:ext cx="1316736" cy="731520"/>
          </a:xfrm>
          <a:prstGeom prst="roundRect">
            <a:avLst>
              <a:gd name="adj" fmla="val 10000"/>
            </a:avLst>
          </a:prstGeom>
          <a:solidFill>
            <a:srgbClr val="E6F0FC"/>
          </a:solidFill>
          <a:ln w="12700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状态机与编排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optimization.py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设备锁 · 状态流转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中断恢复 · 版本晋升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56048" y="1645919"/>
            <a:ext cx="1554480" cy="621792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901183" y="1700784"/>
            <a:ext cx="1554480" cy="621792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846320" y="1755648"/>
            <a:ext cx="1554480" cy="621792"/>
          </a:xfrm>
          <a:prstGeom prst="roundRect">
            <a:avLst>
              <a:gd name="adj" fmla="val 11764"/>
            </a:avLst>
          </a:prstGeom>
          <a:solidFill>
            <a:srgbClr val="E6F0FC"/>
          </a:solidFill>
          <a:ln w="12700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试验队列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试验 1 … 试验 35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attempts/ 全量留痕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407407" y="2066544"/>
            <a:ext cx="402337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29" name="Rounded Rectangle 28"/>
          <p:cNvSpPr/>
          <p:nvPr/>
        </p:nvSpPr>
        <p:spPr>
          <a:xfrm>
            <a:off x="4398263" y="1965960"/>
            <a:ext cx="42062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拆解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54096" y="2542032"/>
            <a:ext cx="3657599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判决后对试验队列的三类处置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2724912"/>
            <a:ext cx="160934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晋升</a:t>
            </a:r>
            <a:r>
              <a:rPr sz="7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Promotion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63824" y="2944368"/>
            <a:ext cx="1609344" cy="438912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108960" y="2999232"/>
            <a:ext cx="1609344" cy="438912"/>
          </a:xfrm>
          <a:prstGeom prst="roundRect">
            <a:avLst>
              <a:gd name="adj" fmla="val 16666"/>
            </a:avLst>
          </a:prstGeom>
          <a:solidFill>
            <a:srgbClr val="E6F0FC"/>
          </a:solidFill>
          <a:ln w="12700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过四道门禁 → 晋升基线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best.json 更新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3456432"/>
            <a:ext cx="160934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打回</a:t>
            </a:r>
            <a:r>
              <a:rPr sz="7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Rejection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3824" y="3675888"/>
            <a:ext cx="1609344" cy="438912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108960" y="3730752"/>
            <a:ext cx="1609344" cy="438912"/>
          </a:xfrm>
          <a:prstGeom prst="roundRect">
            <a:avLst>
              <a:gd name="adj" fmla="val 16666"/>
            </a:avLst>
          </a:prstGeom>
          <a:solidFill>
            <a:srgbClr val="E6F0FC"/>
          </a:solidFill>
          <a:ln w="12700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未过门禁 → 被拒原因进记忆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planner_memory.py 滚动压缩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4187952"/>
            <a:ext cx="160934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回退</a:t>
            </a:r>
            <a:r>
              <a:rPr sz="7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Rollback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163824" y="4407408"/>
            <a:ext cx="1609344" cy="438912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108960" y="4462272"/>
            <a:ext cx="1609344" cy="438912"/>
          </a:xfrm>
          <a:prstGeom prst="roundRect">
            <a:avLst>
              <a:gd name="adj" fmla="val 16666"/>
            </a:avLst>
          </a:prstGeom>
          <a:solidFill>
            <a:srgbClr val="E6F0FC"/>
          </a:solidFill>
          <a:ln w="12700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构建漂移 → 工作区回退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精确重测后再判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47488" y="3584448"/>
            <a:ext cx="1792224" cy="731520"/>
          </a:xfrm>
          <a:prstGeom prst="roundRect">
            <a:avLst>
              <a:gd name="adj" fmla="val 10000"/>
            </a:avLst>
          </a:prstGeom>
          <a:solidFill>
            <a:srgbClr val="C9E1FC"/>
          </a:solidFill>
          <a:ln w="12700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判决与晋升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selfiterate.py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比对下界账本 · 核验真实收益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晋升基线 · 生成判决报告</a:t>
            </a:r>
          </a:p>
        </p:txBody>
      </p:sp>
      <p:cxnSp>
        <p:nvCxnSpPr>
          <p:cNvPr id="41" name="Connector 40"/>
          <p:cNvCxnSpPr/>
          <p:nvPr/>
        </p:nvCxnSpPr>
        <p:spPr>
          <a:xfrm flipH="1" flipV="1">
            <a:off x="4809744" y="3218687"/>
            <a:ext cx="201168" cy="731521"/>
          </a:xfrm>
          <a:prstGeom prst="line">
            <a:avLst/>
          </a:prstGeom>
          <a:ln w="15875">
            <a:solidFill>
              <a:srgbClr val="0F62CE"/>
            </a:solidFill>
            <a:headEnd type="triangle" w="med" len="med"/>
            <a:tailEnd type="triangle" w="med" len="med"/>
          </a:ln>
        </p:spPr>
      </p:cxnSp>
      <p:cxnSp>
        <p:nvCxnSpPr>
          <p:cNvPr id="42" name="Connector 41"/>
          <p:cNvCxnSpPr/>
          <p:nvPr/>
        </p:nvCxnSpPr>
        <p:spPr>
          <a:xfrm flipH="1">
            <a:off x="4809744" y="3950208"/>
            <a:ext cx="201168" cy="0"/>
          </a:xfrm>
          <a:prstGeom prst="line">
            <a:avLst/>
          </a:prstGeom>
          <a:ln w="15875">
            <a:solidFill>
              <a:srgbClr val="0F62CE"/>
            </a:solidFill>
            <a:headEnd type="triangle" w="med" len="med"/>
            <a:tailEnd type="triangle" w="med" len="med"/>
          </a:ln>
        </p:spPr>
      </p:cxnSp>
      <p:cxnSp>
        <p:nvCxnSpPr>
          <p:cNvPr id="43" name="Connector 42"/>
          <p:cNvCxnSpPr/>
          <p:nvPr/>
        </p:nvCxnSpPr>
        <p:spPr>
          <a:xfrm flipH="1">
            <a:off x="4809744" y="3950208"/>
            <a:ext cx="201168" cy="731520"/>
          </a:xfrm>
          <a:prstGeom prst="line">
            <a:avLst/>
          </a:prstGeom>
          <a:ln w="15875">
            <a:solidFill>
              <a:srgbClr val="0F62CE"/>
            </a:solidFill>
            <a:headEnd type="triangle" w="med" len="med"/>
            <a:tailEnd type="triangle" w="med" len="med"/>
          </a:ln>
        </p:spPr>
      </p:cxnSp>
      <p:sp>
        <p:nvSpPr>
          <p:cNvPr id="44" name="Rounded Rectangle 43"/>
          <p:cNvSpPr/>
          <p:nvPr/>
        </p:nvSpPr>
        <p:spPr>
          <a:xfrm>
            <a:off x="8321040" y="1225296"/>
            <a:ext cx="3322015" cy="4315968"/>
          </a:xfrm>
          <a:prstGeom prst="roundRect">
            <a:avLst>
              <a:gd name="adj" fmla="val 2000"/>
            </a:avLst>
          </a:prstGeom>
          <a:solidFill>
            <a:srgbClr val="F2F8FD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49056" y="1316736"/>
            <a:ext cx="54864" cy="2377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58784" y="1280160"/>
            <a:ext cx="295625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内环 · 一轮试验</a:t>
            </a:r>
            <a:r>
              <a:rPr sz="8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规划器是唯一引入大模型的位置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49056" y="1755648"/>
            <a:ext cx="3065983" cy="621792"/>
          </a:xfrm>
          <a:prstGeom prst="roundRect">
            <a:avLst>
              <a:gd name="adj" fmla="val 11764"/>
            </a:avLst>
          </a:prstGeom>
          <a:solidFill>
            <a:srgbClr val="E6F0FC"/>
          </a:solidFill>
          <a:ln w="12700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取证与检索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planner_diagnostics.py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源码只读 · attempts/ · planner/ · probes/ 按需调取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有界探针：独立进程 · 产物 ≤ 64 KiB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449056" y="2523744"/>
            <a:ext cx="3065983" cy="1188720"/>
          </a:xfrm>
          <a:prstGeom prst="roundRect">
            <a:avLst>
              <a:gd name="adj" fmla="val 6153"/>
            </a:avLst>
          </a:prstGeom>
          <a:solidFill>
            <a:srgbClr val="FBE6D4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49056" y="2569463"/>
            <a:ext cx="306598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规划器</a:t>
            </a: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　Codex 外部托管会话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323679" y="2834639"/>
            <a:ext cx="1316736" cy="219456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大模型唯一介入点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03920" y="3090672"/>
            <a:ext cx="2956255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读证据形成假设，提出结构化动作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动作：</a:t>
            </a:r>
            <a:r>
              <a:rPr sz="75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read · search · list · probe · patch · stop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硬约束：不能自行宣告成功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982047" y="2386584"/>
            <a:ext cx="0" cy="128016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53" name="Rounded Rectangle 52"/>
          <p:cNvSpPr/>
          <p:nvPr/>
        </p:nvSpPr>
        <p:spPr>
          <a:xfrm>
            <a:off x="8449056" y="3858768"/>
            <a:ext cx="3065983" cy="676656"/>
          </a:xfrm>
          <a:prstGeom prst="roundRect">
            <a:avLst>
              <a:gd name="adj" fmla="val 10810"/>
            </a:avLst>
          </a:prstGeom>
          <a:solidFill>
            <a:srgbClr val="E6F0FC"/>
          </a:solidFill>
          <a:ln w="12700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构建与真机实测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git_workspace.py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原位建版本 · 登记构建 · 起停服务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M100 物理卡 · 精确重测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982047" y="3721607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5" name="Rounded Rectangle 54"/>
          <p:cNvSpPr/>
          <p:nvPr/>
        </p:nvSpPr>
        <p:spPr>
          <a:xfrm>
            <a:off x="8449056" y="4681728"/>
            <a:ext cx="3065983" cy="768096"/>
          </a:xfrm>
          <a:prstGeom prst="roundRect">
            <a:avLst>
              <a:gd name="adj" fmla="val 9523"/>
            </a:avLst>
          </a:prstGeom>
          <a:solidFill>
            <a:srgbClr val="E6F0FC"/>
          </a:solidFill>
          <a:ln w="12700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四道门禁核验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selfiterate_gates.py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 设备微测 ≥ 2%　① 数值门 ≤ 0.03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② 质量门 不降　D 整模三方 A/B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982047" y="4544568"/>
            <a:ext cx="0" cy="128016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cxnSp>
        <p:nvCxnSpPr>
          <p:cNvPr id="57" name="Connector 56"/>
          <p:cNvCxnSpPr/>
          <p:nvPr/>
        </p:nvCxnSpPr>
        <p:spPr>
          <a:xfrm>
            <a:off x="2615184" y="2103120"/>
            <a:ext cx="402336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58" name="Freeform 57"/>
          <p:cNvSpPr/>
          <p:nvPr/>
        </p:nvSpPr>
        <p:spPr>
          <a:xfrm>
            <a:off x="2615184" y="2340864"/>
            <a:ext cx="402336" cy="1207008"/>
          </a:xfrm>
          <a:custGeom>
            <a:avLst/>
            <a:gdLst/>
            <a:ahLst/>
            <a:cxnLst/>
            <a:rect l="l" t="t" r="r" b="b"/>
            <a:pathLst>
              <a:path w="402336" h="1207008">
                <a:moveTo>
                  <a:pt x="0" y="1207008"/>
                </a:moveTo>
                <a:lnTo>
                  <a:pt x="256032" y="1207008"/>
                </a:lnTo>
                <a:lnTo>
                  <a:pt x="256032" y="0"/>
                </a:lnTo>
                <a:lnTo>
                  <a:pt x="402336" y="0"/>
                </a:lnTo>
              </a:path>
            </a:pathLst>
          </a:custGeom>
          <a:noFill/>
          <a:ln w="19050">
            <a:solidFill>
              <a:srgbClr val="D2690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6547104" y="2066544"/>
            <a:ext cx="1865376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60" name="TextBox 59"/>
          <p:cNvSpPr txBox="1"/>
          <p:nvPr/>
        </p:nvSpPr>
        <p:spPr>
          <a:xfrm>
            <a:off x="7031736" y="1700784"/>
            <a:ext cx="122529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逐个试验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31736" y="2121408"/>
            <a:ext cx="122529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mailbox 请求 ≤ 28 KB</a:t>
            </a:r>
          </a:p>
        </p:txBody>
      </p:sp>
      <p:sp>
        <p:nvSpPr>
          <p:cNvPr id="62" name="Freeform 61"/>
          <p:cNvSpPr/>
          <p:nvPr/>
        </p:nvSpPr>
        <p:spPr>
          <a:xfrm>
            <a:off x="6876288" y="3950208"/>
            <a:ext cx="1536192" cy="1115568"/>
          </a:xfrm>
          <a:custGeom>
            <a:avLst/>
            <a:gdLst/>
            <a:ahLst/>
            <a:cxnLst/>
            <a:rect l="l" t="t" r="r" b="b"/>
            <a:pathLst>
              <a:path w="1536192" h="1115568">
                <a:moveTo>
                  <a:pt x="1536192" y="1115568"/>
                </a:moveTo>
                <a:lnTo>
                  <a:pt x="768095" y="1115568"/>
                </a:lnTo>
                <a:lnTo>
                  <a:pt x="768095" y="0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D2690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406640" y="4261103"/>
            <a:ext cx="47548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回执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095744" y="4535423"/>
            <a:ext cx="10972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门禁判决 · 被拒原因</a:t>
            </a:r>
          </a:p>
        </p:txBody>
      </p:sp>
      <p:cxnSp>
        <p:nvCxnSpPr>
          <p:cNvPr id="65" name="Connector 64"/>
          <p:cNvCxnSpPr/>
          <p:nvPr/>
        </p:nvCxnSpPr>
        <p:spPr>
          <a:xfrm flipV="1">
            <a:off x="5650992" y="2414016"/>
            <a:ext cx="0" cy="1133856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66" name="TextBox 65"/>
          <p:cNvSpPr txBox="1"/>
          <p:nvPr/>
        </p:nvSpPr>
        <p:spPr>
          <a:xfrm>
            <a:off x="5742431" y="2761488"/>
            <a:ext cx="1097279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迭代 × 35 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按新基线重排试验队列</a:t>
            </a:r>
          </a:p>
        </p:txBody>
      </p:sp>
      <p:sp>
        <p:nvSpPr>
          <p:cNvPr id="67" name="Freeform 66"/>
          <p:cNvSpPr/>
          <p:nvPr/>
        </p:nvSpPr>
        <p:spPr>
          <a:xfrm>
            <a:off x="2615184" y="4352544"/>
            <a:ext cx="3035808" cy="768096"/>
          </a:xfrm>
          <a:custGeom>
            <a:avLst/>
            <a:gdLst/>
            <a:ahLst/>
            <a:cxnLst/>
            <a:rect l="l" t="t" r="r" b="b"/>
            <a:pathLst>
              <a:path w="3035808" h="768096">
                <a:moveTo>
                  <a:pt x="3035808" y="0"/>
                </a:moveTo>
                <a:lnTo>
                  <a:pt x="3035808" y="768096"/>
                </a:lnTo>
                <a:lnTo>
                  <a:pt x="0" y="768096"/>
                </a:lnTo>
              </a:path>
            </a:pathLst>
          </a:custGeom>
          <a:noFill/>
          <a:ln w="19050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2999232" y="5020055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全部完成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5907024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48640" y="5907024"/>
            <a:ext cx="73152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77824" y="5907024"/>
            <a:ext cx="10436047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规划器只提假设与补丁；数值、质量与性能收益全部由控制器独立核验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单算子理论下界与逐层核算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一个算子的四条路径并行推进，耗时由最慢的一条决定；逐算子求和得到单层，再乘层数得到整模型下界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766560" cy="46085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280160"/>
            <a:ext cx="649224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单步 Decode 逐算子理论下界（µs / 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517904"/>
            <a:ext cx="12801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6815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4015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GFLOP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534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t_comp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1517904"/>
            <a:ext cx="5303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取 max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1517904"/>
            <a:ext cx="47548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×48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6656" y="1728216"/>
            <a:ext cx="6364224" cy="0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76656" y="1773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input_rmsnorm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6815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4015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07791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9534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9472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1773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" y="2002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2002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qkv_proj GEMM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56815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21.10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07791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1568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534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9846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002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2231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q_norm/k_norm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6815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14015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1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1568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9534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07408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9472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9846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10528" y="2231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" y="2459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6656" y="2459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3D-RoPE(mrope)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56815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4015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07791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01568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9534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19472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9846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0528" y="2459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" y="2688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store_kv(page)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56815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14015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07791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01568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9534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7408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19472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9846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10528" y="2688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" y="2916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6656" y="2916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56815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14015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100.93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07791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0.262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01568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9534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07408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19472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13248" y="29169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32.4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9846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10528" y="2916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2.633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6656" y="3145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o_proj GEMM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56815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14015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17.04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07791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9534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07408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19472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9846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10528" y="3145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0.629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6656" y="33741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6656" y="3374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post_rmsnorm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56815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414015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07791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01568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9534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07408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919472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99846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10528" y="3374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76656" y="3602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router gate GEMM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956815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414015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07791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01568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9534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407408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919472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99846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510528" y="3602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0.024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76656" y="38313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3831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topk+softmax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56815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14015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907791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01568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9534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407408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919472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99846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10528" y="3831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6656" y="4059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act_quant(fp8)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956815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414015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907791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401568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9534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407408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919472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99846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510528" y="4059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76656" y="4288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76656" y="4288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permute/shuffle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56815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414015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907791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01568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9534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407408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919472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99846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10528" y="4288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0.034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656" y="4517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gate+up GEMM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956815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414015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127.76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07791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0.786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401568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9534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407408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4.27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919472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99846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510528" y="4517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4.717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76656" y="4745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76656" y="4745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silu_and_mul(+quant)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956815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414015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907791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0.197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01568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89534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407408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919472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413248" y="47457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6.6(SFU)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99846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6.55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510528" y="4745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0.315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76656" y="4974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down GEMM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56815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414015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63.82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907791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1.049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01568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89534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407408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919472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3.60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99846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510528" y="4974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2.356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76656" y="5202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76656" y="5202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unpermute+combine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956815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2414015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2907791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401568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89534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407408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919472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99846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510528" y="5202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0.068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5980176" y="1517904"/>
            <a:ext cx="0" cy="3913632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191" name="Rectangle 190"/>
          <p:cNvSpPr/>
          <p:nvPr/>
        </p:nvSpPr>
        <p:spPr>
          <a:xfrm>
            <a:off x="676656" y="5468112"/>
            <a:ext cx="6364224" cy="237744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731520" y="5468112"/>
            <a:ext cx="18288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单层合计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98464" y="5468112"/>
            <a:ext cx="4572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242.3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6510528" y="5468112"/>
            <a:ext cx="4754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11.629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76656" y="5577840"/>
            <a:ext cx="64922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橙色为决定该算子下界的那一列：16 个算子里 15 个卡在读，唯一例外是 silu_and_mul 卡在 SFU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7443216" y="1225296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626096" y="1280160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单算子理论下界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t_算子 ＝ max（ t_读, t_写, t_算, t_其它 ）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626096" y="1810512"/>
            <a:ext cx="38340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四条路径在硬件上并行推进，算子耗时由最慢的一条决定，不是四项求和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7662672" y="201168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t_读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174736" y="201168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读字节 ÷ 读带宽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662672" y="219456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t_写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174736" y="219456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写字节 ÷ 写带宽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662672" y="237744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8174736" y="237744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FLOP ÷ 路径算力（cluster / sdnn × bf16 / fp8）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662672" y="256032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8174736" y="256032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特殊单元耗时，如 SFU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626096" y="2779776"/>
            <a:ext cx="3834079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26096" y="2779776"/>
            <a:ext cx="54864" cy="6035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772400" y="2798064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代入一个算子：expert gate+up GEMM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772400" y="2980944"/>
            <a:ext cx="3632911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max（ 读 98.28 ， 写 4.27 ， 算 7.19 ）＝ 98.28 µs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772400" y="3182112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127.76 MB 定死了下界，算力只跑到 7.3%，写和算全被读掩盖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7443216" y="3584448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7626096" y="3639312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Roofline：所有算子都落在访存区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8010144" y="3968496"/>
            <a:ext cx="2454783" cy="12801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17" name="Connector 216"/>
          <p:cNvCxnSpPr/>
          <p:nvPr/>
        </p:nvCxnSpPr>
        <p:spPr>
          <a:xfrm flipV="1">
            <a:off x="8010144" y="3968496"/>
            <a:ext cx="3016211" cy="1154147"/>
          </a:xfrm>
          <a:prstGeom prst="line">
            <a:avLst/>
          </a:prstGeom>
          <a:ln w="19050">
            <a:solidFill>
              <a:srgbClr val="40708B"/>
            </a:solidFill>
          </a:ln>
        </p:spPr>
      </p:cxnSp>
      <p:cxnSp>
        <p:nvCxnSpPr>
          <p:cNvPr id="218" name="Connector 217"/>
          <p:cNvCxnSpPr/>
          <p:nvPr/>
        </p:nvCxnSpPr>
        <p:spPr>
          <a:xfrm>
            <a:off x="10464927" y="4181856"/>
            <a:ext cx="885520" cy="0"/>
          </a:xfrm>
          <a:prstGeom prst="line">
            <a:avLst/>
          </a:prstGeom>
          <a:ln w="15875">
            <a:solidFill>
              <a:srgbClr val="0F62CE"/>
            </a:solidFill>
          </a:ln>
        </p:spPr>
      </p:cxnSp>
      <p:sp>
        <p:nvSpPr>
          <p:cNvPr id="219" name="Oval 218"/>
          <p:cNvSpPr/>
          <p:nvPr/>
        </p:nvSpPr>
        <p:spPr>
          <a:xfrm>
            <a:off x="10428351" y="4145280"/>
            <a:ext cx="73152" cy="73152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20" name="Connector 219"/>
          <p:cNvCxnSpPr/>
          <p:nvPr/>
        </p:nvCxnSpPr>
        <p:spPr>
          <a:xfrm>
            <a:off x="11026355" y="3968496"/>
            <a:ext cx="324092" cy="0"/>
          </a:xfrm>
          <a:prstGeom prst="line">
            <a:avLst/>
          </a:prstGeom>
          <a:ln w="15875">
            <a:solidFill>
              <a:srgbClr val="D2690C"/>
            </a:solidFill>
          </a:ln>
        </p:spPr>
      </p:cxnSp>
      <p:sp>
        <p:nvSpPr>
          <p:cNvPr id="221" name="Oval 220"/>
          <p:cNvSpPr/>
          <p:nvPr/>
        </p:nvSpPr>
        <p:spPr>
          <a:xfrm>
            <a:off x="10989779" y="3931920"/>
            <a:ext cx="73152" cy="7315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083296" y="3986783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带宽屋顶 ＝ 算术强度 × 带宽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083296" y="4151375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fp8 算力屋顶（拐点 171）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083296" y="4315968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bf16 算力屋顶（拐点 85）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8010144" y="5248656"/>
            <a:ext cx="3340303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cxnSp>
        <p:nvCxnSpPr>
          <p:cNvPr id="226" name="Connector 225"/>
          <p:cNvCxnSpPr/>
          <p:nvPr/>
        </p:nvCxnSpPr>
        <p:spPr>
          <a:xfrm>
            <a:off x="8010144" y="3968496"/>
            <a:ext cx="0" cy="128016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27" name="TextBox 226"/>
          <p:cNvSpPr txBox="1"/>
          <p:nvPr/>
        </p:nvSpPr>
        <p:spPr>
          <a:xfrm>
            <a:off x="7827264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940698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0054132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1167567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256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607808" y="49530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1/16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607808" y="452628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607808" y="409956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7607808" y="38862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35" name="Oval 234"/>
          <p:cNvSpPr/>
          <p:nvPr/>
        </p:nvSpPr>
        <p:spPr>
          <a:xfrm>
            <a:off x="8516569" y="486266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649157" y="5004400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237" name="Oval 236"/>
          <p:cNvSpPr/>
          <p:nvPr/>
        </p:nvSpPr>
        <p:spPr>
          <a:xfrm>
            <a:off x="8875015" y="472595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9007603" y="4785394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expert GEMM ×2</a:t>
            </a:r>
          </a:p>
        </p:txBody>
      </p:sp>
      <p:sp>
        <p:nvSpPr>
          <p:cNvPr id="239" name="Oval 238"/>
          <p:cNvSpPr/>
          <p:nvPr/>
        </p:nvSpPr>
        <p:spPr>
          <a:xfrm>
            <a:off x="9612239" y="4441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744827" y="4501232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qkv_proj / o_proj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7626096" y="5440680"/>
            <a:ext cx="3870655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算术强度（FLOP / Byte）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7662672" y="5559552"/>
            <a:ext cx="37975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 个带计算的算子强度 8–31 FLOP/Byte，另外 10 个 FLOP ＝ 0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单层 242.3 µs × 48 层 ＝ 11.63 ms/步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其中 97.7% 是把权重与 KV 读一遍的时间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Qwen3-VL- 30B-A3B 优化记录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3657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使用模型：</a:t>
            </a: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·　M100 单卡 TP1　·　1K/1K　·　场景优化 Decode 阶段输出吞吐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89888"/>
            <a:ext cx="6565392" cy="3785615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63040"/>
            <a:ext cx="6126479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各类算子耗时与理论上限（Roofline）差距：32 并发纯 Decode · 单位：ms/步 · 理论上限 = 访存字节数 ÷ 硬件带宽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66543"/>
            <a:ext cx="18470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2066543"/>
            <a:ext cx="16642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D8894"/>
                </a:solidFill>
                <a:latin typeface="Microsoft YaHei"/>
                <a:ea typeface="Microsoft YaHei"/>
                <a:cs typeface="Microsoft YaHei"/>
              </a:rPr>
              <a:t>■上限内　</a:t>
            </a:r>
            <a:r>
              <a:rPr sz="80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■超出　</a:t>
            </a:r>
            <a:r>
              <a:rPr sz="8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□优化部分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066543"/>
            <a:ext cx="118872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耗时：基线 → 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2066543"/>
            <a:ext cx="7498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距理论上限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066543"/>
            <a:ext cx="80467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关联优化项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8096" y="2322576"/>
            <a:ext cx="612647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8096" y="2377439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 GEMM（fp8）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6624" y="2496312"/>
            <a:ext cx="145856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5189" y="2496312"/>
            <a:ext cx="2276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2377439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8.46 → 8.33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2377439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377439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779775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2898648"/>
            <a:ext cx="49377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2779775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2976" y="2779775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2779775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3182111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稠密 GEMM（QKV/O/头）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06624" y="3300984"/>
            <a:ext cx="376460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79" y="3182111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2976" y="3182111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182111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584448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专家重排与合并（含路由）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06624" y="3703320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34056" y="3703320"/>
            <a:ext cx="521791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79" y="3584448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22976" y="3584448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27×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3584448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3986783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逐元素操作 + 量化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06624" y="4105655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4056" y="4105655"/>
            <a:ext cx="299417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3473" y="4105655"/>
            <a:ext cx="30817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3986783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3.51 → 1.75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22976" y="3986783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82× → 41×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59" y="3986783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4389120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3D-RoPE（多模态）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06624" y="4507992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34056" y="4507992"/>
            <a:ext cx="322180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79" y="4389120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2976" y="4389120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73×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59" y="4389120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4791456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Norm 与其他小算子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06624" y="4910328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34056" y="4910328"/>
            <a:ext cx="171595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97679" y="4791456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~1.0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22976" y="4791456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44×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59" y="4791456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33488" y="1389888"/>
            <a:ext cx="4309567" cy="3785615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71231" y="1463040"/>
            <a:ext cx="38523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优化记录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24927" y="1865376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52944" y="1865376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08975" y="1901952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单算子优化后 1.75 ms/步（原 3.51）· D device 24.7 → 22.2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71455" y="1865376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24927" y="2569464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52944" y="2569464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08975" y="2606040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量化 + shuffle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单算子测试快5.43倍，端到端吞吐增加3%，TPOT 减少3.4%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2569464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52944" y="3273552"/>
            <a:ext cx="274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08975" y="3310128"/>
            <a:ext cx="238932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尝试grouped-GEMM group-mode 不同分组策略，没有明显受益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71455" y="3273552"/>
            <a:ext cx="11887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52944" y="3867912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08975" y="3904488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劣化0.61×，更慢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71455" y="3867912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52944" y="4572000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08975" y="4608576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tpot受益只有0.9%小于波动线，放弃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71455" y="4572000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收益不明显，放弃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285232"/>
            <a:ext cx="2231136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同一优化方案在不同并发下的表现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输出 TPS：并发越高，吞吐收益越显著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71216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99232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+9.9%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94.9 → 104.3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51187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79203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c32 · Trace 工作点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+22.5%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959.6 → 1175.7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31158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59174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+30.7%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1199.9 → 1567.7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11129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39145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+35.3%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1307.3 → 1768.8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91100" y="5285232"/>
            <a:ext cx="1651955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19116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c128 · 峰值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+37.4%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1370.0 → 1883.0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5943600"/>
            <a:ext cx="11094415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8640" y="5943600"/>
            <a:ext cx="73152" cy="4754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7824" y="5943600"/>
            <a:ext cx="1043604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经　</a:t>
            </a: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多轮自动化迭代，128并发吞吐提升 37.4%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Agent：算子层对抗生成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算子需求或既有实现出发，先保精度对齐，再做性能寻优；生成与评测严格解耦，评测侧完全基于确定性规则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3785615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65376"/>
            <a:ext cx="332841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500" b="0">
                <a:solidFill>
                  <a:srgbClr val="E8C9AC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32304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66160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依据硬件规格生成实现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显式规划数据搬运（DMA）、计算流水与同步机制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5424" y="1719072"/>
            <a:ext cx="4617720" cy="334670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9744" y="1865376"/>
            <a:ext cx="416052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5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Harness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规则驱动，无模型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41401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241401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编译构建并拉起测试，失败即打回重改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054096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1536" y="3054096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 Shape、多精度下与golden比较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369417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1536" y="369417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433425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433425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1719072"/>
            <a:ext cx="2288743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92056" y="1847088"/>
            <a:ext cx="18315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batch_norm实测样例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2286000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2340864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FP32 总数据量8.39MB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3163824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3218688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1.37 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13.24 → 9.66 µs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7192" y="4041648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4096511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最优版本测量200轮平均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9.66 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2056" y="4736592"/>
            <a:ext cx="1831543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详细迭代过程见下一页</a:t>
            </a:r>
          </a:p>
        </p:txBody>
      </p:sp>
      <p:sp>
        <p:nvSpPr>
          <p:cNvPr id="29" name="Freeform 28"/>
          <p:cNvSpPr/>
          <p:nvPr/>
        </p:nvSpPr>
        <p:spPr>
          <a:xfrm>
            <a:off x="2441448" y="1481328"/>
            <a:ext cx="4402835" cy="237744"/>
          </a:xfrm>
          <a:custGeom>
            <a:avLst/>
            <a:gdLst/>
            <a:ahLst/>
            <a:cxnLst/>
            <a:rect l="l" t="t" r="r" b="b"/>
            <a:pathLst>
              <a:path w="4402835" h="237744">
                <a:moveTo>
                  <a:pt x="0" y="237744"/>
                </a:moveTo>
                <a:lnTo>
                  <a:pt x="0" y="0"/>
                </a:lnTo>
                <a:lnTo>
                  <a:pt x="4402835" y="0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44283" y="1481328"/>
            <a:ext cx="0" cy="219456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2606040" y="1207007"/>
            <a:ext cx="3657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32" name="Freeform 31"/>
          <p:cNvSpPr/>
          <p:nvPr/>
        </p:nvSpPr>
        <p:spPr>
          <a:xfrm>
            <a:off x="2441448" y="5065776"/>
            <a:ext cx="4402835" cy="256032"/>
          </a:xfrm>
          <a:custGeom>
            <a:avLst/>
            <a:gdLst/>
            <a:ahLst/>
            <a:cxnLst/>
            <a:rect l="l" t="t" r="r" b="b"/>
            <a:pathLst>
              <a:path w="4402835" h="256032">
                <a:moveTo>
                  <a:pt x="4402835" y="0"/>
                </a:moveTo>
                <a:lnTo>
                  <a:pt x="4402835" y="256032"/>
                </a:lnTo>
                <a:lnTo>
                  <a:pt x="0" y="25603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2441448" y="5084064"/>
            <a:ext cx="0" cy="237744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2606040" y="5340096"/>
            <a:ext cx="420624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632704"/>
            <a:ext cx="11094415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73152" cy="64008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5705856"/>
            <a:ext cx="1045433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　</a:t>
            </a:r>
            <a:r>
              <a:rPr sz="12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backend/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5943600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迁移至新芯片时仅需适配该后端接口，“生成与评测”主流程无需改动。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使用算子团队相关skills 和 算子开发优化经验;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batch_norm算子优化过程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4206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目标shape</a:t>
            </a: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｜　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roofline </a:t>
            </a: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（按纯带宽上限推算，不含指令发射约束与 Kernel Launch 固定开销）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26464"/>
            <a:ext cx="5943600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99616"/>
            <a:ext cx="29260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带宽达成率（Achieved）= 理论极限耗时 ÷ 实测耗时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5775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52144" y="3983736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58368" y="3864864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714105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58368" y="3595233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444474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58368" y="3325602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52144" y="3174843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58368" y="3055971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52144" y="290521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58368" y="278634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58368" y="251671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52144" y="2365951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58368" y="2247079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12700">
            <a:solidFill>
              <a:srgbClr val="7FA4BA"/>
            </a:solidFill>
            <a:prstDash val="dash"/>
          </a:ln>
        </p:spPr>
      </p:cxnSp>
      <p:cxnSp>
        <p:nvCxnSpPr>
          <p:cNvPr id="26" name="Connector 25"/>
          <p:cNvCxnSpPr/>
          <p:nvPr/>
        </p:nvCxnSpPr>
        <p:spPr>
          <a:xfrm>
            <a:off x="1152144" y="2543907"/>
            <a:ext cx="4864608" cy="0"/>
          </a:xfrm>
          <a:prstGeom prst="line">
            <a:avLst/>
          </a:prstGeom>
          <a:ln w="12700">
            <a:solidFill>
              <a:srgbClr val="D2690C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1152144" y="4334256"/>
            <a:ext cx="4864608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1121054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7515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97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043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6897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3358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9819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274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9201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8" name="Freeform 37"/>
          <p:cNvSpPr/>
          <p:nvPr/>
        </p:nvSpPr>
        <p:spPr>
          <a:xfrm>
            <a:off x="1395374" y="2473803"/>
            <a:ext cx="4378147" cy="1067738"/>
          </a:xfrm>
          <a:custGeom>
            <a:avLst/>
            <a:gdLst/>
            <a:ahLst/>
            <a:cxnLst/>
            <a:rect l="l" t="t" r="r" b="b"/>
            <a:pathLst>
              <a:path w="4378147" h="1067738">
                <a:moveTo>
                  <a:pt x="0" y="1067738"/>
                </a:moveTo>
                <a:lnTo>
                  <a:pt x="486461" y="1067738"/>
                </a:lnTo>
                <a:lnTo>
                  <a:pt x="972922" y="695648"/>
                </a:lnTo>
                <a:lnTo>
                  <a:pt x="1945843" y="695648"/>
                </a:lnTo>
                <a:lnTo>
                  <a:pt x="2432304" y="59319"/>
                </a:lnTo>
                <a:lnTo>
                  <a:pt x="3891686" y="59319"/>
                </a:lnTo>
                <a:lnTo>
                  <a:pt x="4378147" y="0"/>
                </a:lnTo>
              </a:path>
            </a:pathLst>
          </a:custGeom>
          <a:noFill/>
          <a:ln w="254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317650" y="3463817"/>
            <a:ext cx="155448" cy="155448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3038" y="3651269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41" name="Oval 40"/>
          <p:cNvSpPr/>
          <p:nvPr/>
        </p:nvSpPr>
        <p:spPr>
          <a:xfrm>
            <a:off x="2290572" y="3091727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5960" y="2858555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43" name="Oval 42"/>
          <p:cNvSpPr/>
          <p:nvPr/>
        </p:nvSpPr>
        <p:spPr>
          <a:xfrm>
            <a:off x="2777032" y="3808944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52420" y="3575772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45" name="Oval 44"/>
          <p:cNvSpPr/>
          <p:nvPr/>
        </p:nvSpPr>
        <p:spPr>
          <a:xfrm>
            <a:off x="3263493" y="4170250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38881" y="3937078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47" name="Oval 46"/>
          <p:cNvSpPr/>
          <p:nvPr/>
        </p:nvSpPr>
        <p:spPr>
          <a:xfrm>
            <a:off x="3749954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25342" y="2222226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49" name="Oval 48"/>
          <p:cNvSpPr/>
          <p:nvPr/>
        </p:nvSpPr>
        <p:spPr>
          <a:xfrm>
            <a:off x="4236415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695797" y="2396079"/>
            <a:ext cx="155448" cy="15544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1185" y="2162907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4791455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保留　</a:t>
            </a:r>
            <a:r>
              <a:rPr sz="10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真机实测更慢，废弃　</a:t>
            </a: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交付复测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6" y="1426464"/>
            <a:ext cx="4931359" cy="369417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11696" y="1499616"/>
            <a:ext cx="493135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八轮迭代优化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94576" y="190195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43216" y="190195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 基线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90911" y="190195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30991" y="190195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94576" y="224942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43216" y="224942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标定纯内存拷贝耗时下限（探针）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90911" y="224942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30991" y="224942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94576" y="259689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43216" y="259689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替换为硬件原生 rsqrt 指令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90911" y="259689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30991" y="259689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03136" y="2944368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94576" y="294436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43216" y="294436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90911" y="294436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30991" y="294436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03136" y="3291840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3291840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43216" y="3291840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host 折系数 + 每次 H2D（非 kernel耗时）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90911" y="3291840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30991" y="3291840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94576" y="363931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43216" y="363931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90911" y="363931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30991" y="363931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94576" y="398678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43216" y="398678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计算折叠为 scale * x + shift（乘加融合）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90911" y="398678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30991" y="398678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94576" y="433425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43216" y="433425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完善模拟器脚手架与修复 ABI 接口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90911" y="433425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30991" y="433425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03136" y="4681728"/>
            <a:ext cx="4748479" cy="34747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94576" y="468172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43216" y="468172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90911" y="468172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130991" y="468172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5230368"/>
            <a:ext cx="2743200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同一算子实现，泛化至不同 Shape 的实测表现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µs，小 Shape 下 Launch 固定开销占比极高，稀释了计算优化收益。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28416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56432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0.143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43651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571667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0.364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58887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686903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0.449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74123" y="5230368"/>
            <a:ext cx="1968931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802139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0.724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对比纯内存拷贝极限（9.83 µs），当前算子优化耗时（9.66 µs）已逼近硬件物理极限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Agent：算子层（xpugen）内部组件与交互机制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基于「环境感知 — 认知推理 — 工具执行」闭环，把专家调优经验（Skills）沉淀为确定性的算子实现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54864" cy="23774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07008"/>
            <a:ext cx="250545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任务环境与知识</a:t>
            </a: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Environment &amp;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234440"/>
            <a:ext cx="54864" cy="2377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1104" y="1207008"/>
            <a:ext cx="32552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xpugen Agent 内部</a:t>
            </a:r>
            <a:r>
              <a:rPr sz="8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唯一引入大模型的位置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30768" y="1234440"/>
            <a:ext cx="54864" cy="23774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7072" y="1207008"/>
            <a:ext cx="3065983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工具与评测后端</a:t>
            </a: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确定性执行 · 无模型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72768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18488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任务上下文池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Task Context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算子规格与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输入输出语义约束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23744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523744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569463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领域知识挂载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Domain Knowledge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M100 硬件规格卡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算子调优 Skills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77056"/>
            <a:ext cx="265176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77056"/>
            <a:ext cx="64008" cy="1298448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922776"/>
            <a:ext cx="2322576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评测反馈黑板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Feedback Blackboard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编译报错日志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精度偏差详情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瓶颈证据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30768" y="1572768"/>
            <a:ext cx="3212287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30768" y="1572768"/>
            <a:ext cx="64008" cy="10789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3648" y="1618488"/>
            <a:ext cx="2883103" cy="987551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源码与检索工具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Source &amp; Retrieval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算子模板读取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AST 语法树检查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代码补丁生成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30768" y="3877056"/>
            <a:ext cx="3212287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30768" y="3877056"/>
            <a:ext cx="64008" cy="12984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13648" y="3922776"/>
            <a:ext cx="2883103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&amp; 后端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backend/ 耦合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交叉编译运行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Golden 精度对齐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Bench 真机微秒计时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模拟器分析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0" y="1517904"/>
            <a:ext cx="3401568" cy="3986783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18894" y="1572768"/>
            <a:ext cx="2993379" cy="457200"/>
          </a:xfrm>
          <a:prstGeom prst="roundRect">
            <a:avLst>
              <a:gd name="adj" fmla="val 16000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迭代记忆库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Memory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历史补丁与失败避坑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8894" y="2176272"/>
            <a:ext cx="2993379" cy="475488"/>
          </a:xfrm>
          <a:prstGeom prst="roundRect">
            <a:avLst>
              <a:gd name="adj" fmla="val 1538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状态感知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Observation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汇总需求 + 报错 + 瓶颈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15584" y="2039111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4318894" y="2798064"/>
            <a:ext cx="2993379" cy="1316736"/>
          </a:xfrm>
          <a:prstGeom prst="roundRect">
            <a:avLst>
              <a:gd name="adj" fmla="val 5555"/>
            </a:avLst>
          </a:prstGeom>
          <a:solidFill>
            <a:srgbClr val="FBE6D4"/>
          </a:solidFill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8894" y="2999232"/>
            <a:ext cx="299337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策略推演</a:t>
            </a:r>
            <a:r>
              <a:rPr sz="8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Thought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57216" y="3337560"/>
            <a:ext cx="1316736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大模型唯一介入点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8894" y="3639312"/>
            <a:ext cx="299337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规划 DMA 搬运 / 计算流水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寄存器分配与指令替换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15584" y="2660903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4318894" y="4261104"/>
            <a:ext cx="2993379" cy="530352"/>
          </a:xfrm>
          <a:prstGeom prst="roundRect">
            <a:avLst>
              <a:gd name="adj" fmla="val 13793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动作执行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Action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生成补丁，触发编译与评测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815584" y="4123944"/>
            <a:ext cx="0" cy="128016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4318894" y="4974336"/>
            <a:ext cx="2993379" cy="438912"/>
          </a:xfrm>
          <a:prstGeom prst="roundRect">
            <a:avLst>
              <a:gd name="adj" fmla="val 16666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达标输出 · 候选库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交付最优 Kernel 代码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815584" y="4800600"/>
            <a:ext cx="0" cy="164592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0" name="TextBox 39"/>
          <p:cNvSpPr txBox="1"/>
          <p:nvPr/>
        </p:nvSpPr>
        <p:spPr>
          <a:xfrm>
            <a:off x="5907024" y="4791456"/>
            <a:ext cx="1005840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发布达标实现</a:t>
            </a:r>
          </a:p>
        </p:txBody>
      </p:sp>
      <p:sp>
        <p:nvSpPr>
          <p:cNvPr id="41" name="Right Brace 40"/>
          <p:cNvSpPr/>
          <p:nvPr/>
        </p:nvSpPr>
        <p:spPr>
          <a:xfrm>
            <a:off x="3236976" y="1609344"/>
            <a:ext cx="146304" cy="1609343"/>
          </a:xfrm>
          <a:prstGeom prst="rightBrace">
            <a:avLst>
              <a:gd name="adj1" fmla="val 80000"/>
              <a:gd name="adj2" fmla="val 50000"/>
            </a:avLst>
          </a:prstGeom>
          <a:noFill/>
          <a:ln w="15875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410712" y="2414015"/>
            <a:ext cx="871606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3" name="Rounded Rectangle 42"/>
          <p:cNvSpPr/>
          <p:nvPr/>
        </p:nvSpPr>
        <p:spPr>
          <a:xfrm>
            <a:off x="3401568" y="2157984"/>
            <a:ext cx="69494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读取 / 感知</a:t>
            </a:r>
          </a:p>
        </p:txBody>
      </p:sp>
      <p:sp>
        <p:nvSpPr>
          <p:cNvPr id="44" name="Freeform 43"/>
          <p:cNvSpPr/>
          <p:nvPr/>
        </p:nvSpPr>
        <p:spPr>
          <a:xfrm>
            <a:off x="2871216" y="3456432"/>
            <a:ext cx="1411102" cy="393192"/>
          </a:xfrm>
          <a:custGeom>
            <a:avLst/>
            <a:gdLst/>
            <a:ahLst/>
            <a:cxnLst/>
            <a:rect l="l" t="t" r="r" b="b"/>
            <a:pathLst>
              <a:path w="1411102" h="393192">
                <a:moveTo>
                  <a:pt x="0" y="393192"/>
                </a:moveTo>
                <a:lnTo>
                  <a:pt x="0" y="0"/>
                </a:lnTo>
                <a:lnTo>
                  <a:pt x="1411102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38727" y="3200400"/>
            <a:ext cx="42062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46" name="Freeform 45"/>
          <p:cNvSpPr/>
          <p:nvPr/>
        </p:nvSpPr>
        <p:spPr>
          <a:xfrm>
            <a:off x="7348849" y="2688336"/>
            <a:ext cx="1411103" cy="768096"/>
          </a:xfrm>
          <a:custGeom>
            <a:avLst/>
            <a:gdLst/>
            <a:ahLst/>
            <a:cxnLst/>
            <a:rect l="l" t="t" r="r" b="b"/>
            <a:pathLst>
              <a:path w="1411103" h="768096">
                <a:moveTo>
                  <a:pt x="0" y="768096"/>
                </a:moveTo>
                <a:lnTo>
                  <a:pt x="1411103" y="768096"/>
                </a:lnTo>
                <a:lnTo>
                  <a:pt x="1411103" y="0"/>
                </a:lnTo>
              </a:path>
            </a:pathLst>
          </a:custGeom>
          <a:noFill/>
          <a:ln w="19050">
            <a:solidFill>
              <a:srgbClr val="D2690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71816" y="3200400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按需调用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348849" y="4526280"/>
            <a:ext cx="1045343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49" name="Rounded Rectangle 48"/>
          <p:cNvSpPr/>
          <p:nvPr/>
        </p:nvSpPr>
        <p:spPr>
          <a:xfrm>
            <a:off x="7671816" y="4270248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触发评测</a:t>
            </a:r>
          </a:p>
        </p:txBody>
      </p:sp>
      <p:sp>
        <p:nvSpPr>
          <p:cNvPr id="50" name="Freeform 49"/>
          <p:cNvSpPr/>
          <p:nvPr/>
        </p:nvSpPr>
        <p:spPr>
          <a:xfrm>
            <a:off x="1874519" y="5212080"/>
            <a:ext cx="8162392" cy="493776"/>
          </a:xfrm>
          <a:custGeom>
            <a:avLst/>
            <a:gdLst/>
            <a:ahLst/>
            <a:cxnLst/>
            <a:rect l="l" t="t" r="r" b="b"/>
            <a:pathLst>
              <a:path w="8162392" h="493776">
                <a:moveTo>
                  <a:pt x="8162392" y="0"/>
                </a:moveTo>
                <a:lnTo>
                  <a:pt x="8162392" y="493776"/>
                </a:lnTo>
                <a:lnTo>
                  <a:pt x="0" y="493776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645152" y="5605272"/>
            <a:ext cx="23408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回写：编译报错 · 精度偏差 · 瓶颈证据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907024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8640" y="5907024"/>
            <a:ext cx="73152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" y="5907024"/>
            <a:ext cx="10436047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只负责消费证据做推演；编译、对精度、测速全部交由右侧确定性工具完成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Agent：全栈模型 Roofline 协同优化体系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演进目标（Target State）：算子 · 计算图 · 引擎三层协同寻优；优化目标由约束条件正向推导，最终准入交由真机实测一锤定音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261872"/>
            <a:ext cx="10838383" cy="78638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1261872"/>
            <a:ext cx="54864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1143000"/>
            <a:ext cx="2047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目标层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锚定上限 · 拆解差距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1389888"/>
            <a:ext cx="21031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426464"/>
            <a:ext cx="17373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人（输入约束）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业务流量画像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服务时延约束（SLO）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36391" y="1655063"/>
            <a:ext cx="23774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3419856" y="1389888"/>
            <a:ext cx="4023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1426464"/>
            <a:ext cx="36576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上限核算器 · 纯理论推导（无模型）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仅依据模型配置与硬件物理规格直接推算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理论上限不含实测校准项，不靠实测数据反向拼凑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88936" y="1655063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7772400" y="1389888"/>
            <a:ext cx="386791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1426464"/>
            <a:ext cx="35021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总差距拆解为三个维度</a:t>
            </a: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（三个倍率相乘，不是耗时相加）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1636776"/>
            <a:ext cx="562115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5683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6851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9282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20450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1847088"/>
            <a:ext cx="3502152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责任到层，每一项差距均有明确的优化归属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7552" y="2185415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24" name="Rectangle 23"/>
          <p:cNvSpPr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任务派发：按理论差距大小排序，明确标注归属层级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" y="2450592"/>
            <a:ext cx="10838383" cy="18470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" y="2450592"/>
            <a:ext cx="54864" cy="18470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2331720"/>
            <a:ext cx="2936453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外环寻优工作点 · 内环逼近硬件上限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方括号标签表示当前能力成熟度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" y="2578608"/>
            <a:ext cx="106555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2606040"/>
            <a:ext cx="115021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外环 · 推理引擎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12090" y="2615184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[ 探索中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88720" y="280720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8256" y="280720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显存切分策略 · 单步批大小（Batch Size） · 投机解码（Speculative Decoding）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8720" y="299008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48256" y="299008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调度与执行重叠（Overlap Scheduler） · 分块预填充（Chunked Prefill）与混跑 · 前缀缓存 · PD 分离部署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720" y="3182112"/>
            <a:ext cx="3096447" cy="201168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下发：张量形状（Shape）分布 + 新算子需求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22911" y="3182112"/>
            <a:ext cx="3260076" cy="201168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反馈：单步耗时代价曲线 + 时延余量（Budget）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" y="3419856"/>
            <a:ext cx="10655503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8720" y="3447288"/>
            <a:ext cx="5120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内环 · 计算图 + 算子：在锁定工作点上逼近硬件极限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59456" y="3456432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3657600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计算图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975104" y="3666744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部分就绪 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71216" y="3657600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算子融合 · 多流并发（Multi-Stream） · 通信窗口预取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8720" y="4041648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75104" y="4050791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已就绪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71216" y="4041648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聚焦单个算子内核（Kernel）的极致代码实现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88720" y="3858768"/>
            <a:ext cx="2125097" cy="164592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下发：算子融合规范（契约）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51561" y="3858768"/>
            <a:ext cx="2150096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反馈：新算子内核 + 实测耗时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87552" y="4434840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52" name="Rectangle 51"/>
          <p:cNvSpPr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提交候选方案（附带层级标签）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淘汰打回：附带失败原因退回重改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" y="4700016"/>
            <a:ext cx="10838383" cy="1335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" y="4700016"/>
            <a:ext cx="54864" cy="133502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87552" y="4581144"/>
            <a:ext cx="3063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判决层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规则驱动（无大模型） · 真机实测终审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7552" y="4828031"/>
            <a:ext cx="3454191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88720" y="4882895"/>
            <a:ext cx="3088431" cy="10607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仿真器 · 仅做初筛淘汰，不作准入放行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快速筛除明显劣化的候选方案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（主要用于引擎层策略初筛）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41743" y="5193792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→　初筛送测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41743" y="5431536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←　实测校准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28127" y="4828031"/>
            <a:ext cx="6414927" cy="1170432"/>
          </a:xfrm>
          <a:prstGeom prst="rect">
            <a:avLst/>
          </a:prstGeom>
          <a:solidFill>
            <a:srgbClr val="FFFFFF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29295" y="4864607"/>
            <a:ext cx="60491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真机实测 · 唯一准入终审（一票否决）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29295" y="506577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算子级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5407" y="506577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L0（编译）/ L1（精度）/ Bench（测速），严格按引擎下发的真实 Shape 评测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29295" y="524865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计算图级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5407" y="524865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整模型端到端 A/B 性能压测 + 生成质量门禁评测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29295" y="5431536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引擎级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5407" y="5431536"/>
            <a:ext cx="5116479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真实流量回放 · 约束下的吞吐与 P99 · 实测接受长度 · OOM 与抢占 · 长稳 · 多画像不退化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重叠开关前后一致性校验：固定批次逐位一致，混合负载按质量门禁容差判定；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高负载长稳压测排查并发竞态（Race Condition）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4672" y="6071616"/>
            <a:ext cx="10838383" cy="31089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04672" y="6071616"/>
            <a:ext cx="54864" cy="31089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6223863" y="6126479"/>
            <a:ext cx="0" cy="201169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024128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闭环演进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验证通过即晋升为最新基线，回流目标层重新核算差距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43319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收敛条件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候选收益无法跨越系统噪声门限时，迭代自动收敛终止</a:t>
            </a:r>
          </a:p>
        </p:txBody>
      </p:sp>
      <p:sp>
        <p:nvSpPr>
          <p:cNvPr id="76" name="Freeform 75"/>
          <p:cNvSpPr/>
          <p:nvPr/>
        </p:nvSpPr>
        <p:spPr>
          <a:xfrm>
            <a:off x="603504" y="1664207"/>
            <a:ext cx="201168" cy="4562857"/>
          </a:xfrm>
          <a:custGeom>
            <a:avLst/>
            <a:gdLst/>
            <a:ahLst/>
            <a:cxnLst/>
            <a:rect l="l" t="t" r="r" b="b"/>
            <a:pathLst>
              <a:path w="201168" h="4562857">
                <a:moveTo>
                  <a:pt x="201168" y="4562857"/>
                </a:moveTo>
                <a:lnTo>
                  <a:pt x="0" y="4562857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603504" y="1664207"/>
            <a:ext cx="182880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78" name="TextBox 77"/>
          <p:cNvSpPr txBox="1"/>
          <p:nvPr/>
        </p:nvSpPr>
        <p:spPr>
          <a:xfrm>
            <a:off x="548640" y="6419088"/>
            <a:ext cx="85953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8–9 页是单步口径（ms/步），本页是服务口径（约束下的吞吐），两种口径的数不能直接对齐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从『我们自己做生态』到『合作伙伴共建生态飞轮』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把M100 + Agent 能力沉淀为可交付的智能体产品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把内部沉淀的适配智能体能力产品化，做到可复用、可交付、可复制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094415" cy="859536"/>
          </a:xfrm>
          <a:prstGeom prst="rect">
            <a:avLst/>
          </a:prstGeom>
          <a:solidFill>
            <a:srgbClr val="E6F0FC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71600"/>
            <a:ext cx="219456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792224"/>
            <a:ext cx="56692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面向昆仑芯M100智能体产品：可复用 Skills + 统一知识库 + 多智能体协同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模型适配与评估优化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2832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算子性能分析与生成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故障诊断与智能问答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2832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性能与精度自动化评估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Skill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标准化 SOP：能力快照 / 启动配置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框架与插件缺口清单，换版即同步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6026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026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3770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知识库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3770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源码级事实：缺口、热点与拐点清单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不靠人工维护，结论跟着版本走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3412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3412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1156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测评体系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收益评估 · 压测校准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SLO 与单机容量验证，结果回流知识库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统一编排 · 自我进化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把三套体系沉淀为一个多Agent产品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Teams协作流程编排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分阶段执行工作流，每个阶段明确 输入 / 输出 / 条件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定义模型适配、调优、算子绑定工作流程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并行调度：多Agent并行执行，减少等待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3082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2538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Agent角色执行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4250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8842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角色：可行性评估Agent、适配与性能分析Agent、算子绑定与开发Agent、测试验证Agent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每个Agent独立执行，协同推进</a:t>
            </a:r>
          </a:p>
        </p:txBody>
      </p:sp>
      <p:sp>
        <p:nvSpPr>
          <p:cNvPr id="35" name="Pentagon 34"/>
          <p:cNvSpPr/>
          <p:nvPr/>
        </p:nvSpPr>
        <p:spPr>
          <a:xfrm>
            <a:off x="3972458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37524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6980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 知识技能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38692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3284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包含硬件产品、源码、文档、工具、等先验知识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调试工具和结果可挂载到Agent上下文全面分析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优化分析过程和结果可作为Skill自进化输入</a:t>
            </a:r>
          </a:p>
        </p:txBody>
      </p:sp>
      <p:sp>
        <p:nvSpPr>
          <p:cNvPr id="40" name="Pentagon 39"/>
          <p:cNvSpPr/>
          <p:nvPr/>
        </p:nvSpPr>
        <p:spPr>
          <a:xfrm>
            <a:off x="7816900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生态飞轮：面向伙伴、最终客户，放大生态收益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把 M100智能体产品 开放出去 —— </a:t>
            </a: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降低适配门槛、加速模型覆盖，让昆仑芯生态进入正循环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028535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7" name="Connector 6"/>
          <p:cNvCxnSpPr/>
          <p:nvPr/>
        </p:nvCxnSpPr>
        <p:spPr>
          <a:xfrm flipH="1">
            <a:off x="8047224" y="3581418"/>
            <a:ext cx="529665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8" name="Connector 7"/>
          <p:cNvCxnSpPr/>
          <p:nvPr/>
        </p:nvCxnSpPr>
        <p:spPr>
          <a:xfrm flipH="1">
            <a:off x="5335502" y="5059661"/>
            <a:ext cx="1520690" cy="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614805" y="3581418"/>
            <a:ext cx="529666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4289150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sp>
        <p:nvSpPr>
          <p:cNvPr id="11" name="Rounded Rectangle 10"/>
          <p:cNvSpPr/>
          <p:nvPr/>
        </p:nvSpPr>
        <p:spPr>
          <a:xfrm>
            <a:off x="5272887" y="1508760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降低模型适配成本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227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扩大模型覆盖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5920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反哺软件栈能力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9854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提升芯片竞争力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350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吸引更多伙伴与客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3364992"/>
            <a:ext cx="2560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Looping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70448"/>
            <a:ext cx="11094415" cy="56692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870448"/>
            <a:ext cx="73152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870448"/>
            <a:ext cx="104360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生态收益最大化</a:t>
            </a:r>
            <a:r>
              <a:rPr sz="13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让每一次适配都可沉淀、可复用，把个体投入转化为昆仑芯的生态资产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