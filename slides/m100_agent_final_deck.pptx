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总体方案（写判分离 · 双层同构 · 跨层闭环）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554480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61872"/>
            <a:ext cx="128016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层级定位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225296"/>
            <a:ext cx="1792224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261872"/>
            <a:ext cx="1517904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225296"/>
            <a:ext cx="2670048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225296"/>
            <a:ext cx="2670048" cy="45720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261872"/>
            <a:ext cx="239572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AI 生成侧（写）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唯一引入大模型的位置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225296"/>
            <a:ext cx="2852928" cy="47548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225296"/>
            <a:ext cx="285292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261872"/>
            <a:ext cx="25786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确定性验证侧（判）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纯规则驱动 · 真机实测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225296"/>
            <a:ext cx="1389888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87584" y="1261872"/>
            <a:ext cx="111556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准入出口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755648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1755648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029967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【模型层】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模型接入与性能调优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2103120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157984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人：定目标与边界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负载 / 精度 / 预算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50791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4242816" y="2103120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2103120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2157984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服务配置与图融合补丁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58583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150608" y="2103120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210312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157984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整模型真机端到端验收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输出对齐 · 质量不降 · 吞吐提升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49256" y="2633472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10241280" y="2103120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87584" y="2157984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sp>
        <p:nvSpPr>
          <p:cNvPr id="34" name="Freeform 33"/>
          <p:cNvSpPr/>
          <p:nvPr/>
        </p:nvSpPr>
        <p:spPr>
          <a:xfrm>
            <a:off x="5577840" y="2011680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577840" y="2011680"/>
            <a:ext cx="0" cy="73151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614416" y="1783080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不过即回退，带着原因退回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389120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【算子层】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自动生成算子实现并调优，提升aten算子的覆盖泛化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4462272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517136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算子规格与约束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Shape 与硬件规格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50791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4242816" y="4462272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42816" y="4462272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17136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生成并调优 Kernel 代码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58583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7" name="Rectangle 46"/>
          <p:cNvSpPr/>
          <p:nvPr/>
        </p:nvSpPr>
        <p:spPr>
          <a:xfrm>
            <a:off x="7150608" y="4462272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4462272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4517136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单算子评测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编译通过 · Golden 对齐 · 真机实测更快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049256" y="4992624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0241280" y="4462272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7584" y="4517136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sp>
        <p:nvSpPr>
          <p:cNvPr id="53" name="Freeform 52"/>
          <p:cNvSpPr/>
          <p:nvPr/>
        </p:nvSpPr>
        <p:spPr>
          <a:xfrm>
            <a:off x="5577840" y="4370832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577840" y="4370832"/>
            <a:ext cx="0" cy="73152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5614416" y="4142232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不过即淘汰，带着证据退回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3310128"/>
            <a:ext cx="11094415" cy="73152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5577840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2212848" y="3310128"/>
            <a:ext cx="3182111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→ 模型层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交付新算子内核，合入候选分支重跑整模型复验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8759952" y="3310128"/>
            <a:ext cx="2883103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→ 算子层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定位瓶颈算子，下发 Shape 规格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705856"/>
            <a:ext cx="11094415" cy="62179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05856"/>
            <a:ext cx="73152" cy="6217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797296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核心原则：　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算子局部加速 ≠ 整模型收益；任何算子优化必须回流通过整模型真机复验方可交付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598017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 Agent 运行机制视图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八步闭环：诊断取证 → 形成方案 → 确定性验收 → 更新基线，再开一轮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07008"/>
            <a:ext cx="10637215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准入门槛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质量达标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基线备份 + 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8182660" cy="1280160"/>
          </a:xfrm>
          <a:prstGeom prst="rect">
            <a:avLst/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656" y="1901952"/>
            <a:ext cx="54864" cy="219456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78169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诊断取证</a:t>
            </a:r>
            <a:r>
              <a:rPr sz="80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　Diagnose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1919" y="1828800"/>
            <a:ext cx="2231135" cy="1280160"/>
          </a:xfrm>
          <a:prstGeom prst="rect">
            <a:avLst/>
          </a:prstGeom>
          <a:solidFill>
            <a:srgbClr val="FBE6D4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39935" y="1901952"/>
            <a:ext cx="54864" cy="21945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86239" y="1874519"/>
            <a:ext cx="186537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形成方案</a:t>
            </a:r>
            <a:r>
              <a:rPr sz="800" b="1">
                <a:solidFill>
                  <a:srgbClr val="D2690C"/>
                </a:solidFill>
                <a:latin typeface="Consolas"/>
                <a:ea typeface="Microsoft YaHei"/>
                <a:cs typeface="Microsoft YaHei"/>
              </a:rPr>
              <a:t>　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45152"/>
            <a:ext cx="11094415" cy="1280160"/>
          </a:xfrm>
          <a:prstGeom prst="rect">
            <a:avLst/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6656" y="4718304"/>
            <a:ext cx="54864" cy="21945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690872"/>
            <a:ext cx="1072865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确定性验收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Verify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（Trace）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8410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734714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2186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（对齐到代码）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164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46468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3940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9935" y="2212848"/>
            <a:ext cx="1975103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86239" y="2304288"/>
            <a:ext cx="274320" cy="274320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33711" y="2286000"/>
            <a:ext cx="140817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86239" y="2670048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89743" y="2670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0432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 A/B 对比实验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88410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34714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2186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00164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646468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3940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11919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558223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5695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816352" y="2596896"/>
            <a:ext cx="73548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2827477" y="2496312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 文件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728106" y="2596896"/>
            <a:ext cx="73548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6" name="Rounded Rectangle 45"/>
          <p:cNvSpPr/>
          <p:nvPr/>
        </p:nvSpPr>
        <p:spPr>
          <a:xfrm>
            <a:off x="5812383" y="24963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639860" y="2596896"/>
            <a:ext cx="863499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8" name="Rounded Rectangle 47"/>
          <p:cNvSpPr/>
          <p:nvPr/>
        </p:nvSpPr>
        <p:spPr>
          <a:xfrm>
            <a:off x="8788146" y="24963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瓶颈列表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2816352" y="5413248"/>
            <a:ext cx="73548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2900629" y="531266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质量不降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5728106" y="5413248"/>
            <a:ext cx="73548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2" name="Rounded Rectangle 51"/>
          <p:cNvSpPr/>
          <p:nvPr/>
        </p:nvSpPr>
        <p:spPr>
          <a:xfrm>
            <a:off x="5812383" y="531266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提速达标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8639860" y="5413248"/>
            <a:ext cx="735483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4" name="Rounded Rectangle 53"/>
          <p:cNvSpPr/>
          <p:nvPr/>
        </p:nvSpPr>
        <p:spPr>
          <a:xfrm>
            <a:off x="8678418" y="5312664"/>
            <a:ext cx="6583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新版本就绪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0972800" y="3145536"/>
            <a:ext cx="0" cy="146304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56" name="Rounded Rectangle 55"/>
          <p:cNvSpPr/>
          <p:nvPr/>
        </p:nvSpPr>
        <p:spPr>
          <a:xfrm>
            <a:off x="10506456" y="3429000"/>
            <a:ext cx="93268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补丁 + 证据引用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9930384" y="3145536"/>
            <a:ext cx="0" cy="1463040"/>
          </a:xfrm>
          <a:prstGeom prst="line">
            <a:avLst/>
          </a:prstGeom>
          <a:ln w="15875">
            <a:solidFill>
              <a:srgbClr val="B4382F"/>
            </a:solidFill>
            <a:prstDash val="dash"/>
            <a:tailEnd type="triangle" w="med" len="med"/>
          </a:ln>
        </p:spPr>
      </p:cxnSp>
      <p:sp>
        <p:nvSpPr>
          <p:cNvPr id="58" name="Rounded Rectangle 57"/>
          <p:cNvSpPr/>
          <p:nvPr/>
        </p:nvSpPr>
        <p:spPr>
          <a:xfrm>
            <a:off x="9390888" y="4123944"/>
            <a:ext cx="107899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4382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打回 · 原因入记忆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1728216" y="3145536"/>
            <a:ext cx="0" cy="1463040"/>
          </a:xfrm>
          <a:prstGeom prst="line">
            <a:avLst/>
          </a:prstGeom>
          <a:ln w="19050">
            <a:solidFill>
              <a:srgbClr val="17795F"/>
            </a:solidFill>
            <a:tailEnd type="triangle" w="med" len="med"/>
          </a:ln>
        </p:spPr>
      </p:cxnSp>
      <p:sp>
        <p:nvSpPr>
          <p:cNvPr id="60" name="Rounded Rectangle 59"/>
          <p:cNvSpPr/>
          <p:nvPr/>
        </p:nvSpPr>
        <p:spPr>
          <a:xfrm>
            <a:off x="1143000" y="3776472"/>
            <a:ext cx="11704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7795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更新基线 · 再开一轮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588410" y="3456432"/>
            <a:ext cx="5014874" cy="84124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588410" y="3456432"/>
            <a:ext cx="73152" cy="8412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44442" y="3529584"/>
            <a:ext cx="457596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Python · 无模型 · 全流程接管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844442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确定性调度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0437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硬性约束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96431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全量实验追溯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372426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闭环容错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 设计方案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大模型只提方案，成败全部由确定性实测判定；人只在三处介入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4752" y="1280160"/>
            <a:ext cx="10198303" cy="822959"/>
          </a:xfrm>
          <a:prstGeom prst="rect">
            <a:avLst/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896112" cy="822959"/>
          </a:xfrm>
          <a:prstGeom prst="rect">
            <a:avLst/>
          </a:prstGeom>
          <a:solidFill>
            <a:srgbClr val="1B4D69"/>
          </a:solidFill>
          <a:ln w="19050">
            <a:solidFill>
              <a:srgbClr val="FFFFFF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三处介入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1444752" y="2103120"/>
            <a:ext cx="10198303" cy="160934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896112" cy="1609343"/>
          </a:xfrm>
          <a:prstGeom prst="rect">
            <a:avLst/>
          </a:prstGeom>
          <a:solidFill>
            <a:srgbClr val="D2690C"/>
          </a:solidFill>
          <a:ln w="19050">
            <a:solidFill>
              <a:srgbClr val="FFFFFF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只提方案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4752" y="3712463"/>
            <a:ext cx="10198303" cy="2560320"/>
          </a:xfrm>
          <a:prstGeom prst="rect">
            <a:avLst/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712463"/>
            <a:ext cx="896112" cy="2560320"/>
          </a:xfrm>
          <a:prstGeom prst="rect">
            <a:avLst/>
          </a:prstGeom>
          <a:solidFill>
            <a:srgbClr val="0F62CE"/>
          </a:solidFill>
          <a:ln w="19050">
            <a:solidFill>
              <a:srgbClr val="FFFFFF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控制器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确定性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判定成败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27632" y="1389888"/>
            <a:ext cx="1188720" cy="438912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1B4D69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下达任务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7832" y="1389888"/>
            <a:ext cx="1188720" cy="438912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1B4D69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按需介入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14432" y="1389888"/>
            <a:ext cx="1188720" cy="438912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1B4D69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终审验收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33472" y="2542032"/>
            <a:ext cx="2377440" cy="731520"/>
          </a:xfrm>
          <a:prstGeom prst="roundRect">
            <a:avLst>
              <a:gd name="adj" fmla="val 10000"/>
            </a:avLst>
          </a:prstGeom>
          <a:solidFill>
            <a:srgbClr val="FBE6D4"/>
          </a:solidFill>
          <a:ln w="15875">
            <a:solidFill>
              <a:srgbClr val="D2690C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读证据，提方案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5472" y="2724911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4382F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记忆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27632" y="4443984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取证找瓶颈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对比理论下界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05072" y="4443984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建版实测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M100 真机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68712" y="4443984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7795F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晋升新基线</a:t>
            </a:r>
          </a:p>
        </p:txBody>
      </p:sp>
      <p:sp>
        <p:nvSpPr>
          <p:cNvPr id="20" name="Diamond 19"/>
          <p:cNvSpPr/>
          <p:nvPr/>
        </p:nvSpPr>
        <p:spPr>
          <a:xfrm>
            <a:off x="5468112" y="4425696"/>
            <a:ext cx="914400" cy="768096"/>
          </a:xfrm>
          <a:prstGeom prst="diamond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04688" y="4590288"/>
            <a:ext cx="841248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局部提速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≥ 2%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21224" y="4809744"/>
            <a:ext cx="219456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23" name="Diamond 22"/>
          <p:cNvSpPr/>
          <p:nvPr/>
        </p:nvSpPr>
        <p:spPr>
          <a:xfrm>
            <a:off x="6656832" y="4425696"/>
            <a:ext cx="914400" cy="768096"/>
          </a:xfrm>
          <a:prstGeom prst="diamond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4590288"/>
            <a:ext cx="841248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数值误差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≤ 0.03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9944" y="4809744"/>
            <a:ext cx="219456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26" name="Diamond 25"/>
          <p:cNvSpPr/>
          <p:nvPr/>
        </p:nvSpPr>
        <p:spPr>
          <a:xfrm>
            <a:off x="7845552" y="4425696"/>
            <a:ext cx="914400" cy="768096"/>
          </a:xfrm>
          <a:prstGeom prst="diamond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82127" y="4590288"/>
            <a:ext cx="841248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质量得分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不降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598664" y="4809744"/>
            <a:ext cx="219456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29" name="Diamond 28"/>
          <p:cNvSpPr/>
          <p:nvPr/>
        </p:nvSpPr>
        <p:spPr>
          <a:xfrm>
            <a:off x="9034272" y="4425696"/>
            <a:ext cx="914400" cy="768096"/>
          </a:xfrm>
          <a:prstGeom prst="diamond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70848" y="4590288"/>
            <a:ext cx="841248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 A/B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超出噪声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87384" y="4809744"/>
            <a:ext cx="219456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>
            <a:off x="9976104" y="4809744"/>
            <a:ext cx="256032" cy="0"/>
          </a:xfrm>
          <a:prstGeom prst="line">
            <a:avLst/>
          </a:prstGeom>
          <a:ln w="19050">
            <a:solidFill>
              <a:srgbClr val="17795F"/>
            </a:solidFill>
            <a:tailEnd type="triangle" w="med" len="med"/>
          </a:ln>
        </p:spPr>
      </p:cxnSp>
      <p:sp>
        <p:nvSpPr>
          <p:cNvPr id="33" name="TextBox 32"/>
          <p:cNvSpPr txBox="1"/>
          <p:nvPr/>
        </p:nvSpPr>
        <p:spPr>
          <a:xfrm>
            <a:off x="9948672" y="4517136"/>
            <a:ext cx="320039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8112" y="5303520"/>
            <a:ext cx="448056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四道门禁：由快到慢，一票否决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5925312" y="4041648"/>
            <a:ext cx="0" cy="365760"/>
          </a:xfrm>
          <a:prstGeom prst="line">
            <a:avLst/>
          </a:prstGeom>
          <a:ln w="15875">
            <a:solidFill>
              <a:srgbClr val="B4382F"/>
            </a:solidFill>
            <a:prstDash val="dash"/>
          </a:ln>
        </p:spPr>
      </p:cxnSp>
      <p:cxnSp>
        <p:nvCxnSpPr>
          <p:cNvPr id="36" name="Connector 35"/>
          <p:cNvCxnSpPr/>
          <p:nvPr/>
        </p:nvCxnSpPr>
        <p:spPr>
          <a:xfrm flipV="1">
            <a:off x="7114032" y="4041648"/>
            <a:ext cx="0" cy="365760"/>
          </a:xfrm>
          <a:prstGeom prst="line">
            <a:avLst/>
          </a:prstGeom>
          <a:ln w="15875">
            <a:solidFill>
              <a:srgbClr val="B4382F"/>
            </a:solidFill>
            <a:prstDash val="dash"/>
          </a:ln>
        </p:spPr>
      </p:cxnSp>
      <p:cxnSp>
        <p:nvCxnSpPr>
          <p:cNvPr id="37" name="Connector 36"/>
          <p:cNvCxnSpPr/>
          <p:nvPr/>
        </p:nvCxnSpPr>
        <p:spPr>
          <a:xfrm flipV="1">
            <a:off x="8302752" y="4041648"/>
            <a:ext cx="0" cy="365760"/>
          </a:xfrm>
          <a:prstGeom prst="line">
            <a:avLst/>
          </a:prstGeom>
          <a:ln w="15875">
            <a:solidFill>
              <a:srgbClr val="B4382F"/>
            </a:solidFill>
            <a:prstDash val="dash"/>
          </a:ln>
        </p:spPr>
      </p:cxnSp>
      <p:cxnSp>
        <p:nvCxnSpPr>
          <p:cNvPr id="38" name="Connector 37"/>
          <p:cNvCxnSpPr/>
          <p:nvPr/>
        </p:nvCxnSpPr>
        <p:spPr>
          <a:xfrm flipV="1">
            <a:off x="9491472" y="4041648"/>
            <a:ext cx="0" cy="365760"/>
          </a:xfrm>
          <a:prstGeom prst="line">
            <a:avLst/>
          </a:prstGeom>
          <a:ln w="15875">
            <a:solidFill>
              <a:srgbClr val="B4382F"/>
            </a:solidFill>
            <a:prstDash val="dash"/>
          </a:ln>
        </p:spPr>
      </p:cxnSp>
      <p:cxnSp>
        <p:nvCxnSpPr>
          <p:cNvPr id="39" name="Connector 38"/>
          <p:cNvCxnSpPr/>
          <p:nvPr/>
        </p:nvCxnSpPr>
        <p:spPr>
          <a:xfrm>
            <a:off x="5925312" y="4041648"/>
            <a:ext cx="3566160" cy="0"/>
          </a:xfrm>
          <a:prstGeom prst="line">
            <a:avLst/>
          </a:prstGeom>
          <a:ln w="15875">
            <a:solidFill>
              <a:srgbClr val="B4382F"/>
            </a:solidFill>
            <a:prstDash val="dash"/>
          </a:ln>
        </p:spPr>
      </p:cxnSp>
      <p:cxnSp>
        <p:nvCxnSpPr>
          <p:cNvPr id="40" name="Connector 39"/>
          <p:cNvCxnSpPr/>
          <p:nvPr/>
        </p:nvCxnSpPr>
        <p:spPr>
          <a:xfrm flipV="1">
            <a:off x="7708392" y="3127247"/>
            <a:ext cx="0" cy="914401"/>
          </a:xfrm>
          <a:prstGeom prst="line">
            <a:avLst/>
          </a:prstGeom>
          <a:ln w="15875">
            <a:solidFill>
              <a:srgbClr val="B4382F"/>
            </a:solidFill>
            <a:prstDash val="dash"/>
            <a:tailEnd type="triangle" w="med" len="med"/>
          </a:ln>
        </p:spPr>
      </p:cxnSp>
      <p:sp>
        <p:nvSpPr>
          <p:cNvPr id="41" name="TextBox 40"/>
          <p:cNvSpPr txBox="1"/>
          <p:nvPr/>
        </p:nvSpPr>
        <p:spPr>
          <a:xfrm>
            <a:off x="5971032" y="4123944"/>
            <a:ext cx="2743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59752" y="4123944"/>
            <a:ext cx="2743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48472" y="4123944"/>
            <a:ext cx="2743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37192" y="4123944"/>
            <a:ext cx="2743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否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5047488" y="2907791"/>
            <a:ext cx="2121408" cy="0"/>
          </a:xfrm>
          <a:prstGeom prst="line">
            <a:avLst/>
          </a:prstGeom>
          <a:ln w="15875">
            <a:solidFill>
              <a:srgbClr val="B4382F"/>
            </a:solidFill>
            <a:prstDash val="dash"/>
            <a:tailEnd type="triangle" w="med" len="med"/>
          </a:ln>
        </p:spPr>
      </p:cxnSp>
      <p:cxnSp>
        <p:nvCxnSpPr>
          <p:cNvPr id="46" name="Connector 45"/>
          <p:cNvCxnSpPr/>
          <p:nvPr/>
        </p:nvCxnSpPr>
        <p:spPr>
          <a:xfrm>
            <a:off x="1920240" y="1865376"/>
            <a:ext cx="0" cy="2542032"/>
          </a:xfrm>
          <a:prstGeom prst="line">
            <a:avLst/>
          </a:prstGeom>
          <a:ln w="19050">
            <a:solidFill>
              <a:srgbClr val="1B4D69"/>
            </a:solidFill>
            <a:tailEnd type="triangle" w="med" len="med"/>
          </a:ln>
        </p:spPr>
      </p:cxnSp>
      <p:cxnSp>
        <p:nvCxnSpPr>
          <p:cNvPr id="47" name="Connector 46"/>
          <p:cNvCxnSpPr/>
          <p:nvPr/>
        </p:nvCxnSpPr>
        <p:spPr>
          <a:xfrm>
            <a:off x="3822191" y="1865376"/>
            <a:ext cx="0" cy="640080"/>
          </a:xfrm>
          <a:prstGeom prst="line">
            <a:avLst/>
          </a:prstGeom>
          <a:ln w="19050">
            <a:solidFill>
              <a:srgbClr val="1B4D69"/>
            </a:solidFill>
            <a:headEnd type="triangle" w="med" len="med"/>
            <a:tailEnd type="triangle" w="med" len="med"/>
          </a:ln>
        </p:spPr>
      </p:cxnSp>
      <p:cxnSp>
        <p:nvCxnSpPr>
          <p:cNvPr id="48" name="Connector 47"/>
          <p:cNvCxnSpPr/>
          <p:nvPr/>
        </p:nvCxnSpPr>
        <p:spPr>
          <a:xfrm flipV="1">
            <a:off x="2816352" y="3310128"/>
            <a:ext cx="0" cy="109728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cxnSp>
        <p:nvCxnSpPr>
          <p:cNvPr id="49" name="Connector 48"/>
          <p:cNvCxnSpPr/>
          <p:nvPr/>
        </p:nvCxnSpPr>
        <p:spPr>
          <a:xfrm>
            <a:off x="4599432" y="3310128"/>
            <a:ext cx="0" cy="109728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 flipV="1">
            <a:off x="10908792" y="1865376"/>
            <a:ext cx="0" cy="2542032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1" name="Freeform 50"/>
          <p:cNvSpPr/>
          <p:nvPr/>
        </p:nvSpPr>
        <p:spPr>
          <a:xfrm>
            <a:off x="2313432" y="5212080"/>
            <a:ext cx="8595360" cy="658368"/>
          </a:xfrm>
          <a:custGeom>
            <a:avLst/>
            <a:gdLst/>
            <a:ahLst/>
            <a:cxnLst/>
            <a:rect l="l" t="t" r="r" b="b"/>
            <a:pathLst>
              <a:path w="8595360" h="658368">
                <a:moveTo>
                  <a:pt x="8595360" y="0"/>
                </a:moveTo>
                <a:lnTo>
                  <a:pt x="8595360" y="658368"/>
                </a:lnTo>
                <a:lnTo>
                  <a:pt x="0" y="658368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17795F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554480" y="2002536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B4D69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+ 标准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93591" y="2002536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B4D69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协同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405872" y="2002536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最优版本 + 报告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32304" y="3611879"/>
            <a:ext cx="768096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瓶颈 + 证据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15384" y="3611879"/>
            <a:ext cx="768096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方案 + 补丁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97496" y="3611879"/>
            <a:ext cx="62179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4382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被拒原因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08192" y="5769864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7795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新基线 · 下一轮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单算子理论下界与逐层核算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一个算子的四条路径并行推进，耗时由最慢的一条决定；逐算子求和得到单层，再乘层数得到整模型下界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766560" cy="46085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280160"/>
            <a:ext cx="6492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 Decode 逐算子理论下界（µs /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5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5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GFLOP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1517904"/>
            <a:ext cx="5303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取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1517904"/>
            <a:ext cx="47548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×48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" y="1728216"/>
            <a:ext cx="6364224" cy="0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76656" y="1773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input_rmsnorm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5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7791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534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1773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" y="2002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2002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qkv_proj GEMM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6815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21.10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7791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846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002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2231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q_norm/k_norm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6815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4015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1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9846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0528" y="2231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" y="2459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" y="2459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3D-RoPE(mrope)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56815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4015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07791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9472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9846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0528" y="2459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2688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store_kv(page)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56815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14015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7791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9534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19472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9846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0528" y="2688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" y="2916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" y="2916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56815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14015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100.93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1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1568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9534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7408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19472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13248" y="29169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32.4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9846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0528" y="2916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2.633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" y="3145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o_proj GEMM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56815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14015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17.04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07791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9534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19472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9846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0528" y="3145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0.629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" y="33741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6656" y="3374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post_rmsnorm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6815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14015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7791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01568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07408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19472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10528" y="3374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6656" y="3602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router gate GEMM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56815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414015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1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01568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9534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07408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99846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10528" y="3602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6656" y="38313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3831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topk+softmax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6815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4015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07791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01568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9534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408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19472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99846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0528" y="3831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6656" y="4059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act_quant(fp8)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956815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14015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907791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01568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9534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07408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19472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9846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10528" y="4059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76656" y="4288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76656" y="4288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permute/shuffle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56815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414015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07791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01568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9534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07408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919472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9846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10528" y="4288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656" y="4517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gate+up GEMM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56815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14015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127.76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1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0.786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01568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9534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407408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19472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9846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510528" y="4517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4.717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76656" y="4745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76656" y="4745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silu_and_mul(+quant)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56815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015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07791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01568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9534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07408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919472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413248" y="47457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6.6(SFU)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9846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6.55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10528" y="4745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0.315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6656" y="4974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down GEMM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56815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14015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63.82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07791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9534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407408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919472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3.60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9846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510528" y="4974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2.356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76656" y="5202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6656" y="5202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unpermute+combine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956815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414015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907791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401568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9534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07408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19472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9846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510528" y="5202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0.068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980176" y="1517904"/>
            <a:ext cx="0" cy="3913632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191" name="Rectangle 190"/>
          <p:cNvSpPr/>
          <p:nvPr/>
        </p:nvSpPr>
        <p:spPr>
          <a:xfrm>
            <a:off x="676656" y="5468112"/>
            <a:ext cx="6364224" cy="23774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731520" y="5468112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单层合计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98464" y="5468112"/>
            <a:ext cx="4572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242.3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510528" y="5468112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11.629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76656" y="5577840"/>
            <a:ext cx="64922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橙色为决定该算子下界的那一列：16 个算子里 15 个卡在读，唯一例外是 silu_and_mul 卡在 SFU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443216" y="1225296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626096" y="1280160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单算子理论下界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t_算子 ＝ max（ t_读, t_写, t_算, t_其它 ）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626096" y="1810512"/>
            <a:ext cx="38340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四条路径在硬件上并行推进，算子耗时由最慢的一条决定，不是四项求和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662672" y="201168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t_读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174736" y="201168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读字节 ÷ 读带宽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662672" y="219456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t_写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74736" y="219456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写字节 ÷ 写带宽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662672" y="237744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174736" y="237744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FLOP ÷ 路径算力（cluster / sdnn × bf16 / fp8）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662672" y="256032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174736" y="256032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特殊单元耗时，如 SFU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626096" y="2779776"/>
            <a:ext cx="3834079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26096" y="2779776"/>
            <a:ext cx="54864" cy="6035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72400" y="2798064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代入一个算子：expert gate+up GEMM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0" y="2980944"/>
            <a:ext cx="363291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max（ 读 98.28 ， 写 4.27 ， 算 7.19 ）＝ 98.28 µs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772400" y="3182112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127.76 MB 定死了下界，算力只跑到 7.3%，写和算全被读掩盖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43216" y="3584448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26096" y="3639312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Roofline：所有算子都落在访存区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010144" y="3968496"/>
            <a:ext cx="2454783" cy="12801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7" name="Connector 216"/>
          <p:cNvCxnSpPr/>
          <p:nvPr/>
        </p:nvCxnSpPr>
        <p:spPr>
          <a:xfrm flipV="1">
            <a:off x="8010144" y="3968496"/>
            <a:ext cx="3016211" cy="1154147"/>
          </a:xfrm>
          <a:prstGeom prst="line">
            <a:avLst/>
          </a:prstGeom>
          <a:ln w="19050">
            <a:solidFill>
              <a:srgbClr val="40708B"/>
            </a:solidFill>
          </a:ln>
        </p:spPr>
      </p:cxnSp>
      <p:cxnSp>
        <p:nvCxnSpPr>
          <p:cNvPr id="218" name="Connector 217"/>
          <p:cNvCxnSpPr/>
          <p:nvPr/>
        </p:nvCxnSpPr>
        <p:spPr>
          <a:xfrm>
            <a:off x="10464927" y="4181856"/>
            <a:ext cx="885520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219" name="Oval 218"/>
          <p:cNvSpPr/>
          <p:nvPr/>
        </p:nvSpPr>
        <p:spPr>
          <a:xfrm>
            <a:off x="10428351" y="4145280"/>
            <a:ext cx="73152" cy="73152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>
            <a:off x="11026355" y="3968496"/>
            <a:ext cx="324092" cy="0"/>
          </a:xfrm>
          <a:prstGeom prst="line">
            <a:avLst/>
          </a:prstGeom>
          <a:ln w="15875">
            <a:solidFill>
              <a:srgbClr val="D2690C"/>
            </a:solidFill>
          </a:ln>
        </p:spPr>
      </p:cxnSp>
      <p:sp>
        <p:nvSpPr>
          <p:cNvPr id="221" name="Oval 220"/>
          <p:cNvSpPr/>
          <p:nvPr/>
        </p:nvSpPr>
        <p:spPr>
          <a:xfrm>
            <a:off x="10989779" y="3931920"/>
            <a:ext cx="73152" cy="7315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83296" y="3986783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带宽屋顶 ＝ 算术强度 × 带宽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083296" y="4151375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fp8 算力屋顶（拐点 171）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083296" y="4315968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bf16 算力屋顶（拐点 85）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8010144" y="5248656"/>
            <a:ext cx="3340303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cxnSp>
        <p:nvCxnSpPr>
          <p:cNvPr id="226" name="Connector 225"/>
          <p:cNvCxnSpPr/>
          <p:nvPr/>
        </p:nvCxnSpPr>
        <p:spPr>
          <a:xfrm>
            <a:off x="8010144" y="3968496"/>
            <a:ext cx="0" cy="128016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27" name="TextBox 226"/>
          <p:cNvSpPr txBox="1"/>
          <p:nvPr/>
        </p:nvSpPr>
        <p:spPr>
          <a:xfrm>
            <a:off x="7827264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940698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0054132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1167567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607808" y="49530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1/16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607808" y="452628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607808" y="409956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607808" y="38862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5" name="Oval 234"/>
          <p:cNvSpPr/>
          <p:nvPr/>
        </p:nvSpPr>
        <p:spPr>
          <a:xfrm>
            <a:off x="8516569" y="486266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649157" y="5004400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237" name="Oval 236"/>
          <p:cNvSpPr/>
          <p:nvPr/>
        </p:nvSpPr>
        <p:spPr>
          <a:xfrm>
            <a:off x="8875015" y="472595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007603" y="4785394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expert GEMM ×2</a:t>
            </a:r>
          </a:p>
        </p:txBody>
      </p:sp>
      <p:sp>
        <p:nvSpPr>
          <p:cNvPr id="239" name="Oval 238"/>
          <p:cNvSpPr/>
          <p:nvPr/>
        </p:nvSpPr>
        <p:spPr>
          <a:xfrm>
            <a:off x="9612239" y="4441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744827" y="4501232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qkv_proj / o_proj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626096" y="5440680"/>
            <a:ext cx="3870655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算术强度（FLOP / Byte）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662672" y="5559552"/>
            <a:ext cx="37975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 个带计算的算子强度 8–31 FLOP/Byte，另外 10 个 FLOP ＝ 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单层 242.3 µs × 48 层 ＝ 11.63 ms/步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其中 97.7% 是把权重与 KV 读一遍的时间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Agent：算子层（xpugen）内部组件与交互机制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基于「环境感知 — 认知推理 — 工具执行」闭环，把专家调优经验（Skills）沉淀为确定性的算子实现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50545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任务环境与知识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Environment &amp;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1104" y="1207008"/>
            <a:ext cx="32552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xpugen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3076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1207008"/>
            <a:ext cx="306598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工具与评测后端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确定性执行 · 无模型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18488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任务上下文池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Task Context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算子规格与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输入输出语义约束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23744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23744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569463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领域知识挂载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Domain Knowledge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硬件规格卡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算子调优 Skills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77056"/>
            <a:ext cx="265176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64008" cy="1298448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22776"/>
            <a:ext cx="2322576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评测反馈黑板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Feedback Blackboard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编译报错日志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精度偏差详情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瓶颈证据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0768" y="1572768"/>
            <a:ext cx="3212287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30768" y="1572768"/>
            <a:ext cx="64008" cy="10789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8" y="1618488"/>
            <a:ext cx="2883103" cy="987551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源码与检索工具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Retrieval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算子模板读取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AST 语法树检查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代码补丁生成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30768" y="3877056"/>
            <a:ext cx="3212287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30768" y="3877056"/>
            <a:ext cx="64008" cy="12984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13648" y="3922776"/>
            <a:ext cx="2883103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&amp; 后端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backend/ 耦合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交叉编译运行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Golden 精度对齐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Bench 真机微秒计时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模拟器分析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1517904"/>
            <a:ext cx="3401568" cy="398678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8894" y="1572768"/>
            <a:ext cx="2993379" cy="457200"/>
          </a:xfrm>
          <a:prstGeom prst="roundRect">
            <a:avLst>
              <a:gd name="adj" fmla="val 16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迭代记忆库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历史补丁与失败避坑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894" y="2176272"/>
            <a:ext cx="2993379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状态感知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Observation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汇总需求 + 报错 + 瓶颈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15584" y="2039111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4318894" y="2798064"/>
            <a:ext cx="2993379" cy="1316736"/>
          </a:xfrm>
          <a:prstGeom prst="roundRect">
            <a:avLst>
              <a:gd name="adj" fmla="val 5555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8894" y="2999232"/>
            <a:ext cx="299337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策略推演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57216" y="3337560"/>
            <a:ext cx="1316736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8894" y="3639312"/>
            <a:ext cx="299337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规划 DMA 搬运 / 计算流水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寄存器分配与指令替换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15584" y="2660903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318894" y="4261104"/>
            <a:ext cx="2993379" cy="530352"/>
          </a:xfrm>
          <a:prstGeom prst="roundRect">
            <a:avLst>
              <a:gd name="adj" fmla="val 13793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生成补丁，触发编译与评测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15584" y="4123944"/>
            <a:ext cx="0" cy="12801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4318894" y="4974336"/>
            <a:ext cx="2993379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达标输出 · 候选库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交付最优 Kernel 代码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15584" y="4800600"/>
            <a:ext cx="0" cy="164592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5907024" y="4791456"/>
            <a:ext cx="100584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发布达标实现</a:t>
            </a:r>
          </a:p>
        </p:txBody>
      </p:sp>
      <p:sp>
        <p:nvSpPr>
          <p:cNvPr id="41" name="Right Brace 40"/>
          <p:cNvSpPr/>
          <p:nvPr/>
        </p:nvSpPr>
        <p:spPr>
          <a:xfrm>
            <a:off x="3236976" y="1609344"/>
            <a:ext cx="146304" cy="1609343"/>
          </a:xfrm>
          <a:prstGeom prst="rightBrace">
            <a:avLst>
              <a:gd name="adj1" fmla="val 80000"/>
              <a:gd name="adj2" fmla="val 50000"/>
            </a:avLst>
          </a:prstGeom>
          <a:noFill/>
          <a:ln w="1587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410712" y="2414015"/>
            <a:ext cx="871606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3401568" y="2157984"/>
            <a:ext cx="69494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读取 / 感知</a:t>
            </a:r>
          </a:p>
        </p:txBody>
      </p:sp>
      <p:sp>
        <p:nvSpPr>
          <p:cNvPr id="44" name="Freeform 43"/>
          <p:cNvSpPr/>
          <p:nvPr/>
        </p:nvSpPr>
        <p:spPr>
          <a:xfrm>
            <a:off x="2871216" y="3456432"/>
            <a:ext cx="1411102" cy="393192"/>
          </a:xfrm>
          <a:custGeom>
            <a:avLst/>
            <a:gdLst/>
            <a:ahLst/>
            <a:cxnLst/>
            <a:rect l="l" t="t" r="r" b="b"/>
            <a:pathLst>
              <a:path w="1411102" h="393192">
                <a:moveTo>
                  <a:pt x="0" y="393192"/>
                </a:moveTo>
                <a:lnTo>
                  <a:pt x="0" y="0"/>
                </a:lnTo>
                <a:lnTo>
                  <a:pt x="1411102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38727" y="3200400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6" name="Freeform 45"/>
          <p:cNvSpPr/>
          <p:nvPr/>
        </p:nvSpPr>
        <p:spPr>
          <a:xfrm>
            <a:off x="7348849" y="2688336"/>
            <a:ext cx="1411103" cy="768096"/>
          </a:xfrm>
          <a:custGeom>
            <a:avLst/>
            <a:gdLst/>
            <a:ahLst/>
            <a:cxnLst/>
            <a:rect l="l" t="t" r="r" b="b"/>
            <a:pathLst>
              <a:path w="1411103" h="768096">
                <a:moveTo>
                  <a:pt x="0" y="768096"/>
                </a:moveTo>
                <a:lnTo>
                  <a:pt x="1411103" y="768096"/>
                </a:lnTo>
                <a:lnTo>
                  <a:pt x="1411103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6" y="3200400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按需调用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48849" y="4526280"/>
            <a:ext cx="1045343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9" name="Rounded Rectangle 48"/>
          <p:cNvSpPr/>
          <p:nvPr/>
        </p:nvSpPr>
        <p:spPr>
          <a:xfrm>
            <a:off x="7671816" y="4270248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触发评测</a:t>
            </a:r>
          </a:p>
        </p:txBody>
      </p:sp>
      <p:sp>
        <p:nvSpPr>
          <p:cNvPr id="50" name="Freeform 49"/>
          <p:cNvSpPr/>
          <p:nvPr/>
        </p:nvSpPr>
        <p:spPr>
          <a:xfrm>
            <a:off x="1874519" y="5212080"/>
            <a:ext cx="8162392" cy="493776"/>
          </a:xfrm>
          <a:custGeom>
            <a:avLst/>
            <a:gdLst/>
            <a:ahLst/>
            <a:cxnLst/>
            <a:rect l="l" t="t" r="r" b="b"/>
            <a:pathLst>
              <a:path w="8162392" h="493776">
                <a:moveTo>
                  <a:pt x="8162392" y="0"/>
                </a:moveTo>
                <a:lnTo>
                  <a:pt x="8162392" y="493776"/>
                </a:lnTo>
                <a:lnTo>
                  <a:pt x="0" y="493776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645152" y="5605272"/>
            <a:ext cx="23408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回写：编译报错 · 精度偏差 · 瓶颈证据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只负责消费证据做推演；编译、对精度、测速全部交由右侧确定性工具完成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8–9 页是单步口径（ms/步），本页是服务口径（约束下的吞吐），两种口径的数不能直接对齐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