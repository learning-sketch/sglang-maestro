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868680"/>
            <a:ext cx="6400800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F2B233"/>
                </a:solidFill>
                <a:latin typeface="Consolas"/>
                <a:ea typeface="Microsoft YaHei"/>
                <a:cs typeface="Microsoft YaHei"/>
              </a:rPr>
              <a:t>SGLANG-MAESTRO · 方案评审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6675120" cy="18288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800"/>
              </a:spcAft>
            </a:pPr>
            <a:r>
              <a:rPr sz="4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从算子级到模型级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000" b="1">
                <a:solidFill>
                  <a:srgbClr val="D5DCE3"/>
                </a:solidFill>
                <a:latin typeface="Microsoft YaHei"/>
                <a:ea typeface="Microsoft YaHei"/>
                <a:cs typeface="Microsoft YaHei"/>
              </a:rPr>
              <a:t>SGLang 适配调优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474720"/>
            <a:ext cx="5943600" cy="9144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5CCD4"/>
                </a:solidFill>
                <a:latin typeface="Microsoft YaHei"/>
                <a:ea typeface="Microsoft YaHei"/>
                <a:cs typeface="Microsoft YaHei"/>
              </a:rPr>
              <a:t>面向 M100 芯片的单机部署，用三个 Agent Loop 分别助力：</a:t>
            </a:r>
          </a:p>
          <a:p>
            <a:pPr algn="l" latinLnBrk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5CCD4"/>
                </a:solidFill>
                <a:latin typeface="Microsoft YaHei"/>
                <a:ea typeface="Microsoft YaHei"/>
                <a:cs typeface="Microsoft YaHei"/>
              </a:rPr>
              <a:t>框架迭代、模型适配与评估优化、算子绑定评估与优化</a:t>
            </a:r>
          </a:p>
        </p:txBody>
      </p:sp>
      <p:sp>
        <p:nvSpPr>
          <p:cNvPr id="5" name="Arc 4"/>
          <p:cNvSpPr/>
          <p:nvPr/>
        </p:nvSpPr>
        <p:spPr>
          <a:xfrm>
            <a:off x="8115300" y="1257300"/>
            <a:ext cx="1965960" cy="1965960"/>
          </a:xfrm>
          <a:prstGeom prst="arc">
            <a:avLst>
              <a:gd name="adj1" fmla="val 18000000"/>
              <a:gd name="adj2" fmla="val 15000000"/>
            </a:avLst>
          </a:prstGeom>
          <a:noFill/>
          <a:ln w="38100">
            <a:solidFill>
              <a:srgbClr val="86A2DD"/>
            </a:solidFill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66759" y="1673352"/>
            <a:ext cx="1463040" cy="11338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86A2DD"/>
                </a:solidFill>
                <a:latin typeface="Arial"/>
                <a:ea typeface="Microsoft YaHei"/>
                <a:cs typeface="Microsoft YaHei"/>
              </a:rPr>
              <a:t>A</a:t>
            </a:r>
          </a:p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框架迭代</a:t>
            </a:r>
          </a:p>
        </p:txBody>
      </p:sp>
      <p:sp>
        <p:nvSpPr>
          <p:cNvPr id="7" name="Arc 6"/>
          <p:cNvSpPr/>
          <p:nvPr/>
        </p:nvSpPr>
        <p:spPr>
          <a:xfrm>
            <a:off x="7200899" y="2857500"/>
            <a:ext cx="1965960" cy="1965960"/>
          </a:xfrm>
          <a:prstGeom prst="arc">
            <a:avLst>
              <a:gd name="adj1" fmla="val 18000000"/>
              <a:gd name="adj2" fmla="val 15000000"/>
            </a:avLst>
          </a:prstGeom>
          <a:noFill/>
          <a:ln w="38100">
            <a:solidFill>
              <a:srgbClr val="55C3A0"/>
            </a:solidFill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52359" y="3273552"/>
            <a:ext cx="1463040" cy="11338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55C3A0"/>
                </a:solidFill>
                <a:latin typeface="Arial"/>
                <a:ea typeface="Microsoft YaHei"/>
                <a:cs typeface="Microsoft YaHei"/>
              </a:rPr>
              <a:t>B</a:t>
            </a:r>
          </a:p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模型适配</a:t>
            </a:r>
          </a:p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评估优化</a:t>
            </a:r>
          </a:p>
        </p:txBody>
      </p:sp>
      <p:sp>
        <p:nvSpPr>
          <p:cNvPr id="9" name="Arc 8"/>
          <p:cNvSpPr/>
          <p:nvPr/>
        </p:nvSpPr>
        <p:spPr>
          <a:xfrm>
            <a:off x="9029700" y="2857500"/>
            <a:ext cx="1965960" cy="1965960"/>
          </a:xfrm>
          <a:prstGeom prst="arc">
            <a:avLst>
              <a:gd name="adj1" fmla="val 18000000"/>
              <a:gd name="adj2" fmla="val 15000000"/>
            </a:avLst>
          </a:prstGeom>
          <a:noFill/>
          <a:ln w="38100">
            <a:solidFill>
              <a:srgbClr val="E99A66"/>
            </a:solidFill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281159" y="3273552"/>
            <a:ext cx="1463040" cy="11338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800" b="1">
                <a:solidFill>
                  <a:srgbClr val="E99A66"/>
                </a:solidFill>
                <a:latin typeface="Arial"/>
                <a:ea typeface="Microsoft YaHei"/>
                <a:cs typeface="Microsoft YaHei"/>
              </a:rPr>
              <a:t>C</a:t>
            </a:r>
          </a:p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算子绑定</a:t>
            </a:r>
          </a:p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评估优化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5074920"/>
            <a:ext cx="3200400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C96A1"/>
                </a:solidFill>
                <a:latin typeface="Microsoft YaHei"/>
                <a:ea typeface="Microsoft YaHei"/>
                <a:cs typeface="Microsoft YaHei"/>
              </a:rPr>
              <a:t>三个 Loop 共用一套证据底座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52160"/>
            <a:ext cx="8229600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8C96A1"/>
                </a:solidFill>
                <a:latin typeface="Consolas"/>
                <a:ea typeface="Microsoft YaHei"/>
                <a:cs typeface="Microsoft YaHei"/>
              </a:rPr>
              <a:t>离线可跑 · 结论可追溯到 SGLang 源码与实测数据 · 知识快照：SGLang 72730d6（2026-10-14）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66727F"/>
                </a:solidFill>
                <a:latin typeface="Consolas"/>
                <a:ea typeface="Microsoft YaHei"/>
                <a:cs typeface="Microsoft YaHei"/>
              </a:rPr>
              <a:t>全局 · 三个 AGENT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415" cy="53035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三个 Agent Loop 分层咬合：框架定规则，模型定目标，算子定成本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61872"/>
            <a:ext cx="11094415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模型适配与算子优化互为输入：模型告诉算子先做什么，算子告诉模型实际要花多少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783080"/>
            <a:ext cx="11094415" cy="1005840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Arc 5"/>
          <p:cNvSpPr/>
          <p:nvPr/>
        </p:nvSpPr>
        <p:spPr>
          <a:xfrm>
            <a:off x="722376" y="2002536"/>
            <a:ext cx="566928" cy="566928"/>
          </a:xfrm>
          <a:prstGeom prst="arc">
            <a:avLst>
              <a:gd name="adj1" fmla="val 18000000"/>
              <a:gd name="adj2" fmla="val 15000000"/>
            </a:avLst>
          </a:prstGeom>
          <a:noFill/>
          <a:ln w="25400">
            <a:solidFill>
              <a:srgbClr val="3F63A8"/>
            </a:solidFill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" y="2002536"/>
            <a:ext cx="566928" cy="56692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600" b="1">
                <a:solidFill>
                  <a:srgbClr val="3F63A8"/>
                </a:solidFill>
                <a:latin typeface="Arial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1911095"/>
            <a:ext cx="3657600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3F63A8"/>
                </a:solidFill>
                <a:latin typeface="Microsoft YaHei"/>
                <a:ea typeface="Microsoft YaHei"/>
                <a:cs typeface="Microsoft YaHei"/>
              </a:rPr>
              <a:t>Loop A  助力框架迭代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2258568"/>
            <a:ext cx="3429000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这一版 SGLang 在 M100 上能开哪些特性、</a:t>
            </a:r>
          </a:p>
          <a:p>
            <a:pPr algn="l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插件要补什么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92040" y="2075688"/>
            <a:ext cx="1411147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F63A8"/>
            </a:solidFill>
          </a:ln>
        </p:spPr>
        <p:txBody>
          <a:bodyPr rtlCol="0" anchor="ctr" wrap="square" lIns="27432" tIns="0" rIns="27432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源码能力快照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95795" y="2075688"/>
            <a:ext cx="1411147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F63A8"/>
            </a:solidFill>
          </a:ln>
        </p:spPr>
        <p:txBody>
          <a:bodyPr rtlCol="0" anchor="ctr" wrap="square" lIns="27432" tIns="0" rIns="27432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特性可行性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358051" y="2286000"/>
            <a:ext cx="182880" cy="0"/>
          </a:xfrm>
          <a:prstGeom prst="line">
            <a:avLst/>
          </a:prstGeom>
          <a:ln w="15875">
            <a:solidFill>
              <a:srgbClr val="3F63A8"/>
            </a:solidFill>
            <a:tailEnd type="triangle" w="med" len="med"/>
          </a:ln>
        </p:spPr>
      </p:cxnSp>
      <p:sp>
        <p:nvSpPr>
          <p:cNvPr id="13" name="Rounded Rectangle 12"/>
          <p:cNvSpPr/>
          <p:nvPr/>
        </p:nvSpPr>
        <p:spPr>
          <a:xfrm>
            <a:off x="8299551" y="2075688"/>
            <a:ext cx="1411147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F63A8"/>
            </a:solidFill>
          </a:ln>
        </p:spPr>
        <p:txBody>
          <a:bodyPr rtlCol="0" anchor="ctr" wrap="square" lIns="27432" tIns="0" rIns="27432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收益估算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061807" y="2286000"/>
            <a:ext cx="182880" cy="0"/>
          </a:xfrm>
          <a:prstGeom prst="line">
            <a:avLst/>
          </a:prstGeom>
          <a:ln w="15875">
            <a:solidFill>
              <a:srgbClr val="3F63A8"/>
            </a:solidFill>
            <a:tailEnd type="triangle" w="med" len="med"/>
          </a:ln>
        </p:spPr>
      </p:cxnSp>
      <p:sp>
        <p:nvSpPr>
          <p:cNvPr id="15" name="Rounded Rectangle 14"/>
          <p:cNvSpPr/>
          <p:nvPr/>
        </p:nvSpPr>
        <p:spPr>
          <a:xfrm>
            <a:off x="10003307" y="2075688"/>
            <a:ext cx="1411147" cy="42062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3F63A8"/>
            </a:solidFill>
          </a:ln>
        </p:spPr>
        <p:txBody>
          <a:bodyPr rtlCol="0" anchor="ctr" wrap="square" lIns="27432" tIns="0" rIns="27432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合并 launch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9765563" y="2286000"/>
            <a:ext cx="182880" cy="0"/>
          </a:xfrm>
          <a:prstGeom prst="line">
            <a:avLst/>
          </a:prstGeom>
          <a:ln w="15875">
            <a:solidFill>
              <a:srgbClr val="3F63A8"/>
            </a:solidFill>
            <a:tailEnd type="triangle" w="med" len="med"/>
          </a:ln>
        </p:spPr>
      </p:cxnSp>
      <p:sp>
        <p:nvSpPr>
          <p:cNvPr id="17" name="Rectangle 16"/>
          <p:cNvSpPr/>
          <p:nvPr/>
        </p:nvSpPr>
        <p:spPr>
          <a:xfrm>
            <a:off x="548640" y="3346704"/>
            <a:ext cx="4572000" cy="1755648"/>
          </a:xfrm>
          <a:prstGeom prst="rect">
            <a:avLst/>
          </a:prstGeom>
          <a:solidFill>
            <a:srgbClr val="E2F2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rc 17"/>
          <p:cNvSpPr/>
          <p:nvPr/>
        </p:nvSpPr>
        <p:spPr>
          <a:xfrm>
            <a:off x="713232" y="3547872"/>
            <a:ext cx="512064" cy="512064"/>
          </a:xfrm>
          <a:prstGeom prst="arc">
            <a:avLst>
              <a:gd name="adj1" fmla="val 18000000"/>
              <a:gd name="adj2" fmla="val 15000000"/>
            </a:avLst>
          </a:prstGeom>
          <a:noFill/>
          <a:ln w="25400">
            <a:solidFill>
              <a:srgbClr val="1E8A6E"/>
            </a:solidFill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3547872"/>
            <a:ext cx="512064" cy="51206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E8A6E"/>
                </a:solidFill>
                <a:latin typeface="Arial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493008"/>
            <a:ext cx="3657600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1E8A6E"/>
                </a:solidFill>
                <a:latin typeface="Microsoft YaHei"/>
                <a:ea typeface="Microsoft YaHei"/>
                <a:cs typeface="Microsoft YaHei"/>
              </a:rPr>
              <a:t>Loop B  助力模型适配与评估优化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858768"/>
            <a:ext cx="3675887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新模型能不能上、怎么配、单机 SLO 内能扛多少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4498848"/>
            <a:ext cx="850392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E8A6E"/>
            </a:solidFill>
          </a:ln>
        </p:spPr>
        <p:txBody>
          <a:bodyPr rtlCol="0" anchor="ctr" wrap="square" lIns="27432" tIns="0" rIns="27432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适配分析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856231" y="4498848"/>
            <a:ext cx="850392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E8A6E"/>
            </a:solidFill>
          </a:ln>
        </p:spPr>
        <p:txBody>
          <a:bodyPr rtlCol="0" anchor="ctr" wrap="square" lIns="27432" tIns="0" rIns="27432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精度布局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1655063" y="4700016"/>
            <a:ext cx="146304" cy="0"/>
          </a:xfrm>
          <a:prstGeom prst="line">
            <a:avLst/>
          </a:prstGeom>
          <a:ln w="15875">
            <a:solidFill>
              <a:srgbClr val="1E8A6E"/>
            </a:solidFill>
            <a:tailEnd type="triangle" w="med" len="med"/>
          </a:ln>
        </p:spPr>
      </p:cxnSp>
      <p:sp>
        <p:nvSpPr>
          <p:cNvPr id="25" name="Rounded Rectangle 24"/>
          <p:cNvSpPr/>
          <p:nvPr/>
        </p:nvSpPr>
        <p:spPr>
          <a:xfrm>
            <a:off x="2962656" y="4498848"/>
            <a:ext cx="850392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E8A6E"/>
            </a:solidFill>
          </a:ln>
        </p:spPr>
        <p:txBody>
          <a:bodyPr rtlCol="0" anchor="ctr" wrap="square" lIns="27432" tIns="0" rIns="27432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仿真评估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2761488" y="4700016"/>
            <a:ext cx="146303" cy="0"/>
          </a:xfrm>
          <a:prstGeom prst="line">
            <a:avLst/>
          </a:prstGeom>
          <a:ln w="15875">
            <a:solidFill>
              <a:srgbClr val="1E8A6E"/>
            </a:solidFill>
            <a:tailEnd type="triangle" w="med" len="med"/>
          </a:ln>
        </p:spPr>
      </p:cxnSp>
      <p:sp>
        <p:nvSpPr>
          <p:cNvPr id="27" name="Rounded Rectangle 26"/>
          <p:cNvSpPr/>
          <p:nvPr/>
        </p:nvSpPr>
        <p:spPr>
          <a:xfrm>
            <a:off x="4069080" y="4498848"/>
            <a:ext cx="850392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1E8A6E"/>
            </a:solidFill>
          </a:ln>
        </p:spPr>
        <p:txBody>
          <a:bodyPr rtlCol="0" anchor="ctr" wrap="square" lIns="27432" tIns="0" rIns="27432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压测校准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3867911" y="4700016"/>
            <a:ext cx="146305" cy="0"/>
          </a:xfrm>
          <a:prstGeom prst="line">
            <a:avLst/>
          </a:prstGeom>
          <a:ln w="15875">
            <a:solidFill>
              <a:srgbClr val="1E8A6E"/>
            </a:solidFill>
            <a:tailEnd type="triangle" w="med" len="med"/>
          </a:ln>
        </p:spPr>
      </p:cxnSp>
      <p:sp>
        <p:nvSpPr>
          <p:cNvPr id="29" name="Rectangle 28"/>
          <p:cNvSpPr/>
          <p:nvPr/>
        </p:nvSpPr>
        <p:spPr>
          <a:xfrm>
            <a:off x="7071055" y="3346704"/>
            <a:ext cx="4572000" cy="1755648"/>
          </a:xfrm>
          <a:prstGeom prst="rect">
            <a:avLst/>
          </a:prstGeom>
          <a:solidFill>
            <a:srgbClr val="F8EA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Arc 29"/>
          <p:cNvSpPr/>
          <p:nvPr/>
        </p:nvSpPr>
        <p:spPr>
          <a:xfrm>
            <a:off x="7235647" y="3547872"/>
            <a:ext cx="512064" cy="512064"/>
          </a:xfrm>
          <a:prstGeom prst="arc">
            <a:avLst>
              <a:gd name="adj1" fmla="val 18000000"/>
              <a:gd name="adj2" fmla="val 15000000"/>
            </a:avLst>
          </a:prstGeom>
          <a:noFill/>
          <a:ln w="25400">
            <a:solidFill>
              <a:srgbClr val="C0612C"/>
            </a:solidFill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35647" y="3547872"/>
            <a:ext cx="512064" cy="51206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C0612C"/>
                </a:solidFill>
                <a:latin typeface="Arial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894015" y="3493008"/>
            <a:ext cx="3657600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1">
                <a:solidFill>
                  <a:srgbClr val="C0612C"/>
                </a:solidFill>
                <a:latin typeface="Microsoft YaHei"/>
                <a:ea typeface="Microsoft YaHei"/>
                <a:cs typeface="Microsoft YaHei"/>
              </a:rPr>
              <a:t>Loop C  助力算子绑定评估与优化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894015" y="3858768"/>
            <a:ext cx="3675887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每个算子实际跑哪条实现、慢在哪、先优化谁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272223" y="4498848"/>
            <a:ext cx="850392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0612C"/>
            </a:solidFill>
          </a:ln>
        </p:spPr>
        <p:txBody>
          <a:bodyPr rtlCol="0" anchor="ctr" wrap="square" lIns="27432" tIns="0" rIns="27432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绑定解析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378647" y="4498848"/>
            <a:ext cx="850392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0612C"/>
            </a:solidFill>
          </a:ln>
        </p:spPr>
        <p:txBody>
          <a:bodyPr rtlCol="0" anchor="ctr" wrap="square" lIns="27432" tIns="0" rIns="27432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实测对比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177479" y="4700016"/>
            <a:ext cx="146304" cy="0"/>
          </a:xfrm>
          <a:prstGeom prst="line">
            <a:avLst/>
          </a:prstGeom>
          <a:ln w="15875">
            <a:solidFill>
              <a:srgbClr val="C0612C"/>
            </a:solidFill>
            <a:tailEnd type="triangle" w="med" len="med"/>
          </a:ln>
        </p:spPr>
      </p:cxnSp>
      <p:sp>
        <p:nvSpPr>
          <p:cNvPr id="37" name="Rounded Rectangle 36"/>
          <p:cNvSpPr/>
          <p:nvPr/>
        </p:nvSpPr>
        <p:spPr>
          <a:xfrm>
            <a:off x="9485071" y="4498848"/>
            <a:ext cx="850392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C0612C"/>
            </a:solidFill>
          </a:ln>
        </p:spPr>
        <p:txBody>
          <a:bodyPr rtlCol="0" anchor="ctr" wrap="square" lIns="27432" tIns="0" rIns="27432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优化手段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9283903" y="4700016"/>
            <a:ext cx="146304" cy="0"/>
          </a:xfrm>
          <a:prstGeom prst="line">
            <a:avLst/>
          </a:prstGeom>
          <a:ln w="15875">
            <a:solidFill>
              <a:srgbClr val="C0612C"/>
            </a:solidFill>
            <a:tailEnd type="triangle" w="med" len="med"/>
          </a:ln>
        </p:spPr>
      </p:cxnSp>
      <p:sp>
        <p:nvSpPr>
          <p:cNvPr id="39" name="Rounded Rectangle 38"/>
          <p:cNvSpPr/>
          <p:nvPr/>
        </p:nvSpPr>
        <p:spPr>
          <a:xfrm>
            <a:off x="10591495" y="4498848"/>
            <a:ext cx="850392" cy="40233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8C96A1"/>
            </a:solidFill>
            <a:prstDash val="dash"/>
          </a:ln>
        </p:spPr>
        <p:txBody>
          <a:bodyPr rtlCol="0" anchor="ctr" wrap="square" lIns="27432" tIns="0" rIns="27432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A/B 复测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10390327" y="4700016"/>
            <a:ext cx="146304" cy="0"/>
          </a:xfrm>
          <a:prstGeom prst="line">
            <a:avLst/>
          </a:prstGeom>
          <a:ln w="15875">
            <a:solidFill>
              <a:srgbClr val="C0612C"/>
            </a:solidFill>
            <a:tailEnd type="triangle" w="med" len="med"/>
          </a:ln>
        </p:spPr>
      </p:cxnSp>
      <p:cxnSp>
        <p:nvCxnSpPr>
          <p:cNvPr id="41" name="Connector 40"/>
          <p:cNvCxnSpPr/>
          <p:nvPr/>
        </p:nvCxnSpPr>
        <p:spPr>
          <a:xfrm>
            <a:off x="2834640" y="2834639"/>
            <a:ext cx="0" cy="466345"/>
          </a:xfrm>
          <a:prstGeom prst="line">
            <a:avLst/>
          </a:prstGeom>
          <a:ln w="19050">
            <a:solidFill>
              <a:srgbClr val="3F63A8"/>
            </a:solidFill>
            <a:headEnd type="triangle" w="med" len="med"/>
            <a:tailEnd type="triangle" w="med" len="med"/>
          </a:ln>
        </p:spPr>
      </p:cxnSp>
      <p:cxnSp>
        <p:nvCxnSpPr>
          <p:cNvPr id="42" name="Connector 41"/>
          <p:cNvCxnSpPr/>
          <p:nvPr/>
        </p:nvCxnSpPr>
        <p:spPr>
          <a:xfrm>
            <a:off x="9357055" y="2834639"/>
            <a:ext cx="0" cy="466345"/>
          </a:xfrm>
          <a:prstGeom prst="line">
            <a:avLst/>
          </a:prstGeom>
          <a:ln w="19050">
            <a:solidFill>
              <a:srgbClr val="3F63A8"/>
            </a:solidFill>
            <a:headEnd type="triangle" w="med" len="med"/>
            <a:tailEnd type="triangle" w="med" len="med"/>
          </a:ln>
        </p:spPr>
      </p:cxnSp>
      <p:sp>
        <p:nvSpPr>
          <p:cNvPr id="43" name="TextBox 42"/>
          <p:cNvSpPr txBox="1"/>
          <p:nvPr/>
        </p:nvSpPr>
        <p:spPr>
          <a:xfrm>
            <a:off x="3063240" y="2825496"/>
            <a:ext cx="6065215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↓ 提供规则：启动参数、特性约束、平台 hook、算子分发规则</a:t>
            </a:r>
          </a:p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↑ 回传缺口：OOT 平台不支持的子系统、待实现的 hook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5212079" y="3950208"/>
            <a:ext cx="1767536" cy="0"/>
          </a:xfrm>
          <a:prstGeom prst="line">
            <a:avLst/>
          </a:prstGeom>
          <a:ln w="22225">
            <a:solidFill>
              <a:srgbClr val="1E8A6E"/>
            </a:solidFill>
            <a:tailEnd type="triangle" w="med" len="med"/>
          </a:ln>
        </p:spPr>
      </p:cxnSp>
      <p:sp>
        <p:nvSpPr>
          <p:cNvPr id="45" name="TextBox 44"/>
          <p:cNvSpPr txBox="1"/>
          <p:nvPr/>
        </p:nvSpPr>
        <p:spPr>
          <a:xfrm>
            <a:off x="5138927" y="3493008"/>
            <a:ext cx="1913839" cy="42062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算子缺口 · 热点</a:t>
            </a:r>
          </a:p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按占 step 比例排序</a:t>
            </a:r>
          </a:p>
        </p:txBody>
      </p:sp>
      <p:cxnSp>
        <p:nvCxnSpPr>
          <p:cNvPr id="46" name="Connector 45"/>
          <p:cNvCxnSpPr/>
          <p:nvPr/>
        </p:nvCxnSpPr>
        <p:spPr>
          <a:xfrm flipH="1">
            <a:off x="5212079" y="4535424"/>
            <a:ext cx="1767536" cy="0"/>
          </a:xfrm>
          <a:prstGeom prst="line">
            <a:avLst/>
          </a:prstGeom>
          <a:ln w="22225">
            <a:solidFill>
              <a:srgbClr val="C0612C"/>
            </a:solidFill>
            <a:tailEnd type="triangle" w="med" len="med"/>
          </a:ln>
        </p:spPr>
      </p:cxnSp>
      <p:sp>
        <p:nvSpPr>
          <p:cNvPr id="47" name="TextBox 46"/>
          <p:cNvSpPr txBox="1"/>
          <p:nvPr/>
        </p:nvSpPr>
        <p:spPr>
          <a:xfrm>
            <a:off x="5138927" y="4581144"/>
            <a:ext cx="1913839" cy="42062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实测耗时</a:t>
            </a:r>
          </a:p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校准成本模型、重新规划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5358384"/>
            <a:ext cx="11094415" cy="786384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7240" y="5358384"/>
            <a:ext cx="1463040" cy="7863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共用证据底座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194560" y="5358384"/>
            <a:ext cx="2852928" cy="7863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SGLang 源码静态分析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不导入 SGLang，每条事实带源码位置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5212080" y="5522976"/>
            <a:ext cx="0" cy="457200"/>
          </a:xfrm>
          <a:prstGeom prst="line">
            <a:avLst/>
          </a:prstGeom>
          <a:ln w="9525">
            <a:solidFill>
              <a:srgbClr val="C5CCD4"/>
            </a:solidFill>
          </a:ln>
        </p:spPr>
      </p:cxnSp>
      <p:sp>
        <p:nvSpPr>
          <p:cNvPr id="52" name="TextBox 51"/>
          <p:cNvSpPr txBox="1"/>
          <p:nvPr/>
        </p:nvSpPr>
        <p:spPr>
          <a:xfrm>
            <a:off x="5321808" y="5358384"/>
            <a:ext cx="2852928" cy="7863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算子级 step 成本模型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roofline + launch 间隙 + α-β 通信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8339328" y="5522976"/>
            <a:ext cx="0" cy="457200"/>
          </a:xfrm>
          <a:prstGeom prst="line">
            <a:avLst/>
          </a:prstGeom>
          <a:ln w="9525">
            <a:solidFill>
              <a:srgbClr val="C5CCD4"/>
            </a:solidFill>
          </a:ln>
        </p:spPr>
      </p:cxnSp>
      <p:sp>
        <p:nvSpPr>
          <p:cNvPr id="54" name="TextBox 53"/>
          <p:cNvSpPr txBox="1"/>
          <p:nvPr/>
        </p:nvSpPr>
        <p:spPr>
          <a:xfrm>
            <a:off x="8449056" y="5358384"/>
            <a:ext cx="2852928" cy="7863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实测校准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server 日志与压测结果拟合系数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728655" y="6382512"/>
            <a:ext cx="914400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727F"/>
                </a:solidFill>
                <a:latin typeface="Consolas"/>
                <a:ea typeface="Microsoft YaHei"/>
                <a:cs typeface="Microsoft YaHei"/>
              </a:rPr>
              <a:t>02 / 09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6382512"/>
            <a:ext cx="9905695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虚线 = 规划中　·　与原场景的对应：A ≈ 场景 3（框架特性）　B ≈ 场景 1 + 5（适配、部署）　C ≈ 场景 2（算子性能）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rc 1"/>
          <p:cNvSpPr/>
          <p:nvPr/>
        </p:nvSpPr>
        <p:spPr>
          <a:xfrm>
            <a:off x="548640" y="374903"/>
            <a:ext cx="310896" cy="310896"/>
          </a:xfrm>
          <a:prstGeom prst="arc">
            <a:avLst>
              <a:gd name="adj1" fmla="val 18000000"/>
              <a:gd name="adj2" fmla="val 15000000"/>
            </a:avLst>
          </a:prstGeom>
          <a:noFill/>
          <a:ln w="19050">
            <a:solidFill>
              <a:srgbClr val="3F63A8"/>
            </a:solidFill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74903"/>
            <a:ext cx="310896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F63A8"/>
                </a:solidFill>
                <a:latin typeface="Arial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" y="384048"/>
            <a:ext cx="8229600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F63A8"/>
                </a:solidFill>
                <a:latin typeface="Consolas"/>
                <a:ea typeface="Microsoft YaHei"/>
                <a:cs typeface="Microsoft YaHei"/>
              </a:rPr>
              <a:t>LOOP A · 助力框架迭代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1094415" cy="53035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SGLang 每升一版，Agent 重算 M100 能开哪些特性、怎么调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61872"/>
            <a:ext cx="11094415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知识来自源码静态分析，而不是人工维护的经验清单：换版本重跑一次同步，结论跟着版本走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1810512"/>
            <a:ext cx="1554480" cy="1371600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txBody>
          <a:bodyPr rtlCol="0" anchor="ctr" wrap="square" lIns="146304" tIns="54864" rIns="73152" bIns="54864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触发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SGLang 新版本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新特性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M100 插件更新</a:t>
            </a:r>
          </a:p>
        </p:txBody>
      </p:sp>
      <p:sp>
        <p:nvSpPr>
          <p:cNvPr id="8" name="Rectangle 7"/>
          <p:cNvSpPr/>
          <p:nvPr/>
        </p:nvSpPr>
        <p:spPr>
          <a:xfrm>
            <a:off x="2395728" y="1810512"/>
            <a:ext cx="1609344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3F63A8"/>
            </a:solidFill>
          </a:ln>
        </p:spPr>
        <p:txBody>
          <a:bodyPr rtlCol="0" anchor="t" wrap="square" lIns="128016" tIns="128016" rIns="73152" bIns="54864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3F63A8"/>
                </a:solidFill>
                <a:latin typeface="Microsoft YaHei"/>
                <a:ea typeface="Microsoft YaHei"/>
                <a:cs typeface="Microsoft YaHei"/>
              </a:rPr>
              <a:t>① 同步知识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静态分析源码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生成能力快照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不导入 SGLang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无需 GPU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148840" y="2496312"/>
            <a:ext cx="201168" cy="0"/>
          </a:xfrm>
          <a:prstGeom prst="line">
            <a:avLst/>
          </a:prstGeom>
          <a:ln w="19050">
            <a:solidFill>
              <a:srgbClr val="3F63A8"/>
            </a:solidFill>
            <a:tailEnd type="triangle" w="med" len="med"/>
          </a:ln>
        </p:spPr>
      </p:cxnSp>
      <p:sp>
        <p:nvSpPr>
          <p:cNvPr id="10" name="Rectangle 9"/>
          <p:cNvSpPr/>
          <p:nvPr/>
        </p:nvSpPr>
        <p:spPr>
          <a:xfrm>
            <a:off x="4297680" y="1810512"/>
            <a:ext cx="1609344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3F63A8"/>
            </a:solidFill>
          </a:ln>
        </p:spPr>
        <p:txBody>
          <a:bodyPr rtlCol="0" anchor="t" wrap="square" lIns="128016" tIns="128016" rIns="73152" bIns="54864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3F63A8"/>
                </a:solidFill>
                <a:latin typeface="Microsoft YaHei"/>
                <a:ea typeface="Microsoft YaHei"/>
                <a:cs typeface="Microsoft YaHei"/>
              </a:rPr>
              <a:t>② 判可行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复用 SGLang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自身的校验规则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核对插件 hook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与平台能力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050791" y="2496312"/>
            <a:ext cx="201169" cy="0"/>
          </a:xfrm>
          <a:prstGeom prst="line">
            <a:avLst/>
          </a:prstGeom>
          <a:ln w="19050">
            <a:solidFill>
              <a:srgbClr val="3F63A8"/>
            </a:solidFill>
            <a:tailEnd type="triangle" w="med" len="med"/>
          </a:ln>
        </p:spPr>
      </p:cxnSp>
      <p:sp>
        <p:nvSpPr>
          <p:cNvPr id="12" name="Rectangle 11"/>
          <p:cNvSpPr/>
          <p:nvPr/>
        </p:nvSpPr>
        <p:spPr>
          <a:xfrm>
            <a:off x="6199632" y="1810512"/>
            <a:ext cx="1609344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3F63A8"/>
            </a:solidFill>
          </a:ln>
        </p:spPr>
        <p:txBody>
          <a:bodyPr rtlCol="0" anchor="t" wrap="square" lIns="128016" tIns="128016" rIns="73152" bIns="54864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3F63A8"/>
                </a:solidFill>
                <a:latin typeface="Microsoft YaHei"/>
                <a:ea typeface="Microsoft YaHei"/>
                <a:cs typeface="Microsoft YaHei"/>
              </a:rPr>
              <a:t>③ 算收益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成本模型估算：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KV 容量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decode 吞吐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TTFT · TPOT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5952744" y="2496312"/>
            <a:ext cx="201168" cy="0"/>
          </a:xfrm>
          <a:prstGeom prst="line">
            <a:avLst/>
          </a:prstGeom>
          <a:ln w="19050">
            <a:solidFill>
              <a:srgbClr val="3F63A8"/>
            </a:solidFill>
            <a:tailEnd type="triangle" w="med" len="med"/>
          </a:ln>
        </p:spPr>
      </p:cxnSp>
      <p:sp>
        <p:nvSpPr>
          <p:cNvPr id="14" name="Rectangle 13"/>
          <p:cNvSpPr/>
          <p:nvPr/>
        </p:nvSpPr>
        <p:spPr>
          <a:xfrm>
            <a:off x="8101583" y="1810512"/>
            <a:ext cx="1609344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3F63A8"/>
            </a:solidFill>
          </a:ln>
        </p:spPr>
        <p:txBody>
          <a:bodyPr rtlCol="0" anchor="t" wrap="square" lIns="128016" tIns="128016" rIns="73152" bIns="54864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>
                <a:solidFill>
                  <a:srgbClr val="3F63A8"/>
                </a:solidFill>
                <a:latin typeface="Microsoft YaHei"/>
                <a:ea typeface="Microsoft YaHei"/>
                <a:cs typeface="Microsoft YaHei"/>
              </a:rPr>
              <a:t>④ 出配置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可共存的特性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合并成一条 launch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会被拒绝的组合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提前剔除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854696" y="2496312"/>
            <a:ext cx="201167" cy="0"/>
          </a:xfrm>
          <a:prstGeom prst="line">
            <a:avLst/>
          </a:prstGeom>
          <a:ln w="19050">
            <a:solidFill>
              <a:srgbClr val="3F63A8"/>
            </a:solidFill>
            <a:tailEnd type="triangle" w="med" len="med"/>
          </a:ln>
        </p:spPr>
      </p:cxnSp>
      <p:cxnSp>
        <p:nvCxnSpPr>
          <p:cNvPr id="16" name="Connector 15"/>
          <p:cNvCxnSpPr/>
          <p:nvPr/>
        </p:nvCxnSpPr>
        <p:spPr>
          <a:xfrm>
            <a:off x="9756648" y="2496312"/>
            <a:ext cx="201168" cy="0"/>
          </a:xfrm>
          <a:prstGeom prst="line">
            <a:avLst/>
          </a:prstGeom>
          <a:ln w="19050">
            <a:solidFill>
              <a:srgbClr val="3F63A8"/>
            </a:solidFill>
            <a:tailEnd type="triangle" w="med" len="med"/>
          </a:ln>
        </p:spPr>
      </p:cxnSp>
      <p:sp>
        <p:nvSpPr>
          <p:cNvPr id="17" name="Rectangle 16"/>
          <p:cNvSpPr/>
          <p:nvPr/>
        </p:nvSpPr>
        <p:spPr>
          <a:xfrm>
            <a:off x="10003536" y="1810512"/>
            <a:ext cx="1639519" cy="1371600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txBody>
          <a:bodyPr rtlCol="0" anchor="ctr" wrap="square" lIns="128016" tIns="54864" rIns="73152" bIns="54864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1">
                <a:solidFill>
                  <a:srgbClr val="3F63A8"/>
                </a:solidFill>
                <a:latin typeface="Microsoft YaHei"/>
                <a:ea typeface="Microsoft YaHei"/>
                <a:cs typeface="Microsoft YaHei"/>
              </a:rPr>
              <a:t>产出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合并后的 launch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插件 hook 清单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框架缺口清单</a:t>
            </a:r>
          </a:p>
        </p:txBody>
      </p:sp>
      <p:sp>
        <p:nvSpPr>
          <p:cNvPr id="18" name="Freeform 17"/>
          <p:cNvSpPr/>
          <p:nvPr/>
        </p:nvSpPr>
        <p:spPr>
          <a:xfrm>
            <a:off x="3200400" y="3182112"/>
            <a:ext cx="5705856" cy="256032"/>
          </a:xfrm>
          <a:custGeom>
            <a:avLst/>
            <a:gdLst/>
            <a:ahLst/>
            <a:cxnLst/>
            <a:rect l="l" t="t" r="r" b="b"/>
            <a:pathLst>
              <a:path w="5705856" h="256032">
                <a:moveTo>
                  <a:pt x="5705856" y="0"/>
                </a:moveTo>
                <a:lnTo>
                  <a:pt x="5705856" y="256032"/>
                </a:lnTo>
                <a:lnTo>
                  <a:pt x="0" y="256032"/>
                </a:lnTo>
                <a:lnTo>
                  <a:pt x="0" y="0"/>
                </a:lnTo>
              </a:path>
            </a:pathLst>
          </a:custGeom>
          <a:noFill/>
          <a:ln w="15875">
            <a:solidFill>
              <a:srgbClr val="3F63A8"/>
            </a:solidFill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383280" y="3474720"/>
            <a:ext cx="4160520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压测校准后更新结论；SGLang 升级时整条链重跑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35240" y="3493008"/>
            <a:ext cx="3200400" cy="256032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8C96A1"/>
            </a:solidFill>
            <a:prstDash val="dash"/>
          </a:ln>
        </p:spPr>
        <p:txBody>
          <a:bodyPr rtlCol="0" anchor="ctr" wrap="square" lIns="36576" tIns="0" rIns="36576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规划中：两版快照自动 diff，只重算受影响的结论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3931920"/>
            <a:ext cx="5486400" cy="2240280"/>
          </a:xfrm>
          <a:prstGeom prst="rect">
            <a:avLst/>
          </a:prstGeom>
          <a:solidFill>
            <a:srgbClr val="F6F7F9"/>
          </a:solidFill>
          <a:ln w="9525">
            <a:solidFill>
              <a:srgbClr val="DDE2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31520" y="4041648"/>
            <a:ext cx="5120640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能力快照里有什么</a:t>
            </a:r>
            <a:r>
              <a:rPr sz="10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　示例：SGLang 72730d6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4480559"/>
            <a:ext cx="950976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535424"/>
            <a:ext cx="950976" cy="47548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3F63A8"/>
                </a:solidFill>
                <a:latin typeface="Arial"/>
                <a:ea typeface="Microsoft YaHei"/>
                <a:cs typeface="Microsoft YaHei"/>
              </a:rPr>
              <a:t>521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992624"/>
            <a:ext cx="950976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启动参数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773936" y="4480559"/>
            <a:ext cx="950976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773936" y="4535424"/>
            <a:ext cx="950976" cy="47548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3F63A8"/>
                </a:solidFill>
                <a:latin typeface="Arial"/>
                <a:ea typeface="Microsoft YaHei"/>
                <a:cs typeface="Microsoft YaHei"/>
              </a:rPr>
              <a:t>284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773936" y="4992624"/>
            <a:ext cx="950976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模型架构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816352" y="4480559"/>
            <a:ext cx="950976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816352" y="4535424"/>
            <a:ext cx="950976" cy="47548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3F63A8"/>
                </a:solidFill>
                <a:latin typeface="Arial"/>
                <a:ea typeface="Microsoft YaHei"/>
                <a:cs typeface="Microsoft YaHei"/>
              </a:rPr>
              <a:t>37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16352" y="4992624"/>
            <a:ext cx="950976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平台 hook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858768" y="4480559"/>
            <a:ext cx="950976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58768" y="4535424"/>
            <a:ext cx="950976" cy="47548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3F63A8"/>
                </a:solidFill>
                <a:latin typeface="Arial"/>
                <a:ea typeface="Microsoft YaHei"/>
                <a:cs typeface="Microsoft YaHei"/>
              </a:rPr>
              <a:t>56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58768" y="4992624"/>
            <a:ext cx="950976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算子分发类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901184" y="4480559"/>
            <a:ext cx="950976" cy="896112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901184" y="4535424"/>
            <a:ext cx="950976" cy="47548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3F63A8"/>
                </a:solidFill>
                <a:latin typeface="Arial"/>
                <a:ea typeface="Microsoft YaHei"/>
                <a:cs typeface="Microsoft YaHei"/>
              </a:rPr>
              <a:t>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901184" y="4992624"/>
            <a:ext cx="950976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OOT 守卫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5504688"/>
            <a:ext cx="5120640" cy="60350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每条事实带源码位置（文件:行号）。特性顾问覆盖 DP attention、prefill / decode CP、LayerNorm SP、DeepEP、EPLB、TBO / SBO、HiCache、MTP / EAGLE / NGRAM 等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36792" y="3931920"/>
            <a:ext cx="5306263" cy="2240280"/>
          </a:xfrm>
          <a:prstGeom prst="rect">
            <a:avLst/>
          </a:prstGeom>
          <a:solidFill>
            <a:srgbClr val="E8ED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37959" y="4041648"/>
            <a:ext cx="4940503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例：Agent 交给框架迭代的“缺口与拐点”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537959" y="4480559"/>
            <a:ext cx="4903927" cy="1600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latinLnBrk="0" marL="146304" indent="-146304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Clr>
                <a:srgbClr val="3F63A8"/>
              </a:buClr>
              <a:buFont typeface="Arial"/>
              <a:buChar char="•"/>
            </a:pPr>
            <a:r>
              <a:rPr sz="11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7 个子系统在 OOT 平台上直接拒绝（KV 分片、统一内存池、fp4 / mxfp8 KV pool 等）</a:t>
            </a:r>
            <a:r>
              <a:rPr sz="1100" b="1">
                <a:solidFill>
                  <a:srgbClr val="3F63A8"/>
                </a:solidFill>
                <a:latin typeface="Microsoft YaHei"/>
                <a:ea typeface="Microsoft YaHei"/>
                <a:cs typeface="Microsoft YaHei"/>
              </a:rPr>
              <a:t> → 插件或上游要补的接缝</a:t>
            </a:r>
          </a:p>
          <a:p>
            <a:pPr algn="l" latinLnBrk="0" marL="146304" indent="-146304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Clr>
                <a:srgbClr val="3F63A8"/>
              </a:buClr>
              <a:buFont typeface="Arial"/>
              <a:buChar char="•"/>
            </a:pPr>
            <a:r>
              <a:rPr sz="11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2 处要求插件实现 hook 才能用：CUDA graph runner、piecewise 编译后端</a:t>
            </a:r>
            <a:r>
              <a:rPr sz="1100" b="1">
                <a:solidFill>
                  <a:srgbClr val="3F63A8"/>
                </a:solidFill>
                <a:latin typeface="Microsoft YaHei"/>
                <a:ea typeface="Microsoft YaHei"/>
                <a:cs typeface="Microsoft YaHei"/>
              </a:rPr>
              <a:t> → 插件开发清单</a:t>
            </a:r>
          </a:p>
          <a:p>
            <a:pPr algn="l" latinLnBrk="0" marL="146304" indent="-146304">
              <a:lnSpc>
                <a:spcPct val="110000"/>
              </a:lnSpc>
              <a:spcBef>
                <a:spcPts val="0"/>
              </a:spcBef>
              <a:spcAft>
                <a:spcPts val="700"/>
              </a:spcAft>
              <a:buClr>
                <a:srgbClr val="3F63A8"/>
              </a:buClr>
              <a:buFont typeface="Arial"/>
              <a:buChar char="•"/>
            </a:pPr>
            <a:r>
              <a:rPr sz="11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低 ridge point 芯片上，投机解码的 verify 在小 batch 就转为算力受限</a:t>
            </a:r>
            <a:r>
              <a:rPr sz="1100" b="1">
                <a:solidFill>
                  <a:srgbClr val="3F63A8"/>
                </a:solidFill>
                <a:latin typeface="Microsoft YaHei"/>
                <a:ea typeface="Microsoft YaHei"/>
                <a:cs typeface="Microsoft YaHei"/>
              </a:rPr>
              <a:t> → 给出收益消失的 batch 拐点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728655" y="6382512"/>
            <a:ext cx="914400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727F"/>
                </a:solidFill>
                <a:latin typeface="Consolas"/>
                <a:ea typeface="Microsoft YaHei"/>
                <a:cs typeface="Microsoft YaHei"/>
              </a:rPr>
              <a:t>03 / 09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382512"/>
            <a:ext cx="9905695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虚线 = 规划中；数字来自内置能力快照（SGLang 72730d6，2026-10-14）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rc 1"/>
          <p:cNvSpPr/>
          <p:nvPr/>
        </p:nvSpPr>
        <p:spPr>
          <a:xfrm>
            <a:off x="548640" y="374903"/>
            <a:ext cx="310896" cy="310896"/>
          </a:xfrm>
          <a:prstGeom prst="arc">
            <a:avLst>
              <a:gd name="adj1" fmla="val 18000000"/>
              <a:gd name="adj2" fmla="val 15000000"/>
            </a:avLst>
          </a:prstGeom>
          <a:noFill/>
          <a:ln w="19050">
            <a:solidFill>
              <a:srgbClr val="1E8A6E"/>
            </a:solidFill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74903"/>
            <a:ext cx="310896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1E8A6E"/>
                </a:solidFill>
                <a:latin typeface="Arial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" y="384048"/>
            <a:ext cx="8229600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1E8A6E"/>
                </a:solidFill>
                <a:latin typeface="Consolas"/>
                <a:ea typeface="Microsoft YaHei"/>
                <a:cs typeface="Microsoft YaHei"/>
              </a:rPr>
              <a:t>LOOP B · 助力模型适配与评估优化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1094415" cy="53035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新模型上 M100：从“能不能跑”一路推到“单机 SLO 内扛多少”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61872"/>
            <a:ext cx="11094415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关键步骤都产出可执行命令；实测数据回来后校准成本模型、重新规划</a:t>
            </a:r>
          </a:p>
        </p:txBody>
      </p:sp>
      <p:sp>
        <p:nvSpPr>
          <p:cNvPr id="7" name="Oval 6"/>
          <p:cNvSpPr/>
          <p:nvPr/>
        </p:nvSpPr>
        <p:spPr>
          <a:xfrm>
            <a:off x="2615184" y="3255264"/>
            <a:ext cx="1572768" cy="1572768"/>
          </a:xfrm>
          <a:prstGeom prst="ellipse">
            <a:avLst/>
          </a:prstGeom>
          <a:solidFill>
            <a:srgbClr val="E2F2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15184" y="3255264"/>
            <a:ext cx="1572768" cy="157276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E8A6E"/>
                </a:solidFill>
                <a:latin typeface="Microsoft YaHei"/>
                <a:ea typeface="Microsoft YaHei"/>
                <a:cs typeface="Microsoft YaHei"/>
              </a:rPr>
              <a:t>模型级目标</a:t>
            </a:r>
          </a:p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单机 SLO 内</a:t>
            </a:r>
          </a:p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能扛多少请求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32888" y="1965960"/>
            <a:ext cx="1737360" cy="6766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5875">
            <a:solidFill>
              <a:srgbClr val="1E8A6E"/>
            </a:solidFill>
          </a:ln>
        </p:spPr>
        <p:txBody>
          <a:bodyPr rtlCol="0" anchor="ctr" wrap="square" lIns="45720" tIns="18288" rIns="45720" bIns="18288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E8A6E"/>
                </a:solidFill>
                <a:latin typeface="Arial"/>
                <a:ea typeface="Microsoft YaHei"/>
                <a:cs typeface="Microsoft YaHei"/>
              </a:rPr>
              <a:t>1 </a:t>
            </a:r>
            <a:r>
              <a:rPr sz="12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适配分析</a:t>
            </a:r>
          </a:p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架构 · hook · 算子缺口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12622" y="2834640"/>
            <a:ext cx="1737360" cy="6766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5875">
            <a:solidFill>
              <a:srgbClr val="1E8A6E"/>
            </a:solidFill>
          </a:ln>
        </p:spPr>
        <p:txBody>
          <a:bodyPr rtlCol="0" anchor="ctr" wrap="square" lIns="45720" tIns="18288" rIns="45720" bIns="18288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E8A6E"/>
                </a:solidFill>
                <a:latin typeface="Arial"/>
                <a:ea typeface="Microsoft YaHei"/>
                <a:cs typeface="Microsoft YaHei"/>
              </a:rPr>
              <a:t>2 </a:t>
            </a:r>
            <a:r>
              <a:rPr sz="12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精度路线</a:t>
            </a:r>
          </a:p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按精度算几卡放得下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12622" y="4572000"/>
            <a:ext cx="1737360" cy="6766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5875">
            <a:solidFill>
              <a:srgbClr val="1E8A6E"/>
            </a:solidFill>
          </a:ln>
        </p:spPr>
        <p:txBody>
          <a:bodyPr rtlCol="0" anchor="ctr" wrap="square" lIns="45720" tIns="18288" rIns="45720" bIns="18288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E8A6E"/>
                </a:solidFill>
                <a:latin typeface="Arial"/>
                <a:ea typeface="Microsoft YaHei"/>
                <a:cs typeface="Microsoft YaHei"/>
              </a:rPr>
              <a:t>3 </a:t>
            </a:r>
            <a:r>
              <a:rPr sz="12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特性组合</a:t>
            </a:r>
          </a:p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接 Loop A 的 launch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32888" y="5440680"/>
            <a:ext cx="1737360" cy="6766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5875">
            <a:solidFill>
              <a:srgbClr val="1E8A6E"/>
            </a:solidFill>
          </a:ln>
        </p:spPr>
        <p:txBody>
          <a:bodyPr rtlCol="0" anchor="ctr" wrap="square" lIns="45720" tIns="18288" rIns="45720" bIns="18288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E8A6E"/>
                </a:solidFill>
                <a:latin typeface="Arial"/>
                <a:ea typeface="Microsoft YaHei"/>
                <a:cs typeface="Microsoft YaHei"/>
              </a:rPr>
              <a:t>4 </a:t>
            </a:r>
            <a:r>
              <a:rPr sz="12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仿真评估</a:t>
            </a:r>
          </a:p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TTFT · TPOT · SLO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53153" y="4572000"/>
            <a:ext cx="1737360" cy="6766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5875">
            <a:solidFill>
              <a:srgbClr val="8C96A1"/>
            </a:solidFill>
            <a:prstDash val="dash"/>
          </a:ln>
        </p:spPr>
        <p:txBody>
          <a:bodyPr rtlCol="0" anchor="ctr" wrap="square" lIns="45720" tIns="18288" rIns="45720" bIns="18288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E8A6E"/>
                </a:solidFill>
                <a:latin typeface="Arial"/>
                <a:ea typeface="Microsoft YaHei"/>
                <a:cs typeface="Microsoft YaHei"/>
              </a:rPr>
              <a:t>5 </a:t>
            </a:r>
            <a:r>
              <a:rPr sz="12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压测验证</a:t>
            </a:r>
          </a:p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目前人工执行命令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3153" y="2834639"/>
            <a:ext cx="1737360" cy="676656"/>
          </a:xfrm>
          <a:prstGeom prst="roundRect">
            <a:avLst>
              <a:gd name="adj" fmla="val 35000"/>
            </a:avLst>
          </a:prstGeom>
          <a:solidFill>
            <a:srgbClr val="FFFFFF"/>
          </a:solidFill>
          <a:ln w="15875">
            <a:solidFill>
              <a:srgbClr val="1E8A6E"/>
            </a:solidFill>
          </a:ln>
        </p:spPr>
        <p:txBody>
          <a:bodyPr rtlCol="0" anchor="ctr" wrap="square" lIns="45720" tIns="18288" rIns="45720" bIns="18288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>
                <a:solidFill>
                  <a:srgbClr val="1E8A6E"/>
                </a:solidFill>
                <a:latin typeface="Arial"/>
                <a:ea typeface="Microsoft YaHei"/>
                <a:cs typeface="Microsoft YaHei"/>
              </a:rPr>
              <a:t>6 </a:t>
            </a:r>
            <a:r>
              <a:rPr sz="12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校准回灌</a:t>
            </a:r>
          </a:p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拟合系数 · 重新规划</a:t>
            </a:r>
          </a:p>
        </p:txBody>
      </p:sp>
      <p:sp>
        <p:nvSpPr>
          <p:cNvPr id="15" name="Arc 14"/>
          <p:cNvSpPr/>
          <p:nvPr/>
        </p:nvSpPr>
        <p:spPr>
          <a:xfrm>
            <a:off x="1115568" y="2304288"/>
            <a:ext cx="4572000" cy="3474720"/>
          </a:xfrm>
          <a:prstGeom prst="arc">
            <a:avLst>
              <a:gd name="adj1" fmla="val 18063924"/>
              <a:gd name="adj2" fmla="val 19190006"/>
            </a:avLst>
          </a:prstGeom>
          <a:noFill/>
          <a:ln w="19050">
            <a:solidFill>
              <a:srgbClr val="1E8A6E"/>
            </a:solidFill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Arc 15"/>
          <p:cNvSpPr/>
          <p:nvPr/>
        </p:nvSpPr>
        <p:spPr>
          <a:xfrm>
            <a:off x="1115568" y="2304288"/>
            <a:ext cx="4572000" cy="3474720"/>
          </a:xfrm>
          <a:prstGeom prst="arc">
            <a:avLst>
              <a:gd name="adj1" fmla="val 20923446"/>
              <a:gd name="adj2" fmla="val 676553"/>
            </a:avLst>
          </a:prstGeom>
          <a:noFill/>
          <a:ln w="19050">
            <a:solidFill>
              <a:srgbClr val="1E8A6E"/>
            </a:solidFill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Arc 16"/>
          <p:cNvSpPr/>
          <p:nvPr/>
        </p:nvSpPr>
        <p:spPr>
          <a:xfrm>
            <a:off x="1115568" y="2304288"/>
            <a:ext cx="4572000" cy="3474720"/>
          </a:xfrm>
          <a:prstGeom prst="arc">
            <a:avLst>
              <a:gd name="adj1" fmla="val 2409993"/>
              <a:gd name="adj2" fmla="val 3536075"/>
            </a:avLst>
          </a:prstGeom>
          <a:noFill/>
          <a:ln w="19050">
            <a:solidFill>
              <a:srgbClr val="1E8A6E"/>
            </a:solidFill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Arc 17"/>
          <p:cNvSpPr/>
          <p:nvPr/>
        </p:nvSpPr>
        <p:spPr>
          <a:xfrm>
            <a:off x="1115568" y="2304288"/>
            <a:ext cx="4572000" cy="3474720"/>
          </a:xfrm>
          <a:prstGeom prst="arc">
            <a:avLst>
              <a:gd name="adj1" fmla="val 7263924"/>
              <a:gd name="adj2" fmla="val 8390006"/>
            </a:avLst>
          </a:prstGeom>
          <a:noFill/>
          <a:ln w="19050">
            <a:solidFill>
              <a:srgbClr val="1E8A6E"/>
            </a:solidFill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Arc 18"/>
          <p:cNvSpPr/>
          <p:nvPr/>
        </p:nvSpPr>
        <p:spPr>
          <a:xfrm>
            <a:off x="1115568" y="2304288"/>
            <a:ext cx="4572000" cy="3474720"/>
          </a:xfrm>
          <a:prstGeom prst="arc">
            <a:avLst>
              <a:gd name="adj1" fmla="val 10123446"/>
              <a:gd name="adj2" fmla="val 11476553"/>
            </a:avLst>
          </a:prstGeom>
          <a:noFill/>
          <a:ln w="19050">
            <a:solidFill>
              <a:srgbClr val="1E8A6E"/>
            </a:solidFill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Arc 19"/>
          <p:cNvSpPr/>
          <p:nvPr/>
        </p:nvSpPr>
        <p:spPr>
          <a:xfrm>
            <a:off x="1115568" y="2304288"/>
            <a:ext cx="4572000" cy="3474720"/>
          </a:xfrm>
          <a:prstGeom prst="arc">
            <a:avLst>
              <a:gd name="adj1" fmla="val 13209993"/>
              <a:gd name="adj2" fmla="val 14336075"/>
            </a:avLst>
          </a:prstGeom>
          <a:noFill/>
          <a:ln w="19050">
            <a:solidFill>
              <a:srgbClr val="1E8A6E"/>
            </a:solidFill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629400" y="1828800"/>
            <a:ext cx="310896" cy="310896"/>
          </a:xfrm>
          <a:prstGeom prst="ellipse">
            <a:avLst/>
          </a:prstGeom>
          <a:solidFill>
            <a:srgbClr val="1E8A6E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68312" y="1810512"/>
            <a:ext cx="4574743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候选方案怎么来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68312" y="2157984"/>
            <a:ext cx="4574743" cy="9144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latinLnBrk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先套 Loop A 调好的 launch；TTFT 先超标时试 prefill 更快的布局（prefill CP、关 DP attention），TPOT 先超标且没开投机解码时试 mixed chunk（1024 / 512 / 256）</a:t>
            </a:r>
          </a:p>
        </p:txBody>
      </p:sp>
      <p:sp>
        <p:nvSpPr>
          <p:cNvPr id="24" name="Oval 23"/>
          <p:cNvSpPr/>
          <p:nvPr/>
        </p:nvSpPr>
        <p:spPr>
          <a:xfrm>
            <a:off x="6629400" y="3008376"/>
            <a:ext cx="310896" cy="310896"/>
          </a:xfrm>
          <a:prstGeom prst="ellipse">
            <a:avLst/>
          </a:prstGeom>
          <a:solidFill>
            <a:srgbClr val="1E8A6E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68312" y="2990088"/>
            <a:ext cx="4574743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怎么算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68312" y="3337560"/>
            <a:ext cx="4574743" cy="9144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latinLnBrk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仿真 SGLang 调度：prefill 优先、chunked prefill、KV 准入与回收、DP rank 同步走 step；按 P90 判 SLO，二分搜索单机在 SLO 内的最大到达率</a:t>
            </a:r>
          </a:p>
        </p:txBody>
      </p:sp>
      <p:sp>
        <p:nvSpPr>
          <p:cNvPr id="27" name="Oval 26"/>
          <p:cNvSpPr/>
          <p:nvPr/>
        </p:nvSpPr>
        <p:spPr>
          <a:xfrm>
            <a:off x="6629400" y="4187951"/>
            <a:ext cx="310896" cy="310896"/>
          </a:xfrm>
          <a:prstGeom prst="ellipse">
            <a:avLst/>
          </a:prstGeom>
          <a:solidFill>
            <a:srgbClr val="1E8A6E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68312" y="4169663"/>
            <a:ext cx="4574743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怎么信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068312" y="4517136"/>
            <a:ext cx="4574743" cy="9144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latinLnBrk="0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server 日志拟合 prefill / decode 系数（实测 / 模型取中位数）；压测检查预测偏差是否在 ±20% 内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629400" y="5230368"/>
            <a:ext cx="5013655" cy="941832"/>
          </a:xfrm>
          <a:prstGeom prst="rect">
            <a:avLst/>
          </a:prstGeom>
          <a:solidFill>
            <a:srgbClr val="E2F2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93992" y="5303520"/>
            <a:ext cx="4739335" cy="8686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1E8A6E"/>
                </a:solidFill>
                <a:latin typeface="Microsoft YaHei"/>
                <a:ea typeface="Microsoft YaHei"/>
                <a:cs typeface="Microsoft YaHei"/>
              </a:rPr>
              <a:t>与 Loop C 的接口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100" b="1">
                <a:solidFill>
                  <a:srgbClr val="1E8A6E"/>
                </a:solidFill>
                <a:latin typeface="Microsoft YaHei"/>
                <a:ea typeface="Microsoft YaHei"/>
                <a:cs typeface="Microsoft YaHei"/>
              </a:rPr>
              <a:t>→ </a:t>
            </a:r>
            <a:r>
              <a:rPr sz="11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算子缺口按占 step 比例分级（≥10% 高、≥3% 中）交给 Loop C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0612C"/>
                </a:solidFill>
                <a:latin typeface="Microsoft YaHei"/>
                <a:ea typeface="Microsoft YaHei"/>
                <a:cs typeface="Microsoft YaHei"/>
              </a:rPr>
              <a:t>← </a:t>
            </a:r>
            <a:r>
              <a:rPr sz="11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算子实测耗时回来，校准成本模型后重新规划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28655" y="6382512"/>
            <a:ext cx="914400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727F"/>
                </a:solidFill>
                <a:latin typeface="Consolas"/>
                <a:ea typeface="Microsoft YaHei"/>
                <a:cs typeface="Microsoft YaHei"/>
              </a:rPr>
              <a:t>04 / 09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382512"/>
            <a:ext cx="9905695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虚线 = 规划中：自动拉起服务与压测（--allow-exec）、自动 A/B 调参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Arc 1"/>
          <p:cNvSpPr/>
          <p:nvPr/>
        </p:nvSpPr>
        <p:spPr>
          <a:xfrm>
            <a:off x="548640" y="374903"/>
            <a:ext cx="310896" cy="310896"/>
          </a:xfrm>
          <a:prstGeom prst="arc">
            <a:avLst>
              <a:gd name="adj1" fmla="val 18000000"/>
              <a:gd name="adj2" fmla="val 15000000"/>
            </a:avLst>
          </a:prstGeom>
          <a:noFill/>
          <a:ln w="19050">
            <a:solidFill>
              <a:srgbClr val="C0612C"/>
            </a:solidFill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74903"/>
            <a:ext cx="310896" cy="31089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C0612C"/>
                </a:solidFill>
                <a:latin typeface="Arial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9264" y="384048"/>
            <a:ext cx="8229600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C0612C"/>
                </a:solidFill>
                <a:latin typeface="Consolas"/>
                <a:ea typeface="Microsoft YaHei"/>
                <a:cs typeface="Microsoft YaHei"/>
              </a:rPr>
              <a:t>LOOP C · 助力算子绑定评估与优化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1094415" cy="53035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算子先查“绑没绑对”，再查“快不快”，按模型占比排优先级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261872"/>
            <a:ext cx="11094415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绑定 = 模型的每个算子在 SGLang 里最终分发到哪条实现。生成了 kernel，不等于模型用上了它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5349240" cy="36576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C0612C"/>
                </a:solidFill>
                <a:latin typeface="Microsoft YaHei"/>
                <a:ea typeface="Microsoft YaHei"/>
                <a:cs typeface="Microsoft YaHei"/>
              </a:rPr>
              <a:t>① 绑定评估：模型用上的是哪条实现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176272"/>
            <a:ext cx="5349240" cy="585216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txBody>
          <a:bodyPr rtlCol="0" anchor="ctr" wrap="square" lIns="146304" tIns="36576" bIns="36576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模型实际用到的算子族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norm · RoPE · 激活 · attention · KV 写入 · MoE · 线性层 · 通信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223260" y="2779776"/>
            <a:ext cx="0" cy="182880"/>
          </a:xfrm>
          <a:prstGeom prst="line">
            <a:avLst/>
          </a:prstGeom>
          <a:ln w="19050">
            <a:solidFill>
              <a:srgbClr val="8C96A1"/>
            </a:solidFill>
            <a:tailEnd type="triangle" w="med" len="med"/>
          </a:ln>
        </p:spPr>
      </p:cxnSp>
      <p:sp>
        <p:nvSpPr>
          <p:cNvPr id="10" name="Rectangle 9"/>
          <p:cNvSpPr/>
          <p:nvPr/>
        </p:nvSpPr>
        <p:spPr>
          <a:xfrm>
            <a:off x="548640" y="2999232"/>
            <a:ext cx="5349240" cy="585216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txBody>
          <a:bodyPr rtlCol="0" anchor="ctr" wrap="square" lIns="146304" tIns="36576" bIns="36576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SGLang 分发入口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算子分发类 · 注意力后端 · 量化方法 · 平台 hook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223260" y="3602736"/>
            <a:ext cx="0" cy="182879"/>
          </a:xfrm>
          <a:prstGeom prst="line">
            <a:avLst/>
          </a:prstGeom>
          <a:ln w="19050">
            <a:solidFill>
              <a:srgbClr val="8C96A1"/>
            </a:solidFill>
            <a:tailEnd type="triangle" w="med" len="med"/>
          </a:ln>
        </p:spPr>
      </p:cxnSp>
      <p:sp>
        <p:nvSpPr>
          <p:cNvPr id="12" name="Rectangle 11"/>
          <p:cNvSpPr/>
          <p:nvPr/>
        </p:nvSpPr>
        <p:spPr>
          <a:xfrm>
            <a:off x="548640" y="3822191"/>
            <a:ext cx="5349240" cy="932688"/>
          </a:xfrm>
          <a:prstGeom prst="rect">
            <a:avLst/>
          </a:prstGeom>
          <a:solidFill>
            <a:srgbClr val="FFFFFF"/>
          </a:solidFill>
          <a:ln w="12700">
            <a:solidFill>
              <a:srgbClr val="C0612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" y="3877055"/>
            <a:ext cx="5074920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M100 上实际走的路径</a:t>
            </a:r>
            <a:r>
              <a:rPr sz="10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　缺口按占 step 比例排序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76656" y="4187952"/>
            <a:ext cx="1636776" cy="246888"/>
          </a:xfrm>
          <a:prstGeom prst="roundRect">
            <a:avLst>
              <a:gd name="adj" fmla="val 50000"/>
            </a:avLst>
          </a:prstGeom>
          <a:solidFill>
            <a:srgbClr val="F6F7F9"/>
          </a:solidFill>
          <a:ln w="9525">
            <a:solidFill>
              <a:srgbClr val="DDE2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77240" y="4256532"/>
            <a:ext cx="109728" cy="109728"/>
          </a:xfrm>
          <a:prstGeom prst="ellipse">
            <a:avLst/>
          </a:prstGeom>
          <a:solidFill>
            <a:srgbClr val="1E8A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" y="4187952"/>
            <a:ext cx="1344168" cy="24688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厂商实现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395728" y="4187952"/>
            <a:ext cx="1636776" cy="246888"/>
          </a:xfrm>
          <a:prstGeom prst="roundRect">
            <a:avLst>
              <a:gd name="adj" fmla="val 50000"/>
            </a:avLst>
          </a:prstGeom>
          <a:solidFill>
            <a:srgbClr val="F6F7F9"/>
          </a:solidFill>
          <a:ln w="9525">
            <a:solidFill>
              <a:srgbClr val="DDE2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496312" y="4256532"/>
            <a:ext cx="109728" cy="109728"/>
          </a:xfrm>
          <a:prstGeom prst="ellipse">
            <a:avLst/>
          </a:prstGeom>
          <a:solidFill>
            <a:srgbClr val="1E8A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70048" y="4187952"/>
            <a:ext cx="1344168" cy="24688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SGLang 内置实现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114800" y="4187952"/>
            <a:ext cx="1636776" cy="246888"/>
          </a:xfrm>
          <a:prstGeom prst="roundRect">
            <a:avLst>
              <a:gd name="adj" fmla="val 50000"/>
            </a:avLst>
          </a:prstGeom>
          <a:solidFill>
            <a:srgbClr val="F6F7F9"/>
          </a:solidFill>
          <a:ln w="9525">
            <a:solidFill>
              <a:srgbClr val="DDE2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215384" y="4256532"/>
            <a:ext cx="109728" cy="109728"/>
          </a:xfrm>
          <a:prstGeom prst="ellipse">
            <a:avLst/>
          </a:prstGeom>
          <a:solidFill>
            <a:srgbClr val="C98A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389120" y="4187952"/>
            <a:ext cx="1344168" cy="24688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回落 torch 实现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6656" y="4498848"/>
            <a:ext cx="1636776" cy="246888"/>
          </a:xfrm>
          <a:prstGeom prst="roundRect">
            <a:avLst>
              <a:gd name="adj" fmla="val 50000"/>
            </a:avLst>
          </a:prstGeom>
          <a:solidFill>
            <a:srgbClr val="F6F7F9"/>
          </a:solidFill>
          <a:ln w="9525">
            <a:solidFill>
              <a:srgbClr val="DDE2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77240" y="4567428"/>
            <a:ext cx="109728" cy="109728"/>
          </a:xfrm>
          <a:prstGeom prst="ellipse">
            <a:avLst/>
          </a:prstGeom>
          <a:solidFill>
            <a:srgbClr val="C98A1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50976" y="4498848"/>
            <a:ext cx="1344168" cy="24688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能跑但有 host 同步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395728" y="4498848"/>
            <a:ext cx="1636776" cy="246888"/>
          </a:xfrm>
          <a:prstGeom prst="roundRect">
            <a:avLst>
              <a:gd name="adj" fmla="val 50000"/>
            </a:avLst>
          </a:prstGeom>
          <a:solidFill>
            <a:srgbClr val="F6F7F9"/>
          </a:solidFill>
          <a:ln w="9525">
            <a:solidFill>
              <a:srgbClr val="DDE2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496312" y="4567428"/>
            <a:ext cx="109728" cy="109728"/>
          </a:xfrm>
          <a:prstGeom prst="ellipse">
            <a:avLst/>
          </a:prstGeom>
          <a:solidFill>
            <a:srgbClr val="B438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70048" y="4498848"/>
            <a:ext cx="1344168" cy="24688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无可用实现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114800" y="4498848"/>
            <a:ext cx="1636776" cy="246888"/>
          </a:xfrm>
          <a:prstGeom prst="roundRect">
            <a:avLst>
              <a:gd name="adj" fmla="val 50000"/>
            </a:avLst>
          </a:prstGeom>
          <a:solidFill>
            <a:srgbClr val="F6F7F9"/>
          </a:solidFill>
          <a:ln w="9525">
            <a:solidFill>
              <a:srgbClr val="DDE2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4215384" y="4567428"/>
            <a:ext cx="109728" cy="109728"/>
          </a:xfrm>
          <a:prstGeom prst="ellipse">
            <a:avLst/>
          </a:prstGeom>
          <a:solidFill>
            <a:srgbClr val="B438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89120" y="4498848"/>
            <a:ext cx="1344168" cy="24688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当前配置会报错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919472"/>
            <a:ext cx="5349240" cy="1252728"/>
          </a:xfrm>
          <a:prstGeom prst="rect">
            <a:avLst/>
          </a:prstGeom>
          <a:solidFill>
            <a:srgbClr val="F8EA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3232" y="4992624"/>
            <a:ext cx="5020055" cy="1161288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</a:pPr>
            <a:r>
              <a:rPr sz="1250" b="1">
                <a:solidFill>
                  <a:srgbClr val="C0612C"/>
                </a:solidFill>
                <a:latin typeface="Microsoft YaHei"/>
                <a:ea typeface="Microsoft YaHei"/>
                <a:cs typeface="Microsoft YaHei"/>
              </a:rPr>
              <a:t>绑定陷阱：模型能跑通，注册的 kernel 却没被调用</a:t>
            </a:r>
          </a:p>
          <a:p>
            <a:pPr algn="l" latinLnBrk="0" marL="146304" indent="-146304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C0612C"/>
              </a:buClr>
              <a:buFont typeface="Arial"/>
              <a:buChar char="•"/>
            </a:pPr>
            <a:r>
              <a:rPr sz="11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register_oot_forward 只认精确类，子类不会继承注册</a:t>
            </a:r>
          </a:p>
          <a:p>
            <a:pPr algn="l" latinLnBrk="0" marL="146304" indent="-146304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>
                <a:srgbClr val="C0612C"/>
              </a:buClr>
              <a:buFont typeface="Arial"/>
              <a:buChar char="•"/>
            </a:pPr>
            <a:r>
              <a:rPr sz="11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类自己重写 forward() 又不走分发时，注册的 kernel 根本不会被调用</a:t>
            </a:r>
          </a:p>
          <a:p>
            <a:pPr algn="l" latinLnBrk="0" marL="146304" indent="-14630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0612C"/>
              </a:buClr>
              <a:buFont typeface="Arial"/>
              <a:buChar char="•"/>
            </a:pPr>
            <a:r>
              <a:rPr sz="11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Agent 从 SGLang 源码解析类继承链（MRO），直接标出这类路径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63640" y="1737360"/>
            <a:ext cx="5379415" cy="36576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C0612C"/>
                </a:solidFill>
                <a:latin typeface="Microsoft YaHei"/>
                <a:ea typeface="Microsoft YaHei"/>
                <a:cs typeface="Microsoft YaHei"/>
              </a:rPr>
              <a:t>② 性能评估与优化：慢在哪、值不值得改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6428231" y="2359152"/>
            <a:ext cx="0" cy="1947671"/>
          </a:xfrm>
          <a:prstGeom prst="line">
            <a:avLst/>
          </a:prstGeom>
          <a:ln w="15875">
            <a:solidFill>
              <a:srgbClr val="C5CCD4"/>
            </a:solidFill>
          </a:ln>
        </p:spPr>
      </p:cxnSp>
      <p:cxnSp>
        <p:nvCxnSpPr>
          <p:cNvPr id="36" name="Connector 35"/>
          <p:cNvCxnSpPr/>
          <p:nvPr/>
        </p:nvCxnSpPr>
        <p:spPr>
          <a:xfrm>
            <a:off x="6428231" y="4306823"/>
            <a:ext cx="0" cy="484633"/>
          </a:xfrm>
          <a:prstGeom prst="line">
            <a:avLst/>
          </a:prstGeom>
          <a:ln w="15875">
            <a:solidFill>
              <a:srgbClr val="C5CCD4"/>
            </a:solidFill>
            <a:prstDash val="dash"/>
          </a:ln>
        </p:spPr>
      </p:cxnSp>
      <p:sp>
        <p:nvSpPr>
          <p:cNvPr id="37" name="Oval 36"/>
          <p:cNvSpPr/>
          <p:nvPr/>
        </p:nvSpPr>
        <p:spPr>
          <a:xfrm>
            <a:off x="6263640" y="2194560"/>
            <a:ext cx="329184" cy="329184"/>
          </a:xfrm>
          <a:prstGeom prst="ellipse">
            <a:avLst/>
          </a:prstGeom>
          <a:solidFill>
            <a:srgbClr val="C0612C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720840" y="2167128"/>
            <a:ext cx="4922215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按真实形状算期望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20840" y="2450591"/>
            <a:ext cx="4922215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从 step 标注重建 batch 形状，用同一成本模型算各类 kernel 的期望耗时</a:t>
            </a:r>
          </a:p>
        </p:txBody>
      </p:sp>
      <p:sp>
        <p:nvSpPr>
          <p:cNvPr id="40" name="Oval 39"/>
          <p:cNvSpPr/>
          <p:nvPr/>
        </p:nvSpPr>
        <p:spPr>
          <a:xfrm>
            <a:off x="6263640" y="2843784"/>
            <a:ext cx="329184" cy="329184"/>
          </a:xfrm>
          <a:prstGeom prst="ellipse">
            <a:avLst/>
          </a:prstGeom>
          <a:solidFill>
            <a:srgbClr val="C0612C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720840" y="2816352"/>
            <a:ext cx="4922215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定位异常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720840" y="3099815"/>
            <a:ext cx="4922215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远低于屋顶线 · kernel 间空隙 · 未走图 · 耗时离群 · rank 不均衡</a:t>
            </a:r>
          </a:p>
        </p:txBody>
      </p:sp>
      <p:sp>
        <p:nvSpPr>
          <p:cNvPr id="43" name="Oval 42"/>
          <p:cNvSpPr/>
          <p:nvPr/>
        </p:nvSpPr>
        <p:spPr>
          <a:xfrm>
            <a:off x="6263640" y="3493008"/>
            <a:ext cx="329184" cy="329184"/>
          </a:xfrm>
          <a:prstGeom prst="ellipse">
            <a:avLst/>
          </a:prstGeom>
          <a:solidFill>
            <a:srgbClr val="C0612C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20840" y="3465576"/>
            <a:ext cx="4922215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匹配优化手段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720840" y="3749039"/>
            <a:ext cx="4922215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融合 · 通算重叠 · 多流 · L2 权重预取 · MoE 调优配置，按芯片能力取舍</a:t>
            </a:r>
          </a:p>
        </p:txBody>
      </p:sp>
      <p:sp>
        <p:nvSpPr>
          <p:cNvPr id="46" name="Oval 45"/>
          <p:cNvSpPr/>
          <p:nvPr/>
        </p:nvSpPr>
        <p:spPr>
          <a:xfrm>
            <a:off x="6263640" y="4142231"/>
            <a:ext cx="329184" cy="329184"/>
          </a:xfrm>
          <a:prstGeom prst="ellipse">
            <a:avLst/>
          </a:prstGeom>
          <a:solidFill>
            <a:srgbClr val="C0612C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720840" y="4114799"/>
            <a:ext cx="4922215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量化收益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720840" y="4398264"/>
            <a:ext cx="4922215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每条发现折算成 ms/step 与占比（≥10% 高、≥3% 中），交给 Loop B</a:t>
            </a:r>
          </a:p>
        </p:txBody>
      </p:sp>
      <p:sp>
        <p:nvSpPr>
          <p:cNvPr id="49" name="Oval 48"/>
          <p:cNvSpPr/>
          <p:nvPr/>
        </p:nvSpPr>
        <p:spPr>
          <a:xfrm>
            <a:off x="6263640" y="4791456"/>
            <a:ext cx="329184" cy="32918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6263640" y="4791456"/>
            <a:ext cx="329184" cy="329184"/>
          </a:xfrm>
          <a:prstGeom prst="ellipse">
            <a:avLst/>
          </a:prstGeom>
          <a:noFill/>
          <a:ln w="15875">
            <a:solidFill>
              <a:srgbClr val="8C96A1"/>
            </a:solidFill>
            <a:prstDash val="dash"/>
          </a:ln>
        </p:spPr>
        <p:txBody>
          <a:bodyPr rtlCol="0" anchor="ctr" wrap="square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8C96A1"/>
                </a:solidFill>
                <a:latin typeface="Arial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20840" y="4764024"/>
            <a:ext cx="4922215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A/B 复测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720840" y="5047488"/>
            <a:ext cx="4922215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规划中：自动执行；目前按报告里的命令人工复测</a:t>
            </a:r>
          </a:p>
        </p:txBody>
      </p:sp>
      <p:sp>
        <p:nvSpPr>
          <p:cNvPr id="53" name="Rectangle 52"/>
          <p:cNvSpPr/>
          <p:nvPr/>
        </p:nvSpPr>
        <p:spPr>
          <a:xfrm>
            <a:off x="6263640" y="5513832"/>
            <a:ext cx="5379415" cy="658368"/>
          </a:xfrm>
          <a:prstGeom prst="rect">
            <a:avLst/>
          </a:prstGeom>
          <a:solidFill>
            <a:srgbClr val="F6F7F9"/>
          </a:solidFill>
          <a:ln w="9525">
            <a:solidFill>
              <a:srgbClr val="8C96A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428231" y="5550408"/>
            <a:ext cx="5105095" cy="58521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与平台算子 Agent 的衔接（规划中）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平台 kernel → 核对是否被分发 → 真实形状复测 → Loop B 换算模型级收益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728655" y="6382512"/>
            <a:ext cx="914400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727F"/>
                </a:solidFill>
                <a:latin typeface="Consolas"/>
                <a:ea typeface="Microsoft YaHei"/>
                <a:cs typeface="Microsoft YaHei"/>
              </a:rPr>
              <a:t>05 / 09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6382512"/>
            <a:ext cx="9905695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状态取值与判定规则来自 SGLang 源码快照（72730d6）；虚线 = 规划中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66727F"/>
                </a:solidFill>
                <a:latin typeface="Consolas"/>
                <a:ea typeface="Microsoft YaHei"/>
                <a:cs typeface="Microsoft YaHei"/>
              </a:rPr>
              <a:t>差异 · 算子级 VS 模型级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415" cy="53035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与平台算子 Agent 互补：它把 kernel 做快，我们把模型跑好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61872"/>
            <a:ext cx="11094415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我们不止做算子级：以算子级结果为输入，一路评估到 step、调度和单机 SLO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783080"/>
            <a:ext cx="1600200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层级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31720" y="1783080"/>
            <a:ext cx="4892040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这一层要回答的问题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69480" y="1783080"/>
            <a:ext cx="1371600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谁来做 · 怎么做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95360" y="1947672"/>
            <a:ext cx="128016" cy="128016"/>
          </a:xfrm>
          <a:prstGeom prst="roundRect">
            <a:avLst>
              <a:gd name="adj" fmla="val 20000"/>
            </a:avLst>
          </a:prstGeom>
          <a:solidFill>
            <a:srgbClr val="1E8A6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778240" y="1783080"/>
            <a:ext cx="1024128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我们 · 模型级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802368" y="1947672"/>
            <a:ext cx="128016" cy="128016"/>
          </a:xfrm>
          <a:prstGeom prst="roundRect">
            <a:avLst>
              <a:gd name="adj" fmla="val 20000"/>
            </a:avLst>
          </a:prstGeom>
          <a:solidFill>
            <a:srgbClr val="35424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85248" y="1783080"/>
            <a:ext cx="1627632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平台算子 Agent · 算子级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331720"/>
            <a:ext cx="1600200" cy="530352"/>
          </a:xfrm>
          <a:prstGeom prst="rect">
            <a:avLst/>
          </a:prstGeom>
          <a:solidFill>
            <a:srgbClr val="E2F2EC"/>
          </a:solidFill>
          <a:ln>
            <a:noFill/>
          </a:ln>
        </p:spPr>
        <p:txBody>
          <a:bodyPr rtlCol="0" anchor="ctr" wrap="square" lIns="109728" tIns="0" rIns="54864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6727F"/>
                </a:solidFill>
                <a:latin typeface="Consolas"/>
                <a:ea typeface="Microsoft YaHei"/>
                <a:cs typeface="Microsoft YaHei"/>
              </a:rPr>
              <a:t>L5  </a:t>
            </a:r>
            <a:r>
              <a:rPr sz="12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单机 SLO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240280" y="2331720"/>
            <a:ext cx="4892040" cy="530352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txBody>
          <a:bodyPr rtlCol="0" anchor="ctr" wrap="square" lIns="128016" t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单机在 SLO 内能扛多少请求？先超标的是 TTFT 还是 TPOT？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69480" y="2331720"/>
            <a:ext cx="4373575" cy="530352"/>
          </a:xfrm>
          <a:prstGeom prst="rect">
            <a:avLst/>
          </a:prstGeom>
          <a:solidFill>
            <a:srgbClr val="1E8A6E"/>
          </a:solidFill>
          <a:ln>
            <a:noFill/>
          </a:ln>
        </p:spPr>
        <p:txBody>
          <a:bodyPr rtlCol="0" anchor="ctr" wrap="square" t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单机部署仿真：二分搜索 SLO 内最大到达率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2926079"/>
            <a:ext cx="1600200" cy="530352"/>
          </a:xfrm>
          <a:prstGeom prst="rect">
            <a:avLst/>
          </a:prstGeom>
          <a:solidFill>
            <a:srgbClr val="E2F2EC"/>
          </a:solidFill>
          <a:ln>
            <a:noFill/>
          </a:ln>
        </p:spPr>
        <p:txBody>
          <a:bodyPr rtlCol="0" anchor="ctr" wrap="square" lIns="109728" tIns="0" rIns="54864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6727F"/>
                </a:solidFill>
                <a:latin typeface="Consolas"/>
                <a:ea typeface="Microsoft YaHei"/>
                <a:cs typeface="Microsoft YaHei"/>
              </a:rPr>
              <a:t>L4  </a:t>
            </a:r>
            <a:r>
              <a:rPr sz="12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调度与特性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240280" y="2926079"/>
            <a:ext cx="4892040" cy="530352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txBody>
          <a:bodyPr rtlCol="0" anchor="ctr" wrap="square" lIns="128016" t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chunked prefill、DP attention、投机解码、HiCache 怎么开？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69480" y="2926079"/>
            <a:ext cx="4373575" cy="530352"/>
          </a:xfrm>
          <a:prstGeom prst="rect">
            <a:avLst/>
          </a:prstGeom>
          <a:solidFill>
            <a:srgbClr val="1E8A6E"/>
          </a:solidFill>
          <a:ln>
            <a:noFill/>
          </a:ln>
        </p:spPr>
        <p:txBody>
          <a:bodyPr rtlCol="0" anchor="ctr" wrap="square" t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特性顾问 + 调度仿真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520439"/>
            <a:ext cx="1600200" cy="530352"/>
          </a:xfrm>
          <a:prstGeom prst="rect">
            <a:avLst/>
          </a:prstGeom>
          <a:solidFill>
            <a:srgbClr val="F8EADF"/>
          </a:solidFill>
          <a:ln>
            <a:noFill/>
          </a:ln>
        </p:spPr>
        <p:txBody>
          <a:bodyPr rtlCol="0" anchor="ctr" wrap="square" lIns="109728" tIns="0" rIns="54864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6727F"/>
                </a:solidFill>
                <a:latin typeface="Consolas"/>
                <a:ea typeface="Microsoft YaHei"/>
                <a:cs typeface="Microsoft YaHei"/>
              </a:rPr>
              <a:t>L3  </a:t>
            </a:r>
            <a:r>
              <a:rPr sz="12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Step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240280" y="3520439"/>
            <a:ext cx="4892040" cy="530352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txBody>
          <a:bodyPr rtlCol="0" anchor="ctr" wrap="square" lIns="128016" t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真实 batch 形状下谁占大头？融合边界、通算重叠、多流、预取？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69480" y="3520439"/>
            <a:ext cx="4373575" cy="530352"/>
          </a:xfrm>
          <a:prstGeom prst="rect">
            <a:avLst/>
          </a:prstGeom>
          <a:solidFill>
            <a:srgbClr val="1E8A6E"/>
          </a:solidFill>
          <a:ln>
            <a:noFill/>
          </a:ln>
        </p:spPr>
        <p:txBody>
          <a:bodyPr rtlCol="0" anchor="ctr" wrap="square" t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trace 期望对实测；评估融合、通算重叠、多流、预取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114800"/>
            <a:ext cx="1600200" cy="530352"/>
          </a:xfrm>
          <a:prstGeom prst="rect">
            <a:avLst/>
          </a:prstGeom>
          <a:solidFill>
            <a:srgbClr val="F8EADF"/>
          </a:solidFill>
          <a:ln>
            <a:noFill/>
          </a:ln>
        </p:spPr>
        <p:txBody>
          <a:bodyPr rtlCol="0" anchor="ctr" wrap="square" lIns="109728" tIns="0" rIns="54864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6727F"/>
                </a:solidFill>
                <a:latin typeface="Consolas"/>
                <a:ea typeface="Microsoft YaHei"/>
                <a:cs typeface="Microsoft YaHei"/>
              </a:rPr>
              <a:t>L2  </a:t>
            </a:r>
            <a:r>
              <a:rPr sz="12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算子绑定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240280" y="4114800"/>
            <a:ext cx="4892040" cy="530352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txBody>
          <a:bodyPr rtlCol="0" anchor="ctr" wrap="square" lIns="128016" t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模型的每个算子分发到哪条实现？缺口在哪、影响多大？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269480" y="4114800"/>
            <a:ext cx="4373575" cy="530352"/>
          </a:xfrm>
          <a:prstGeom prst="rect">
            <a:avLst/>
          </a:prstGeom>
          <a:solidFill>
            <a:srgbClr val="1E8A6E"/>
          </a:solidFill>
          <a:ln>
            <a:noFill/>
          </a:ln>
        </p:spPr>
        <p:txBody>
          <a:bodyPr rtlCol="0" anchor="ctr" wrap="square" t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静态解析分发路径；缺口按占 step 比例排序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4709159"/>
            <a:ext cx="1600200" cy="530352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txBody>
          <a:bodyPr rtlCol="0" anchor="ctr" wrap="square" lIns="109728" tIns="0" rIns="54864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6727F"/>
                </a:solidFill>
                <a:latin typeface="Consolas"/>
                <a:ea typeface="Microsoft YaHei"/>
                <a:cs typeface="Microsoft YaHei"/>
              </a:rPr>
              <a:t>L1  </a:t>
            </a:r>
            <a:r>
              <a:rPr sz="12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Kernel 实现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240280" y="4709159"/>
            <a:ext cx="4892040" cy="530352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txBody>
          <a:bodyPr rtlCol="0" anchor="ctr" wrap="square" lIns="128016" t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单个 kernel 的 tiling、访存、指令怎么写最快？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69480" y="4709159"/>
            <a:ext cx="2141067" cy="530352"/>
          </a:xfrm>
          <a:prstGeom prst="rect">
            <a:avLst/>
          </a:prstGeom>
          <a:solidFill>
            <a:srgbClr val="35424F"/>
          </a:solidFill>
          <a:ln>
            <a:noFill/>
          </a:ln>
        </p:spPr>
        <p:txBody>
          <a:bodyPr rtlCol="0" anchor="ctr" wrap="square" lIns="54864" tIns="0" rIns="54864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生成与调优 kernel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01987" y="4709159"/>
            <a:ext cx="2141067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1E8A6E"/>
            </a:solidFill>
            <a:prstDash val="dash"/>
          </a:ln>
        </p:spPr>
        <p:txBody>
          <a:bodyPr rtlCol="0" anchor="ctr" wrap="square" lIns="54864" tIns="0" rIns="54864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E8A6E"/>
                </a:solidFill>
                <a:latin typeface="Microsoft YaHei"/>
                <a:ea typeface="Microsoft YaHei"/>
                <a:cs typeface="Microsoft YaHei"/>
              </a:rPr>
              <a:t>以平台 kernel 为输入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5413248"/>
            <a:ext cx="5432907" cy="786384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" y="5449824"/>
            <a:ext cx="5158587" cy="7132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评价口径不同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算子级：</a:t>
            </a: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kernel 耗时、离屋顶线还有多远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模型级：</a:t>
            </a: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单机 SLO 内容量、TTFT / TPOT、SLO 达成率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0147" y="5413248"/>
            <a:ext cx="5432907" cy="786384"/>
          </a:xfrm>
          <a:prstGeom prst="rect">
            <a:avLst/>
          </a:prstGeom>
          <a:solidFill>
            <a:srgbClr val="EEF1F4"/>
          </a:solidFill>
          <a:ln w="9525">
            <a:solidFill>
              <a:srgbClr val="8C96A1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74739" y="5449824"/>
            <a:ext cx="5158587" cy="7132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2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协作接口（规划中）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C0612C"/>
                </a:solidFill>
                <a:latin typeface="Microsoft YaHei"/>
                <a:ea typeface="Microsoft YaHei"/>
                <a:cs typeface="Microsoft YaHei"/>
              </a:rPr>
              <a:t>我们 → 平台：</a:t>
            </a: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按模型级收益排序的算子需求（目标 shape、绑定位置）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50" b="1">
                <a:solidFill>
                  <a:srgbClr val="C0612C"/>
                </a:solidFill>
                <a:latin typeface="Microsoft YaHei"/>
                <a:ea typeface="Microsoft YaHei"/>
                <a:cs typeface="Microsoft YaHei"/>
              </a:rPr>
              <a:t>平台 → 我们：</a:t>
            </a: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kernel；接入后由我们做模型级复测与校准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728655" y="6382512"/>
            <a:ext cx="914400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727F"/>
                </a:solidFill>
                <a:latin typeface="Consolas"/>
                <a:ea typeface="Microsoft YaHei"/>
                <a:cs typeface="Microsoft YaHei"/>
              </a:rPr>
              <a:t>06 / 09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382512"/>
            <a:ext cx="9905695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虚线 = 规划中：与平台算子 Agent 的自动对接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66727F"/>
                </a:solidFill>
                <a:latin typeface="Consolas"/>
                <a:ea typeface="Microsoft YaHei"/>
                <a:cs typeface="Microsoft YaHei"/>
              </a:rPr>
              <a:t>深挖 · 难点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415" cy="53035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难点：算子同样快 30%，单机容量可能只涨 2%，也可能涨 40%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61872"/>
            <a:ext cx="11094415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推演：Qwen3-32B · 单机 8 卡、单个 TP8 实例 · 成本模型 + 离散事件仿真；未经实测校准，只用来说明方法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1810512"/>
            <a:ext cx="1636776" cy="47548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单机 SLO 内容量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最大到达率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86584" y="1810512"/>
            <a:ext cx="1371600" cy="47548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基线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13048" y="1810512"/>
            <a:ext cx="1371600" cy="47548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attention</a:t>
            </a:r>
          </a:p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耗时 −30%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39512" y="1810512"/>
            <a:ext cx="1371600" cy="47548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GEMM</a:t>
            </a:r>
          </a:p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耗时 −30%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359152"/>
            <a:ext cx="1783080" cy="1280160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txBody>
          <a:bodyPr rtlCol="0" anchor="ctr" wrap="square" lIns="146304" tIns="36576" rIns="73152" bIns="36576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chat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输入 1–4K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P90 TTFT ≤ 2 s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P90 TPOT ≤ 50 ms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86584" y="2359152"/>
            <a:ext cx="1371600" cy="128016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386584" y="2523744"/>
            <a:ext cx="1371600" cy="54864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6202A"/>
                </a:solidFill>
                <a:latin typeface="Arial"/>
                <a:ea typeface="Microsoft YaHei"/>
                <a:cs typeface="Microsoft YaHei"/>
              </a:rPr>
              <a:t>2.69</a:t>
            </a:r>
            <a:r>
              <a:rPr sz="11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 req/s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32303" y="3108960"/>
            <a:ext cx="1280160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TTFT 先超标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13048" y="2359152"/>
            <a:ext cx="137160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13048" y="2523744"/>
            <a:ext cx="1371600" cy="54864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8C96A1"/>
                </a:solidFill>
                <a:latin typeface="Arial"/>
                <a:ea typeface="Microsoft YaHei"/>
                <a:cs typeface="Microsoft YaHei"/>
              </a:rPr>
              <a:t>+1.7%</a:t>
            </a:r>
            <a:r>
              <a:rPr sz="1100" b="1">
                <a:solidFill>
                  <a:srgbClr val="8C96A1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58768" y="3108960"/>
            <a:ext cx="1280160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2.74 req/s</a:t>
            </a:r>
          </a:p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仍是 TTFT 先超标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39512" y="2359152"/>
            <a:ext cx="1371600" cy="1280160"/>
          </a:xfrm>
          <a:prstGeom prst="rect">
            <a:avLst/>
          </a:prstGeom>
          <a:solidFill>
            <a:srgbClr val="E2F2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39512" y="2523744"/>
            <a:ext cx="1371600" cy="54864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E8A6E"/>
                </a:solidFill>
                <a:latin typeface="Arial"/>
                <a:ea typeface="Microsoft YaHei"/>
                <a:cs typeface="Microsoft YaHei"/>
              </a:rPr>
              <a:t>+40%</a:t>
            </a:r>
            <a:r>
              <a:rPr sz="1100" b="1">
                <a:solidFill>
                  <a:srgbClr val="1E8A6E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85232" y="3108960"/>
            <a:ext cx="1280160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3.75 req/s</a:t>
            </a:r>
          </a:p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仍是 TTFT 先超标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3730752"/>
            <a:ext cx="1783080" cy="1280160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txBody>
          <a:bodyPr rtlCol="0" anchor="ctr" wrap="square" lIns="146304" tIns="36576" rIns="73152" bIns="36576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500"/>
              </a:spcAft>
            </a:pPr>
            <a:r>
              <a:rPr sz="14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长上下文 RAG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输入 25–32K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P90 TTFT ≤ 8 s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P90 TPOT ≤ 60 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386584" y="3730752"/>
            <a:ext cx="1371600" cy="1280160"/>
          </a:xfrm>
          <a:prstGeom prst="rect">
            <a:avLst/>
          </a:prstGeom>
          <a:solidFill>
            <a:srgbClr val="F6F7F9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386584" y="3895344"/>
            <a:ext cx="1371600" cy="54864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6202A"/>
                </a:solidFill>
                <a:latin typeface="Arial"/>
                <a:ea typeface="Microsoft YaHei"/>
                <a:cs typeface="Microsoft YaHei"/>
              </a:rPr>
              <a:t>5.8</a:t>
            </a:r>
            <a:r>
              <a:rPr sz="11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 req/min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32303" y="4480560"/>
            <a:ext cx="1280160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TTFT 先超标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813048" y="3730752"/>
            <a:ext cx="137160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813048" y="3895344"/>
            <a:ext cx="1371600" cy="54864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E8A6E"/>
                </a:solidFill>
                <a:latin typeface="Arial"/>
                <a:ea typeface="Microsoft YaHei"/>
                <a:cs typeface="Microsoft YaHei"/>
              </a:rPr>
              <a:t>+21%</a:t>
            </a:r>
            <a:r>
              <a:rPr sz="1100" b="1">
                <a:solidFill>
                  <a:srgbClr val="1E8A6E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858768" y="4480560"/>
            <a:ext cx="1280160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7.0 req/min</a:t>
            </a:r>
          </a:p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C0612C"/>
                </a:solidFill>
                <a:latin typeface="Microsoft YaHei"/>
                <a:ea typeface="Microsoft YaHei"/>
                <a:cs typeface="Microsoft YaHei"/>
              </a:rPr>
              <a:t>转为 TPOT 先超标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239512" y="3730752"/>
            <a:ext cx="1371600" cy="1280160"/>
          </a:xfrm>
          <a:prstGeom prst="rect">
            <a:avLst/>
          </a:prstGeom>
          <a:solidFill>
            <a:srgbClr val="FFFFFF"/>
          </a:solidFill>
          <a:ln w="9525">
            <a:solidFill>
              <a:srgbClr val="DDE2E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239512" y="3895344"/>
            <a:ext cx="1371600" cy="54864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E8A6E"/>
                </a:solidFill>
                <a:latin typeface="Arial"/>
                <a:ea typeface="Microsoft YaHei"/>
                <a:cs typeface="Microsoft YaHei"/>
              </a:rPr>
              <a:t>+31%</a:t>
            </a:r>
            <a:r>
              <a:rPr sz="1100" b="1">
                <a:solidFill>
                  <a:srgbClr val="1E8A6E"/>
                </a:solidFill>
                <a:latin typeface="Microsoft YaHei"/>
                <a:ea typeface="Microsoft YaHei"/>
                <a:cs typeface="Microsoft YaHei"/>
              </a:rPr>
              <a:t/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285232" y="4480560"/>
            <a:ext cx="1280160" cy="45720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7.6 req/min</a:t>
            </a:r>
          </a:p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C0612C"/>
                </a:solidFill>
                <a:latin typeface="Microsoft YaHei"/>
                <a:ea typeface="Microsoft YaHei"/>
                <a:cs typeface="Microsoft YaHei"/>
              </a:rPr>
              <a:t>转为 TPOT 先超标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084064"/>
            <a:ext cx="6062472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100"/>
              </a:spcAft>
            </a:pPr>
            <a:r>
              <a:rPr sz="10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芯片参数暂用内置 H20 预设（公开规格 + 默认效率假设）；M100 规格写入 YAML 即可重跑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基线 = 单个 TP8 实例 + EAGLE3（接受率假设 0.7）；launch 固定，只改算子耗时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1810512"/>
            <a:ext cx="4785055" cy="36576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为什么不能直接换算</a:t>
            </a:r>
          </a:p>
        </p:txBody>
      </p:sp>
      <p:sp>
        <p:nvSpPr>
          <p:cNvPr id="31" name="Oval 30"/>
          <p:cNvSpPr/>
          <p:nvPr/>
        </p:nvSpPr>
        <p:spPr>
          <a:xfrm>
            <a:off x="6858000" y="2267712"/>
            <a:ext cx="292608" cy="292608"/>
          </a:xfrm>
          <a:prstGeom prst="ellipse">
            <a:avLst/>
          </a:prstGeom>
          <a:solidFill>
            <a:srgbClr val="C0612C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69480" y="2240280"/>
            <a:ext cx="4373575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占比随形状变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69480" y="2578608"/>
            <a:ext cx="4373575" cy="23774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prefill 里 attention 的占比：4K 输入约 7%，32K 约 38%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269480" y="2871215"/>
            <a:ext cx="420624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6727F"/>
                </a:solidFill>
                <a:latin typeface="Consolas"/>
                <a:ea typeface="Microsoft YaHei"/>
                <a:cs typeface="Microsoft YaHei"/>
              </a:rPr>
              <a:t>4K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744968" y="2907791"/>
            <a:ext cx="3196431" cy="219456"/>
          </a:xfrm>
          <a:prstGeom prst="rect">
            <a:avLst/>
          </a:prstGeom>
          <a:solidFill>
            <a:srgbClr val="7D8894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GEMM 82%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941399" y="2907791"/>
            <a:ext cx="272866" cy="219456"/>
          </a:xfrm>
          <a:prstGeom prst="rect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11214265" y="2907791"/>
            <a:ext cx="428789" cy="219456"/>
          </a:xfrm>
          <a:prstGeom prst="rect">
            <a:avLst/>
          </a:prstGeom>
          <a:solidFill>
            <a:srgbClr val="D3D8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69480" y="3145536"/>
            <a:ext cx="420624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>
                <a:solidFill>
                  <a:srgbClr val="66727F"/>
                </a:solidFill>
                <a:latin typeface="Consolas"/>
                <a:ea typeface="Microsoft YaHei"/>
                <a:cs typeface="Microsoft YaHei"/>
              </a:rPr>
              <a:t>32K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744968" y="3182112"/>
            <a:ext cx="2143947" cy="219456"/>
          </a:xfrm>
          <a:prstGeom prst="rect">
            <a:avLst/>
          </a:prstGeom>
          <a:solidFill>
            <a:srgbClr val="7D8894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GEMM 55%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888915" y="3182112"/>
            <a:ext cx="1481273" cy="219456"/>
          </a:xfrm>
          <a:prstGeom prst="rect">
            <a:avLst/>
          </a:prstGeom>
          <a:solidFill>
            <a:srgbClr val="C0612C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attention 38%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1370189" y="3182112"/>
            <a:ext cx="272866" cy="219456"/>
          </a:xfrm>
          <a:prstGeom prst="rect">
            <a:avLst/>
          </a:prstGeom>
          <a:solidFill>
            <a:srgbClr val="D3D8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7744968" y="3488436"/>
            <a:ext cx="118872" cy="118872"/>
          </a:xfrm>
          <a:prstGeom prst="rect">
            <a:avLst/>
          </a:prstGeom>
          <a:solidFill>
            <a:srgbClr val="7D889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909560" y="3438144"/>
            <a:ext cx="566928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GEMM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476488" y="3488436"/>
            <a:ext cx="118872" cy="118872"/>
          </a:xfrm>
          <a:prstGeom prst="rect">
            <a:avLst/>
          </a:prstGeom>
          <a:solidFill>
            <a:srgbClr val="C0612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641080" y="3438144"/>
            <a:ext cx="768096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attention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409176" y="3488436"/>
            <a:ext cx="118872" cy="118872"/>
          </a:xfrm>
          <a:prstGeom prst="rect">
            <a:avLst/>
          </a:prstGeom>
          <a:solidFill>
            <a:srgbClr val="D3D8D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573768" y="3438144"/>
            <a:ext cx="841248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通信等其他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415016" y="3438144"/>
            <a:ext cx="1228039" cy="21945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0">
                <a:solidFill>
                  <a:srgbClr val="8C96A1"/>
                </a:solidFill>
                <a:latin typeface="Microsoft YaHei"/>
                <a:ea typeface="Microsoft YaHei"/>
                <a:cs typeface="Microsoft YaHei"/>
              </a:rPr>
              <a:t>TP8 估算</a:t>
            </a:r>
          </a:p>
        </p:txBody>
      </p:sp>
      <p:sp>
        <p:nvSpPr>
          <p:cNvPr id="49" name="Oval 48"/>
          <p:cNvSpPr/>
          <p:nvPr/>
        </p:nvSpPr>
        <p:spPr>
          <a:xfrm>
            <a:off x="6858000" y="3730752"/>
            <a:ext cx="292608" cy="292608"/>
          </a:xfrm>
          <a:prstGeom prst="ellipse">
            <a:avLst/>
          </a:prstGeom>
          <a:solidFill>
            <a:srgbClr val="C0612C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69480" y="3703320"/>
            <a:ext cx="4373575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先超标的指标决定哪段有用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69480" y="4041648"/>
            <a:ext cx="4373575" cy="6400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chat 先超标的是 TTFT，prefill 约八成时间在 GEMM：GEMM 快 30%，容量 +40%（TTFT 含排队，提速被放大）；attention 只占约 7%，仅 +1.7%</a:t>
            </a:r>
          </a:p>
        </p:txBody>
      </p:sp>
      <p:sp>
        <p:nvSpPr>
          <p:cNvPr id="52" name="Oval 51"/>
          <p:cNvSpPr/>
          <p:nvPr/>
        </p:nvSpPr>
        <p:spPr>
          <a:xfrm>
            <a:off x="6858000" y="4700016"/>
            <a:ext cx="292608" cy="292608"/>
          </a:xfrm>
          <a:prstGeom prst="ellipse">
            <a:avLst/>
          </a:prstGeom>
          <a:solidFill>
            <a:srgbClr val="C0612C"/>
          </a:solidFill>
          <a:ln>
            <a:noFill/>
          </a:ln>
        </p:spPr>
        <p:txBody>
          <a:bodyPr rtlCol="0" anchor="ctr" wrap="square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Arial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269480" y="4672583"/>
            <a:ext cx="4373575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瓶颈会转移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69480" y="5010912"/>
            <a:ext cx="4373575" cy="50292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latinLnBrk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RAG 两种提速后，先超标的都从 TTFT 变成 TPOT：下一轮先优化谁，要按新瓶颈重新排</a:t>
            </a:r>
          </a:p>
        </p:txBody>
      </p:sp>
      <p:sp>
        <p:nvSpPr>
          <p:cNvPr id="55" name="Rectangle 54"/>
          <p:cNvSpPr/>
          <p:nvPr/>
        </p:nvSpPr>
        <p:spPr>
          <a:xfrm>
            <a:off x="548640" y="5559552"/>
            <a:ext cx="11094415" cy="640080"/>
          </a:xfrm>
          <a:prstGeom prst="rect">
            <a:avLst/>
          </a:prstGeom>
          <a:solidFill>
            <a:srgbClr val="16202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22959" y="5559552"/>
            <a:ext cx="10545775" cy="64008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结论：算子优化值不值得做、先做哪个，要放到</a:t>
            </a:r>
            <a:r>
              <a:rPr sz="1300" b="1">
                <a:solidFill>
                  <a:srgbClr val="F2B233"/>
                </a:solidFill>
                <a:latin typeface="Microsoft YaHei"/>
                <a:ea typeface="Microsoft YaHei"/>
                <a:cs typeface="Microsoft YaHei"/>
              </a:rPr>
              <a:t>“负载 + SLO + 部署”</a:t>
            </a: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里算——这正是模型级 Agent 的工作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728655" y="6382512"/>
            <a:ext cx="914400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727F"/>
                </a:solidFill>
                <a:latin typeface="Consolas"/>
                <a:ea typeface="Microsoft YaHei"/>
                <a:cs typeface="Microsoft YaHei"/>
              </a:rPr>
              <a:t>07 / 09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8640" y="6382512"/>
            <a:ext cx="9905695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复现：deploy --model qwen3-32b --hardware h20 --sizes 8 --no-pd 取基线 launch；launch 固定，用脚本把算子耗时 ×0.7 后重测单机容量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84048"/>
            <a:ext cx="8229600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66727F"/>
                </a:solidFill>
                <a:latin typeface="Consolas"/>
                <a:ea typeface="Microsoft YaHei"/>
                <a:cs typeface="Microsoft YaHei"/>
              </a:rPr>
              <a:t>深挖 · 解法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31520"/>
            <a:ext cx="11094415" cy="53035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5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解法：一条从 kernel 算到单机容量的换算链，实测校准后再做决策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61872"/>
            <a:ext cx="11094415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五层共用同一套模型和参数：算子、特性、布局任何一处变化，都能一路传到 SLO 和单机容量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19072"/>
            <a:ext cx="914400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C0612C"/>
                </a:solidFill>
                <a:latin typeface="Microsoft YaHei"/>
                <a:ea typeface="Microsoft YaHei"/>
                <a:cs typeface="Microsoft YaHei"/>
              </a:rPr>
              <a:t>算子级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1719072"/>
            <a:ext cx="914400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E8A6E"/>
                </a:solidFill>
                <a:latin typeface="Microsoft YaHei"/>
                <a:ea typeface="Microsoft YaHei"/>
                <a:cs typeface="Microsoft YaHei"/>
              </a:rPr>
              <a:t>模型级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234440" y="1856231"/>
            <a:ext cx="9722815" cy="0"/>
          </a:xfrm>
          <a:prstGeom prst="line">
            <a:avLst/>
          </a:prstGeom>
          <a:ln w="15875">
            <a:solidFill>
              <a:srgbClr val="C5CCD4"/>
            </a:solidFill>
            <a:tailEnd type="triangle" w="med" len="med"/>
          </a:ln>
        </p:spPr>
      </p:cxnSp>
      <p:sp>
        <p:nvSpPr>
          <p:cNvPr id="8" name="Rectangle 7"/>
          <p:cNvSpPr/>
          <p:nvPr/>
        </p:nvSpPr>
        <p:spPr>
          <a:xfrm>
            <a:off x="548640" y="2103120"/>
            <a:ext cx="1993392" cy="1737360"/>
          </a:xfrm>
          <a:prstGeom prst="rect">
            <a:avLst/>
          </a:prstGeom>
          <a:solidFill>
            <a:srgbClr val="F8EA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94944" y="2231136"/>
            <a:ext cx="1773936" cy="15544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C0612C"/>
                </a:solidFill>
                <a:latin typeface="Consolas"/>
                <a:ea typeface="Microsoft YaHei"/>
                <a:cs typeface="Microsoft YaHei"/>
              </a:rPr>
              <a:t>KERNEL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算子耗时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roofline：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max(算力, 访存)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+ launch / 图间隙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+ α-β 通信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效率系数取自芯片 YAML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16352" y="2103120"/>
            <a:ext cx="1993392" cy="1737360"/>
          </a:xfrm>
          <a:prstGeom prst="rect">
            <a:avLst/>
          </a:prstGeom>
          <a:solidFill>
            <a:srgbClr val="F8EAD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62656" y="2231136"/>
            <a:ext cx="1773936" cy="15544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C0612C"/>
                </a:solidFill>
                <a:latin typeface="Consolas"/>
                <a:ea typeface="Microsoft YaHei"/>
                <a:cs typeface="Microsoft YaHei"/>
              </a:rPr>
              <a:t>STEP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单步耗时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按真实 batch 形状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逐层累加各类算子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prefill / decode / mixed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trace 的形状从 step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标注里重建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87752" y="2971800"/>
            <a:ext cx="182880" cy="0"/>
          </a:xfrm>
          <a:prstGeom prst="line">
            <a:avLst/>
          </a:prstGeom>
          <a:ln w="19050">
            <a:solidFill>
              <a:srgbClr val="66727F"/>
            </a:solidFill>
            <a:tailEnd type="triangle" w="med" len="med"/>
          </a:ln>
        </p:spPr>
      </p:cxnSp>
      <p:sp>
        <p:nvSpPr>
          <p:cNvPr id="13" name="Rectangle 12"/>
          <p:cNvSpPr/>
          <p:nvPr/>
        </p:nvSpPr>
        <p:spPr>
          <a:xfrm>
            <a:off x="5084064" y="2103120"/>
            <a:ext cx="1993392" cy="1737360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30368" y="2231136"/>
            <a:ext cx="1773936" cy="15544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35424F"/>
                </a:solidFill>
                <a:latin typeface="Consolas"/>
                <a:ea typeface="Microsoft YaHei"/>
                <a:cs typeface="Microsoft YaHei"/>
              </a:rPr>
              <a:t>SCHEDULE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请求时延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离散事件仿真 SGLang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prefill 优先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chunked prefill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KV 准入与回收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DP rank 同步走 step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855464" y="2971800"/>
            <a:ext cx="182880" cy="0"/>
          </a:xfrm>
          <a:prstGeom prst="line">
            <a:avLst/>
          </a:prstGeom>
          <a:ln w="19050">
            <a:solidFill>
              <a:srgbClr val="66727F"/>
            </a:solidFill>
            <a:tailEnd type="triangle" w="med" len="med"/>
          </a:ln>
        </p:spPr>
      </p:cxnSp>
      <p:sp>
        <p:nvSpPr>
          <p:cNvPr id="16" name="Rectangle 15"/>
          <p:cNvSpPr/>
          <p:nvPr/>
        </p:nvSpPr>
        <p:spPr>
          <a:xfrm>
            <a:off x="7351775" y="2103120"/>
            <a:ext cx="1993392" cy="1737360"/>
          </a:xfrm>
          <a:prstGeom prst="rect">
            <a:avLst/>
          </a:prstGeom>
          <a:solidFill>
            <a:srgbClr val="E2F2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79" y="2231136"/>
            <a:ext cx="1773936" cy="15544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E8A6E"/>
                </a:solidFill>
                <a:latin typeface="Consolas"/>
                <a:ea typeface="Microsoft YaHei"/>
                <a:cs typeface="Microsoft YaHei"/>
              </a:rPr>
              <a:t>SLO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SLO 判定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按 P90 判 TTFT / TPOT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统计 SLO 达成率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标出先超标的指标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7123175" y="2971800"/>
            <a:ext cx="182880" cy="0"/>
          </a:xfrm>
          <a:prstGeom prst="line">
            <a:avLst/>
          </a:prstGeom>
          <a:ln w="19050">
            <a:solidFill>
              <a:srgbClr val="66727F"/>
            </a:solidFill>
            <a:tailEnd type="triangle" w="med" len="med"/>
          </a:ln>
        </p:spPr>
      </p:cxnSp>
      <p:sp>
        <p:nvSpPr>
          <p:cNvPr id="19" name="Rectangle 18"/>
          <p:cNvSpPr/>
          <p:nvPr/>
        </p:nvSpPr>
        <p:spPr>
          <a:xfrm>
            <a:off x="9619488" y="2103120"/>
            <a:ext cx="1993392" cy="1737360"/>
          </a:xfrm>
          <a:prstGeom prst="rect">
            <a:avLst/>
          </a:prstGeom>
          <a:solidFill>
            <a:srgbClr val="E2F2E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65792" y="2231136"/>
            <a:ext cx="1773936" cy="1554480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00" b="1">
                <a:solidFill>
                  <a:srgbClr val="1E8A6E"/>
                </a:solidFill>
                <a:latin typeface="Consolas"/>
                <a:ea typeface="Microsoft YaHei"/>
                <a:cs typeface="Microsoft YaHei"/>
              </a:rPr>
              <a:t>CAPACITY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</a:pPr>
            <a:r>
              <a:rPr sz="150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单机容量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二分搜索 SLO 内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最大到达率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候选配置逐个比较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25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取容量最高的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390888" y="2971800"/>
            <a:ext cx="182879" cy="0"/>
          </a:xfrm>
          <a:prstGeom prst="line">
            <a:avLst/>
          </a:prstGeom>
          <a:ln w="19050">
            <a:solidFill>
              <a:srgbClr val="66727F"/>
            </a:solidFill>
            <a:tailEnd type="triangle" w="med" len="med"/>
          </a:ln>
        </p:spPr>
      </p:cxnSp>
      <p:sp>
        <p:nvSpPr>
          <p:cNvPr id="22" name="Freeform 21"/>
          <p:cNvSpPr/>
          <p:nvPr/>
        </p:nvSpPr>
        <p:spPr>
          <a:xfrm>
            <a:off x="1545336" y="3840479"/>
            <a:ext cx="9070848" cy="274320"/>
          </a:xfrm>
          <a:custGeom>
            <a:avLst/>
            <a:gdLst/>
            <a:ahLst/>
            <a:cxnLst/>
            <a:rect l="l" t="t" r="r" b="b"/>
            <a:pathLst>
              <a:path w="9070848" h="274320">
                <a:moveTo>
                  <a:pt x="9070848" y="0"/>
                </a:moveTo>
                <a:lnTo>
                  <a:pt x="9070848" y="274320"/>
                </a:lnTo>
                <a:lnTo>
                  <a:pt x="0" y="274320"/>
                </a:lnTo>
                <a:lnTo>
                  <a:pt x="0" y="0"/>
                </a:lnTo>
              </a:path>
            </a:pathLst>
          </a:custGeom>
          <a:noFill/>
          <a:ln w="15875">
            <a:solidFill>
              <a:srgbClr val="66727F"/>
            </a:solidFill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773936" y="4160519"/>
            <a:ext cx="8613648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实测校准　</a:t>
            </a: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server 日志拟合 prefill / decode 系数；压测检查预测偏差是否在 ±20% 内；校准后重新规划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663440"/>
            <a:ext cx="11094415" cy="329184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Agent 怎么用这条链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065776"/>
            <a:ext cx="3545738" cy="1024128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4944" y="5175504"/>
            <a:ext cx="2503322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排优先级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289706" y="5202936"/>
            <a:ext cx="658368" cy="228600"/>
          </a:xfrm>
          <a:prstGeom prst="roundRect">
            <a:avLst>
              <a:gd name="adj" fmla="val 50000"/>
            </a:avLst>
          </a:prstGeom>
          <a:solidFill>
            <a:srgbClr val="E2F2EC"/>
          </a:solidFill>
          <a:ln>
            <a:noFill/>
          </a:ln>
        </p:spPr>
        <p:txBody>
          <a:bodyPr rtlCol="0" anchor="ctr" wrap="square" lIns="18288" tIns="0" rIns="18288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1E8A6E"/>
                </a:solidFill>
                <a:latin typeface="Microsoft YaHei"/>
                <a:ea typeface="Microsoft YaHei"/>
                <a:cs typeface="Microsoft YaHei"/>
              </a:rPr>
              <a:t>已实现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4944" y="5522976"/>
            <a:ext cx="3307994" cy="51206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算子缺口、融合 / 重叠 / 异常等发现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都折算成 ms/step 与占 step 比例来分级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22978" y="5065776"/>
            <a:ext cx="3545738" cy="1024128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469282" y="5175504"/>
            <a:ext cx="1835810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what-if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396532" y="5202936"/>
            <a:ext cx="1325880" cy="22860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8C96A1"/>
            </a:solidFill>
            <a:prstDash val="dash"/>
          </a:ln>
        </p:spPr>
        <p:txBody>
          <a:bodyPr rtlCol="0" anchor="ctr" wrap="square" lIns="18288" tIns="0" rIns="18288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规划中：做成命令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69282" y="5522976"/>
            <a:ext cx="3307994" cy="51206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算子提速 → 重新仿真 → 单机容量变化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上一页的推演就是用这条链手工跑的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097316" y="5065776"/>
            <a:ext cx="3545738" cy="1024128"/>
          </a:xfrm>
          <a:prstGeom prst="rect">
            <a:avLst/>
          </a:prstGeom>
          <a:solidFill>
            <a:srgbClr val="EEF1F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43620" y="5175504"/>
            <a:ext cx="2503322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6202A"/>
                </a:solidFill>
                <a:latin typeface="Microsoft YaHei"/>
                <a:ea typeface="Microsoft YaHei"/>
                <a:cs typeface="Microsoft YaHei"/>
              </a:rPr>
              <a:t>向 Loop C 与平台提需求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838383" y="5202936"/>
            <a:ext cx="658368" cy="22860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8C96A1"/>
            </a:solidFill>
            <a:prstDash val="dash"/>
          </a:ln>
        </p:spPr>
        <p:txBody>
          <a:bodyPr rtlCol="0" anchor="ctr" wrap="square" lIns="18288" tIns="0" rIns="18288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50" b="1">
                <a:solidFill>
                  <a:srgbClr val="66727F"/>
                </a:solidFill>
                <a:latin typeface="Microsoft YaHei"/>
                <a:ea typeface="Microsoft YaHei"/>
                <a:cs typeface="Microsoft YaHei"/>
              </a:rPr>
              <a:t>规划中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43620" y="5522976"/>
            <a:ext cx="3307994" cy="512064"/>
          </a:xfrm>
          <a:prstGeom prst="rect">
            <a:avLst/>
          </a:prstGeom>
          <a:noFill/>
        </p:spPr>
        <p:txBody>
          <a:bodyPr wrap="square" anchor="t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从“把 X 做快”</a:t>
            </a:r>
          </a:p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</a:pPr>
            <a:r>
              <a:rPr sz="1050" b="0">
                <a:solidFill>
                  <a:srgbClr val="35424F"/>
                </a:solidFill>
                <a:latin typeface="Microsoft YaHei"/>
                <a:ea typeface="Microsoft YaHei"/>
                <a:cs typeface="Microsoft YaHei"/>
              </a:rPr>
              <a:t>变成“这些 shape 下快多少、单机容量涨多少”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28655" y="6382512"/>
            <a:ext cx="914400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66727F"/>
                </a:solidFill>
                <a:latin typeface="Consolas"/>
                <a:ea typeface="Microsoft YaHei"/>
                <a:cs typeface="Microsoft YaHei"/>
              </a:rPr>
              <a:t>08 / 09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0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7315200" cy="29260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2B233"/>
                </a:solidFill>
                <a:latin typeface="Consolas"/>
                <a:ea typeface="Microsoft YaHei"/>
                <a:cs typeface="Microsoft YaHei"/>
              </a:rPr>
              <a:t>现状与下一步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49808"/>
            <a:ext cx="11094415" cy="566928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评估与决策已打通，下一步把执行与复测自动化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691640"/>
            <a:ext cx="3527450" cy="3840480"/>
          </a:xfrm>
          <a:prstGeom prst="rect">
            <a:avLst/>
          </a:prstGeom>
          <a:solidFill>
            <a:srgbClr val="222E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Arc 4"/>
          <p:cNvSpPr/>
          <p:nvPr/>
        </p:nvSpPr>
        <p:spPr>
          <a:xfrm>
            <a:off x="704088" y="1847088"/>
            <a:ext cx="457200" cy="457200"/>
          </a:xfrm>
          <a:prstGeom prst="arc">
            <a:avLst>
              <a:gd name="adj1" fmla="val 18000000"/>
              <a:gd name="adj2" fmla="val 15000000"/>
            </a:avLst>
          </a:prstGeom>
          <a:noFill/>
          <a:ln w="25400">
            <a:solidFill>
              <a:srgbClr val="86A2DD"/>
            </a:solidFill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847088"/>
            <a:ext cx="457200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86A2DD"/>
                </a:solidFill>
                <a:latin typeface="Arial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1874520"/>
            <a:ext cx="2704490" cy="40233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Loop A  框架迭代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8096" y="2496312"/>
            <a:ext cx="3161690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5C3A0"/>
                </a:solidFill>
                <a:latin typeface="Microsoft YaHei"/>
                <a:ea typeface="Microsoft YaHei"/>
                <a:cs typeface="Microsoft YaHei"/>
              </a:rPr>
              <a:t>已实现</a:t>
            </a:r>
          </a:p>
        </p:txBody>
      </p:sp>
      <p:sp>
        <p:nvSpPr>
          <p:cNvPr id="9" name="Oval 8"/>
          <p:cNvSpPr/>
          <p:nvPr/>
        </p:nvSpPr>
        <p:spPr>
          <a:xfrm>
            <a:off x="786384" y="2926079"/>
            <a:ext cx="109728" cy="109728"/>
          </a:xfrm>
          <a:prstGeom prst="ellipse">
            <a:avLst/>
          </a:prstGeom>
          <a:solidFill>
            <a:srgbClr val="55C3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24128" y="2843784"/>
            <a:ext cx="2905658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DDE2E7"/>
                </a:solidFill>
                <a:latin typeface="Microsoft YaHei"/>
                <a:ea typeface="Microsoft YaHei"/>
                <a:cs typeface="Microsoft YaHei"/>
              </a:rPr>
              <a:t>源码能力快照（sync-knowledge）</a:t>
            </a:r>
          </a:p>
        </p:txBody>
      </p:sp>
      <p:sp>
        <p:nvSpPr>
          <p:cNvPr id="11" name="Oval 10"/>
          <p:cNvSpPr/>
          <p:nvPr/>
        </p:nvSpPr>
        <p:spPr>
          <a:xfrm>
            <a:off x="786384" y="3264408"/>
            <a:ext cx="109728" cy="109728"/>
          </a:xfrm>
          <a:prstGeom prst="ellipse">
            <a:avLst/>
          </a:prstGeom>
          <a:solidFill>
            <a:srgbClr val="55C3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24128" y="3182112"/>
            <a:ext cx="2905658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DDE2E7"/>
                </a:solidFill>
                <a:latin typeface="Microsoft YaHei"/>
                <a:ea typeface="Microsoft YaHei"/>
                <a:cs typeface="Microsoft YaHei"/>
              </a:rPr>
              <a:t>特性顾问：判可行、算收益、给参数</a:t>
            </a:r>
          </a:p>
        </p:txBody>
      </p:sp>
      <p:sp>
        <p:nvSpPr>
          <p:cNvPr id="13" name="Oval 12"/>
          <p:cNvSpPr/>
          <p:nvPr/>
        </p:nvSpPr>
        <p:spPr>
          <a:xfrm>
            <a:off x="786384" y="3602735"/>
            <a:ext cx="109728" cy="109728"/>
          </a:xfrm>
          <a:prstGeom prst="ellipse">
            <a:avLst/>
          </a:prstGeom>
          <a:solidFill>
            <a:srgbClr val="55C3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3520439"/>
            <a:ext cx="2905658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DDE2E7"/>
                </a:solidFill>
                <a:latin typeface="Microsoft YaHei"/>
                <a:ea typeface="Microsoft YaHei"/>
                <a:cs typeface="Microsoft YaHei"/>
              </a:rPr>
              <a:t>插件 hook 清单与合并 launch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8096" y="3904487"/>
            <a:ext cx="3088538" cy="0"/>
          </a:xfrm>
          <a:prstGeom prst="line">
            <a:avLst/>
          </a:prstGeom>
          <a:ln w="9525">
            <a:solidFill>
              <a:srgbClr val="3A4755"/>
            </a:solidFill>
          </a:ln>
        </p:spPr>
      </p:cxnSp>
      <p:sp>
        <p:nvSpPr>
          <p:cNvPr id="16" name="TextBox 15"/>
          <p:cNvSpPr txBox="1"/>
          <p:nvPr/>
        </p:nvSpPr>
        <p:spPr>
          <a:xfrm>
            <a:off x="768096" y="4050791"/>
            <a:ext cx="3161690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2B233"/>
                </a:solidFill>
                <a:latin typeface="Microsoft YaHei"/>
                <a:ea typeface="Microsoft YaHei"/>
                <a:cs typeface="Microsoft YaHei"/>
              </a:rPr>
              <a:t>规划中</a:t>
            </a:r>
          </a:p>
        </p:txBody>
      </p:sp>
      <p:sp>
        <p:nvSpPr>
          <p:cNvPr id="17" name="Oval 16"/>
          <p:cNvSpPr/>
          <p:nvPr/>
        </p:nvSpPr>
        <p:spPr>
          <a:xfrm>
            <a:off x="786384" y="4480559"/>
            <a:ext cx="109728" cy="109728"/>
          </a:xfrm>
          <a:prstGeom prst="ellipse">
            <a:avLst/>
          </a:prstGeom>
          <a:noFill/>
          <a:ln w="15875">
            <a:solidFill>
              <a:srgbClr val="F2B23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24128" y="4398264"/>
            <a:ext cx="2905658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C5CCD4"/>
                </a:solidFill>
                <a:latin typeface="Microsoft YaHei"/>
                <a:ea typeface="Microsoft YaHei"/>
                <a:cs typeface="Microsoft YaHei"/>
              </a:rPr>
              <a:t>两版快照自动 diff</a:t>
            </a:r>
          </a:p>
        </p:txBody>
      </p:sp>
      <p:sp>
        <p:nvSpPr>
          <p:cNvPr id="19" name="Oval 18"/>
          <p:cNvSpPr/>
          <p:nvPr/>
        </p:nvSpPr>
        <p:spPr>
          <a:xfrm>
            <a:off x="786384" y="4818888"/>
            <a:ext cx="109728" cy="109728"/>
          </a:xfrm>
          <a:prstGeom prst="ellipse">
            <a:avLst/>
          </a:prstGeom>
          <a:noFill/>
          <a:ln w="15875">
            <a:solidFill>
              <a:srgbClr val="F2B23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24128" y="4736592"/>
            <a:ext cx="2905658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C5CCD4"/>
                </a:solidFill>
                <a:latin typeface="Microsoft YaHei"/>
                <a:ea typeface="Microsoft YaHei"/>
                <a:cs typeface="Microsoft YaHei"/>
              </a:rPr>
              <a:t>插件脚手架生成</a:t>
            </a:r>
          </a:p>
        </p:txBody>
      </p:sp>
      <p:sp>
        <p:nvSpPr>
          <p:cNvPr id="21" name="Oval 20"/>
          <p:cNvSpPr/>
          <p:nvPr/>
        </p:nvSpPr>
        <p:spPr>
          <a:xfrm>
            <a:off x="786384" y="5157216"/>
            <a:ext cx="109728" cy="109728"/>
          </a:xfrm>
          <a:prstGeom prst="ellipse">
            <a:avLst/>
          </a:prstGeom>
          <a:noFill/>
          <a:ln w="15875">
            <a:solidFill>
              <a:srgbClr val="F2B23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24128" y="5074920"/>
            <a:ext cx="2905658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C5CCD4"/>
                </a:solidFill>
                <a:latin typeface="Microsoft YaHei"/>
                <a:ea typeface="Microsoft YaHei"/>
                <a:cs typeface="Microsoft YaHei"/>
              </a:rPr>
              <a:t>特性 A/B 自动执行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332122" y="1691640"/>
            <a:ext cx="3527450" cy="3840480"/>
          </a:xfrm>
          <a:prstGeom prst="rect">
            <a:avLst/>
          </a:prstGeom>
          <a:solidFill>
            <a:srgbClr val="222E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Arc 23"/>
          <p:cNvSpPr/>
          <p:nvPr/>
        </p:nvSpPr>
        <p:spPr>
          <a:xfrm>
            <a:off x="4487570" y="1847088"/>
            <a:ext cx="457200" cy="457200"/>
          </a:xfrm>
          <a:prstGeom prst="arc">
            <a:avLst>
              <a:gd name="adj1" fmla="val 18000000"/>
              <a:gd name="adj2" fmla="val 15000000"/>
            </a:avLst>
          </a:prstGeom>
          <a:noFill/>
          <a:ln w="25400">
            <a:solidFill>
              <a:srgbClr val="55C3A0"/>
            </a:solidFill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87570" y="1847088"/>
            <a:ext cx="457200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55C3A0"/>
                </a:solidFill>
                <a:latin typeface="Arial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63642" y="1874520"/>
            <a:ext cx="2704490" cy="40233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Loop B  模型适配与评估优化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51578" y="2496312"/>
            <a:ext cx="3161690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5C3A0"/>
                </a:solidFill>
                <a:latin typeface="Microsoft YaHei"/>
                <a:ea typeface="Microsoft YaHei"/>
                <a:cs typeface="Microsoft YaHei"/>
              </a:rPr>
              <a:t>已实现</a:t>
            </a:r>
          </a:p>
        </p:txBody>
      </p:sp>
      <p:sp>
        <p:nvSpPr>
          <p:cNvPr id="28" name="Oval 27"/>
          <p:cNvSpPr/>
          <p:nvPr/>
        </p:nvSpPr>
        <p:spPr>
          <a:xfrm>
            <a:off x="4569866" y="2926079"/>
            <a:ext cx="109728" cy="109728"/>
          </a:xfrm>
          <a:prstGeom prst="ellipse">
            <a:avLst/>
          </a:prstGeom>
          <a:solidFill>
            <a:srgbClr val="55C3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07610" y="2843784"/>
            <a:ext cx="2905658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DDE2E7"/>
                </a:solidFill>
                <a:latin typeface="Microsoft YaHei"/>
                <a:ea typeface="Microsoft YaHei"/>
                <a:cs typeface="Microsoft YaHei"/>
              </a:rPr>
              <a:t>适配分析 · 精度路线 · bring-up 计划</a:t>
            </a:r>
          </a:p>
        </p:txBody>
      </p:sp>
      <p:sp>
        <p:nvSpPr>
          <p:cNvPr id="30" name="Oval 29"/>
          <p:cNvSpPr/>
          <p:nvPr/>
        </p:nvSpPr>
        <p:spPr>
          <a:xfrm>
            <a:off x="4569866" y="3264408"/>
            <a:ext cx="109728" cy="109728"/>
          </a:xfrm>
          <a:prstGeom prst="ellipse">
            <a:avLst/>
          </a:prstGeom>
          <a:solidFill>
            <a:srgbClr val="55C3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07610" y="3182112"/>
            <a:ext cx="2905658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DDE2E7"/>
                </a:solidFill>
                <a:latin typeface="Microsoft YaHei"/>
                <a:ea typeface="Microsoft YaHei"/>
                <a:cs typeface="Microsoft YaHei"/>
              </a:rPr>
              <a:t>单机部署仿真 · launch / 压测命令</a:t>
            </a:r>
          </a:p>
        </p:txBody>
      </p:sp>
      <p:sp>
        <p:nvSpPr>
          <p:cNvPr id="32" name="Oval 31"/>
          <p:cNvSpPr/>
          <p:nvPr/>
        </p:nvSpPr>
        <p:spPr>
          <a:xfrm>
            <a:off x="4569866" y="3602735"/>
            <a:ext cx="109728" cy="109728"/>
          </a:xfrm>
          <a:prstGeom prst="ellipse">
            <a:avLst/>
          </a:prstGeom>
          <a:solidFill>
            <a:srgbClr val="55C3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07610" y="3520439"/>
            <a:ext cx="2905658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DDE2E7"/>
                </a:solidFill>
                <a:latin typeface="Microsoft YaHei"/>
                <a:ea typeface="Microsoft YaHei"/>
                <a:cs typeface="Microsoft YaHei"/>
              </a:rPr>
              <a:t>日志 / 压测校准 · 一键 run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4551578" y="3904487"/>
            <a:ext cx="3088538" cy="0"/>
          </a:xfrm>
          <a:prstGeom prst="line">
            <a:avLst/>
          </a:prstGeom>
          <a:ln w="9525">
            <a:solidFill>
              <a:srgbClr val="3A4755"/>
            </a:solidFill>
          </a:ln>
        </p:spPr>
      </p:cxnSp>
      <p:sp>
        <p:nvSpPr>
          <p:cNvPr id="35" name="TextBox 34"/>
          <p:cNvSpPr txBox="1"/>
          <p:nvPr/>
        </p:nvSpPr>
        <p:spPr>
          <a:xfrm>
            <a:off x="4551578" y="4050791"/>
            <a:ext cx="3161690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2B233"/>
                </a:solidFill>
                <a:latin typeface="Microsoft YaHei"/>
                <a:ea typeface="Microsoft YaHei"/>
                <a:cs typeface="Microsoft YaHei"/>
              </a:rPr>
              <a:t>规划中</a:t>
            </a:r>
          </a:p>
        </p:txBody>
      </p:sp>
      <p:sp>
        <p:nvSpPr>
          <p:cNvPr id="36" name="Oval 35"/>
          <p:cNvSpPr/>
          <p:nvPr/>
        </p:nvSpPr>
        <p:spPr>
          <a:xfrm>
            <a:off x="4569866" y="4480559"/>
            <a:ext cx="109728" cy="109728"/>
          </a:xfrm>
          <a:prstGeom prst="ellipse">
            <a:avLst/>
          </a:prstGeom>
          <a:noFill/>
          <a:ln w="15875">
            <a:solidFill>
              <a:srgbClr val="F2B23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07610" y="4398264"/>
            <a:ext cx="2905658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C5CCD4"/>
                </a:solidFill>
                <a:latin typeface="Microsoft YaHei"/>
                <a:ea typeface="Microsoft YaHei"/>
                <a:cs typeface="Microsoft YaHei"/>
              </a:rPr>
              <a:t>自动拉起服务与压测（--allow-exec）</a:t>
            </a:r>
          </a:p>
        </p:txBody>
      </p:sp>
      <p:sp>
        <p:nvSpPr>
          <p:cNvPr id="38" name="Oval 37"/>
          <p:cNvSpPr/>
          <p:nvPr/>
        </p:nvSpPr>
        <p:spPr>
          <a:xfrm>
            <a:off x="4569866" y="4818888"/>
            <a:ext cx="109728" cy="109728"/>
          </a:xfrm>
          <a:prstGeom prst="ellipse">
            <a:avLst/>
          </a:prstGeom>
          <a:noFill/>
          <a:ln w="15875">
            <a:solidFill>
              <a:srgbClr val="F2B23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07610" y="4736592"/>
            <a:ext cx="2905658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C5CCD4"/>
                </a:solidFill>
                <a:latin typeface="Microsoft YaHei"/>
                <a:ea typeface="Microsoft YaHei"/>
                <a:cs typeface="Microsoft YaHei"/>
              </a:rPr>
              <a:t>自动 A/B 调参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15604" y="1691640"/>
            <a:ext cx="3527450" cy="3840480"/>
          </a:xfrm>
          <a:prstGeom prst="rect">
            <a:avLst/>
          </a:prstGeom>
          <a:solidFill>
            <a:srgbClr val="222E3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Arc 40"/>
          <p:cNvSpPr/>
          <p:nvPr/>
        </p:nvSpPr>
        <p:spPr>
          <a:xfrm>
            <a:off x="8271052" y="1847088"/>
            <a:ext cx="457200" cy="457200"/>
          </a:xfrm>
          <a:prstGeom prst="arc">
            <a:avLst>
              <a:gd name="adj1" fmla="val 18000000"/>
              <a:gd name="adj2" fmla="val 15000000"/>
            </a:avLst>
          </a:prstGeom>
          <a:noFill/>
          <a:ln w="25400">
            <a:solidFill>
              <a:srgbClr val="E99A66"/>
            </a:solidFill>
            <a:tailEnd type="triangle" w="med" len="med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71052" y="1847088"/>
            <a:ext cx="457200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ct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E99A66"/>
                </a:solidFill>
                <a:latin typeface="Arial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847124" y="1874520"/>
            <a:ext cx="2704490" cy="402336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Loop C  算子绑定评估与优化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335060" y="2496312"/>
            <a:ext cx="3161690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55C3A0"/>
                </a:solidFill>
                <a:latin typeface="Microsoft YaHei"/>
                <a:ea typeface="Microsoft YaHei"/>
                <a:cs typeface="Microsoft YaHei"/>
              </a:rPr>
              <a:t>已实现</a:t>
            </a:r>
          </a:p>
        </p:txBody>
      </p:sp>
      <p:sp>
        <p:nvSpPr>
          <p:cNvPr id="45" name="Oval 44"/>
          <p:cNvSpPr/>
          <p:nvPr/>
        </p:nvSpPr>
        <p:spPr>
          <a:xfrm>
            <a:off x="8353348" y="2926079"/>
            <a:ext cx="109728" cy="109728"/>
          </a:xfrm>
          <a:prstGeom prst="ellipse">
            <a:avLst/>
          </a:prstGeom>
          <a:solidFill>
            <a:srgbClr val="55C3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591092" y="2843784"/>
            <a:ext cx="2905658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DDE2E7"/>
                </a:solidFill>
                <a:latin typeface="Microsoft YaHei"/>
                <a:ea typeface="Microsoft YaHei"/>
                <a:cs typeface="Microsoft YaHei"/>
              </a:rPr>
              <a:t>算子绑定解析与缺口排序</a:t>
            </a:r>
          </a:p>
        </p:txBody>
      </p:sp>
      <p:sp>
        <p:nvSpPr>
          <p:cNvPr id="47" name="Oval 46"/>
          <p:cNvSpPr/>
          <p:nvPr/>
        </p:nvSpPr>
        <p:spPr>
          <a:xfrm>
            <a:off x="8353348" y="3264408"/>
            <a:ext cx="109728" cy="109728"/>
          </a:xfrm>
          <a:prstGeom prst="ellipse">
            <a:avLst/>
          </a:prstGeom>
          <a:solidFill>
            <a:srgbClr val="55C3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591092" y="3182112"/>
            <a:ext cx="2905658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DDE2E7"/>
                </a:solidFill>
                <a:latin typeface="Microsoft YaHei"/>
                <a:ea typeface="Microsoft YaHei"/>
                <a:cs typeface="Microsoft YaHei"/>
              </a:rPr>
              <a:t>roofline 与 trace 诊断</a:t>
            </a:r>
          </a:p>
        </p:txBody>
      </p:sp>
      <p:sp>
        <p:nvSpPr>
          <p:cNvPr id="49" name="Oval 48"/>
          <p:cNvSpPr/>
          <p:nvPr/>
        </p:nvSpPr>
        <p:spPr>
          <a:xfrm>
            <a:off x="8353348" y="3602735"/>
            <a:ext cx="109728" cy="109728"/>
          </a:xfrm>
          <a:prstGeom prst="ellipse">
            <a:avLst/>
          </a:prstGeom>
          <a:solidFill>
            <a:srgbClr val="55C3A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591092" y="3520439"/>
            <a:ext cx="2905658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DDE2E7"/>
                </a:solidFill>
                <a:latin typeface="Microsoft YaHei"/>
                <a:ea typeface="Microsoft YaHei"/>
                <a:cs typeface="Microsoft YaHei"/>
              </a:rPr>
              <a:t>融合 / 通算重叠 / 多流 / L2 预取评估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8335060" y="3904487"/>
            <a:ext cx="3088539" cy="0"/>
          </a:xfrm>
          <a:prstGeom prst="line">
            <a:avLst/>
          </a:prstGeom>
          <a:ln w="9525">
            <a:solidFill>
              <a:srgbClr val="3A4755"/>
            </a:solidFill>
          </a:ln>
        </p:spPr>
      </p:cxnSp>
      <p:sp>
        <p:nvSpPr>
          <p:cNvPr id="52" name="TextBox 51"/>
          <p:cNvSpPr txBox="1"/>
          <p:nvPr/>
        </p:nvSpPr>
        <p:spPr>
          <a:xfrm>
            <a:off x="8335060" y="4050791"/>
            <a:ext cx="3161690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>
                <a:solidFill>
                  <a:srgbClr val="F2B233"/>
                </a:solidFill>
                <a:latin typeface="Microsoft YaHei"/>
                <a:ea typeface="Microsoft YaHei"/>
                <a:cs typeface="Microsoft YaHei"/>
              </a:rPr>
              <a:t>规划中</a:t>
            </a:r>
          </a:p>
        </p:txBody>
      </p:sp>
      <p:sp>
        <p:nvSpPr>
          <p:cNvPr id="53" name="Oval 52"/>
          <p:cNvSpPr/>
          <p:nvPr/>
        </p:nvSpPr>
        <p:spPr>
          <a:xfrm>
            <a:off x="8353348" y="4480559"/>
            <a:ext cx="109728" cy="109728"/>
          </a:xfrm>
          <a:prstGeom prst="ellipse">
            <a:avLst/>
          </a:prstGeom>
          <a:noFill/>
          <a:ln w="15875">
            <a:solidFill>
              <a:srgbClr val="F2B23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591092" y="4398264"/>
            <a:ext cx="2905658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C5CCD4"/>
                </a:solidFill>
                <a:latin typeface="Microsoft YaHei"/>
                <a:ea typeface="Microsoft YaHei"/>
                <a:cs typeface="Microsoft YaHei"/>
              </a:rPr>
              <a:t>优化项 A/B 自动复测</a:t>
            </a:r>
          </a:p>
        </p:txBody>
      </p:sp>
      <p:sp>
        <p:nvSpPr>
          <p:cNvPr id="55" name="Oval 54"/>
          <p:cNvSpPr/>
          <p:nvPr/>
        </p:nvSpPr>
        <p:spPr>
          <a:xfrm>
            <a:off x="8353348" y="4818888"/>
            <a:ext cx="109728" cy="109728"/>
          </a:xfrm>
          <a:prstGeom prst="ellipse">
            <a:avLst/>
          </a:prstGeom>
          <a:noFill/>
          <a:ln w="15875">
            <a:solidFill>
              <a:srgbClr val="F2B23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591092" y="4736592"/>
            <a:ext cx="2905658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C5CCD4"/>
                </a:solidFill>
                <a:latin typeface="Microsoft YaHei"/>
                <a:ea typeface="Microsoft YaHei"/>
                <a:cs typeface="Microsoft YaHei"/>
              </a:rPr>
              <a:t>what-if：算子提速 → 单机容量</a:t>
            </a:r>
          </a:p>
        </p:txBody>
      </p:sp>
      <p:sp>
        <p:nvSpPr>
          <p:cNvPr id="57" name="Oval 56"/>
          <p:cNvSpPr/>
          <p:nvPr/>
        </p:nvSpPr>
        <p:spPr>
          <a:xfrm>
            <a:off x="8353348" y="5157216"/>
            <a:ext cx="109728" cy="109728"/>
          </a:xfrm>
          <a:prstGeom prst="ellipse">
            <a:avLst/>
          </a:prstGeom>
          <a:noFill/>
          <a:ln w="15875">
            <a:solidFill>
              <a:srgbClr val="F2B23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591092" y="5074920"/>
            <a:ext cx="2905658" cy="27432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>
                <a:solidFill>
                  <a:srgbClr val="C5CCD4"/>
                </a:solidFill>
                <a:latin typeface="Microsoft YaHei"/>
                <a:ea typeface="Microsoft YaHei"/>
                <a:cs typeface="Microsoft YaHei"/>
              </a:rPr>
              <a:t>对接平台算子 Agent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48640" y="5760720"/>
            <a:ext cx="11094415" cy="457200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l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定位：不替代算子生成，而是把算子能力兑现为</a:t>
            </a:r>
            <a:r>
              <a:rPr sz="1700" b="1">
                <a:solidFill>
                  <a:srgbClr val="F2B233"/>
                </a:solidFill>
                <a:latin typeface="Microsoft YaHei"/>
                <a:ea typeface="Microsoft YaHei"/>
                <a:cs typeface="Microsoft YaHei"/>
              </a:rPr>
              <a:t>模型级收益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728655" y="6382512"/>
            <a:ext cx="914400" cy="256032"/>
          </a:xfrm>
          <a:prstGeom prst="rect">
            <a:avLst/>
          </a:prstGeom>
          <a:noFill/>
        </p:spPr>
        <p:txBody>
          <a:bodyPr wrap="square" anchor="ctr" lIns="0" tIns="0" rIns="0" bIns="0">
            <a:noAutofit/>
          </a:bodyPr>
          <a:lstStyle/>
          <a:p>
            <a:pPr algn="r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8C96A1"/>
                </a:solidFill>
                <a:latin typeface="Consolas"/>
                <a:ea typeface="Microsoft YaHei"/>
                <a:cs typeface="Microsoft YaHei"/>
              </a:rPr>
              <a:t>09 / 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