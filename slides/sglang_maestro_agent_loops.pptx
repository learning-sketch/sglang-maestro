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1 页 · 封面 · 约 25 秒 · 讲完累计约 0:25】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各位好，今天汇报 sglang-maestro：一个帮 SGLang 在 M100 上做适配和调优的 Agent，目前面向单机部署。核心一句话：从算子级做到模型级。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下面分三个 Agent Loop，讲它怎么助力框架迭代、模型适配、算子绑定，最后挑一个难点讲透。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2 页 · 全局 · 三个 Agent Loop · 约 70 秒 · 讲完累计约 1:35】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先看全局：三个 Loop 分层咬合，框架定规则，模型定目标，算子定成本。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最上面的 Loop A 回答：这一版 SGLang 在 M100 上能开哪些特性、插件要补什么。它向下提供启动参数、特性约束、平台 hook 和算子分发规则；下面两个 Loop 发现的缺口，再回传给它。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下面两个 Loop 互为输入：Loop B 看模型能不能上、怎么配、单机在 SLO 内能扛多少；Loop C 看每个算子实际跑哪条实现、慢在哪、先优化谁。B 把算子缺口和热点按占 step 的比例排好序交给 C，C 把实测耗时交回 B，校准成本模型、重新规划。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三个 Loop 共用一套证据底座：源码静态分析、算子级成本模型和实测校准。图里虚线表示规划中。接下来逐个看。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3 页 · Loop A · 助力框架迭代 · 约 65 秒 · 讲完累计约 2:40】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Loop A 助力框架迭代：SGLang 每升一版，Agent 就重算一遍 M100 能开哪些特性、怎么调。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新版本、新特性或 M100 插件更新都会触发它。流程四步：同步知识，静态分析源码生成能力快照，不需要 GPU；判可行，复用 SGLang 自己的校验规则，再核对插件 hook 和平台能力；算收益，用成本模型估 KV 容量、decode 吞吐和时延；出配置，把能共存的特性合并成一条 launch。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以 10 月 14 号的快照为例，里面有 521 个启动参数、37 个平台 hook。交给框架迭代的结论，比如 7 个子系统在 OOT 平台上会被直接拒绝，2 处必须由插件实现 hook 才能用，这就是插件开发清单。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4 页 · Loop B · 助力模型适配与评估优化 · 约 80 秒 · 讲完累计约 4:00】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Loop B 助力模型适配与评估优化：把一个新模型从“能不能跑”，一路推到“单机在 SLO 内能扛多少请求”。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左边这个环有六步：适配分析、精度路线、特性组合、仿真评估、压测验证、校准回灌。其中压测目前还靠人工执行 Agent 给的命令。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右边是三个机制。候选方案怎么来：先套 Loop A 调好的 launch；TTFT 先超标，就试 prefill 更快的布局，比如关掉 DP attention；TPOT 先超标、又没开投机解码，就试更小的 mixed chunk。怎么算：仿真 SGLang 的调度，按 P90 判 SLO，二分搜索单机在 SLO 内的最大到达率。怎么信：用 server 日志拟合系数，压测检查偏差是否在正负 20% 以内。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和 Loop C 的接口：占 step 10% 以上的算子缺口标高优先级，3% 以上标中，交给 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5 页 · Loop C · 助力算子绑定评估与优化 · 约 80 秒 · 讲完累计约 5:20】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Loop C 助力算子绑定评估与优化：先查绑没绑对，再查快不快，最后按模型占比排优先级。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为什么先查绑定？因为生成了 kernel，不等于模型用上了它。左边从模型实际用到的算子族出发，沿 SGLang 的分发入口，解析出每个算子在 M100 上实际走哪条路径：厂商实现、SGLang 内置实现，还是回落到 torch、甚至没有可用实现。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典型陷阱是模型能跑通，注册的 kernel 却没被调用，比如 OOT 注册只认精确的类，子类不会继承。Agent 从源码解析继承链，直接把这类路径标出来。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右边是性能评估：按真实 batch 形状算出各类 kernel 的期望耗时，对照实测找异常；再匹配融合、通算重叠、多流、L2 预取等手段，每条发现都折算成每个 step 多少毫秒，交给 Loop B。自动 A/B 复测还在规划中。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6 页 · 差异 · 算子级 vs 模型级 · 约 65 秒 · 讲完累计约 6:25】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和平台算子 Agent 的区别，一句话：它把 kernel 做快，我们把模型跑好，两者互补。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从下往上看：L1 是单个 kernel 怎么写最快，这是平台算子 Agent 的主场，我们以它的 kernel 为输入。往上，L2 看算子分发到哪条实现，L3 看真实 batch 下 step 里谁占大头，L4 看调度和特性怎么开，L5 看单机在 SLO 内能扛多少、先超标的是 TTFT 还是 TPOT。L2 到 L5 是我们做的。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所以评价口径也不同：算子级看 kernel 耗时和离屋顶线多远，模型级看单机容量和 SLO 达成率。协作接口还在规划中：我们按模型级收益给平台排好算子需求，平台交回 kernel，我们做模型级复测。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7 页 · 深挖 · 难点 · 约 115 秒 · 讲完累计约 8:20】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下面深挖一个难点：算子快 30%，单机容量涨多少？不能直接换算。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先说明口径：这是推演，还没有实测校准，只用来说明方法；芯片参数暂用 H20 预设，M100 规格写进 YAML 就能重跑。场景是 Qwen3-32B，单机一个 TP8 实例，launch 固定，只把一类算子的耗时减 30%，看单机容量怎么变。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结果差别很大：chat 负载下，attention 快 30%，容量只涨 1.7%；GEMM 快 30%，容量涨 40%。长上下文 RAG 下，分别涨 21% 和 31%。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为什么不能直接换算？第一，占比随形状变：prefill 里 attention 的占比，4K 输入约 7%，32K 约 38%，所以它在 RAG 上收益大得多。第二，先超标的指标决定哪段有用：chat 先超标的是 TTFT，而 prefill 约八成时间在 GEMM，所以 GEMM 提速最管用；TTFT 里还有排队，提速还会被放大。第三，瓶颈会转移：RAG 提速后，先超标的从 TTFT 变成了 TPOT，下一轮先优化谁，要按新瓶颈重排。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结论：算子优化值不值得做、先做哪个，必须放到负载、SLO 和部署里算，这正是模型级 Agent 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8 页 · 深挖 · 解法 · 约 80 秒 · 讲完累计约 9:40】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怎么解？我们用一条换算链，从 kernel 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五层从左到右：kernel 层用 roofline 加 launch 间隙和通信算算子耗时，效率系数取自芯片 YAML；step 层按真实 batch 形状逐层累加；调度层用离散事件仿真 SGLang，得到请求时延；SLO 层按 P90 判定，标出先超标的指标；容量层二分搜索最大到达率，在候选配置里取容量最高的。五层共用一套模型和参数，算子、特性、布局任何一处变了，都能一路传到单机容量。底下是校准回路：压测偏差超过正负 20%，就用日志校准、重新规划。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用这条链做三件事：排优先级，已经实现；what-if，规划中，上一页就是手工跑的；还有给 Loop C 和平台提需求，从“把 X 做快”变成“这些 shape 下快多少、单机容量涨多少”，也在规划中。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【第 9 页 · 现状与下一步 · 约 40 秒 · 讲完累计约 10:20】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最后是现状：评估和决策已经打通。Loop A 有源码能力快照和特性顾问，Loop B 有适配分析、单机部署仿真和校准，Loop C 有绑定解析、trace 诊断和优化评估。下一步是把执行和复测自动化：自动拉起服务和压测、自动 A/B，以及 what-if 命令、对接平台算子 Agent。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我们的定位是：不替代算子生成，而是把算子能力兑现为模型级收益。谢谢大家。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68680"/>
            <a:ext cx="640080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SGLANG-MAESTRO · 方案评审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675120" cy="1828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从算子级到模型级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5DCE3"/>
                </a:solidFill>
                <a:latin typeface="Microsoft YaHei"/>
                <a:ea typeface="Microsoft YaHei"/>
                <a:cs typeface="Microsoft YaHei"/>
              </a:rPr>
              <a:t>SGLang 适配调优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5943600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面向 M100 芯片的单机部署，用三个 Agent Loop 分别助力：</a:t>
            </a:r>
          </a:p>
          <a:p>
            <a:pPr algn="l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框架迭代、模型适配与评估优化、算子绑定评估与优化</a:t>
            </a:r>
          </a:p>
        </p:txBody>
      </p:sp>
      <p:sp>
        <p:nvSpPr>
          <p:cNvPr id="5" name="Arc 4"/>
          <p:cNvSpPr/>
          <p:nvPr/>
        </p:nvSpPr>
        <p:spPr>
          <a:xfrm>
            <a:off x="8115300" y="12573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86A2DD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59" y="16733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86A2DD"/>
                </a:solidFill>
                <a:latin typeface="Arial"/>
                <a:ea typeface="Microsoft YaHei"/>
                <a:cs typeface="Microsoft YaHei"/>
              </a:rPr>
              <a:t>A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框架迭代</a:t>
            </a:r>
          </a:p>
        </p:txBody>
      </p:sp>
      <p:sp>
        <p:nvSpPr>
          <p:cNvPr id="7" name="Arc 6"/>
          <p:cNvSpPr/>
          <p:nvPr/>
        </p:nvSpPr>
        <p:spPr>
          <a:xfrm>
            <a:off x="7200899" y="28575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55C3A0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59" y="32735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55C3A0"/>
                </a:solidFill>
                <a:latin typeface="Arial"/>
                <a:ea typeface="Microsoft YaHei"/>
                <a:cs typeface="Microsoft YaHei"/>
              </a:rPr>
              <a:t>B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评估优化</a:t>
            </a:r>
          </a:p>
        </p:txBody>
      </p:sp>
      <p:sp>
        <p:nvSpPr>
          <p:cNvPr id="9" name="Arc 8"/>
          <p:cNvSpPr/>
          <p:nvPr/>
        </p:nvSpPr>
        <p:spPr>
          <a:xfrm>
            <a:off x="9029700" y="28575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E99A66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59" y="32735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E99A66"/>
                </a:solidFill>
                <a:latin typeface="Arial"/>
                <a:ea typeface="Microsoft YaHei"/>
                <a:cs typeface="Microsoft YaHei"/>
              </a:rPr>
              <a:t>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算子绑定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5074920"/>
            <a:ext cx="3200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三个 Loop 共用一套证据底座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8229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离线可跑 · 结论可追溯到 SGLang 源码与实测数据 · 知识快照：SGLang 72730d6（2026-10-14）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全局 · 三个 AGENT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三个 Agent Loop 分层咬合：框架定规则，模型定目标，算子定成本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模型适配与算子优化互为输入：模型告诉算子先做什么，算子告诉模型实际要花多少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94415" cy="100584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rc 5"/>
          <p:cNvSpPr/>
          <p:nvPr/>
        </p:nvSpPr>
        <p:spPr>
          <a:xfrm>
            <a:off x="722376" y="2002536"/>
            <a:ext cx="566928" cy="566928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002536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11095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Loop A  助力框架迭代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58568"/>
            <a:ext cx="3429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这一版 SGLang 在 M100 上能开哪些特性、</a:t>
            </a:r>
          </a:p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插件要补什么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源码能力快照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95795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特性可行性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8051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8299551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收益估算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61807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10003307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合并 launch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65563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548640" y="3346704"/>
            <a:ext cx="4572000" cy="175564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13232" y="3547872"/>
            <a:ext cx="512064" cy="512064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51206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93008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Loop B  助力模型适配与评估优化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58768"/>
            <a:ext cx="367588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新模型能不能上、怎么配、单机 SLO 内能扛多少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56231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精度布局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655063" y="4700016"/>
            <a:ext cx="146304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62656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仿真评估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61488" y="4700016"/>
            <a:ext cx="146303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069080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压测校准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67911" y="4700016"/>
            <a:ext cx="146305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9" name="Rectangle 28"/>
          <p:cNvSpPr/>
          <p:nvPr/>
        </p:nvSpPr>
        <p:spPr>
          <a:xfrm>
            <a:off x="7071055" y="3346704"/>
            <a:ext cx="4572000" cy="175564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Arc 29"/>
          <p:cNvSpPr/>
          <p:nvPr/>
        </p:nvSpPr>
        <p:spPr>
          <a:xfrm>
            <a:off x="7235647" y="3547872"/>
            <a:ext cx="512064" cy="512064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5647" y="3547872"/>
            <a:ext cx="51206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3493008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Loop C  助力算子绑定评估与优化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4015" y="3858768"/>
            <a:ext cx="367588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每个算子实际跑哪条实现、慢在哪、先优化谁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72223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绑定解析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8647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实测对比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77479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9485071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优化手段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283903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10591495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dash"/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A/B 复测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390327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>
            <a:off x="2834640" y="2834639"/>
            <a:ext cx="0" cy="466345"/>
          </a:xfrm>
          <a:prstGeom prst="line">
            <a:avLst/>
          </a:prstGeom>
          <a:ln w="19050">
            <a:solidFill>
              <a:srgbClr val="3F63A8"/>
            </a:solidFill>
            <a:headEnd type="triangle" w="med" len="med"/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>
            <a:off x="9357055" y="2834639"/>
            <a:ext cx="0" cy="466345"/>
          </a:xfrm>
          <a:prstGeom prst="line">
            <a:avLst/>
          </a:prstGeom>
          <a:ln w="19050">
            <a:solidFill>
              <a:srgbClr val="3F63A8"/>
            </a:solidFill>
            <a:headEnd type="triangle" w="med" len="med"/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3063240" y="2825496"/>
            <a:ext cx="60652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↓ 提供规则：启动参数、特性约束、平台 hook、算子分发规则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↑ 回传缺口：OOT 平台不支持的子系统、待实现的 hook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12079" y="3950208"/>
            <a:ext cx="1767536" cy="0"/>
          </a:xfrm>
          <a:prstGeom prst="line">
            <a:avLst/>
          </a:prstGeom>
          <a:ln w="22225">
            <a:solidFill>
              <a:srgbClr val="1E8A6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5138927" y="3493008"/>
            <a:ext cx="1913839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算子缺口 · 热点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按占 step 比例排序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5212079" y="4535424"/>
            <a:ext cx="1767536" cy="0"/>
          </a:xfrm>
          <a:prstGeom prst="line">
            <a:avLst/>
          </a:prstGeom>
          <a:ln w="22225">
            <a:solidFill>
              <a:srgbClr val="C0612C"/>
            </a:solidFill>
            <a:tailEnd type="triangle" w="med" len="med"/>
          </a:ln>
        </p:spPr>
      </p:cxnSp>
      <p:sp>
        <p:nvSpPr>
          <p:cNvPr id="47" name="TextBox 46"/>
          <p:cNvSpPr txBox="1"/>
          <p:nvPr/>
        </p:nvSpPr>
        <p:spPr>
          <a:xfrm>
            <a:off x="5138927" y="4581144"/>
            <a:ext cx="1913839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实测耗时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校准成本模型、重新规划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358384"/>
            <a:ext cx="1463040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共用证据底座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源码静态分析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不导入 SGLang，每条事实带源码位置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212080" y="5522976"/>
            <a:ext cx="0" cy="457200"/>
          </a:xfrm>
          <a:prstGeom prst="line">
            <a:avLst/>
          </a:prstGeom>
          <a:ln w="9525">
            <a:solidFill>
              <a:srgbClr val="C5CCD4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321808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算子级 step 成本模型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+ launch 间隙 + α-β 通信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39328" y="5522976"/>
            <a:ext cx="0" cy="457200"/>
          </a:xfrm>
          <a:prstGeom prst="line">
            <a:avLst/>
          </a:prstGeom>
          <a:ln w="9525">
            <a:solidFill>
              <a:srgbClr val="C5CCD4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449056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server 日志与压测结果拟合系数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02 / 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　·　与原场景的对应：A ≈ 场景 3（框架特性）　B ≈ 场景 1 + 5（适配、部署）　C ≈ 场景 2（算子性能）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LOOP A · 助力框架迭代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每升一版，Agent 重算 M100 能开哪些特性、怎么调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知识来自源码静态分析，而不是人工维护的经验清单：换版本重跑一次同步，结论跟着版本走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155448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54864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触发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新版本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新特性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插件更新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① 同步知识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静态分析源码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生成能力快照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不导入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无需 GPU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48840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4297680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② 判可行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复用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自身的校验规则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核对插件 hook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与平台能力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50791" y="2496312"/>
            <a:ext cx="201169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6199632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③ 算收益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成本模型估算：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KV 容量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吞吐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· TPOT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52744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8101583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④ 出配置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可共存的特性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合并成一条 launch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会被拒绝的组合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提前剔除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54696" y="2496312"/>
            <a:ext cx="201167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cxnSp>
        <p:nvCxnSpPr>
          <p:cNvPr id="16" name="Connector 15"/>
          <p:cNvCxnSpPr/>
          <p:nvPr/>
        </p:nvCxnSpPr>
        <p:spPr>
          <a:xfrm>
            <a:off x="9756648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10003536" y="1810512"/>
            <a:ext cx="1639519" cy="137160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 wrap="square" lIns="128016" tIns="54864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产出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合并后的 launch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插件 hook 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框架缺口清单</a:t>
            </a:r>
          </a:p>
        </p:txBody>
      </p:sp>
      <p:sp>
        <p:nvSpPr>
          <p:cNvPr id="18" name="Freeform 17"/>
          <p:cNvSpPr/>
          <p:nvPr/>
        </p:nvSpPr>
        <p:spPr>
          <a:xfrm>
            <a:off x="3200400" y="3182112"/>
            <a:ext cx="5705856" cy="256032"/>
          </a:xfrm>
          <a:custGeom>
            <a:avLst/>
            <a:gdLst/>
            <a:ahLst/>
            <a:cxnLst/>
            <a:rect l="l" t="t" r="r" b="b"/>
            <a:pathLst>
              <a:path w="5705856" h="256032">
                <a:moveTo>
                  <a:pt x="5705856" y="0"/>
                </a:moveTo>
                <a:lnTo>
                  <a:pt x="5705856" y="256032"/>
                </a:lnTo>
                <a:lnTo>
                  <a:pt x="0" y="25603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474720"/>
            <a:ext cx="41605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压测校准后更新结论；SGLang 升级时整条链重跑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493008"/>
            <a:ext cx="320040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规划中：两版快照自动 diff，只重算受影响的结论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486400" cy="2240280"/>
          </a:xfrm>
          <a:prstGeom prst="rect">
            <a:avLst/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41648"/>
            <a:ext cx="512064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能力快照里有什么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示例：SGLang 72730d6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521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启动参数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73936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3936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284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3936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模型架构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6352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6352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 hook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8768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算子分发类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01184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01184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1184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OOT 守卫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504688"/>
            <a:ext cx="5120640" cy="60350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每条事实带源码位置（文件:行号）。特性顾问覆盖 DP attention、prefill / decode CP、LayerNorm SP、DeepEP、EPLB、TBO / SBO、HiCache、MTP / EAGLE / NGRAM 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3931920"/>
            <a:ext cx="5306263" cy="224028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59" y="4041648"/>
            <a:ext cx="494050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例：Agent 交给框架迭代的“缺口与拐点”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59" y="4480559"/>
            <a:ext cx="4903927" cy="160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7 个子系统在 OOT 平台上直接拒绝（KV 分片、统一内存池、fp4 / mxfp8 KV pool 等）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插件或上游要补的接缝</a:t>
            </a:r>
          </a:p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2 处要求插件实现 hook 才能用：CUDA graph runner、piecewise 编译后端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插件开发清单</a:t>
            </a:r>
          </a:p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低 ridge point 芯片上，投机解码的 verify 在小 batch 就转为算力受限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给出收益消失的 batch 拐点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03 / 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规划中；数字来自内置能力快照（SGLang 72730d6，2026-10-14）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LOOP B · 助力模型适配与评估优化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新模型上 M100：从“能不能跑”一路推到“单机 SLO 内扛多少”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关键步骤都产出可执行命令；实测数据回来后校准成本模型、重新规划</a:t>
            </a:r>
          </a:p>
        </p:txBody>
      </p:sp>
      <p:sp>
        <p:nvSpPr>
          <p:cNvPr id="7" name="Oval 6"/>
          <p:cNvSpPr/>
          <p:nvPr/>
        </p:nvSpPr>
        <p:spPr>
          <a:xfrm>
            <a:off x="2615184" y="3255264"/>
            <a:ext cx="1572768" cy="1572768"/>
          </a:xfrm>
          <a:prstGeom prst="ellipse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3255264"/>
            <a:ext cx="1572768" cy="1572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模型级目标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 SLO 内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能扛多少请求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96596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1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适配分析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架构 · hook · 算子缺口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2622" y="283464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2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精度路线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按精度算几卡放得下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2622" y="457200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3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特性组合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接 Loop A 的 launch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8" y="544068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4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仿真评估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TTFT · TPOT · SLO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153" y="457200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8C96A1"/>
            </a:solidFill>
            <a:prstDash val="dash"/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5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压测验证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目前人工执行命令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153" y="2834639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6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校准回灌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拟合系数 · 重新规划</a:t>
            </a:r>
          </a:p>
        </p:txBody>
      </p:sp>
      <p:sp>
        <p:nvSpPr>
          <p:cNvPr id="15" name="Arc 14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8063924"/>
              <a:gd name="adj2" fmla="val 19190006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20923446"/>
              <a:gd name="adj2" fmla="val 676553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2409993"/>
              <a:gd name="adj2" fmla="val 3536075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7263924"/>
              <a:gd name="adj2" fmla="val 8390006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0123446"/>
              <a:gd name="adj2" fmla="val 11476553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3209993"/>
              <a:gd name="adj2" fmla="val 14336075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29400" y="1828800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1810512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候选方案怎么来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157984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先套 Loop A 调好的 launch；TTFT 先超标时试 prefill 更快的布局（prefill CP、关 DP attention），TPOT 先超标且没开投机解码时试 mixed chunk（1024 / 512 / 256）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3008376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2990088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3337560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仿真 SGLang 调度：prefill 优先、chunked prefill、KV 准入与回收、DP rank 同步走 step；按 P90 判 SLO，二分搜索单机在 SLO 内的最大到达率</a:t>
            </a:r>
          </a:p>
        </p:txBody>
      </p:sp>
      <p:sp>
        <p:nvSpPr>
          <p:cNvPr id="27" name="Oval 26"/>
          <p:cNvSpPr/>
          <p:nvPr/>
        </p:nvSpPr>
        <p:spPr>
          <a:xfrm>
            <a:off x="6629400" y="4187951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4169663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4517136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server 日志拟合 prefill / decode 系数（实测 / 模型取中位数）；压测检查预测偏差是否在 ±20% 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5230368"/>
            <a:ext cx="5013655" cy="94183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5303520"/>
            <a:ext cx="4739335" cy="868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与 Loop C 的接口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算子缺口按占 step 比例分级（≥10% 高、≥3% 中）交给 Loop C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← 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算子实测耗时回来，校准成本模型后重新规划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04 / 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规划中：自动拉起服务与压测（--allow-exec）、自动 A/B 调参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LOOP C · 助力算子绑定评估与优化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算子先查“绑没绑对”，再查“快不快”，按模型占比排优先级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绑定 = 模型的每个算子在 SGLang 里最终分发到哪条实现。生成了 kernel，不等于模型用上了它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4924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 绑定评估：模型用上的是哪条实现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76272"/>
            <a:ext cx="5349240" cy="58521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模型实际用到的算子族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norm · RoPE · 激活 · attention · KV 写入 · MoE · 线性层 · 通信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3260" y="2779776"/>
            <a:ext cx="0" cy="182880"/>
          </a:xfrm>
          <a:prstGeom prst="line">
            <a:avLst/>
          </a:prstGeom>
          <a:ln w="19050">
            <a:solidFill>
              <a:srgbClr val="8C96A1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548640" y="2999232"/>
            <a:ext cx="5349240" cy="58521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分发入口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算子分发类 · 注意力后端 · 量化方法 · 平台 hook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23260" y="3602736"/>
            <a:ext cx="0" cy="182879"/>
          </a:xfrm>
          <a:prstGeom prst="line">
            <a:avLst/>
          </a:prstGeom>
          <a:ln w="19050">
            <a:solidFill>
              <a:srgbClr val="8C96A1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548640" y="3822191"/>
            <a:ext cx="5349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877055"/>
            <a:ext cx="5074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上实际走的路径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缺口按占 step 比例排序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4256532"/>
            <a:ext cx="109728" cy="109728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厂商实现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95728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96312" y="4256532"/>
            <a:ext cx="109728" cy="109728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SGLang 内置实现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15384" y="4256532"/>
            <a:ext cx="109728" cy="109728"/>
          </a:xfrm>
          <a:prstGeom prst="ellipse">
            <a:avLst/>
          </a:prstGeom>
          <a:solidFill>
            <a:srgbClr val="C98A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回落 torch 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4567428"/>
            <a:ext cx="109728" cy="109728"/>
          </a:xfrm>
          <a:prstGeom prst="ellipse">
            <a:avLst/>
          </a:prstGeom>
          <a:solidFill>
            <a:srgbClr val="C98A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能跑但有 host 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95728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496312" y="4567428"/>
            <a:ext cx="109728" cy="10972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无可用实现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15384" y="4567428"/>
            <a:ext cx="109728" cy="10972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当前配置会报错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19472"/>
            <a:ext cx="5349240" cy="12527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992624"/>
            <a:ext cx="5020055" cy="11612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绑定陷阱：模型能跑通，注册的 kernel 却没被调用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register_oot_forward 只认精确类，子类不会继承注册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类自己重写 forward() 又不走分发时，注册的 kernel 根本不会被调用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Agent 从 SGLang 源码解析类继承链（MRO），直接标出这类路径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1737360"/>
            <a:ext cx="5379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 性能评估与优化：慢在哪、值不值得改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28231" y="2359152"/>
            <a:ext cx="0" cy="1947671"/>
          </a:xfrm>
          <a:prstGeom prst="line">
            <a:avLst/>
          </a:prstGeom>
          <a:ln w="15875">
            <a:solidFill>
              <a:srgbClr val="C5CCD4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428231" y="4306823"/>
            <a:ext cx="0" cy="484633"/>
          </a:xfrm>
          <a:prstGeom prst="line">
            <a:avLst/>
          </a:prstGeom>
          <a:ln w="15875">
            <a:solidFill>
              <a:srgbClr val="C5CCD4"/>
            </a:solidFill>
            <a:prstDash val="dash"/>
          </a:ln>
        </p:spPr>
      </p:cxnSp>
      <p:sp>
        <p:nvSpPr>
          <p:cNvPr id="37" name="Oval 36"/>
          <p:cNvSpPr/>
          <p:nvPr/>
        </p:nvSpPr>
        <p:spPr>
          <a:xfrm>
            <a:off x="6263640" y="2194560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167128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按真实形状算期望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2450591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 step 标注重建 batch 形状，用同一成本模型算各类 kernel 的期望耗时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284378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2816352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定位异常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3099815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远低于屋顶线 · kernel 间空隙 · 未走图 · 耗时离群 · rank 不均衡</a:t>
            </a:r>
          </a:p>
        </p:txBody>
      </p:sp>
      <p:sp>
        <p:nvSpPr>
          <p:cNvPr id="43" name="Oval 42"/>
          <p:cNvSpPr/>
          <p:nvPr/>
        </p:nvSpPr>
        <p:spPr>
          <a:xfrm>
            <a:off x="6263640" y="3493008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465576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匹配优化手段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3749039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融合 · 通算重叠 · 多流 · L2 权重预取 · MoE 调优配置，按芯片能力取舍</a:t>
            </a:r>
          </a:p>
        </p:txBody>
      </p:sp>
      <p:sp>
        <p:nvSpPr>
          <p:cNvPr id="46" name="Oval 45"/>
          <p:cNvSpPr/>
          <p:nvPr/>
        </p:nvSpPr>
        <p:spPr>
          <a:xfrm>
            <a:off x="6263640" y="4142231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4114799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量化收益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4398264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每条发现折算成 ms/step 与占比（≥10% 高、≥3% 中），交给 Loop B</a:t>
            </a:r>
          </a:p>
        </p:txBody>
      </p:sp>
      <p:sp>
        <p:nvSpPr>
          <p:cNvPr id="49" name="Oval 48"/>
          <p:cNvSpPr/>
          <p:nvPr/>
        </p:nvSpPr>
        <p:spPr>
          <a:xfrm>
            <a:off x="6263640" y="4791456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63640" y="4791456"/>
            <a:ext cx="329184" cy="329184"/>
          </a:xfrm>
          <a:prstGeom prst="ellipse">
            <a:avLst/>
          </a:prstGeom>
          <a:noFill/>
          <a:ln w="15875">
            <a:solidFill>
              <a:srgbClr val="8C96A1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4764024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A/B 复测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5047488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规划中：自动执行；目前按报告里的命令人工复测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513832"/>
            <a:ext cx="5379415" cy="658368"/>
          </a:xfrm>
          <a:prstGeom prst="rect">
            <a:avLst/>
          </a:prstGeom>
          <a:solidFill>
            <a:srgbClr val="F6F7F9"/>
          </a:solidFill>
          <a:ln w="9525">
            <a:solidFill>
              <a:srgbClr val="8C96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1" y="5550408"/>
            <a:ext cx="5105095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与平台算子 Agent 的衔接（规划中）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 kernel → 核对是否被分发 → 真实形状复测 → Loop B 换算模型级收益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05 / 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状态取值与判定规则来自 SGLang 源码快照（72730d6）；虚线 = 规划中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差异 · 算子级 VS 模型级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与平台算子 Agent 互补：它把 kernel 做快，我们把模型跑好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我们不止做算子级：以算子级结果为输入，一路评估到 step、调度和单机 SLO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600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783080"/>
            <a:ext cx="489204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这一层要回答的问题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783080"/>
            <a:ext cx="13716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谁来做 · 怎么做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947672"/>
            <a:ext cx="128016" cy="128016"/>
          </a:xfrm>
          <a:prstGeom prst="roundRect">
            <a:avLst>
              <a:gd name="adj" fmla="val 20000"/>
            </a:avLst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783080"/>
            <a:ext cx="102412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我们 · 模型级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02368" y="1947672"/>
            <a:ext cx="128016" cy="128016"/>
          </a:xfrm>
          <a:prstGeom prst="roundRect">
            <a:avLst>
              <a:gd name="adj" fmla="val 20000"/>
            </a:avLst>
          </a:prstGeom>
          <a:solidFill>
            <a:srgbClr val="354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85248" y="1783080"/>
            <a:ext cx="162763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平台算子 Agent · 算子级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1600200" cy="53035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L5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 SLO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2331720"/>
            <a:ext cx="489204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单机在 SLO 内能扛多少请求？先超标的是 TTFT 还是 TPOT？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331720"/>
            <a:ext cx="437357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t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单机部署仿真：二分搜索 SLO 内最大到达率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26079"/>
            <a:ext cx="1600200" cy="53035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L4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调度与特性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926079"/>
            <a:ext cx="489204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chunked prefill、DP attention、投机解码、HiCache 怎么开？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926079"/>
            <a:ext cx="437357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t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特性顾问 + 调度仿真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20439"/>
            <a:ext cx="1600200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L3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80" y="3520439"/>
            <a:ext cx="489204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真实 batch 形状下谁占大头？融合边界、通算重叠、多流、预取？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3520439"/>
            <a:ext cx="437357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t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 期望对实测；评估融合、通算重叠、多流、预取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600200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L2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算子绑定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4114800"/>
            <a:ext cx="489204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模型的每个算子分发到哪条实现？缺口在哪、影响多大？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4114800"/>
            <a:ext cx="437357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t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静态解析分发路径；缺口按占 step 比例排序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09159"/>
            <a:ext cx="1600200" cy="530352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L1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Kernel 实现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709159"/>
            <a:ext cx="489204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单个 kernel 的 tiling、访存、指令怎么写最快？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4709159"/>
            <a:ext cx="2141067" cy="530352"/>
          </a:xfrm>
          <a:prstGeom prst="rect">
            <a:avLst/>
          </a:prstGeom>
          <a:solidFill>
            <a:srgbClr val="35424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生成与调优 kernel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1987" y="4709159"/>
            <a:ext cx="2141067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E8A6E"/>
            </a:solidFill>
            <a:prstDash val="dash"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以平台 kernel 为输入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13248"/>
            <a:ext cx="5432907" cy="786384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449824"/>
            <a:ext cx="5158587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评价口径不同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算子级：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kernel 耗时、离屋顶线还有多远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模型级：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单机 SLO 内容量、TTFT / TPOT、SLO 达成率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0147" y="5413248"/>
            <a:ext cx="5432907" cy="786384"/>
          </a:xfrm>
          <a:prstGeom prst="rect">
            <a:avLst/>
          </a:prstGeom>
          <a:solidFill>
            <a:srgbClr val="EEF1F4"/>
          </a:solidFill>
          <a:ln w="9525">
            <a:solidFill>
              <a:srgbClr val="8C96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4739" y="5449824"/>
            <a:ext cx="5158587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协作接口（规划中）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我们 → 平台：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按模型级收益排序的算子需求（目标 shape、绑定位置）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平台 → 我们：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kernel；接入后由我们做模型级复测与校准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06 / 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规划中：与平台算子 Agent 的自动对接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深挖 · 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难点：算子同样快 30%，单机容量可能只涨 2%，也可能涨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推演：Qwen3-32B · 单机 8 卡、单个 TP8 实例 · 成本模型 + 离散事件仿真；未经实测校准，只用来说明方法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810512"/>
            <a:ext cx="16367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单机 SLO 内容量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最大到达率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86584" y="1810512"/>
            <a:ext cx="137160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3048" y="1810512"/>
            <a:ext cx="137160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9512" y="1810512"/>
            <a:ext cx="1371600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9152"/>
            <a:ext cx="1783080" cy="128016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chat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输入 1–4K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TTFT ≤ 2 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TPOT ≤ 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6584" y="2359152"/>
            <a:ext cx="1371600" cy="12801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6584" y="25237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2.69</a:t>
            </a: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 req/s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3" y="31089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先超标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2359152"/>
            <a:ext cx="1371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3048" y="25237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+1.7%</a:t>
            </a:r>
            <a:r>
              <a:rPr sz="110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1089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2.74 req/s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仍是 TTFT 先超标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39512" y="2359152"/>
            <a:ext cx="1371600" cy="128016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9512" y="25237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+40%</a:t>
            </a: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31089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3.75 req/s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仍是 TTFT 先超标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0752"/>
            <a:ext cx="1783080" cy="128016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长上下文 RAG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输入 25–32K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TTFT ≤ 8 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TPOT ≤ 60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6584" y="3730752"/>
            <a:ext cx="1371600" cy="12801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6584" y="38953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5.8</a:t>
            </a: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 req/min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2303" y="44805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先超标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3048" y="3730752"/>
            <a:ext cx="1371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13048" y="38953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+21%</a:t>
            </a: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4805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7.0 req/min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转为 TPOT 先超标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9512" y="3730752"/>
            <a:ext cx="1371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9512" y="389534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+31%</a:t>
            </a: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4480560"/>
            <a:ext cx="128016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7.6 req/min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转为 TPOT 先超标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84064"/>
            <a:ext cx="606247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芯片参数暂用内置 H20 预设（公开规格 + 默认效率假设）；M100 规格写入 YAML 即可重跑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 = 单个 TP8 实例 + EAGLE3（接受率假设 0.7）；launch 固定，只改算子耗时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810512"/>
            <a:ext cx="478505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为什么不能直接换算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2267712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240280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占比随形状变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578608"/>
            <a:ext cx="43735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里 attention 的占比：4K 输入约 7%，32K 约 38%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2871215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44968" y="2907791"/>
            <a:ext cx="319643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41399" y="2907791"/>
            <a:ext cx="272866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214265" y="2907791"/>
            <a:ext cx="428789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3145536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44968" y="3182112"/>
            <a:ext cx="2143947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88915" y="3182112"/>
            <a:ext cx="148127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38%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370189" y="3182112"/>
            <a:ext cx="272866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44968" y="3488436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60" y="3438144"/>
            <a:ext cx="5669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76488" y="3488436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41080" y="3438144"/>
            <a:ext cx="7680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09176" y="3488436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73768" y="3438144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15016" y="3438144"/>
            <a:ext cx="1228039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TP8 估算</a:t>
            </a:r>
          </a:p>
        </p:txBody>
      </p:sp>
      <p:sp>
        <p:nvSpPr>
          <p:cNvPr id="49" name="Oval 48"/>
          <p:cNvSpPr/>
          <p:nvPr/>
        </p:nvSpPr>
        <p:spPr>
          <a:xfrm>
            <a:off x="6858000" y="3730752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3703320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先超标的指标决定哪段有用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4041648"/>
            <a:ext cx="4373575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chat 先超标的是 TTFT，prefill 约八成时间在 GEMM：GEMM 快 30%，容量 +40%（TTFT 含排队，提速被放大）；attention 只占约 7%，仅 +1.7%</a:t>
            </a:r>
          </a:p>
        </p:txBody>
      </p:sp>
      <p:sp>
        <p:nvSpPr>
          <p:cNvPr id="52" name="Oval 51"/>
          <p:cNvSpPr/>
          <p:nvPr/>
        </p:nvSpPr>
        <p:spPr>
          <a:xfrm>
            <a:off x="6858000" y="4700016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69480" y="4672583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瓶颈会转移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80" y="5010912"/>
            <a:ext cx="4373575" cy="5029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RAG 两种提速后，先超标的都从 TTFT 变成 TPOT：下一轮先优化谁，要按新瓶颈重新排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559552"/>
            <a:ext cx="11094415" cy="640080"/>
          </a:xfrm>
          <a:prstGeom prst="rect">
            <a:avLst/>
          </a:prstGeom>
          <a:solidFill>
            <a:srgbClr val="1620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59" y="5559552"/>
            <a:ext cx="10545775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结论：算子优化值不值得做、先做哪个，要放到</a:t>
            </a:r>
            <a:r>
              <a:rPr sz="13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“负载 + SLO + 部署”</a:t>
            </a: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里算——这正是模型级 Agent 的工作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07 / 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复现：deploy --model qwen3-32b --hardware h20 --sizes 8 --no-pd 取基线 launch；launch 固定，用脚本把算子耗时 ×0.7 后重测单机容量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深挖 · 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解法：一条从 kernel 算到单机容量的换算链，实测校准后再做决策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五层共用同一套模型和参数：算子、特性、布局任何一处变化，都能一路传到 SLO 和单机容量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914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1719072"/>
            <a:ext cx="914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34440" y="1856231"/>
            <a:ext cx="9722815" cy="0"/>
          </a:xfrm>
          <a:prstGeom prst="line">
            <a:avLst/>
          </a:prstGeom>
          <a:ln w="15875">
            <a:solidFill>
              <a:srgbClr val="C5CCD4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548640" y="2103120"/>
            <a:ext cx="1993392" cy="173736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roofline：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max(算力, 访存)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launch / 图间隙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α-β 通信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效率系数取自芯片 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6352" y="2103120"/>
            <a:ext cx="1993392" cy="173736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逐层累加各类算子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/ decode / mixed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trace 的形状从 step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标注里重建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084064" y="2103120"/>
            <a:ext cx="1993392" cy="173736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离散事件仿真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chunked prefill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KV 准入与回收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DP rank 同步走 step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55464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7351775" y="2103120"/>
            <a:ext cx="1993392" cy="173736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SLO 判定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 P90 判 TTFT / TPOT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统计 SLO 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标出先超标的指标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3175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9619488" y="2103120"/>
            <a:ext cx="1993392" cy="173736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二分搜索 SLO 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候选配置逐个比较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取容量最高的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0888" y="2971800"/>
            <a:ext cx="182879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22" name="Freeform 21"/>
          <p:cNvSpPr/>
          <p:nvPr/>
        </p:nvSpPr>
        <p:spPr>
          <a:xfrm>
            <a:off x="1545336" y="3840479"/>
            <a:ext cx="9070848" cy="274320"/>
          </a:xfrm>
          <a:custGeom>
            <a:avLst/>
            <a:gdLst/>
            <a:ahLst/>
            <a:cxnLst/>
            <a:rect l="l" t="t" r="r" b="b"/>
            <a:pathLst>
              <a:path w="9070848" h="274320">
                <a:moveTo>
                  <a:pt x="9070848" y="0"/>
                </a:moveTo>
                <a:lnTo>
                  <a:pt x="9070848" y="274320"/>
                </a:lnTo>
                <a:lnTo>
                  <a:pt x="0" y="27432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66727F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4160519"/>
            <a:ext cx="861364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实测校准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server 日志拟合 prefill / decode 系数；压测检查预测偏差是否在 ±20% 内；校准后重新规划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怎么用这条链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175504"/>
            <a:ext cx="250332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排优先级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89706" y="5202936"/>
            <a:ext cx="658368" cy="228600"/>
          </a:xfrm>
          <a:prstGeom prst="roundRect">
            <a:avLst>
              <a:gd name="adj" fmla="val 50000"/>
            </a:avLst>
          </a:prstGeom>
          <a:solidFill>
            <a:srgbClr val="E2F2E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算子缺口、融合 / 重叠 / 异常等发现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都折算成 ms/step 与占 step 比例来分级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9282" y="5175504"/>
            <a:ext cx="183581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96532" y="5202936"/>
            <a:ext cx="1325880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规划中：做成命令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9282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重新仿真 → 单机容量变化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上一页的推演就是用这条链手工跑的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7316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3620" y="5175504"/>
            <a:ext cx="250332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 Loop C 与平台提需求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838383" y="5202936"/>
            <a:ext cx="658368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从“把 X 做快”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变成“这些 shape 下快多少、单机容量涨多少”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评估与决策已打通，下一步把执行与复测自动化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Arc 4"/>
          <p:cNvSpPr/>
          <p:nvPr/>
        </p:nvSpPr>
        <p:spPr>
          <a:xfrm>
            <a:off x="704088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86A2DD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6A2DD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A  框架迭代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源码能力快照（sync-knowledge）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特性顾问：判可行、算收益、给参数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插件 hook 清单与合并 launch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8096" y="3904487"/>
            <a:ext cx="3088538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8096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两版快照自动 diff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插件脚手架生成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" y="5157216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5074920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特性 A/B 自动执行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Arc 23"/>
          <p:cNvSpPr/>
          <p:nvPr/>
        </p:nvSpPr>
        <p:spPr>
          <a:xfrm>
            <a:off x="4487570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55C3A0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7570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5C3A0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3642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B  模型适配与评估优化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1578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28" name="Oval 27"/>
          <p:cNvSpPr/>
          <p:nvPr/>
        </p:nvSpPr>
        <p:spPr>
          <a:xfrm>
            <a:off x="4569866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7610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适配分析 · 精度路线 · bring-up 计划</a:t>
            </a:r>
          </a:p>
        </p:txBody>
      </p:sp>
      <p:sp>
        <p:nvSpPr>
          <p:cNvPr id="30" name="Oval 29"/>
          <p:cNvSpPr/>
          <p:nvPr/>
        </p:nvSpPr>
        <p:spPr>
          <a:xfrm>
            <a:off x="4569866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7610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单机部署仿真 · launch / 压测命令</a:t>
            </a:r>
          </a:p>
        </p:txBody>
      </p:sp>
      <p:sp>
        <p:nvSpPr>
          <p:cNvPr id="32" name="Oval 31"/>
          <p:cNvSpPr/>
          <p:nvPr/>
        </p:nvSpPr>
        <p:spPr>
          <a:xfrm>
            <a:off x="4569866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610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日志 / 压测校准 · 一键 run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51578" y="3904487"/>
            <a:ext cx="3088538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4551578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36" name="Oval 35"/>
          <p:cNvSpPr/>
          <p:nvPr/>
        </p:nvSpPr>
        <p:spPr>
          <a:xfrm>
            <a:off x="4569866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7610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自动拉起服务与压测（--allow-exec）</a:t>
            </a:r>
          </a:p>
        </p:txBody>
      </p:sp>
      <p:sp>
        <p:nvSpPr>
          <p:cNvPr id="38" name="Oval 37"/>
          <p:cNvSpPr/>
          <p:nvPr/>
        </p:nvSpPr>
        <p:spPr>
          <a:xfrm>
            <a:off x="4569866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7610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自动 A/B 调参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5604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>
            <a:off x="8271052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E99A66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1052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9A66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7124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C  算子绑定评估与优化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45" name="Oval 44"/>
          <p:cNvSpPr/>
          <p:nvPr/>
        </p:nvSpPr>
        <p:spPr>
          <a:xfrm>
            <a:off x="8353348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1092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算子绑定解析与缺口排序</a:t>
            </a:r>
          </a:p>
        </p:txBody>
      </p:sp>
      <p:sp>
        <p:nvSpPr>
          <p:cNvPr id="47" name="Oval 46"/>
          <p:cNvSpPr/>
          <p:nvPr/>
        </p:nvSpPr>
        <p:spPr>
          <a:xfrm>
            <a:off x="8353348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1092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roofline 与 trace 诊断</a:t>
            </a:r>
          </a:p>
        </p:txBody>
      </p:sp>
      <p:sp>
        <p:nvSpPr>
          <p:cNvPr id="49" name="Oval 48"/>
          <p:cNvSpPr/>
          <p:nvPr/>
        </p:nvSpPr>
        <p:spPr>
          <a:xfrm>
            <a:off x="8353348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1092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融合 / 通算重叠 / 多流 / L2 预取评估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335060" y="3904487"/>
            <a:ext cx="3088539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8335060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53" name="Oval 52"/>
          <p:cNvSpPr/>
          <p:nvPr/>
        </p:nvSpPr>
        <p:spPr>
          <a:xfrm>
            <a:off x="8353348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1092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优化项 A/B 自动复测</a:t>
            </a:r>
          </a:p>
        </p:txBody>
      </p:sp>
      <p:sp>
        <p:nvSpPr>
          <p:cNvPr id="55" name="Oval 54"/>
          <p:cNvSpPr/>
          <p:nvPr/>
        </p:nvSpPr>
        <p:spPr>
          <a:xfrm>
            <a:off x="8353348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1092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what-if：算子提速 → 单机容量</a:t>
            </a:r>
          </a:p>
        </p:txBody>
      </p:sp>
      <p:sp>
        <p:nvSpPr>
          <p:cNvPr id="57" name="Oval 56"/>
          <p:cNvSpPr/>
          <p:nvPr/>
        </p:nvSpPr>
        <p:spPr>
          <a:xfrm>
            <a:off x="8353348" y="5157216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1092" y="5074920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对接平台算子 Agent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定位：不替代算子生成，而是把算子能力兑现为</a:t>
            </a:r>
            <a:r>
              <a:rPr sz="17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模型级收益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