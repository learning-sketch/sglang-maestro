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68680"/>
            <a:ext cx="6400800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2B233"/>
                </a:solidFill>
                <a:latin typeface="Consolas"/>
                <a:ea typeface="Microsoft YaHei"/>
                <a:cs typeface="Microsoft YaHei"/>
              </a:rPr>
              <a:t>SGLANG-MAESTRO · 方案评审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6675120" cy="18288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从算子级到模型级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5DCE3"/>
                </a:solidFill>
                <a:latin typeface="Microsoft YaHei"/>
                <a:ea typeface="Microsoft YaHei"/>
                <a:cs typeface="Microsoft YaHei"/>
              </a:rPr>
              <a:t>SGLang 适配调优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5943600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面向 H20 类与定制芯片，用三个 Agent Loop 分别助力：框架迭代、模型适配与评估优化、算子绑定评估与优化</a:t>
            </a:r>
          </a:p>
        </p:txBody>
      </p:sp>
      <p:sp>
        <p:nvSpPr>
          <p:cNvPr id="5" name="Arc 4"/>
          <p:cNvSpPr/>
          <p:nvPr/>
        </p:nvSpPr>
        <p:spPr>
          <a:xfrm>
            <a:off x="8115300" y="1257300"/>
            <a:ext cx="1965960" cy="1965960"/>
          </a:xfrm>
          <a:prstGeom prst="arc">
            <a:avLst>
              <a:gd name="adj1" fmla="val 18000000"/>
              <a:gd name="adj2" fmla="val 15000000"/>
            </a:avLst>
          </a:prstGeom>
          <a:noFill/>
          <a:ln w="38100">
            <a:solidFill>
              <a:srgbClr val="86A2DD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59" y="1673352"/>
            <a:ext cx="1463040" cy="11338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86A2DD"/>
                </a:solidFill>
                <a:latin typeface="Arial"/>
                <a:ea typeface="Microsoft YaHei"/>
                <a:cs typeface="Microsoft YaHei"/>
              </a:rPr>
              <a:t>A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框架迭代</a:t>
            </a:r>
          </a:p>
        </p:txBody>
      </p:sp>
      <p:sp>
        <p:nvSpPr>
          <p:cNvPr id="7" name="Arc 6"/>
          <p:cNvSpPr/>
          <p:nvPr/>
        </p:nvSpPr>
        <p:spPr>
          <a:xfrm>
            <a:off x="7200899" y="2857500"/>
            <a:ext cx="1965960" cy="1965960"/>
          </a:xfrm>
          <a:prstGeom prst="arc">
            <a:avLst>
              <a:gd name="adj1" fmla="val 18000000"/>
              <a:gd name="adj2" fmla="val 15000000"/>
            </a:avLst>
          </a:prstGeom>
          <a:noFill/>
          <a:ln w="38100">
            <a:solidFill>
              <a:srgbClr val="55C3A0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59" y="3273552"/>
            <a:ext cx="1463040" cy="11338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55C3A0"/>
                </a:solidFill>
                <a:latin typeface="Arial"/>
                <a:ea typeface="Microsoft YaHei"/>
                <a:cs typeface="Microsoft YaHei"/>
              </a:rPr>
              <a:t>B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评估优化</a:t>
            </a:r>
          </a:p>
        </p:txBody>
      </p:sp>
      <p:sp>
        <p:nvSpPr>
          <p:cNvPr id="9" name="Arc 8"/>
          <p:cNvSpPr/>
          <p:nvPr/>
        </p:nvSpPr>
        <p:spPr>
          <a:xfrm>
            <a:off x="9029700" y="2857500"/>
            <a:ext cx="1965960" cy="1965960"/>
          </a:xfrm>
          <a:prstGeom prst="arc">
            <a:avLst>
              <a:gd name="adj1" fmla="val 18000000"/>
              <a:gd name="adj2" fmla="val 15000000"/>
            </a:avLst>
          </a:prstGeom>
          <a:noFill/>
          <a:ln w="38100">
            <a:solidFill>
              <a:srgbClr val="E99A66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59" y="3273552"/>
            <a:ext cx="1463040" cy="11338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E99A66"/>
                </a:solidFill>
                <a:latin typeface="Arial"/>
                <a:ea typeface="Microsoft YaHei"/>
                <a:cs typeface="Microsoft YaHei"/>
              </a:rPr>
              <a:t>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算子绑定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5074920"/>
            <a:ext cx="3200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三个 Loop 共用一套证据底座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8229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离线可跑 · 结论可追溯到 SGLang 源码与实测数据 · 知识快照：SGLang 72730d6（2026-10-14）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全局 · 三个 AGENT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三个 Agent Loop 分层咬合：框架定规则，模型定目标，算子定成本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模型适配与算子优化互为输入：模型告诉算子先做什么，算子告诉模型实际要花多少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11094415" cy="1005840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Arc 5"/>
          <p:cNvSpPr/>
          <p:nvPr/>
        </p:nvSpPr>
        <p:spPr>
          <a:xfrm>
            <a:off x="722376" y="2002536"/>
            <a:ext cx="566928" cy="566928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3F63A8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002536"/>
            <a:ext cx="56692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911095"/>
            <a:ext cx="36576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Loop A  助力框架迭代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58568"/>
            <a:ext cx="342900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这一版 SGLang 在这颗芯片上能开哪些特性、插件要补什么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2075688"/>
            <a:ext cx="14111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源码能力快照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95795" y="2075688"/>
            <a:ext cx="14111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特性可行性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8051" y="2286000"/>
            <a:ext cx="182880" cy="0"/>
          </a:xfrm>
          <a:prstGeom prst="line">
            <a:avLst/>
          </a:prstGeom>
          <a:ln w="15875">
            <a:solidFill>
              <a:srgbClr val="3F63A8"/>
            </a:solidFill>
            <a:tailEnd type="triangle" w="med" len="med"/>
          </a:ln>
        </p:spPr>
      </p:cxnSp>
      <p:sp>
        <p:nvSpPr>
          <p:cNvPr id="13" name="Rounded Rectangle 12"/>
          <p:cNvSpPr/>
          <p:nvPr/>
        </p:nvSpPr>
        <p:spPr>
          <a:xfrm>
            <a:off x="8299551" y="2075688"/>
            <a:ext cx="14111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收益估算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61807" y="2286000"/>
            <a:ext cx="182880" cy="0"/>
          </a:xfrm>
          <a:prstGeom prst="line">
            <a:avLst/>
          </a:prstGeom>
          <a:ln w="15875">
            <a:solidFill>
              <a:srgbClr val="3F63A8"/>
            </a:solidFill>
            <a:tailEnd type="triangle" w="med" len="med"/>
          </a:ln>
        </p:spPr>
      </p:cxnSp>
      <p:sp>
        <p:nvSpPr>
          <p:cNvPr id="15" name="Rounded Rectangle 14"/>
          <p:cNvSpPr/>
          <p:nvPr/>
        </p:nvSpPr>
        <p:spPr>
          <a:xfrm>
            <a:off x="10003307" y="2075688"/>
            <a:ext cx="1411147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合并 launch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65563" y="2286000"/>
            <a:ext cx="182880" cy="0"/>
          </a:xfrm>
          <a:prstGeom prst="line">
            <a:avLst/>
          </a:prstGeom>
          <a:ln w="15875">
            <a:solidFill>
              <a:srgbClr val="3F63A8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548640" y="3346704"/>
            <a:ext cx="4572000" cy="175564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713232" y="3547872"/>
            <a:ext cx="512064" cy="512064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547872"/>
            <a:ext cx="51206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493008"/>
            <a:ext cx="36576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Loop B  助力模型适配与评估优化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858768"/>
            <a:ext cx="361188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新模型能不能上、怎么上、按 SLO 最少几张卡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A6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适配分析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56231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A6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精度布局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655063" y="4700016"/>
            <a:ext cx="146304" cy="0"/>
          </a:xfrm>
          <a:prstGeom prst="line">
            <a:avLst/>
          </a:prstGeom>
          <a:ln w="15875">
            <a:solidFill>
              <a:srgbClr val="1E8A6E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2962656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A6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仿真评估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61488" y="4700016"/>
            <a:ext cx="146303" cy="0"/>
          </a:xfrm>
          <a:prstGeom prst="line">
            <a:avLst/>
          </a:prstGeom>
          <a:ln w="15875">
            <a:solidFill>
              <a:srgbClr val="1E8A6E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4069080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A6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压测校准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867911" y="4700016"/>
            <a:ext cx="146305" cy="0"/>
          </a:xfrm>
          <a:prstGeom prst="line">
            <a:avLst/>
          </a:prstGeom>
          <a:ln w="15875">
            <a:solidFill>
              <a:srgbClr val="1E8A6E"/>
            </a:solidFill>
            <a:tailEnd type="triangle" w="med" len="med"/>
          </a:ln>
        </p:spPr>
      </p:cxnSp>
      <p:sp>
        <p:nvSpPr>
          <p:cNvPr id="29" name="Rectangle 28"/>
          <p:cNvSpPr/>
          <p:nvPr/>
        </p:nvSpPr>
        <p:spPr>
          <a:xfrm>
            <a:off x="7071055" y="3346704"/>
            <a:ext cx="4572000" cy="175564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Arc 29"/>
          <p:cNvSpPr/>
          <p:nvPr/>
        </p:nvSpPr>
        <p:spPr>
          <a:xfrm>
            <a:off x="7235647" y="3547872"/>
            <a:ext cx="512064" cy="512064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5647" y="3547872"/>
            <a:ext cx="51206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4015" y="3493008"/>
            <a:ext cx="365760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Loop C  助力算子绑定评估与优化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94015" y="3858768"/>
            <a:ext cx="3611880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每个算子实际跑哪条实现、慢在哪、先优化谁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72223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绑定解析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78647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实测对比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177479" y="4700016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7" name="Rounded Rectangle 36"/>
          <p:cNvSpPr/>
          <p:nvPr/>
        </p:nvSpPr>
        <p:spPr>
          <a:xfrm>
            <a:off x="9485071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优化手段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283903" y="4700016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9" name="Rounded Rectangle 38"/>
          <p:cNvSpPr/>
          <p:nvPr/>
        </p:nvSpPr>
        <p:spPr>
          <a:xfrm>
            <a:off x="10591495" y="4498848"/>
            <a:ext cx="85039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dash"/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A/B 复测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390327" y="4700016"/>
            <a:ext cx="14630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cxnSp>
        <p:nvCxnSpPr>
          <p:cNvPr id="41" name="Connector 40"/>
          <p:cNvCxnSpPr/>
          <p:nvPr/>
        </p:nvCxnSpPr>
        <p:spPr>
          <a:xfrm>
            <a:off x="2834640" y="2834639"/>
            <a:ext cx="0" cy="466345"/>
          </a:xfrm>
          <a:prstGeom prst="line">
            <a:avLst/>
          </a:prstGeom>
          <a:ln w="19050">
            <a:solidFill>
              <a:srgbClr val="3F63A8"/>
            </a:solidFill>
            <a:headEnd type="triangle" w="med" len="med"/>
            <a:tailEnd type="triangle" w="med" len="med"/>
          </a:ln>
        </p:spPr>
      </p:cxnSp>
      <p:cxnSp>
        <p:nvCxnSpPr>
          <p:cNvPr id="42" name="Connector 41"/>
          <p:cNvCxnSpPr/>
          <p:nvPr/>
        </p:nvCxnSpPr>
        <p:spPr>
          <a:xfrm>
            <a:off x="9357055" y="2834639"/>
            <a:ext cx="0" cy="466345"/>
          </a:xfrm>
          <a:prstGeom prst="line">
            <a:avLst/>
          </a:prstGeom>
          <a:ln w="19050">
            <a:solidFill>
              <a:srgbClr val="3F63A8"/>
            </a:solidFill>
            <a:headEnd type="triangle" w="med" len="med"/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3063240" y="2825496"/>
            <a:ext cx="6065215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↓ 提供规则：启动参数、特性约束、平台 hook、算子分发规则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↑ 回传缺口：OOT 平台不支持的子系统、待实现的 hook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212079" y="3950208"/>
            <a:ext cx="1767536" cy="0"/>
          </a:xfrm>
          <a:prstGeom prst="line">
            <a:avLst/>
          </a:prstGeom>
          <a:ln w="22225">
            <a:solidFill>
              <a:srgbClr val="1E8A6E"/>
            </a:solidFill>
            <a:tailEnd type="triangle" w="med" len="med"/>
          </a:ln>
        </p:spPr>
      </p:cxnSp>
      <p:sp>
        <p:nvSpPr>
          <p:cNvPr id="45" name="TextBox 44"/>
          <p:cNvSpPr txBox="1"/>
          <p:nvPr/>
        </p:nvSpPr>
        <p:spPr>
          <a:xfrm>
            <a:off x="5138927" y="3493008"/>
            <a:ext cx="1913839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算子缺口 · 热点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按占 step 比例排序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5212079" y="4535424"/>
            <a:ext cx="1767536" cy="0"/>
          </a:xfrm>
          <a:prstGeom prst="line">
            <a:avLst/>
          </a:prstGeom>
          <a:ln w="22225">
            <a:solidFill>
              <a:srgbClr val="C0612C"/>
            </a:solidFill>
            <a:tailEnd type="triangle" w="med" len="med"/>
          </a:ln>
        </p:spPr>
      </p:cxnSp>
      <p:sp>
        <p:nvSpPr>
          <p:cNvPr id="47" name="TextBox 46"/>
          <p:cNvSpPr txBox="1"/>
          <p:nvPr/>
        </p:nvSpPr>
        <p:spPr>
          <a:xfrm>
            <a:off x="5138927" y="4581144"/>
            <a:ext cx="1913839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实测耗时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校准成本模型、重新规划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5358384"/>
            <a:ext cx="1463040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共用证据底座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4560" y="5358384"/>
            <a:ext cx="2852928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SGLang 源码静态分析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不导入 SGLang，每条事实带源码位置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212080" y="5522976"/>
            <a:ext cx="0" cy="457200"/>
          </a:xfrm>
          <a:prstGeom prst="line">
            <a:avLst/>
          </a:prstGeom>
          <a:ln w="9525">
            <a:solidFill>
              <a:srgbClr val="C5CCD4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5321808" y="5358384"/>
            <a:ext cx="2852928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算子级 step 成本模型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roofline + launch 间隙 + α-β 通信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339328" y="5522976"/>
            <a:ext cx="0" cy="457200"/>
          </a:xfrm>
          <a:prstGeom prst="line">
            <a:avLst/>
          </a:prstGeom>
          <a:ln w="9525">
            <a:solidFill>
              <a:srgbClr val="C5CCD4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8449056" y="5358384"/>
            <a:ext cx="2852928" cy="7863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server 日志与压测结果拟合系数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02 / 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虚线 = 规划中　·　与原场景的对应：A ≈ 场景 3（框架特性）　B ≈ 场景 1 + 5（适配、部署）　C ≈ 场景 2（算子性能）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rc 1"/>
          <p:cNvSpPr/>
          <p:nvPr/>
        </p:nvSpPr>
        <p:spPr>
          <a:xfrm>
            <a:off x="548640" y="374903"/>
            <a:ext cx="310896" cy="310896"/>
          </a:xfrm>
          <a:prstGeom prst="arc">
            <a:avLst>
              <a:gd name="adj1" fmla="val 18000000"/>
              <a:gd name="adj2" fmla="val 15000000"/>
            </a:avLst>
          </a:prstGeom>
          <a:noFill/>
          <a:ln w="19050">
            <a:solidFill>
              <a:srgbClr val="3F63A8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74903"/>
            <a:ext cx="31089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F63A8"/>
                </a:solidFill>
                <a:latin typeface="Consolas"/>
                <a:ea typeface="Microsoft YaHei"/>
                <a:cs typeface="Microsoft YaHei"/>
              </a:rPr>
              <a:t>LOOP A · 助力框架迭代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SGLang 每升一版，Agent 重算这颗芯片能开哪些特性、怎么调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知识来自源码静态分析，而不是人工维护的经验清单：换版本重跑一次同步，结论跟着版本走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10512"/>
            <a:ext cx="155448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54864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触发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SGLang 新版本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新特性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新芯片 YAML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95728" y="1810512"/>
            <a:ext cx="160934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t" wrap="square" lIns="128016" tIns="128016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① 同步知识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静态分析源码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生成能力快照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不导入 SGLang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无需 GPU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48840" y="2496312"/>
            <a:ext cx="201168" cy="0"/>
          </a:xfrm>
          <a:prstGeom prst="line">
            <a:avLst/>
          </a:prstGeom>
          <a:ln w="19050">
            <a:solidFill>
              <a:srgbClr val="3F63A8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4297680" y="1810512"/>
            <a:ext cx="160934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t" wrap="square" lIns="128016" tIns="128016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② 判可行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复用 SGLang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自身的校验规则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核对插件 hook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与平台能力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50791" y="2496312"/>
            <a:ext cx="201169" cy="0"/>
          </a:xfrm>
          <a:prstGeom prst="line">
            <a:avLst/>
          </a:prstGeom>
          <a:ln w="19050">
            <a:solidFill>
              <a:srgbClr val="3F63A8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6199632" y="1810512"/>
            <a:ext cx="160934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t" wrap="square" lIns="128016" tIns="128016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③ 算收益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成本模型估算：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KV 容量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decode 吞吐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TTFT · TPOT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52744" y="2496312"/>
            <a:ext cx="201168" cy="0"/>
          </a:xfrm>
          <a:prstGeom prst="line">
            <a:avLst/>
          </a:prstGeom>
          <a:ln w="19050">
            <a:solidFill>
              <a:srgbClr val="3F63A8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8101583" y="1810512"/>
            <a:ext cx="160934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F63A8"/>
            </a:solidFill>
          </a:ln>
        </p:spPr>
        <p:txBody>
          <a:bodyPr rtlCol="0" anchor="t" wrap="square" lIns="128016" tIns="128016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④ 出配置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可共存的特性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合并成一条 launch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会被拒绝的组合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提前剔除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54696" y="2496312"/>
            <a:ext cx="201167" cy="0"/>
          </a:xfrm>
          <a:prstGeom prst="line">
            <a:avLst/>
          </a:prstGeom>
          <a:ln w="19050">
            <a:solidFill>
              <a:srgbClr val="3F63A8"/>
            </a:solidFill>
            <a:tailEnd type="triangle" w="med" len="med"/>
          </a:ln>
        </p:spPr>
      </p:cxnSp>
      <p:cxnSp>
        <p:nvCxnSpPr>
          <p:cNvPr id="16" name="Connector 15"/>
          <p:cNvCxnSpPr/>
          <p:nvPr/>
        </p:nvCxnSpPr>
        <p:spPr>
          <a:xfrm>
            <a:off x="9756648" y="2496312"/>
            <a:ext cx="201168" cy="0"/>
          </a:xfrm>
          <a:prstGeom prst="line">
            <a:avLst/>
          </a:prstGeom>
          <a:ln w="19050">
            <a:solidFill>
              <a:srgbClr val="3F63A8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10003536" y="1810512"/>
            <a:ext cx="1639519" cy="1371600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txBody>
          <a:bodyPr rtlCol="0" anchor="ctr" wrap="square" lIns="128016" tIns="54864" rIns="73152" bIns="54864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产出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合并后的 launch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插件 hook 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框架缺口清单</a:t>
            </a:r>
          </a:p>
        </p:txBody>
      </p:sp>
      <p:sp>
        <p:nvSpPr>
          <p:cNvPr id="18" name="Freeform 17"/>
          <p:cNvSpPr/>
          <p:nvPr/>
        </p:nvSpPr>
        <p:spPr>
          <a:xfrm>
            <a:off x="3200400" y="3182112"/>
            <a:ext cx="5705856" cy="256032"/>
          </a:xfrm>
          <a:custGeom>
            <a:avLst/>
            <a:gdLst/>
            <a:ahLst/>
            <a:cxnLst/>
            <a:rect l="l" t="t" r="r" b="b"/>
            <a:pathLst>
              <a:path w="5705856" h="256032">
                <a:moveTo>
                  <a:pt x="5705856" y="0"/>
                </a:moveTo>
                <a:lnTo>
                  <a:pt x="5705856" y="256032"/>
                </a:lnTo>
                <a:lnTo>
                  <a:pt x="0" y="256032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3F63A8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474720"/>
            <a:ext cx="416052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压测校准后更新结论；SGLang 升级时整条链重跑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493008"/>
            <a:ext cx="2834640" cy="25603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C96A1"/>
            </a:solidFill>
            <a:prstDash val="dash"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规划中：两版快照自动 diff，只重算受影响的结论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31920"/>
            <a:ext cx="5486400" cy="2240280"/>
          </a:xfrm>
          <a:prstGeom prst="rect">
            <a:avLst/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041648"/>
            <a:ext cx="5120640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能力快照里有什么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示例：SGLang 72730d6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480559"/>
            <a:ext cx="9509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35424"/>
            <a:ext cx="950976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521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992624"/>
            <a:ext cx="9509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启动参数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73936" y="4480559"/>
            <a:ext cx="9509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73936" y="4535424"/>
            <a:ext cx="950976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284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3936" y="4992624"/>
            <a:ext cx="9509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模型架构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16352" y="4480559"/>
            <a:ext cx="9509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4535424"/>
            <a:ext cx="950976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16352" y="4992624"/>
            <a:ext cx="9509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平台 hook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58768" y="4480559"/>
            <a:ext cx="9509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58768" y="4535424"/>
            <a:ext cx="950976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58768" y="4992624"/>
            <a:ext cx="9509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算子分发类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01184" y="4480559"/>
            <a:ext cx="9509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01184" y="4535424"/>
            <a:ext cx="950976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01184" y="4992624"/>
            <a:ext cx="95097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OOT 守卫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504688"/>
            <a:ext cx="5120640" cy="60350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每条事实带源码位置（文件:行号）。特性顾问覆盖 DP attention、prefill / decode CP、LayerNorm SP、DeepEP、EPLB、TBO / SBO、HiCache、MTP / EAGLE / NGRAM 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36792" y="3931920"/>
            <a:ext cx="5306263" cy="2240280"/>
          </a:xfrm>
          <a:prstGeom prst="rect">
            <a:avLst/>
          </a:prstGeom>
          <a:solidFill>
            <a:srgbClr val="E8ED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59" y="4041648"/>
            <a:ext cx="494050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例：Agent 交给框架迭代的“缺口与拐点”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59" y="4480559"/>
            <a:ext cx="4903927" cy="1600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 marL="146304" indent="-146304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rgbClr val="3F63A8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7 个子系统在 OOT 平台上直接拒绝（KV 分片、统一内存池、fp4 / mxfp8 KV pool 等）</a:t>
            </a:r>
            <a:r>
              <a:rPr sz="11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 → 插件或上游要补的接缝</a:t>
            </a:r>
          </a:p>
          <a:p>
            <a:pPr algn="l" latinLnBrk="0" marL="146304" indent="-146304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rgbClr val="3F63A8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2 处要求插件实现 hook 才能用：CUDA graph runner、piecewise 编译后端</a:t>
            </a:r>
            <a:r>
              <a:rPr sz="11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 → 插件开发清单</a:t>
            </a:r>
          </a:p>
          <a:p>
            <a:pPr algn="l" latinLnBrk="0" marL="146304" indent="-146304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Clr>
                <a:srgbClr val="3F63A8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低 ridge point 芯片上，投机解码的 verify 在小 batch 就转为算力受限</a:t>
            </a:r>
            <a:r>
              <a:rPr sz="11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 → 给出收益消失的 batch 拐点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03 / 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虚线 = 规划中；数字来自内置能力快照（SGLang 72730d6，2026-10-14）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rc 1"/>
          <p:cNvSpPr/>
          <p:nvPr/>
        </p:nvSpPr>
        <p:spPr>
          <a:xfrm>
            <a:off x="548640" y="374903"/>
            <a:ext cx="310896" cy="310896"/>
          </a:xfrm>
          <a:prstGeom prst="arc">
            <a:avLst>
              <a:gd name="adj1" fmla="val 18000000"/>
              <a:gd name="adj2" fmla="val 15000000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74903"/>
            <a:ext cx="31089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LOOP B · 助力模型适配与评估优化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新模型上芯片：从“能不能跑”一路推到“按 SLO 最少几张卡”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关键步骤都产出可执行命令；实测数据回来后校准成本模型、重新规划</a:t>
            </a:r>
          </a:p>
        </p:txBody>
      </p:sp>
      <p:sp>
        <p:nvSpPr>
          <p:cNvPr id="7" name="Oval 6"/>
          <p:cNvSpPr/>
          <p:nvPr/>
        </p:nvSpPr>
        <p:spPr>
          <a:xfrm>
            <a:off x="2615184" y="3255264"/>
            <a:ext cx="1572768" cy="1572768"/>
          </a:xfrm>
          <a:prstGeom prst="ellipse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5184" y="3255264"/>
            <a:ext cx="1572768" cy="15727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模型级目标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满足 SLO 的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最少卡数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32888" y="1965960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1E8A6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1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适配分析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架构 · hook · 算子缺口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2622" y="2834640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1E8A6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2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精度路线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按精度定最少卡数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12622" y="4572000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1E8A6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3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特性组合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接 Loop A 的 launch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2888" y="5440680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1E8A6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4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仿真评估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TTFT · TPOT · SLO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3153" y="4572000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8C96A1"/>
            </a:solidFill>
            <a:prstDash val="dash"/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5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压测验证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目前人工执行命令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153" y="2834639"/>
            <a:ext cx="1737360" cy="676656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5875">
            <a:solidFill>
              <a:srgbClr val="1E8A6E"/>
            </a:solidFill>
          </a:ln>
        </p:spPr>
        <p:txBody>
          <a:bodyPr rtlCol="0" anchor="ctr" wrap="square" lIns="45720" tIns="18288" rIns="45720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6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校准回灌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拟合系数 · 重新规划</a:t>
            </a:r>
          </a:p>
        </p:txBody>
      </p:sp>
      <p:sp>
        <p:nvSpPr>
          <p:cNvPr id="15" name="Arc 14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18063924"/>
              <a:gd name="adj2" fmla="val 19190006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Arc 15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20923446"/>
              <a:gd name="adj2" fmla="val 676553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Arc 16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2409993"/>
              <a:gd name="adj2" fmla="val 3536075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Arc 17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7263924"/>
              <a:gd name="adj2" fmla="val 8390006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Arc 18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10123446"/>
              <a:gd name="adj2" fmla="val 11476553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1115568" y="2304288"/>
            <a:ext cx="4572000" cy="3474720"/>
          </a:xfrm>
          <a:prstGeom prst="arc">
            <a:avLst>
              <a:gd name="adj1" fmla="val 13209993"/>
              <a:gd name="adj2" fmla="val 14336075"/>
            </a:avLst>
          </a:prstGeom>
          <a:noFill/>
          <a:ln w="19050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29400" y="1828800"/>
            <a:ext cx="310896" cy="310896"/>
          </a:xfrm>
          <a:prstGeom prst="ellipse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1810512"/>
            <a:ext cx="45747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候选方案怎么来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2157984"/>
            <a:ext cx="4574743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每个实例规模先套 Loop A 调好的 launch；TTFT 卡住时试更短的 prefill，TPOT 卡住时试 mixed chunk（1024 / 512 / 256）</a:t>
            </a:r>
          </a:p>
        </p:txBody>
      </p:sp>
      <p:sp>
        <p:nvSpPr>
          <p:cNvPr id="24" name="Oval 23"/>
          <p:cNvSpPr/>
          <p:nvPr/>
        </p:nvSpPr>
        <p:spPr>
          <a:xfrm>
            <a:off x="6629400" y="2944368"/>
            <a:ext cx="310896" cy="310896"/>
          </a:xfrm>
          <a:prstGeom prst="ellipse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68312" y="2926080"/>
            <a:ext cx="45747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怎么算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8312" y="3273552"/>
            <a:ext cx="4574743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仿真 SGLang 调度：prefill 优先、chunked prefill、KV 准入与回收、DP rank 同步走 step；按 P90 判 SLO，再把整集群放到 router 后复核，不达标最多加 3 个实例</a:t>
            </a:r>
          </a:p>
        </p:txBody>
      </p:sp>
      <p:sp>
        <p:nvSpPr>
          <p:cNvPr id="27" name="Oval 26"/>
          <p:cNvSpPr/>
          <p:nvPr/>
        </p:nvSpPr>
        <p:spPr>
          <a:xfrm>
            <a:off x="6629400" y="4242816"/>
            <a:ext cx="310896" cy="310896"/>
          </a:xfrm>
          <a:prstGeom prst="ellipse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4224528"/>
            <a:ext cx="45747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怎么信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4572000"/>
            <a:ext cx="4574743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server 日志拟合 prefill / decode 系数（实测 / 模型取中位数）；压测检查预测偏差是否在 ±20% 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0" y="5230368"/>
            <a:ext cx="5013655" cy="941832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5303520"/>
            <a:ext cx="4647895" cy="8686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与 Loop C 的接口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→ </a:t>
            </a: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算子缺口按占 step 比例分级（≥10% 高、≥3% 中），交给 Loop C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← </a:t>
            </a: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算子实测耗时回来，校准成本模型后重新规划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04 / 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虚线 = 规划中：自动拉起服务与压测（--allow-exec）、自动 A/B 调参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rc 1"/>
          <p:cNvSpPr/>
          <p:nvPr/>
        </p:nvSpPr>
        <p:spPr>
          <a:xfrm>
            <a:off x="548640" y="374903"/>
            <a:ext cx="310896" cy="310896"/>
          </a:xfrm>
          <a:prstGeom prst="arc">
            <a:avLst>
              <a:gd name="adj1" fmla="val 18000000"/>
              <a:gd name="adj2" fmla="val 15000000"/>
            </a:avLst>
          </a:pr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74903"/>
            <a:ext cx="31089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LOOP C · 助力算子绑定评估与优化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算子先查“绑没绑对”，再查“快不快”，按模型占比排优先级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绑定 = 模型的每个算子在 SGLang 里最终分发到哪条实现。生成了 kernel，不等于模型用上了它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4924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 绑定评估：模型用上的是哪条实现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76272"/>
            <a:ext cx="5349240" cy="58521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模型实际用到的算子族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norm · RoPE · 激活 · attention · KV 写入 · MoE · 线性层 · 通信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23260" y="2779776"/>
            <a:ext cx="0" cy="182880"/>
          </a:xfrm>
          <a:prstGeom prst="line">
            <a:avLst/>
          </a:prstGeom>
          <a:ln w="19050">
            <a:solidFill>
              <a:srgbClr val="8C96A1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548640" y="2999232"/>
            <a:ext cx="5349240" cy="58521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SGLang 分发入口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算子分发类 · 注意力后端 · 量化方法 · 平台 hook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23260" y="3602736"/>
            <a:ext cx="0" cy="182879"/>
          </a:xfrm>
          <a:prstGeom prst="line">
            <a:avLst/>
          </a:prstGeom>
          <a:ln w="19050">
            <a:solidFill>
              <a:srgbClr val="8C96A1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548640" y="3822191"/>
            <a:ext cx="5349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3877055"/>
            <a:ext cx="507492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本芯片实际走的路径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缺口按占 step 比例排序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" y="4187952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4256532"/>
            <a:ext cx="109728" cy="109728"/>
          </a:xfrm>
          <a:prstGeom prst="ellipse">
            <a:avLst/>
          </a:prstGeom>
          <a:solidFill>
            <a:srgbClr val="1E8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187952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厂商实现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95728" y="4187952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96312" y="4256532"/>
            <a:ext cx="109728" cy="109728"/>
          </a:xfrm>
          <a:prstGeom prst="ellipse">
            <a:avLst/>
          </a:prstGeom>
          <a:solidFill>
            <a:srgbClr val="1E8A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4187952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SGLang 内置实现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0" y="4187952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215384" y="4256532"/>
            <a:ext cx="109728" cy="109728"/>
          </a:xfrm>
          <a:prstGeom prst="ellipse">
            <a:avLst/>
          </a:prstGeom>
          <a:solidFill>
            <a:srgbClr val="C98A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4187952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回落 torch 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" y="4498848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7240" y="4567428"/>
            <a:ext cx="109728" cy="109728"/>
          </a:xfrm>
          <a:prstGeom prst="ellipse">
            <a:avLst/>
          </a:prstGeom>
          <a:solidFill>
            <a:srgbClr val="C98A1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4498848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能跑但有 host 同步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95728" y="4498848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496312" y="4567428"/>
            <a:ext cx="109728" cy="10972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70048" y="4498848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无可用实现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0" y="4498848"/>
            <a:ext cx="1636776" cy="246888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15384" y="4567428"/>
            <a:ext cx="109728" cy="10972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4498848"/>
            <a:ext cx="1344168" cy="2468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当前配置会报错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919472"/>
            <a:ext cx="5349240" cy="125272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4992624"/>
            <a:ext cx="5020055" cy="11612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绑定陷阱：模型能跑通，注册的 kernel 却没被调用</a:t>
            </a:r>
          </a:p>
          <a:p>
            <a:pPr algn="l" latinLnBrk="0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C0612C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register_oot_forward 只认精确类，子类不会继承注册</a:t>
            </a:r>
          </a:p>
          <a:p>
            <a:pPr algn="l" latinLnBrk="0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C0612C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类自己重写 forward() 又不走分发时，注册的 kernel 根本不会被调用</a:t>
            </a:r>
          </a:p>
          <a:p>
            <a:pPr algn="l" latinLnBrk="0" marL="146304" indent="-14630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612C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Agent 从 SGLang 源码解析类继承链（MRO），直接标出这类路径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1737360"/>
            <a:ext cx="5379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 性能评估与优化：慢在哪、值不值得改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428231" y="2359152"/>
            <a:ext cx="0" cy="1947671"/>
          </a:xfrm>
          <a:prstGeom prst="line">
            <a:avLst/>
          </a:prstGeom>
          <a:ln w="15875">
            <a:solidFill>
              <a:srgbClr val="C5CCD4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428231" y="4306823"/>
            <a:ext cx="0" cy="484633"/>
          </a:xfrm>
          <a:prstGeom prst="line">
            <a:avLst/>
          </a:prstGeom>
          <a:ln w="15875">
            <a:solidFill>
              <a:srgbClr val="C5CCD4"/>
            </a:solidFill>
            <a:prstDash val="dash"/>
          </a:ln>
        </p:spPr>
      </p:cxnSp>
      <p:sp>
        <p:nvSpPr>
          <p:cNvPr id="37" name="Oval 36"/>
          <p:cNvSpPr/>
          <p:nvPr/>
        </p:nvSpPr>
        <p:spPr>
          <a:xfrm>
            <a:off x="6263640" y="2194560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2167128"/>
            <a:ext cx="4922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按真实形状算期望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0840" y="2450591"/>
            <a:ext cx="4922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从 step 标注重建 batch 形状，用同一成本模型算各类 kernel 的期望耗时</a:t>
            </a:r>
          </a:p>
        </p:txBody>
      </p:sp>
      <p:sp>
        <p:nvSpPr>
          <p:cNvPr id="40" name="Oval 39"/>
          <p:cNvSpPr/>
          <p:nvPr/>
        </p:nvSpPr>
        <p:spPr>
          <a:xfrm>
            <a:off x="6263640" y="2843784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20840" y="2816352"/>
            <a:ext cx="4922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定位异常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3099815"/>
            <a:ext cx="4922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远低于屋顶线 · kernel 间空隙 · 未走图 · 耗时离群 · rank 不均衡</a:t>
            </a:r>
          </a:p>
        </p:txBody>
      </p:sp>
      <p:sp>
        <p:nvSpPr>
          <p:cNvPr id="43" name="Oval 42"/>
          <p:cNvSpPr/>
          <p:nvPr/>
        </p:nvSpPr>
        <p:spPr>
          <a:xfrm>
            <a:off x="6263640" y="3493008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3465576"/>
            <a:ext cx="4922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匹配优化手段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3749039"/>
            <a:ext cx="4922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融合 · 通算重叠 · 多流 · L2 权重预取 · MoE 调优配置，按芯片能力取舍</a:t>
            </a:r>
          </a:p>
        </p:txBody>
      </p:sp>
      <p:sp>
        <p:nvSpPr>
          <p:cNvPr id="46" name="Oval 45"/>
          <p:cNvSpPr/>
          <p:nvPr/>
        </p:nvSpPr>
        <p:spPr>
          <a:xfrm>
            <a:off x="6263640" y="4142231"/>
            <a:ext cx="329184" cy="329184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4114799"/>
            <a:ext cx="4922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量化收益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4398264"/>
            <a:ext cx="4922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每条发现折算成 ms/step 与占比（≥10% 高、≥3% 中），交给 Loop B</a:t>
            </a:r>
          </a:p>
        </p:txBody>
      </p:sp>
      <p:sp>
        <p:nvSpPr>
          <p:cNvPr id="49" name="Oval 48"/>
          <p:cNvSpPr/>
          <p:nvPr/>
        </p:nvSpPr>
        <p:spPr>
          <a:xfrm>
            <a:off x="6263640" y="4791456"/>
            <a:ext cx="329184" cy="3291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263640" y="4791456"/>
            <a:ext cx="329184" cy="329184"/>
          </a:xfrm>
          <a:prstGeom prst="ellipse">
            <a:avLst/>
          </a:prstGeom>
          <a:noFill/>
          <a:ln w="15875">
            <a:solidFill>
              <a:srgbClr val="8C96A1"/>
            </a:solidFill>
            <a:prstDash val="dash"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C96A1"/>
                </a:solidFill>
                <a:latin typeface="Arial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0840" y="4764024"/>
            <a:ext cx="4922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A/B 复测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5047488"/>
            <a:ext cx="4922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规划中：自动执行；目前按报告里的命令人工复测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5513832"/>
            <a:ext cx="5379415" cy="658368"/>
          </a:xfrm>
          <a:prstGeom prst="rect">
            <a:avLst/>
          </a:prstGeom>
          <a:solidFill>
            <a:srgbClr val="F6F7F9"/>
          </a:solidFill>
          <a:ln w="9525">
            <a:solidFill>
              <a:srgbClr val="8C96A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8231" y="5550408"/>
            <a:ext cx="5105095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与平台算子 Agent 的衔接（规划中）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平台 kernel → 核对是否被分发到 → 真实形状复测 → Loop B 换算模型级收益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05 / 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状态取值与判定规则来自 SGLang 源码快照（72730d6）；虚线 = 规划中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差异 · 算子级 VS 模型级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与平台算子 Agent 互补：它把 kernel 做快，我们把模型跑好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我们不止做算子级：以算子级结果为输入，一路评估到 step、调度、SLO 和卡数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600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层级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783080"/>
            <a:ext cx="49834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这一层要回答的问题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783080"/>
            <a:ext cx="19659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平台算子 Agent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783080"/>
            <a:ext cx="2270455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sglang-maestro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基于算子级 → 模型级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1600200" cy="530352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L5 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集群与 SLO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0280" y="2331720"/>
            <a:ext cx="4983480" cy="53035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满足 SLO 最少几张卡？实例怎么切、几个副本、router 怎么配？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2600" y="2331720"/>
            <a:ext cx="2270455" cy="530352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部署仿真与规划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79"/>
            <a:ext cx="1600200" cy="530352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L4 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调度与特性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80" y="2926079"/>
            <a:ext cx="4983480" cy="53035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chunked prefill、KV 准入、DP attention、投机解码、HiCache 怎么开？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72600" y="2926079"/>
            <a:ext cx="2270455" cy="530352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特性顾问 + 调度仿真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39"/>
            <a:ext cx="1600200" cy="53035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L3 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0280" y="3520439"/>
            <a:ext cx="4983480" cy="53035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真实 batch 形状下谁占大头？融合边界、通算重叠、多流、预取？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72600" y="3520439"/>
            <a:ext cx="2270455" cy="530352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trace 期望对实测；融合 / 重叠 / 多流 / 预取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14800"/>
            <a:ext cx="1600200" cy="53035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L2 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算子绑定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80" y="4114800"/>
            <a:ext cx="4983480" cy="53035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模型的每个算子分发到哪条实现？缺口在哪、影响多大？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2600" y="4114800"/>
            <a:ext cx="2270455" cy="530352"/>
          </a:xfrm>
          <a:prstGeom prst="rect">
            <a:avLst/>
          </a:prstGeom>
          <a:solidFill>
            <a:srgbClr val="1E8A6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静态解析分发路径，缺口按占比排序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09159"/>
            <a:ext cx="1600200" cy="530352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L1  </a:t>
            </a: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Kernel 实现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4709159"/>
            <a:ext cx="4983480" cy="53035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 wrap="square" lIns="128016" t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单个 kernel 的 tiling、访存、指令怎么写最快？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709159"/>
            <a:ext cx="1965960" cy="530352"/>
          </a:xfrm>
          <a:prstGeom prst="rect">
            <a:avLst/>
          </a:prstGeom>
          <a:solidFill>
            <a:srgbClr val="35424F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生成与调优 kernel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72600" y="4709159"/>
            <a:ext cx="2270455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1E8A6E"/>
            </a:solidFill>
            <a:prstDash val="dash"/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以平台 kernel 为输入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413248"/>
            <a:ext cx="5432907" cy="786384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449824"/>
            <a:ext cx="5158587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评价口径不同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算子级：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kernel 耗时、离屋顶线还有多远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模型级：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满足 SLO 时的卡数、TTFT / TPOT、SLO 达成率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0147" y="5413248"/>
            <a:ext cx="5432907" cy="786384"/>
          </a:xfrm>
          <a:prstGeom prst="rect">
            <a:avLst/>
          </a:prstGeom>
          <a:solidFill>
            <a:srgbClr val="EEF1F4"/>
          </a:solidFill>
          <a:ln w="9525">
            <a:solidFill>
              <a:srgbClr val="8C96A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4739" y="5449824"/>
            <a:ext cx="5158587" cy="7132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协作接口（规划中）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我们 → 平台：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按模型级收益排序的算子需求（目标 shape、绑定位置）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平台 → 我们：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kernel；接入后由我们做模型级复测与校准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深挖 · 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难点：算子快 30%，模型级收益可能是 0，也可能省下三分之一的卡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推演：Qwen3-32B · H20 预设 · 算子级成本模型 + 离散事件仿真；未经实测校准，只用来说明方法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78024" y="1810512"/>
            <a:ext cx="1298448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810512"/>
            <a:ext cx="1298448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84648" y="1810512"/>
            <a:ext cx="1298448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1874519" cy="1353312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chat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输入 1–4K · 8 req/s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P90 TTFT ≤ 2 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P90 TPOT ≤ 50 ms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78024" y="2359152"/>
            <a:ext cx="1298448" cy="135331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78024" y="2560320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24</a:t>
            </a: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 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2888" y="3145536"/>
            <a:ext cx="1188719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3 × TP8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31335" y="2359152"/>
            <a:ext cx="129844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1335" y="2560320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8C96A1"/>
                </a:solidFill>
                <a:latin typeface="Arial"/>
                <a:ea typeface="Microsoft YaHei"/>
                <a:cs typeface="Microsoft YaHei"/>
              </a:rPr>
              <a:t>24</a:t>
            </a:r>
            <a:r>
              <a:rPr sz="120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 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199" y="3145536"/>
            <a:ext cx="1188719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不变（单实例承载 +2%）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84648" y="2359152"/>
            <a:ext cx="129844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2560320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20</a:t>
            </a:r>
            <a:r>
              <a:rPr sz="120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 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9512" y="3145536"/>
            <a:ext cx="1188719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−17% · 5 × TP4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03904"/>
            <a:ext cx="1874519" cy="1353312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长上下文 RAG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输入 25–32K · 0.5 req/s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P90 TTFT ≤ 8 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P90 TPOT ≤ 60 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78024" y="3803904"/>
            <a:ext cx="1298448" cy="135331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78024" y="4005072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48</a:t>
            </a: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 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32888" y="4590288"/>
            <a:ext cx="1188719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6 × TP8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31335" y="3803904"/>
            <a:ext cx="1298448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31335" y="4005072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40</a:t>
            </a:r>
            <a:r>
              <a:rPr sz="120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 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199" y="4590288"/>
            <a:ext cx="1188719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−17% · 5 × TP8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84648" y="3803904"/>
            <a:ext cx="1298448" cy="1353312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84648" y="4005072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32</a:t>
            </a:r>
            <a:r>
              <a:rPr sz="120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 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9512" y="4590288"/>
            <a:ext cx="1188719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−33% · 4 × TP8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266944"/>
            <a:ext cx="5934456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实例形态与副本数由规划器自动选择：6 个方案都带 EAGLE3（接受率按 0.7 假设），均不含 PD 分离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1810512"/>
            <a:ext cx="478505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为什么不能直接换算</a:t>
            </a:r>
          </a:p>
        </p:txBody>
      </p:sp>
      <p:sp>
        <p:nvSpPr>
          <p:cNvPr id="30" name="Oval 29"/>
          <p:cNvSpPr/>
          <p:nvPr/>
        </p:nvSpPr>
        <p:spPr>
          <a:xfrm>
            <a:off x="6858000" y="2267712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2240280"/>
            <a:ext cx="437357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占比随形状变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2578608"/>
            <a:ext cx="437357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 在 prefill 中的占比：4K 输入约 7%，32K 输入约 38%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871215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44968" y="2907791"/>
            <a:ext cx="3196431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82%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41399" y="2907791"/>
            <a:ext cx="272866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214265" y="2907791"/>
            <a:ext cx="428789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9480" y="3145536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32K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44968" y="3182112"/>
            <a:ext cx="2143947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88915" y="3182112"/>
            <a:ext cx="1481273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38%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370189" y="3182112"/>
            <a:ext cx="272866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44968" y="3488436"/>
            <a:ext cx="118872" cy="11887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3438144"/>
            <a:ext cx="56692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76488" y="3488436"/>
            <a:ext cx="118872" cy="11887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41080" y="3438144"/>
            <a:ext cx="76809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09176" y="3488436"/>
            <a:ext cx="118872" cy="118872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73768" y="3438144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15016" y="3438144"/>
            <a:ext cx="1228039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TP8 估算</a:t>
            </a:r>
          </a:p>
        </p:txBody>
      </p:sp>
      <p:sp>
        <p:nvSpPr>
          <p:cNvPr id="48" name="Oval 47"/>
          <p:cNvSpPr/>
          <p:nvPr/>
        </p:nvSpPr>
        <p:spPr>
          <a:xfrm>
            <a:off x="6858000" y="3785615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69480" y="3758183"/>
            <a:ext cx="437357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瓶颈指标决定哪段有用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4096511"/>
            <a:ext cx="4373575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基线两类负载都先卡 TTFT：prefill 受算力限制，chat 的 prefill 约八成时间在 GEMM；RAG 提速后，瓶颈转到 TPOT</a:t>
            </a:r>
          </a:p>
        </p:txBody>
      </p:sp>
      <p:sp>
        <p:nvSpPr>
          <p:cNvPr id="51" name="Oval 50"/>
          <p:cNvSpPr/>
          <p:nvPr/>
        </p:nvSpPr>
        <p:spPr>
          <a:xfrm>
            <a:off x="6858000" y="4681728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69480" y="4654296"/>
            <a:ext cx="437357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卡数是离散的，最优形态会变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69480" y="4992624"/>
            <a:ext cx="4373575" cy="6400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承载 +2% 不够省掉一个副本（8 req/s 仍要 3 个实例）；GEMM 变快后，最优实例从 TP8 变成 TP4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559552"/>
            <a:ext cx="11094415" cy="640080"/>
          </a:xfrm>
          <a:prstGeom prst="rect">
            <a:avLst/>
          </a:prstGeom>
          <a:solidFill>
            <a:srgbClr val="1620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59" y="5559552"/>
            <a:ext cx="10545775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结论：算子优化值不值得做、先做哪个，要放到</a:t>
            </a:r>
            <a:r>
              <a:rPr sz="13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“负载 + SLO + 部署”</a:t>
            </a: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里算——这正是模型级 Agent 的工作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07 / 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复现：deploy --model qwen3-32b --hardware h20 --workload chat / rag-long-context --no-pd；算子耗时 ×0.7 由脚本注入成本模型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深挖 · 解法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解法：一条从 kernel 算到卡数的换算链，实测校准后再做决策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五层共用同一套模型和参数：算子、特性、布局任何一处变化，都能一路传到 SLO 和卡数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914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1719072"/>
            <a:ext cx="914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34440" y="1856231"/>
            <a:ext cx="9722815" cy="0"/>
          </a:xfrm>
          <a:prstGeom prst="line">
            <a:avLst/>
          </a:prstGeom>
          <a:ln w="15875">
            <a:solidFill>
              <a:srgbClr val="C5CCD4"/>
            </a:solidFill>
            <a:tailEnd type="triangle" w="med" len="med"/>
          </a:ln>
        </p:spPr>
      </p:cxnSp>
      <p:sp>
        <p:nvSpPr>
          <p:cNvPr id="8" name="Rectangle 7"/>
          <p:cNvSpPr/>
          <p:nvPr/>
        </p:nvSpPr>
        <p:spPr>
          <a:xfrm>
            <a:off x="548640" y="2103120"/>
            <a:ext cx="1993392" cy="173736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231136"/>
            <a:ext cx="1773936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L1 KERNEL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roofline：max(算力, 访存)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+ launch / 图间隙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+ α-β 通信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效率系数来自芯片 YAML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16352" y="2103120"/>
            <a:ext cx="1993392" cy="173736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2656" y="2231136"/>
            <a:ext cx="1773936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L2 STEP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逐层累加各类算子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prefill / decode / mixed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trace 的形状从 step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标注里重建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87752" y="2971800"/>
            <a:ext cx="18288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5084064" y="2103120"/>
            <a:ext cx="1993392" cy="173736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2231136"/>
            <a:ext cx="1773936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35424F"/>
                </a:solidFill>
                <a:latin typeface="Consolas"/>
                <a:ea typeface="Microsoft YaHei"/>
                <a:cs typeface="Microsoft YaHei"/>
              </a:rPr>
              <a:t>L3 SCHEDULE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离散事件仿真 SGLang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prefill 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chunked prefill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KV 准入与回收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DP rank 同步走 step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55464" y="2971800"/>
            <a:ext cx="18288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7351775" y="2103120"/>
            <a:ext cx="1993392" cy="173736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2231136"/>
            <a:ext cx="1773936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L4 SLO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SLO 达成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判 P90 TTFT / TPOT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求单实例容量：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SLO 内最大到达率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标出先超标的指标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23175" y="2971800"/>
            <a:ext cx="182880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9619488" y="2103120"/>
            <a:ext cx="1993392" cy="173736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65792" y="2231136"/>
            <a:ext cx="1773936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L5 CLUSTER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卡数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副本数 + router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round robin / cache aware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整集群再仿真复核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不达标最多加 3 个实例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90888" y="2971800"/>
            <a:ext cx="182879" cy="0"/>
          </a:xfrm>
          <a:prstGeom prst="line">
            <a:avLst/>
          </a:prstGeom>
          <a:ln w="19050">
            <a:solidFill>
              <a:srgbClr val="66727F"/>
            </a:solidFill>
            <a:tailEnd type="triangle" w="med" len="med"/>
          </a:ln>
        </p:spPr>
      </p:cxnSp>
      <p:sp>
        <p:nvSpPr>
          <p:cNvPr id="22" name="Freeform 21"/>
          <p:cNvSpPr/>
          <p:nvPr/>
        </p:nvSpPr>
        <p:spPr>
          <a:xfrm>
            <a:off x="1545336" y="3840479"/>
            <a:ext cx="9070848" cy="274320"/>
          </a:xfrm>
          <a:custGeom>
            <a:avLst/>
            <a:gdLst/>
            <a:ahLst/>
            <a:cxnLst/>
            <a:rect l="l" t="t" r="r" b="b"/>
            <a:pathLst>
              <a:path w="9070848" h="274320">
                <a:moveTo>
                  <a:pt x="9070848" y="0"/>
                </a:moveTo>
                <a:lnTo>
                  <a:pt x="9070848" y="274320"/>
                </a:lnTo>
                <a:lnTo>
                  <a:pt x="0" y="27432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66727F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73936" y="4160519"/>
            <a:ext cx="861364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实测校准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server 日志拟合 prefill / decode 系数（实测 / 模型取中位数）；压测检查预测偏差是否在 ±20% 内；校准后重新规划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663440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怎么用这条链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65776"/>
            <a:ext cx="3545738" cy="10241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5175504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排优先级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89706" y="5202936"/>
            <a:ext cx="658368" cy="228600"/>
          </a:xfrm>
          <a:prstGeom prst="roundRect">
            <a:avLst>
              <a:gd name="adj" fmla="val 50000"/>
            </a:avLst>
          </a:prstGeom>
          <a:solidFill>
            <a:srgbClr val="E2F2E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已实现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5522976"/>
            <a:ext cx="3307994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算子缺口、融合 / 重叠 / 异常等发现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都折算成 ms/step 与占 step 比例来分级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5065776"/>
            <a:ext cx="3545738" cy="10241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9282" y="5175504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what-if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96532" y="5202936"/>
            <a:ext cx="1325880" cy="228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C96A1"/>
            </a:solidFill>
            <a:prstDash val="dash"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规划中：做成命令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9282" y="5522976"/>
            <a:ext cx="3307994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算子提速 → 重新仿真 → 卡数变化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上一页的推演就是用这条链手工跑的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7316" y="5065776"/>
            <a:ext cx="3545738" cy="10241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3620" y="5175504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提需求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838383" y="5202936"/>
            <a:ext cx="658368" cy="2286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8C96A1"/>
            </a:solidFill>
            <a:prstDash val="dash"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规划中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3620" y="5522976"/>
            <a:ext cx="3307994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给 Loop C 与平台算子 Agent 的需求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从“把 X 做快”变成“这些 shape 下快多少能省卡”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233"/>
                </a:solidFill>
                <a:latin typeface="Consolas"/>
                <a:ea typeface="Microsoft YaHei"/>
                <a:cs typeface="Microsoft YaHei"/>
              </a:rPr>
              <a:t>现状与下一步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9808"/>
            <a:ext cx="1109441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评估与决策已打通，下一步把执行与复测自动化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3527450" cy="3840480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Arc 4"/>
          <p:cNvSpPr/>
          <p:nvPr/>
        </p:nvSpPr>
        <p:spPr>
          <a:xfrm>
            <a:off x="704088" y="1847088"/>
            <a:ext cx="457200" cy="457200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86A2DD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847088"/>
            <a:ext cx="457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6A2DD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74520"/>
            <a:ext cx="270449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Loop A  框架迭代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96312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5C3A0"/>
                </a:solidFill>
                <a:latin typeface="Microsoft YaHei"/>
                <a:ea typeface="Microsoft YaHei"/>
                <a:cs typeface="Microsoft YaHei"/>
              </a:rPr>
              <a:t>已实现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2926079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84378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源码能力快照（sync-knowledge）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3264408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18211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特性顾问：判可行、算收益、给参数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3602735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3520439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插件 hook 清单与合并 launch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8096" y="3904487"/>
            <a:ext cx="3088538" cy="0"/>
          </a:xfrm>
          <a:prstGeom prst="line">
            <a:avLst/>
          </a:prstGeom>
          <a:ln w="9525">
            <a:solidFill>
              <a:srgbClr val="3A4755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768096" y="4050791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规划中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4480559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39826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两版快照自动 diff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4818888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73659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插件脚手架生成</a:t>
            </a:r>
          </a:p>
        </p:txBody>
      </p:sp>
      <p:sp>
        <p:nvSpPr>
          <p:cNvPr id="21" name="Oval 20"/>
          <p:cNvSpPr/>
          <p:nvPr/>
        </p:nvSpPr>
        <p:spPr>
          <a:xfrm>
            <a:off x="786384" y="5157216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" y="5074920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特性 A/B 自动执行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32122" y="1691640"/>
            <a:ext cx="3527450" cy="3840480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Arc 23"/>
          <p:cNvSpPr/>
          <p:nvPr/>
        </p:nvSpPr>
        <p:spPr>
          <a:xfrm>
            <a:off x="4487570" y="1847088"/>
            <a:ext cx="457200" cy="457200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55C3A0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7570" y="1847088"/>
            <a:ext cx="457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55C3A0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3642" y="1874520"/>
            <a:ext cx="270449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Loop B  模型适配与评估优化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1578" y="2496312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5C3A0"/>
                </a:solidFill>
                <a:latin typeface="Microsoft YaHei"/>
                <a:ea typeface="Microsoft YaHei"/>
                <a:cs typeface="Microsoft YaHei"/>
              </a:rPr>
              <a:t>已实现</a:t>
            </a:r>
          </a:p>
        </p:txBody>
      </p:sp>
      <p:sp>
        <p:nvSpPr>
          <p:cNvPr id="28" name="Oval 27"/>
          <p:cNvSpPr/>
          <p:nvPr/>
        </p:nvSpPr>
        <p:spPr>
          <a:xfrm>
            <a:off x="4569866" y="2926079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07610" y="284378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适配分析 · 精度路线 · bring-up 计划</a:t>
            </a:r>
          </a:p>
        </p:txBody>
      </p:sp>
      <p:sp>
        <p:nvSpPr>
          <p:cNvPr id="30" name="Oval 29"/>
          <p:cNvSpPr/>
          <p:nvPr/>
        </p:nvSpPr>
        <p:spPr>
          <a:xfrm>
            <a:off x="4569866" y="3264408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7610" y="318211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部署仿真与 launch / 压测命令</a:t>
            </a:r>
          </a:p>
        </p:txBody>
      </p:sp>
      <p:sp>
        <p:nvSpPr>
          <p:cNvPr id="32" name="Oval 31"/>
          <p:cNvSpPr/>
          <p:nvPr/>
        </p:nvSpPr>
        <p:spPr>
          <a:xfrm>
            <a:off x="4569866" y="3602735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610" y="3520439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日志 / 压测校准 · 一键 run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551578" y="3904487"/>
            <a:ext cx="3088538" cy="0"/>
          </a:xfrm>
          <a:prstGeom prst="line">
            <a:avLst/>
          </a:prstGeom>
          <a:ln w="9525">
            <a:solidFill>
              <a:srgbClr val="3A4755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4551578" y="4050791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规划中</a:t>
            </a:r>
          </a:p>
        </p:txBody>
      </p:sp>
      <p:sp>
        <p:nvSpPr>
          <p:cNvPr id="36" name="Oval 35"/>
          <p:cNvSpPr/>
          <p:nvPr/>
        </p:nvSpPr>
        <p:spPr>
          <a:xfrm>
            <a:off x="4569866" y="4480559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7610" y="439826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自动拉起服务与压测（--allow-exec）</a:t>
            </a:r>
          </a:p>
        </p:txBody>
      </p:sp>
      <p:sp>
        <p:nvSpPr>
          <p:cNvPr id="38" name="Oval 37"/>
          <p:cNvSpPr/>
          <p:nvPr/>
        </p:nvSpPr>
        <p:spPr>
          <a:xfrm>
            <a:off x="4569866" y="4818888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07610" y="473659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自动 A/B 调参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15604" y="1691640"/>
            <a:ext cx="3527450" cy="3840480"/>
          </a:xfrm>
          <a:prstGeom prst="rect">
            <a:avLst/>
          </a:prstGeom>
          <a:solidFill>
            <a:srgbClr val="222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Arc 40"/>
          <p:cNvSpPr/>
          <p:nvPr/>
        </p:nvSpPr>
        <p:spPr>
          <a:xfrm>
            <a:off x="8271052" y="1847088"/>
            <a:ext cx="457200" cy="457200"/>
          </a:xfrm>
          <a:prstGeom prst="arc">
            <a:avLst>
              <a:gd name="adj1" fmla="val 18000000"/>
              <a:gd name="adj2" fmla="val 15000000"/>
            </a:avLst>
          </a:prstGeom>
          <a:noFill/>
          <a:ln w="25400">
            <a:solidFill>
              <a:srgbClr val="E99A66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1052" y="1847088"/>
            <a:ext cx="4572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99A66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47124" y="1874520"/>
            <a:ext cx="270449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Loop C  算子绑定评估与优化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5060" y="2496312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5C3A0"/>
                </a:solidFill>
                <a:latin typeface="Microsoft YaHei"/>
                <a:ea typeface="Microsoft YaHei"/>
                <a:cs typeface="Microsoft YaHei"/>
              </a:rPr>
              <a:t>已实现</a:t>
            </a:r>
          </a:p>
        </p:txBody>
      </p:sp>
      <p:sp>
        <p:nvSpPr>
          <p:cNvPr id="45" name="Oval 44"/>
          <p:cNvSpPr/>
          <p:nvPr/>
        </p:nvSpPr>
        <p:spPr>
          <a:xfrm>
            <a:off x="8353348" y="2926079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1092" y="284378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算子绑定解析与缺口排序</a:t>
            </a:r>
          </a:p>
        </p:txBody>
      </p:sp>
      <p:sp>
        <p:nvSpPr>
          <p:cNvPr id="47" name="Oval 46"/>
          <p:cNvSpPr/>
          <p:nvPr/>
        </p:nvSpPr>
        <p:spPr>
          <a:xfrm>
            <a:off x="8353348" y="3264408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1092" y="318211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roofline 与 trace 诊断</a:t>
            </a:r>
          </a:p>
        </p:txBody>
      </p:sp>
      <p:sp>
        <p:nvSpPr>
          <p:cNvPr id="49" name="Oval 48"/>
          <p:cNvSpPr/>
          <p:nvPr/>
        </p:nvSpPr>
        <p:spPr>
          <a:xfrm>
            <a:off x="8353348" y="3602735"/>
            <a:ext cx="109728" cy="109728"/>
          </a:xfrm>
          <a:prstGeom prst="ellipse">
            <a:avLst/>
          </a:prstGeom>
          <a:solidFill>
            <a:srgbClr val="55C3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1092" y="3520439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DDE2E7"/>
                </a:solidFill>
                <a:latin typeface="Microsoft YaHei"/>
                <a:ea typeface="Microsoft YaHei"/>
                <a:cs typeface="Microsoft YaHei"/>
              </a:rPr>
              <a:t>融合 / 通算重叠 / 多流 / L2 预取评估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335060" y="3904487"/>
            <a:ext cx="3088539" cy="0"/>
          </a:xfrm>
          <a:prstGeom prst="line">
            <a:avLst/>
          </a:prstGeom>
          <a:ln w="9525">
            <a:solidFill>
              <a:srgbClr val="3A4755"/>
            </a:solidFill>
          </a:ln>
        </p:spPr>
      </p:cxnSp>
      <p:sp>
        <p:nvSpPr>
          <p:cNvPr id="52" name="TextBox 51"/>
          <p:cNvSpPr txBox="1"/>
          <p:nvPr/>
        </p:nvSpPr>
        <p:spPr>
          <a:xfrm>
            <a:off x="8335060" y="4050791"/>
            <a:ext cx="316169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规划中</a:t>
            </a:r>
          </a:p>
        </p:txBody>
      </p:sp>
      <p:sp>
        <p:nvSpPr>
          <p:cNvPr id="53" name="Oval 52"/>
          <p:cNvSpPr/>
          <p:nvPr/>
        </p:nvSpPr>
        <p:spPr>
          <a:xfrm>
            <a:off x="8353348" y="4480559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1092" y="4398264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优化项 A/B 自动复测</a:t>
            </a:r>
          </a:p>
        </p:txBody>
      </p:sp>
      <p:sp>
        <p:nvSpPr>
          <p:cNvPr id="55" name="Oval 54"/>
          <p:cNvSpPr/>
          <p:nvPr/>
        </p:nvSpPr>
        <p:spPr>
          <a:xfrm>
            <a:off x="8353348" y="4818888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1092" y="4736592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what-if：算子提速 → 卡数</a:t>
            </a:r>
          </a:p>
        </p:txBody>
      </p:sp>
      <p:sp>
        <p:nvSpPr>
          <p:cNvPr id="57" name="Oval 56"/>
          <p:cNvSpPr/>
          <p:nvPr/>
        </p:nvSpPr>
        <p:spPr>
          <a:xfrm>
            <a:off x="8353348" y="5157216"/>
            <a:ext cx="109728" cy="109728"/>
          </a:xfrm>
          <a:prstGeom prst="ellipse">
            <a:avLst/>
          </a:prstGeom>
          <a:noFill/>
          <a:ln w="15875">
            <a:solidFill>
              <a:srgbClr val="F2B2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1092" y="5074920"/>
            <a:ext cx="290565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5CCD4"/>
                </a:solidFill>
                <a:latin typeface="Microsoft YaHei"/>
                <a:ea typeface="Microsoft YaHei"/>
                <a:cs typeface="Microsoft YaHei"/>
              </a:rPr>
              <a:t>对接平台算子 Agent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定位：不替代算子生成，而是把算子能力兑现为</a:t>
            </a:r>
            <a:r>
              <a:rPr sz="17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模型级收益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