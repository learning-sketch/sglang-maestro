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20624"/>
            <a:ext cx="50292" cy="237744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9427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模型层 · 一次完整的迭代记录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592056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30B-A3B 单卡：10 个候选，5 个过三道门，峰值吞吐 +37%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Trace 与按 config 算的字节账独立对上——Attention、稠密 GEMM 都贴在 1100 GB/s 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9441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072865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冻结口径　</a:t>
            </a: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Qwen3-VL-30B-A3B-Instruct-channel-fp8</a:t>
            </a: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128 专家 / top-8 · 48 层 · M100 单卡 TP1 · qsx8_lever2 env · 1K/1K · CG-on + overlap-on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主指标 持续输出 tok/s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75104"/>
            <a:ext cx="6291072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20824"/>
            <a:ext cx="5888736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每类算子离上界多远</a:t>
            </a: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c32 纯 decode · CG-off · ms/步 · 上界 = 访存字节 ÷ 1100 GB/s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58568"/>
            <a:ext cx="157276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类别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258568"/>
            <a:ext cx="1874519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■</a:t>
            </a: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 上界内　</a:t>
            </a:r>
            <a:r>
              <a:rPr sz="900" b="0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■</a:t>
            </a: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 超出　</a:t>
            </a: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▭</a:t>
            </a: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 交付省掉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258568"/>
            <a:ext cx="84124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基线 → 交付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2258568"/>
            <a:ext cx="749808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离上界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2258568"/>
            <a:ext cx="62179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候选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9808" y="2478024"/>
            <a:ext cx="5888736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49808" y="2514600"/>
            <a:ext cx="5888736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贴住上界</a:t>
            </a: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读权重 / 读 KV · 13.46 → 13.30 ms · 占 device 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706624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专家 GEMM（fp8）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752344"/>
            <a:ext cx="1845715" cy="118872"/>
          </a:xfrm>
          <a:prstGeom prst="rect">
            <a:avLst/>
          </a:prstGeom>
          <a:solidFill>
            <a:srgbClr val="CFE3F0"/>
          </a:solidFill>
          <a:ln w="9525">
            <a:solidFill>
              <a:srgbClr val="7FA4B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50592" y="2706624"/>
            <a:ext cx="1717699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反推：每层至多约 40/128 个专家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2706624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8.46 → 8.33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79" y="2706624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反推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2706624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94A3D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2916936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2962656"/>
            <a:ext cx="624839" cy="118872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77440" y="2962656"/>
            <a:ext cx="624839" cy="118872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5968" y="2916936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2.82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2916936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≈1×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16752" y="2916936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127248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稠密 GEMM（QKV/O/头）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3172968"/>
            <a:ext cx="476385" cy="118872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77440" y="3172968"/>
            <a:ext cx="476385" cy="118872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15968" y="3127248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2.15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79" y="3127248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≈1×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6752" y="3127248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337560"/>
            <a:ext cx="5888736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glue</a:t>
            </a: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离上界 38× · 9.47 → 7.72 ms · 占 device 35% · 发射与 occupancy 开销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3529584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专家重排与合并（含路由）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3575303"/>
            <a:ext cx="686880" cy="118872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77440" y="3575303"/>
            <a:ext cx="25380" cy="118872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15968" y="3529584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3.1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79" y="3529584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27×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16752" y="3529584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Arial"/>
                <a:ea typeface="Microsoft YaHei"/>
                <a:cs typeface="Microsoft YaHei"/>
              </a:rPr>
              <a:t>2</a:t>
            </a:r>
            <a:r>
              <a:rPr sz="950" b="0">
                <a:solidFill>
                  <a:srgbClr val="7FA4BA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950" b="1">
                <a:solidFill>
                  <a:srgbClr val="D94A3D"/>
                </a:solidFill>
                <a:latin typeface="Arial"/>
                <a:ea typeface="Microsoft YaHei"/>
                <a:cs typeface="Microsoft YaHei"/>
              </a:rPr>
              <a:t>4</a:t>
            </a:r>
            <a:r>
              <a:rPr sz="950" b="0">
                <a:solidFill>
                  <a:srgbClr val="7FA4BA"/>
                </a:solidFill>
                <a:latin typeface="Arial"/>
                <a:ea typeface="Microsoft YaHei"/>
                <a:cs typeface="Microsoft YaHei"/>
              </a:rPr>
              <a:t> · </a:t>
            </a:r>
            <a:r>
              <a:rPr sz="950" b="1">
                <a:solidFill>
                  <a:srgbClr val="40708B"/>
                </a:solidFill>
                <a:latin typeface="Arial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3739896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逐元素 + 量化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3785615"/>
            <a:ext cx="387755" cy="118872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77440" y="3785615"/>
            <a:ext cx="18288" cy="118872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65195" y="3785615"/>
            <a:ext cx="389971" cy="118872"/>
          </a:xfrm>
          <a:prstGeom prst="rect">
            <a:avLst/>
          </a:prstGeom>
          <a:noFill/>
          <a:ln w="9525">
            <a:solidFill>
              <a:srgbClr val="7FA4B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15968" y="3739896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3.51 → 1.75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79" y="3739896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82× → 41×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16752" y="3739896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8" y="3950208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3D-RoPE（多模态）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77440" y="3995928"/>
            <a:ext cx="414344" cy="118872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377440" y="3995928"/>
            <a:ext cx="18288" cy="118872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64936" y="3950208"/>
            <a:ext cx="138988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← 离上界最远，还没动过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5968" y="3950208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1.87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79" y="3950208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73×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16752" y="3950208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808" y="4160520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Norm 与其他小核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377440" y="4206240"/>
            <a:ext cx="221574" cy="118872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377440" y="4206240"/>
            <a:ext cx="18288" cy="118872"/>
          </a:xfrm>
          <a:prstGeom prst="rect">
            <a:avLst/>
          </a:prstGeom>
          <a:solidFill>
            <a:srgbClr val="7FA4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15968" y="4160520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~1.0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12079" y="4160520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44×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16752" y="4160520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49808" y="4389120"/>
            <a:ext cx="5888736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749808" y="4407408"/>
            <a:ext cx="5888736" cy="1920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整步</a:t>
            </a: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device 24.7 → 22.2 ms（−10%）· 墙钟 = c32 TPOT 27.25 → 23.90 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8" y="4599432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未归类（推导）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377440" y="4645152"/>
            <a:ext cx="261457" cy="118872"/>
          </a:xfrm>
          <a:prstGeom prst="rect">
            <a:avLst/>
          </a:prstGeom>
          <a:solidFill>
            <a:srgbClr val="CFE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638897" y="4645152"/>
            <a:ext cx="130728" cy="118872"/>
          </a:xfrm>
          <a:prstGeom prst="rect">
            <a:avLst/>
          </a:prstGeom>
          <a:noFill/>
          <a:ln w="9525">
            <a:solidFill>
              <a:srgbClr val="7FA4B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15968" y="4599432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1.77 → 1.18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12079" y="4599432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16752" y="4599432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9808" y="4809744"/>
            <a:ext cx="157276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device 空闲（推导）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377440" y="4855464"/>
            <a:ext cx="376676" cy="118872"/>
          </a:xfrm>
          <a:prstGeom prst="rect">
            <a:avLst/>
          </a:prstGeom>
          <a:solidFill>
            <a:srgbClr val="CFE3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754116" y="4855464"/>
            <a:ext cx="188338" cy="118872"/>
          </a:xfrm>
          <a:prstGeom prst="rect">
            <a:avLst/>
          </a:prstGeom>
          <a:noFill/>
          <a:ln w="9525">
            <a:solidFill>
              <a:srgbClr val="7FA4BA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15968" y="4809744"/>
            <a:ext cx="84124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Consolas"/>
                <a:ea typeface="Microsoft YaHei"/>
                <a:cs typeface="Microsoft YaHei"/>
              </a:rPr>
              <a:t>2.55 → 1.70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12079" y="4809744"/>
            <a:ext cx="749808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Consolas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16752" y="4809744"/>
            <a:ext cx="621792" cy="21031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Arial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022592" y="1975104"/>
            <a:ext cx="4620463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23759" y="2048256"/>
            <a:ext cx="4218127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候选明细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五组 · 编号对应左表「候选」列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50607" y="2395728"/>
            <a:ext cx="4364431" cy="493776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223759" y="2432304"/>
            <a:ext cx="27432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34656" y="2432304"/>
            <a:ext cx="2535631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融合 swiglu + 动态量化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70287" y="2432304"/>
            <a:ext cx="137160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34656" y="2660904"/>
            <a:ext cx="390723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C 单核 1.75 ms/步（原 3.51）· D device 24.7 → 22.2 ms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50607" y="2926080"/>
            <a:ext cx="4364431" cy="493776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223759" y="2962656"/>
            <a:ext cx="27432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534656" y="2962656"/>
            <a:ext cx="2535631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量化 + shuffle 换 SDNN 恒定核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70287" y="2962656"/>
            <a:ext cx="137160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34656" y="3191256"/>
            <a:ext cx="390723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C 微基准 c128 5.43×，cos = 1.0 · D 吞吐 +3%，TPOT −3.4%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23759" y="3493008"/>
            <a:ext cx="27432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4A3D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34656" y="3493008"/>
            <a:ext cx="2535631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grouped-GEMM group-mode 四个旋钮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70287" y="3493008"/>
            <a:ext cx="137160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94A3D"/>
                </a:solidFill>
                <a:latin typeface="Microsoft YaHei"/>
                <a:ea typeface="Microsoft YaHei"/>
                <a:cs typeface="Microsoft YaHei"/>
              </a:rPr>
              <a:t>① 挡一个，③ 挡其余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534656" y="3721608"/>
            <a:ext cx="390723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C 四模式同速；force_nogroup −20%；no_group cos 0.000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23759" y="4023359"/>
            <a:ext cx="27432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D94A3D"/>
                </a:solidFill>
                <a:latin typeface="Arial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34656" y="4023359"/>
            <a:ext cx="2535631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FFN 输出合并换 shuffle_mul_sum_sdnn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70287" y="4023359"/>
            <a:ext cx="137160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94A3D"/>
                </a:solidFill>
                <a:latin typeface="Microsoft YaHei"/>
                <a:ea typeface="Microsoft YaHei"/>
                <a:cs typeface="Microsoft YaHei"/>
              </a:rPr>
              <a:t>③ 未过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34656" y="4251959"/>
            <a:ext cx="390723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C 0.61×，更慢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223759" y="4553712"/>
            <a:ext cx="27432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708B"/>
                </a:solidFill>
                <a:latin typeface="Arial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34656" y="4553712"/>
            <a:ext cx="2535631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路由 softmax + topk + renorm 融合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70287" y="4553712"/>
            <a:ext cx="137160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③ 过但不值当，未接线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534656" y="4782312"/>
            <a:ext cx="3907231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C 内核 2×，Δ 3e-8 · D 只占 ~0.9% TPOT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8640" y="5157216"/>
            <a:ext cx="26517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同一交付，换个并发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持续输出 tok/s，并发越高收益越大；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c32 是左表 Trace 的工作点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291840" y="5157216"/>
            <a:ext cx="156783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438144" y="5184648"/>
            <a:ext cx="1275222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38144" y="5358383"/>
            <a:ext cx="127522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+9.9%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438144" y="5559552"/>
            <a:ext cx="1275222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94.9 → 104.3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987686" y="5157216"/>
            <a:ext cx="156783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133990" y="5184648"/>
            <a:ext cx="1275222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c32 · Trace 工作点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133990" y="5358383"/>
            <a:ext cx="127522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+22.5%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33990" y="5559552"/>
            <a:ext cx="1275222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959.6 → 1175.7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683532" y="5157216"/>
            <a:ext cx="156783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29836" y="5184648"/>
            <a:ext cx="1275222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c64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29836" y="5358383"/>
            <a:ext cx="127522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+30.7%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29836" y="5559552"/>
            <a:ext cx="1275222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1199.9 → 1567.7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379378" y="5157216"/>
            <a:ext cx="156783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525682" y="5184648"/>
            <a:ext cx="1275222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c96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525682" y="5358383"/>
            <a:ext cx="127522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+35.3%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25682" y="5559552"/>
            <a:ext cx="1275222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1307.3 → 1768.8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075224" y="5157216"/>
            <a:ext cx="1567830" cy="56692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221528" y="5184648"/>
            <a:ext cx="1275222" cy="1737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c128 · 峰值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221528" y="5358383"/>
            <a:ext cx="127522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+37.4%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221528" y="5559552"/>
            <a:ext cx="1275222" cy="1463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Consolas"/>
                <a:ea typeface="Microsoft YaHei"/>
                <a:cs typeface="Microsoft YaHei"/>
              </a:rPr>
              <a:t>1370.0 → 1883.0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48640" y="5797296"/>
            <a:ext cx="11094415" cy="47548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48640" y="5797296"/>
            <a:ext cx="64008" cy="47548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59536" y="5797296"/>
            <a:ext cx="10454335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读数　</a:t>
            </a: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GEMM 与 Attention 已贴住上界，glue 的时间几乎全是开销——交付只动了 glue，没碰一个 GEMM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8640" y="6382512"/>
            <a:ext cx="110944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口径差　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Trace 关 CUDA Graph 逐核计时，吞吐与 TPOT 是 CG-on + overlap：占比与开不开图无关，绝对耗时受影响；空闲 = TPOT − device 跨了两种口径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l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420624"/>
            <a:ext cx="50292" cy="237744"/>
          </a:xfrm>
          <a:prstGeom prst="rect">
            <a:avLst/>
          </a:prstGeom>
          <a:solidFill>
            <a:srgbClr val="D414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84048"/>
            <a:ext cx="942746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4147A"/>
                </a:solidFill>
                <a:latin typeface="Consolas"/>
                <a:ea typeface="Microsoft YaHei"/>
                <a:cs typeface="Microsoft YaHei"/>
              </a:rPr>
              <a:t>模型层 · 候选明细（备份）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592056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30B-A3B 单卡：10 个候选，5 个过三道门，峰值吞吐 +37%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判定全部来自 M100 真机——数值不对、更慢的当场挡掉，占比太小的不接线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27632"/>
            <a:ext cx="11094415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0728655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冻结口径　</a:t>
            </a:r>
            <a:r>
              <a:rPr sz="95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Qwen3-VL-30B-A3B-Instruct-channel-fp8</a:t>
            </a: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　128 专家 / top-8 · 48 层 · M100 单卡 TP1 · qsx8_lever2 env · 1K/1K · CG-on + overlap-on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主指标 持续输出 tok/s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75104"/>
            <a:ext cx="27432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48256"/>
            <a:ext cx="2340864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峰值吞吐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持续输出 tok/s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40864"/>
            <a:ext cx="2340864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0F62CE"/>
                </a:solidFill>
                <a:latin typeface="Arial"/>
                <a:ea typeface="Microsoft YaHei"/>
                <a:cs typeface="Microsoft YaHei"/>
              </a:rPr>
              <a:t>+37%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3416165"/>
            <a:ext cx="640080" cy="918090"/>
          </a:xfrm>
          <a:prstGeom prst="rect">
            <a:avLst/>
          </a:prstGeom>
          <a:solidFill>
            <a:srgbClr val="AFC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60133"/>
            <a:ext cx="109728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1370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98264"/>
            <a:ext cx="109728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3072384"/>
            <a:ext cx="640080" cy="1261872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2816352"/>
            <a:ext cx="109728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1883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4398264"/>
            <a:ext cx="1097280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59" y="4334256"/>
            <a:ext cx="2194561" cy="0"/>
          </a:xfrm>
          <a:prstGeom prst="line">
            <a:avLst/>
          </a:prstGeom>
          <a:ln w="12700">
            <a:solidFill>
              <a:srgbClr val="AFCEE1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749808" y="4681728"/>
            <a:ext cx="2340864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基线峰值在 c128，1K/1K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1975104"/>
            <a:ext cx="8168335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75888" y="2048256"/>
            <a:ext cx="7765999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候选明细</a:t>
            </a: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　五组，全部为单卡 TP1 口径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2340864"/>
            <a:ext cx="265176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改动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340864"/>
            <a:ext cx="2002536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C 筛选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4" y="2340864"/>
            <a:ext cx="128016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D 复验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84664" y="2340864"/>
            <a:ext cx="1554480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75888" y="2578608"/>
            <a:ext cx="7765999" cy="0"/>
          </a:xfrm>
          <a:prstGeom prst="line">
            <a:avLst/>
          </a:prstGeom>
          <a:ln w="9525">
            <a:solidFill>
              <a:srgbClr val="CFE3F0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3602736" y="2633472"/>
            <a:ext cx="7912303" cy="56692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5888" y="2633472"/>
            <a:ext cx="26517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融合 swiglu + 动态量化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替掉散点 elementwise 3.08 ms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+ per-token quant 0.43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633472"/>
            <a:ext cx="2002536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单核 1.75 ms/步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13064" y="2633472"/>
            <a:ext cx="12801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device 单步时间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24.7 → 22.2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4664" y="2633472"/>
            <a:ext cx="155448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交付，全矩阵 +22~38%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02736" y="3236976"/>
            <a:ext cx="7912303" cy="420624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5888" y="3236976"/>
            <a:ext cx="2651760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量化 + shuffle 换 SDNN 恒定核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现用核随 rows×hidden 从 20 涨到 141 µs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3236976"/>
            <a:ext cx="2002536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微基准 c128 5.43×，cos = 1.0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3064" y="3236976"/>
            <a:ext cx="1280160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E2E 吞吐 +3%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TPOT −3.4%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4664" y="3236976"/>
            <a:ext cx="1554480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5888" y="3694176"/>
            <a:ext cx="26517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grouped-GEMM group-mode 四个旋钮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3694176"/>
            <a:ext cx="2002536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四模式完全同速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force_nogroup −20%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no_group cos 0.000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3064" y="3694176"/>
            <a:ext cx="128016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84664" y="3694176"/>
            <a:ext cx="1554480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94A3D"/>
                </a:solidFill>
                <a:latin typeface="Microsoft YaHei"/>
                <a:ea typeface="Microsoft YaHei"/>
                <a:cs typeface="Microsoft YaHei"/>
              </a:rPr>
              <a:t>① 挡掉一个，③ 挡掉其余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94A3D"/>
                </a:solidFill>
                <a:latin typeface="Microsoft YaHei"/>
                <a:ea typeface="Microsoft YaHei"/>
                <a:cs typeface="Microsoft YaHei"/>
              </a:rPr>
              <a:t>判定为闭源核内在开销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75888" y="4297680"/>
            <a:ext cx="26517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FFN 输出合并换 shuffle_mul_sum_sdnn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4297680"/>
            <a:ext cx="2002536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0.61×，更慢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13064" y="4297680"/>
            <a:ext cx="12801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FA4BA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84664" y="4297680"/>
            <a:ext cx="15544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D94A3D"/>
                </a:solidFill>
                <a:latin typeface="Microsoft YaHei"/>
                <a:ea typeface="Microsoft YaHei"/>
                <a:cs typeface="Microsoft YaHei"/>
              </a:rPr>
              <a:t>③ 未过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75888" y="4608576"/>
            <a:ext cx="26517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路由 softmax + topk + renorm 融合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4608576"/>
            <a:ext cx="2002536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内核 2×，数值对（Δ 3e-8）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13064" y="4608576"/>
            <a:ext cx="128016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4D69"/>
                </a:solidFill>
                <a:latin typeface="Microsoft YaHei"/>
                <a:ea typeface="Microsoft YaHei"/>
                <a:cs typeface="Microsoft YaHei"/>
              </a:rPr>
              <a:t>只占 ~0.9% TPOT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84664" y="4608576"/>
            <a:ext cx="155448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③ 过但不值当，未接线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084064"/>
            <a:ext cx="2651760" cy="62179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三道门的漏斗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由便宜到贵，任一道不过即停，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数值不对、更慢的当场挡掉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5084064"/>
            <a:ext cx="250332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0" y="5157216"/>
            <a:ext cx="213756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候选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5376672"/>
            <a:ext cx="213756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5786" y="5084064"/>
            <a:ext cx="250332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FE3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98666" y="5157216"/>
            <a:ext cx="213756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过三道门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98666" y="5376672"/>
            <a:ext cx="213756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886602" y="5394959"/>
            <a:ext cx="237744" cy="0"/>
          </a:xfrm>
          <a:prstGeom prst="line">
            <a:avLst/>
          </a:prstGeom>
          <a:ln w="15875">
            <a:solidFill>
              <a:srgbClr val="7FA4BA"/>
            </a:solidFill>
            <a:tailEnd type="triangle" w="med" len="med"/>
          </a:ln>
        </p:spPr>
      </p:cxnSp>
      <p:sp>
        <p:nvSpPr>
          <p:cNvPr id="57" name="Rectangle 56"/>
          <p:cNvSpPr/>
          <p:nvPr/>
        </p:nvSpPr>
        <p:spPr>
          <a:xfrm>
            <a:off x="9139732" y="5084064"/>
            <a:ext cx="2503322" cy="621792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2612" y="5157216"/>
            <a:ext cx="2137562" cy="2011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F62CE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2612" y="5376672"/>
            <a:ext cx="213756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2B45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810548" y="5394959"/>
            <a:ext cx="237744" cy="0"/>
          </a:xfrm>
          <a:prstGeom prst="line">
            <a:avLst/>
          </a:prstGeom>
          <a:ln w="15875">
            <a:solidFill>
              <a:srgbClr val="7FA4BA"/>
            </a:solidFill>
            <a:tailEnd type="triangle" w="med" len="med"/>
          </a:ln>
        </p:spPr>
      </p:cxnSp>
      <p:sp>
        <p:nvSpPr>
          <p:cNvPr id="61" name="Rectangle 60"/>
          <p:cNvSpPr/>
          <p:nvPr/>
        </p:nvSpPr>
        <p:spPr>
          <a:xfrm>
            <a:off x="548640" y="5797296"/>
            <a:ext cx="11094415" cy="475488"/>
          </a:xfrm>
          <a:prstGeom prst="rect">
            <a:avLst/>
          </a:prstGeom>
          <a:solidFill>
            <a:srgbClr val="C9E1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" y="5797296"/>
            <a:ext cx="64008" cy="475488"/>
          </a:xfrm>
          <a:prstGeom prst="rect">
            <a:avLst/>
          </a:prstGeom>
          <a:solidFill>
            <a:srgbClr val="0F62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9536" y="5797296"/>
            <a:ext cx="10454335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62CE"/>
                </a:solidFill>
                <a:latin typeface="Consolas"/>
                <a:ea typeface="Microsoft YaHei"/>
                <a:cs typeface="Microsoft YaHei"/>
              </a:rPr>
              <a:t>读数　</a:t>
            </a:r>
            <a:r>
              <a:rPr sz="1600" b="1">
                <a:solidFill>
                  <a:srgbClr val="0A2B45"/>
                </a:solidFill>
                <a:latin typeface="Microsoft YaHei"/>
                <a:ea typeface="Microsoft YaHei"/>
                <a:cs typeface="Microsoft YaHei"/>
              </a:rPr>
              <a:t>两个交付都在替换小核；闭源 grouped-GEMM 的旋钮调不动，占比不到 1% 的核再快也不接线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382512"/>
            <a:ext cx="1109441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708B"/>
                </a:solidFill>
                <a:latin typeface="Microsoft YaHei"/>
                <a:ea typeface="Microsoft YaHei"/>
                <a:cs typeface="Microsoft YaHei"/>
              </a:rPr>
              <a:t>C 列是内核或微基准读数，D 列是整步或端到端读数，两列口径不同、不能互相换算；表中全部为 M100 单卡 TP1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