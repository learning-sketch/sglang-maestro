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算子层 Agent：两个 Agent 对抗，并为 RL 预留接口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提议者造补丁，挑战者造反例，判决全在确定性 Harness；同一条回路同时是 rollout 引擎——训练循环就位即可接上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54864" cy="237744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07008"/>
            <a:ext cx="224942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环境与知识</a:t>
            </a:r>
            <a:r>
              <a:rPr sz="8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Context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0128" y="1234440"/>
            <a:ext cx="54864" cy="2377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6432" y="1207008"/>
            <a:ext cx="521208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两个 Agent 对抗　＝　一次 rollout</a:t>
            </a:r>
            <a:r>
              <a:rPr sz="85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　Proposer vs Challenger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79408" y="1234440"/>
            <a:ext cx="54864" cy="23774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25712" y="1207008"/>
            <a:ext cx="2517343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确定性 Harness</a:t>
            </a: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　无模型 · 唯一裁判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627632"/>
            <a:ext cx="2395728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627632"/>
            <a:ext cx="64008" cy="768096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664208"/>
            <a:ext cx="2084832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任务上下文</a:t>
            </a:r>
            <a:r>
              <a:rPr sz="7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Task Context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算子规格与 Shape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输入输出语义约束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05456"/>
            <a:ext cx="2395728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505456"/>
            <a:ext cx="64008" cy="896112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542032"/>
            <a:ext cx="2084832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领域知识挂载</a:t>
            </a:r>
            <a:r>
              <a:rPr sz="7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Domain Knowledge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M100 硬件规格卡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算子调优 Skills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历史反例库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511296"/>
            <a:ext cx="2395728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511296"/>
            <a:ext cx="64008" cy="914400"/>
          </a:xfrm>
          <a:prstGeom prst="rect">
            <a:avLst/>
          </a:prstGeom>
          <a:solidFill>
            <a:srgbClr val="0A2B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547872"/>
            <a:ext cx="2084832" cy="8412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证据黑板</a:t>
            </a:r>
            <a:r>
              <a:rPr sz="7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　Shared Blackboard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编译 / 精度 / 测速判决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反例命中记录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两方都只能读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79408" y="1627632"/>
            <a:ext cx="2663647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79408" y="1627632"/>
            <a:ext cx="64008" cy="8412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62288" y="1664208"/>
            <a:ext cx="2352751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源码与检索</a:t>
            </a:r>
            <a:r>
              <a:rPr sz="7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Source &amp; Retrieval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算子模板读取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AST 语法树检查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代码补丁生成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79408" y="2578608"/>
            <a:ext cx="2663647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79408" y="2578608"/>
            <a:ext cx="64008" cy="109728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62288" y="2615184"/>
            <a:ext cx="2352751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后端</a:t>
            </a:r>
            <a:r>
              <a:rPr sz="7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backend / 耦合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L0 交叉编译运行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L1 Golden 精度对齐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Bench 真机微秒计时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反例自动纳入回归集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9408" y="3785615"/>
            <a:ext cx="2663647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9408" y="3785615"/>
            <a:ext cx="64008" cy="713232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62288" y="3822191"/>
            <a:ext cx="2352751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判决器</a:t>
            </a:r>
            <a:r>
              <a:rPr sz="70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　四道门 · 一票否决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每个候选独立判决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判决回写黑板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10128" y="1517904"/>
            <a:ext cx="5358384" cy="3072383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456432" y="1627631"/>
            <a:ext cx="2350008" cy="1298448"/>
          </a:xfrm>
          <a:prstGeom prst="roundRect">
            <a:avLst>
              <a:gd name="adj" fmla="val 5633"/>
            </a:avLst>
          </a:prstGeom>
          <a:solidFill>
            <a:srgbClr val="FBE6D4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66160" y="1673351"/>
            <a:ext cx="2130552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提议者 Agent</a:t>
            </a:r>
            <a:r>
              <a:rPr sz="750" b="1">
                <a:solidFill>
                  <a:srgbClr val="D2690C"/>
                </a:solidFill>
                <a:latin typeface="Consolas"/>
                <a:ea typeface="Microsoft YaHei"/>
                <a:cs typeface="Microsoft YaHei"/>
              </a:rPr>
              <a:t>　Proposer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9372" y="1938527"/>
            <a:ext cx="1024128" cy="182880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大模型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0" y="2157984"/>
            <a:ext cx="2130552" cy="713231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读规格 / 黑板 / Skills，推演搬运与流水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一轮采 N 个候选（当前 N=1）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产出：补丁 + 性能主张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1627631"/>
            <a:ext cx="2350008" cy="1298448"/>
          </a:xfrm>
          <a:prstGeom prst="roundRect">
            <a:avLst>
              <a:gd name="adj" fmla="val 5633"/>
            </a:avLst>
          </a:prstGeom>
          <a:solidFill>
            <a:srgbClr val="FBECEA"/>
          </a:solidFill>
          <a:ln w="15875">
            <a:solidFill>
              <a:srgbClr val="B438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81928" y="1673351"/>
            <a:ext cx="2130552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挑战者 Agent</a:t>
            </a:r>
            <a:r>
              <a:rPr sz="7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　Challenger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35140" y="1938527"/>
            <a:ext cx="1024128" cy="182880"/>
          </a:xfrm>
          <a:prstGeom prst="roundRect">
            <a:avLst>
              <a:gd name="adj" fmla="val 50000"/>
            </a:avLst>
          </a:prstGeom>
          <a:solidFill>
            <a:srgbClr val="B4382F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大模型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81928" y="2157984"/>
            <a:ext cx="2130552" cy="713231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读补丁 / 主张 / 历史反例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找边界 shape · 非对齐 · 精度陷阱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产出：反例用例 + 质询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824727" y="2048255"/>
            <a:ext cx="329185" cy="0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cxnSp>
        <p:nvCxnSpPr>
          <p:cNvPr id="40" name="Connector 39"/>
          <p:cNvCxnSpPr/>
          <p:nvPr/>
        </p:nvCxnSpPr>
        <p:spPr>
          <a:xfrm flipH="1">
            <a:off x="5824727" y="2468879"/>
            <a:ext cx="329185" cy="0"/>
          </a:xfrm>
          <a:prstGeom prst="line">
            <a:avLst/>
          </a:prstGeom>
          <a:ln w="15875">
            <a:solidFill>
              <a:srgbClr val="B4382F"/>
            </a:solidFill>
            <a:tailEnd type="triangle" w="med" len="med"/>
          </a:ln>
        </p:spPr>
      </p:cxnSp>
      <p:sp>
        <p:nvSpPr>
          <p:cNvPr id="41" name="TextBox 40"/>
          <p:cNvSpPr txBox="1"/>
          <p:nvPr/>
        </p:nvSpPr>
        <p:spPr>
          <a:xfrm>
            <a:off x="5605272" y="1865376"/>
            <a:ext cx="768096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补丁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05272" y="2523744"/>
            <a:ext cx="768096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反例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56432" y="3072384"/>
            <a:ext cx="5065776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对抗回合　＝　一个 group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56432" y="3310128"/>
            <a:ext cx="1197864" cy="402336"/>
          </a:xfrm>
          <a:prstGeom prst="roundRect">
            <a:avLst>
              <a:gd name="adj" fmla="val 8000"/>
            </a:avLst>
          </a:prstGeom>
          <a:solidFill>
            <a:srgbClr val="F2F8FD"/>
          </a:solidFill>
          <a:ln w="9525">
            <a:solidFill>
              <a:srgbClr val="AFCEE1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  <a:r>
              <a:rPr sz="7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</a:t>
            </a:r>
            <a:r>
              <a:rPr sz="7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提议者采 N 个候选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745736" y="3310128"/>
            <a:ext cx="1197864" cy="402336"/>
          </a:xfrm>
          <a:prstGeom prst="roundRect">
            <a:avLst>
              <a:gd name="adj" fmla="val 8000"/>
            </a:avLst>
          </a:prstGeom>
          <a:solidFill>
            <a:srgbClr val="F2F8FD"/>
          </a:solidFill>
          <a:ln w="9525">
            <a:solidFill>
              <a:srgbClr val="AFCEE1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  <a:r>
              <a:rPr sz="7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</a:t>
            </a:r>
            <a:r>
              <a:rPr sz="7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挑战者提交反例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663440" y="3511296"/>
            <a:ext cx="73152" cy="0"/>
          </a:xfrm>
          <a:prstGeom prst="line">
            <a:avLst/>
          </a:prstGeom>
          <a:ln w="12700">
            <a:solidFill>
              <a:srgbClr val="40708B"/>
            </a:solidFill>
            <a:tailEnd type="triangle" w="med" len="med"/>
          </a:ln>
        </p:spPr>
      </p:cxnSp>
      <p:sp>
        <p:nvSpPr>
          <p:cNvPr id="47" name="Rounded Rectangle 46"/>
          <p:cNvSpPr/>
          <p:nvPr/>
        </p:nvSpPr>
        <p:spPr>
          <a:xfrm>
            <a:off x="6035040" y="3310128"/>
            <a:ext cx="1197864" cy="402336"/>
          </a:xfrm>
          <a:prstGeom prst="roundRect">
            <a:avLst>
              <a:gd name="adj" fmla="val 8000"/>
            </a:avLst>
          </a:prstGeom>
          <a:solidFill>
            <a:srgbClr val="F2F8FD"/>
          </a:solidFill>
          <a:ln w="9525">
            <a:solidFill>
              <a:srgbClr val="AFCEE1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3</a:t>
            </a:r>
            <a:r>
              <a:rPr sz="7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</a:t>
            </a:r>
            <a:r>
              <a:rPr sz="7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逐个判决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952744" y="3511296"/>
            <a:ext cx="73152" cy="0"/>
          </a:xfrm>
          <a:prstGeom prst="line">
            <a:avLst/>
          </a:prstGeom>
          <a:ln w="12700">
            <a:solidFill>
              <a:srgbClr val="40708B"/>
            </a:solidFill>
            <a:tailEnd type="triangle" w="med" len="med"/>
          </a:ln>
        </p:spPr>
      </p:cxnSp>
      <p:sp>
        <p:nvSpPr>
          <p:cNvPr id="49" name="Rounded Rectangle 48"/>
          <p:cNvSpPr/>
          <p:nvPr/>
        </p:nvSpPr>
        <p:spPr>
          <a:xfrm>
            <a:off x="7324344" y="3310128"/>
            <a:ext cx="1197864" cy="402336"/>
          </a:xfrm>
          <a:prstGeom prst="roundRect">
            <a:avLst>
              <a:gd name="adj" fmla="val 8000"/>
            </a:avLst>
          </a:prstGeom>
          <a:solidFill>
            <a:srgbClr val="F2F8FD"/>
          </a:solidFill>
          <a:ln w="9525">
            <a:solidFill>
              <a:srgbClr val="AFCEE1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4</a:t>
            </a:r>
            <a:r>
              <a:rPr sz="7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</a:t>
            </a:r>
            <a:r>
              <a:rPr sz="7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取最优；反例留档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242048" y="3511296"/>
            <a:ext cx="73152" cy="0"/>
          </a:xfrm>
          <a:prstGeom prst="line">
            <a:avLst/>
          </a:prstGeom>
          <a:ln w="12700">
            <a:solidFill>
              <a:srgbClr val="40708B"/>
            </a:solidFill>
            <a:tailEnd type="triangle" w="med" len="med"/>
          </a:ln>
        </p:spPr>
      </p:cxnSp>
      <p:sp>
        <p:nvSpPr>
          <p:cNvPr id="51" name="Rounded Rectangle 50"/>
          <p:cNvSpPr/>
          <p:nvPr/>
        </p:nvSpPr>
        <p:spPr>
          <a:xfrm>
            <a:off x="3456432" y="3803904"/>
            <a:ext cx="5065776" cy="310896"/>
          </a:xfrm>
          <a:prstGeom prst="roundRect">
            <a:avLst>
              <a:gd name="adj" fmla="val 23529"/>
            </a:avLst>
          </a:prstGeom>
          <a:solidFill>
            <a:srgbClr val="ECF7F2"/>
          </a:solidFill>
          <a:ln w="12700">
            <a:solidFill>
              <a:srgbClr val="17795F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终止　</a:t>
            </a:r>
            <a:r>
              <a:rPr sz="8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挑战者在预算内找不到反例　且　四道门全过　→　晋升候选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48640" y="4956048"/>
            <a:ext cx="11094415" cy="1426464"/>
          </a:xfrm>
          <a:prstGeom prst="roundRect">
            <a:avLst>
              <a:gd name="adj" fmla="val 329"/>
            </a:avLst>
          </a:prstGeom>
          <a:solidFill>
            <a:srgbClr val="FBF8F2"/>
          </a:solidFill>
          <a:ln w="15875">
            <a:solidFill>
              <a:srgbClr val="D2690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5010912"/>
            <a:ext cx="155448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RL-ready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本阶段不做训练循环，只留数据通路与四个接口缝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377440" y="5065776"/>
            <a:ext cx="1700784" cy="749808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 w="1270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2377440" y="5065776"/>
            <a:ext cx="1700784" cy="201168"/>
          </a:xfrm>
          <a:prstGeom prst="roundRect">
            <a:avLst>
              <a:gd name="adj" fmla="val 3763"/>
            </a:avLst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377440" y="5193792"/>
            <a:ext cx="1700784" cy="7315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450592" y="5065776"/>
            <a:ext cx="155448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策略接口</a:t>
            </a:r>
            <a:r>
              <a:rPr sz="700" b="0">
                <a:solidFill>
                  <a:srgbClr val="FFFFFF"/>
                </a:solidFill>
                <a:latin typeface="Consolas"/>
                <a:ea typeface="Microsoft YaHei"/>
                <a:cs typeface="Microsoft YaHei"/>
              </a:rPr>
              <a:t>　Policy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50592" y="5303520"/>
            <a:ext cx="1554480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sample(规格, N, 温度) → 候选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今天 HTTP 强模型，之后换可训练基座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169664" y="5065776"/>
            <a:ext cx="1700784" cy="749808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 w="1270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169664" y="5065776"/>
            <a:ext cx="1700784" cy="201168"/>
          </a:xfrm>
          <a:prstGeom prst="roundRect">
            <a:avLst>
              <a:gd name="adj" fmla="val 3763"/>
            </a:avLst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69664" y="5193792"/>
            <a:ext cx="1700784" cy="7315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242816" y="5065776"/>
            <a:ext cx="155448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分组采样</a:t>
            </a:r>
            <a:r>
              <a:rPr sz="700" b="0">
                <a:solidFill>
                  <a:srgbClr val="FFFFFF"/>
                </a:solidFill>
                <a:latin typeface="Consolas"/>
                <a:ea typeface="Microsoft YaHei"/>
                <a:cs typeface="Microsoft YaHei"/>
              </a:rPr>
              <a:t>　Group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42816" y="5303520"/>
            <a:ext cx="1554480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每轮 N 个候选（当前 N=1）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best-of-N 就是 GRPO 的 group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087368" y="5440680"/>
            <a:ext cx="73152" cy="0"/>
          </a:xfrm>
          <a:prstGeom prst="line">
            <a:avLst/>
          </a:prstGeom>
          <a:ln w="12700">
            <a:solidFill>
              <a:srgbClr val="7FA4BA"/>
            </a:solidFill>
            <a:tailEnd type="triangle" w="med" len="med"/>
          </a:ln>
        </p:spPr>
      </p:cxnSp>
      <p:sp>
        <p:nvSpPr>
          <p:cNvPr id="65" name="Rounded Rectangle 64"/>
          <p:cNvSpPr/>
          <p:nvPr/>
        </p:nvSpPr>
        <p:spPr>
          <a:xfrm>
            <a:off x="5961888" y="5065776"/>
            <a:ext cx="1700784" cy="749808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961888" y="5065776"/>
            <a:ext cx="1700784" cy="201168"/>
          </a:xfrm>
          <a:prstGeom prst="roundRect">
            <a:avLst>
              <a:gd name="adj" fmla="val 3763"/>
            </a:avLst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961888" y="5193792"/>
            <a:ext cx="1700784" cy="731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035040" y="5065776"/>
            <a:ext cx="155448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奖励函数</a:t>
            </a:r>
            <a:r>
              <a:rPr sz="700" b="0">
                <a:solidFill>
                  <a:srgbClr val="FFFFFF"/>
                </a:solidFill>
                <a:latin typeface="Consolas"/>
                <a:ea typeface="Microsoft YaHei"/>
                <a:cs typeface="Microsoft YaHei"/>
              </a:rPr>
              <a:t>　Reward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35040" y="5303520"/>
            <a:ext cx="1554480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判决 → 奖励 + 组内优势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正确性 + roofline 达上限比例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879592" y="5440680"/>
            <a:ext cx="73152" cy="0"/>
          </a:xfrm>
          <a:prstGeom prst="line">
            <a:avLst/>
          </a:prstGeom>
          <a:ln w="12700">
            <a:solidFill>
              <a:srgbClr val="7FA4BA"/>
            </a:solidFill>
            <a:tailEnd type="triangle" w="med" len="med"/>
          </a:ln>
        </p:spPr>
      </p:cxnSp>
      <p:sp>
        <p:nvSpPr>
          <p:cNvPr id="71" name="Rounded Rectangle 70"/>
          <p:cNvSpPr/>
          <p:nvPr/>
        </p:nvSpPr>
        <p:spPr>
          <a:xfrm>
            <a:off x="7754112" y="5065776"/>
            <a:ext cx="1700784" cy="749808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7754112" y="5065776"/>
            <a:ext cx="1700784" cy="201168"/>
          </a:xfrm>
          <a:prstGeom prst="roundRect">
            <a:avLst>
              <a:gd name="adj" fmla="val 3763"/>
            </a:avLst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754112" y="5193792"/>
            <a:ext cx="1700784" cy="731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827264" y="5065776"/>
            <a:ext cx="155448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轨迹记录</a:t>
            </a:r>
            <a:r>
              <a:rPr sz="700" b="0">
                <a:solidFill>
                  <a:srgbClr val="FFFFFF"/>
                </a:solidFill>
                <a:latin typeface="Consolas"/>
                <a:ea typeface="Microsoft YaHei"/>
                <a:cs typeface="Microsoft YaHei"/>
              </a:rPr>
              <a:t>　Rollout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827264" y="5303520"/>
            <a:ext cx="1554480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每组记 规格 · 候选 · 奖励 · 优势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训练循环直接消费这份数据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671816" y="5440680"/>
            <a:ext cx="73152" cy="0"/>
          </a:xfrm>
          <a:prstGeom prst="line">
            <a:avLst/>
          </a:prstGeom>
          <a:ln w="12700">
            <a:solidFill>
              <a:srgbClr val="7FA4BA"/>
            </a:solidFill>
            <a:tailEnd type="triangle" w="med" len="med"/>
          </a:ln>
        </p:spPr>
      </p:cxnSp>
      <p:cxnSp>
        <p:nvCxnSpPr>
          <p:cNvPr id="77" name="Connector 76"/>
          <p:cNvCxnSpPr/>
          <p:nvPr/>
        </p:nvCxnSpPr>
        <p:spPr>
          <a:xfrm>
            <a:off x="9464040" y="5440680"/>
            <a:ext cx="7315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78" name="Rounded Rectangle 77"/>
          <p:cNvSpPr/>
          <p:nvPr/>
        </p:nvSpPr>
        <p:spPr>
          <a:xfrm>
            <a:off x="9546336" y="5065776"/>
            <a:ext cx="1968703" cy="749808"/>
          </a:xfrm>
          <a:prstGeom prst="roundRect">
            <a:avLst>
              <a:gd name="adj" fmla="val 3251"/>
            </a:avLst>
          </a:prstGeom>
          <a:solidFill>
            <a:srgbClr val="F2F8FD"/>
          </a:solidFill>
          <a:ln w="12700">
            <a:solidFill>
              <a:srgbClr val="7FA4BA"/>
            </a:solidFill>
            <a:prstDash val="dash"/>
          </a:ln>
        </p:spPr>
        <p:txBody>
          <a:bodyPr rtlCol="0" anchor="ctr" wrap="square" lIns="54864" tIns="18288" rIns="54864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训练循环（独立系统）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拒绝采样 SFT → GRPO → 多轮 RL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31520" y="5907024"/>
            <a:ext cx="45720" cy="274320"/>
          </a:xfrm>
          <a:prstGeom prst="rect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9536" y="5888736"/>
            <a:ext cx="1060063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防 reward hacking　</a:t>
            </a: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奖励被 roofline 物理上界封顶 · CPU 参考对齐 · 多 shape golden 用例 —— 物理下界同时是奖励天花板，刷不出假收益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2944368" y="2194560"/>
            <a:ext cx="329184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82" name="Rounded Rectangle 81"/>
          <p:cNvSpPr/>
          <p:nvPr/>
        </p:nvSpPr>
        <p:spPr>
          <a:xfrm>
            <a:off x="2889504" y="2093976"/>
            <a:ext cx="47548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读取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2944368" y="3785615"/>
            <a:ext cx="329184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84" name="Rounded Rectangle 83"/>
          <p:cNvSpPr/>
          <p:nvPr/>
        </p:nvSpPr>
        <p:spPr>
          <a:xfrm>
            <a:off x="2889504" y="3685031"/>
            <a:ext cx="47548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8705088" y="2706624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86" name="Rounded Rectangle 85"/>
          <p:cNvSpPr/>
          <p:nvPr/>
        </p:nvSpPr>
        <p:spPr>
          <a:xfrm>
            <a:off x="8503920" y="2404872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两方用例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05088" y="3474719"/>
            <a:ext cx="237744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88" name="Rounded Rectangle 87"/>
          <p:cNvSpPr/>
          <p:nvPr/>
        </p:nvSpPr>
        <p:spPr>
          <a:xfrm>
            <a:off x="8503920" y="3374135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触发评测</a:t>
            </a:r>
          </a:p>
        </p:txBody>
      </p:sp>
      <p:sp>
        <p:nvSpPr>
          <p:cNvPr id="89" name="Freeform 88"/>
          <p:cNvSpPr/>
          <p:nvPr/>
        </p:nvSpPr>
        <p:spPr>
          <a:xfrm>
            <a:off x="1746504" y="4462272"/>
            <a:ext cx="8564727" cy="310896"/>
          </a:xfrm>
          <a:custGeom>
            <a:avLst/>
            <a:gdLst/>
            <a:ahLst/>
            <a:cxnLst/>
            <a:rect l="l" t="t" r="r" b="b"/>
            <a:pathLst>
              <a:path w="8564727" h="310896">
                <a:moveTo>
                  <a:pt x="8564727" y="73152"/>
                </a:moveTo>
                <a:lnTo>
                  <a:pt x="8564727" y="310896"/>
                </a:lnTo>
                <a:lnTo>
                  <a:pt x="0" y="310896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5120640" y="4672583"/>
            <a:ext cx="173736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回写：判决 · 偏差 · 反例命中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 /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