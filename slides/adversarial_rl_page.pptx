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pl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48640" y="384048"/>
            <a:ext cx="68580" cy="384048"/>
          </a:xfrm>
          <a:prstGeom prst="rect">
            <a:avLst/>
          </a:prstGeom>
          <a:solidFill>
            <a:srgbClr val="0F62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8096" y="310896"/>
            <a:ext cx="9372600" cy="53035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算子层 Agent：两个 Agent 对抗，并为 RL 预留接口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59536"/>
            <a:ext cx="9592056" cy="31089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提议者造补丁，挑战者造反例，判决全在确定性 Harness；同一条回路同时是 rollout 引擎——训练循环就位即可接上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34440"/>
            <a:ext cx="54864" cy="237744"/>
          </a:xfrm>
          <a:prstGeom prst="rect">
            <a:avLst/>
          </a:prstGeom>
          <a:solidFill>
            <a:srgbClr val="40708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4944" y="1207008"/>
            <a:ext cx="2249424" cy="29260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环境与知识</a:t>
            </a:r>
            <a:r>
              <a:rPr sz="850" b="1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　Context</a:t>
            </a:r>
          </a:p>
        </p:txBody>
      </p:sp>
      <p:sp>
        <p:nvSpPr>
          <p:cNvPr id="8" name="Rectangle 7"/>
          <p:cNvSpPr/>
          <p:nvPr/>
        </p:nvSpPr>
        <p:spPr>
          <a:xfrm>
            <a:off x="3310128" y="1234440"/>
            <a:ext cx="54864" cy="237744"/>
          </a:xfrm>
          <a:prstGeom prst="rect">
            <a:avLst/>
          </a:prstGeom>
          <a:solidFill>
            <a:srgbClr val="D269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56432" y="1207008"/>
            <a:ext cx="5212080" cy="29260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两个 Agent 对抗　＝　一次 rollout</a:t>
            </a:r>
            <a:r>
              <a:rPr sz="850" b="1">
                <a:solidFill>
                  <a:srgbClr val="D2690C"/>
                </a:solidFill>
                <a:latin typeface="Microsoft YaHei"/>
                <a:ea typeface="Microsoft YaHei"/>
                <a:cs typeface="Microsoft YaHei"/>
              </a:rPr>
              <a:t>　Proposer vs Challenger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8979408" y="1234440"/>
            <a:ext cx="54864" cy="237744"/>
          </a:xfrm>
          <a:prstGeom prst="rect">
            <a:avLst/>
          </a:prstGeom>
          <a:solidFill>
            <a:srgbClr val="0F62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25712" y="1207008"/>
            <a:ext cx="2517343" cy="29260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确定性 Harness</a:t>
            </a:r>
            <a:r>
              <a:rPr sz="850" b="1">
                <a:solidFill>
                  <a:srgbClr val="0F62CE"/>
                </a:solidFill>
                <a:latin typeface="Microsoft YaHei"/>
                <a:ea typeface="Microsoft YaHei"/>
                <a:cs typeface="Microsoft YaHei"/>
              </a:rPr>
              <a:t>　无模型 · 唯一裁判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627632"/>
            <a:ext cx="2395728" cy="768096"/>
          </a:xfrm>
          <a:prstGeom prst="rect">
            <a:avLst/>
          </a:prstGeom>
          <a:solidFill>
            <a:srgbClr val="FFFFFF"/>
          </a:solidFill>
          <a:ln w="9525">
            <a:solidFill>
              <a:srgbClr val="CFE3F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1627632"/>
            <a:ext cx="64008" cy="768096"/>
          </a:xfrm>
          <a:prstGeom prst="rect">
            <a:avLst/>
          </a:prstGeom>
          <a:solidFill>
            <a:srgbClr val="40708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1664208"/>
            <a:ext cx="2084832" cy="69494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任务上下文</a:t>
            </a:r>
            <a:r>
              <a:rPr sz="700" b="1">
                <a:solidFill>
                  <a:srgbClr val="40708B"/>
                </a:solidFill>
                <a:latin typeface="Consolas"/>
                <a:ea typeface="Microsoft YaHei"/>
                <a:cs typeface="Microsoft YaHei"/>
              </a:rPr>
              <a:t>　Task Context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·　算子规格与 Shape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·　输入输出语义约束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505456"/>
            <a:ext cx="2395728" cy="896112"/>
          </a:xfrm>
          <a:prstGeom prst="rect">
            <a:avLst/>
          </a:prstGeom>
          <a:solidFill>
            <a:srgbClr val="FFFFFF"/>
          </a:solidFill>
          <a:ln w="9525">
            <a:solidFill>
              <a:srgbClr val="CFE3F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2505456"/>
            <a:ext cx="64008" cy="896112"/>
          </a:xfrm>
          <a:prstGeom prst="rect">
            <a:avLst/>
          </a:prstGeom>
          <a:solidFill>
            <a:srgbClr val="40708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2542032"/>
            <a:ext cx="2084832" cy="82296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领域知识挂载</a:t>
            </a:r>
            <a:r>
              <a:rPr sz="700" b="1">
                <a:solidFill>
                  <a:srgbClr val="40708B"/>
                </a:solidFill>
                <a:latin typeface="Consolas"/>
                <a:ea typeface="Microsoft YaHei"/>
                <a:cs typeface="Microsoft YaHei"/>
              </a:rPr>
              <a:t>　Domain Knowledge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·　M100 硬件规格卡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·　算子调优 Skills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·　历史反例库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511296"/>
            <a:ext cx="2395728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CFE3F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3511296"/>
            <a:ext cx="64008" cy="914400"/>
          </a:xfrm>
          <a:prstGeom prst="rect">
            <a:avLst/>
          </a:prstGeom>
          <a:solidFill>
            <a:srgbClr val="0A2B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3547872"/>
            <a:ext cx="2084832" cy="84124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证据黑板</a:t>
            </a:r>
            <a:r>
              <a:rPr sz="700" b="1">
                <a:solidFill>
                  <a:srgbClr val="0A2B45"/>
                </a:solidFill>
                <a:latin typeface="Consolas"/>
                <a:ea typeface="Microsoft YaHei"/>
                <a:cs typeface="Microsoft YaHei"/>
              </a:rPr>
              <a:t>　Shared Blackboard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·　编译 / 精度 / 测速判决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·　反例命中记录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·　两方都只能读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979408" y="1627632"/>
            <a:ext cx="2663647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CFE3F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979408" y="1627632"/>
            <a:ext cx="64008" cy="841248"/>
          </a:xfrm>
          <a:prstGeom prst="rect">
            <a:avLst/>
          </a:prstGeom>
          <a:solidFill>
            <a:srgbClr val="0F62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62288" y="1664208"/>
            <a:ext cx="2352751" cy="76809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源码与检索</a:t>
            </a:r>
            <a:r>
              <a:rPr sz="700" b="1">
                <a:solidFill>
                  <a:srgbClr val="0F62CE"/>
                </a:solidFill>
                <a:latin typeface="Consolas"/>
                <a:ea typeface="Microsoft YaHei"/>
                <a:cs typeface="Microsoft YaHei"/>
              </a:rPr>
              <a:t>　Source &amp; Retrieval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·　算子模板读取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·　AST 语法树检查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·　代码补丁生成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79408" y="2578608"/>
            <a:ext cx="2663647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CFE3F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79408" y="2578608"/>
            <a:ext cx="64008" cy="1097280"/>
          </a:xfrm>
          <a:prstGeom prst="rect">
            <a:avLst/>
          </a:prstGeom>
          <a:solidFill>
            <a:srgbClr val="0F62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62288" y="2615184"/>
            <a:ext cx="2352751" cy="1024127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Harness 后端</a:t>
            </a:r>
            <a:r>
              <a:rPr sz="700" b="1">
                <a:solidFill>
                  <a:srgbClr val="0F62CE"/>
                </a:solidFill>
                <a:latin typeface="Consolas"/>
                <a:ea typeface="Microsoft YaHei"/>
                <a:cs typeface="Microsoft YaHei"/>
              </a:rPr>
              <a:t>　backend / 耦合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·　L0 交叉编译运行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·　L1 Golden 精度对齐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·　Bench 真机微秒计时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·　反例自动纳入回归集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979408" y="3785615"/>
            <a:ext cx="2663647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CFE3F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979408" y="3785615"/>
            <a:ext cx="64008" cy="713232"/>
          </a:xfrm>
          <a:prstGeom prst="rect">
            <a:avLst/>
          </a:prstGeom>
          <a:solidFill>
            <a:srgbClr val="1779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62288" y="3822191"/>
            <a:ext cx="2352751" cy="64008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判决器</a:t>
            </a:r>
            <a:r>
              <a:rPr sz="700" b="1">
                <a:solidFill>
                  <a:srgbClr val="17795F"/>
                </a:solidFill>
                <a:latin typeface="Consolas"/>
                <a:ea typeface="Microsoft YaHei"/>
                <a:cs typeface="Microsoft YaHei"/>
              </a:rPr>
              <a:t>　四道门 · 一票否决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·　每个候选独立判决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·　判决回写黑板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310128" y="1517904"/>
            <a:ext cx="5358384" cy="3072383"/>
          </a:xfrm>
          <a:prstGeom prst="rect">
            <a:avLst/>
          </a:prstGeom>
          <a:solidFill>
            <a:srgbClr val="FFFFFF"/>
          </a:solidFill>
          <a:ln w="9525">
            <a:solidFill>
              <a:srgbClr val="AFCE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3456432" y="1627631"/>
            <a:ext cx="2350008" cy="1298448"/>
          </a:xfrm>
          <a:prstGeom prst="roundRect">
            <a:avLst>
              <a:gd name="adj" fmla="val 5633"/>
            </a:avLst>
          </a:prstGeom>
          <a:solidFill>
            <a:srgbClr val="FBE6D4"/>
          </a:solidFill>
          <a:ln w="15875">
            <a:solidFill>
              <a:srgbClr val="D26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566160" y="1673351"/>
            <a:ext cx="2130552" cy="25603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提议者 Agent</a:t>
            </a:r>
            <a:r>
              <a:rPr sz="750" b="1">
                <a:solidFill>
                  <a:srgbClr val="D2690C"/>
                </a:solidFill>
                <a:latin typeface="Consolas"/>
                <a:ea typeface="Microsoft YaHei"/>
                <a:cs typeface="Microsoft YaHei"/>
              </a:rPr>
              <a:t>　Proposer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119372" y="1938527"/>
            <a:ext cx="1024128" cy="182880"/>
          </a:xfrm>
          <a:prstGeom prst="roundRect">
            <a:avLst>
              <a:gd name="adj" fmla="val 50000"/>
            </a:avLst>
          </a:prstGeom>
          <a:solidFill>
            <a:srgbClr val="D2690C"/>
          </a:solidFill>
          <a:ln>
            <a:noFill/>
          </a:ln>
        </p:spPr>
        <p:txBody>
          <a:bodyPr rtlCol="0" anchor="ctr" wrap="square" lIns="36576" tIns="0" rIns="36576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大模型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0" y="2157984"/>
            <a:ext cx="2130552" cy="713231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读规格 / 黑板 / Skills，推演搬运与流水</a:t>
            </a:r>
          </a:p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一轮采 N 个候选（当前 N=1）</a:t>
            </a:r>
          </a:p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C2570A"/>
                </a:solidFill>
                <a:latin typeface="Microsoft YaHei"/>
                <a:ea typeface="Microsoft YaHei"/>
                <a:cs typeface="Microsoft YaHei"/>
              </a:rPr>
              <a:t>产出：补丁 + 性能主张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172200" y="1627631"/>
            <a:ext cx="2350008" cy="1298448"/>
          </a:xfrm>
          <a:prstGeom prst="roundRect">
            <a:avLst>
              <a:gd name="adj" fmla="val 5633"/>
            </a:avLst>
          </a:prstGeom>
          <a:solidFill>
            <a:srgbClr val="FBECEA"/>
          </a:solidFill>
          <a:ln w="15875">
            <a:solidFill>
              <a:srgbClr val="B4382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81928" y="1673351"/>
            <a:ext cx="2130552" cy="25603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挑战者 Agent</a:t>
            </a:r>
            <a:r>
              <a:rPr sz="750" b="1">
                <a:solidFill>
                  <a:srgbClr val="B4382F"/>
                </a:solidFill>
                <a:latin typeface="Consolas"/>
                <a:ea typeface="Microsoft YaHei"/>
                <a:cs typeface="Microsoft YaHei"/>
              </a:rPr>
              <a:t>　Challenger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835140" y="1938527"/>
            <a:ext cx="1024128" cy="182880"/>
          </a:xfrm>
          <a:prstGeom prst="roundRect">
            <a:avLst>
              <a:gd name="adj" fmla="val 50000"/>
            </a:avLst>
          </a:prstGeom>
          <a:solidFill>
            <a:srgbClr val="B4382F"/>
          </a:solidFill>
          <a:ln>
            <a:noFill/>
          </a:ln>
        </p:spPr>
        <p:txBody>
          <a:bodyPr rtlCol="0" anchor="ctr" wrap="square" lIns="36576" tIns="0" rIns="36576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大模型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81928" y="2157984"/>
            <a:ext cx="2130552" cy="713231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读补丁 / 主张 / 历史反例</a:t>
            </a:r>
          </a:p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找边界 shape · 非对齐 · 精度陷阱</a:t>
            </a:r>
          </a:p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B4382F"/>
                </a:solidFill>
                <a:latin typeface="Microsoft YaHei"/>
                <a:ea typeface="Microsoft YaHei"/>
                <a:cs typeface="Microsoft YaHei"/>
              </a:rPr>
              <a:t>产出：反例用例 + 质询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5824727" y="2048255"/>
            <a:ext cx="329185" cy="0"/>
          </a:xfrm>
          <a:prstGeom prst="line">
            <a:avLst/>
          </a:prstGeom>
          <a:ln w="15875">
            <a:solidFill>
              <a:srgbClr val="D2690C"/>
            </a:solidFill>
            <a:tailEnd type="triangle" w="med" len="med"/>
          </a:ln>
        </p:spPr>
      </p:cxnSp>
      <p:cxnSp>
        <p:nvCxnSpPr>
          <p:cNvPr id="40" name="Connector 39"/>
          <p:cNvCxnSpPr/>
          <p:nvPr/>
        </p:nvCxnSpPr>
        <p:spPr>
          <a:xfrm flipH="1">
            <a:off x="5824727" y="2468879"/>
            <a:ext cx="329185" cy="0"/>
          </a:xfrm>
          <a:prstGeom prst="line">
            <a:avLst/>
          </a:prstGeom>
          <a:ln w="15875">
            <a:solidFill>
              <a:srgbClr val="B4382F"/>
            </a:solidFill>
            <a:tailEnd type="triangle" w="med" len="med"/>
          </a:ln>
        </p:spPr>
      </p:cxnSp>
      <p:sp>
        <p:nvSpPr>
          <p:cNvPr id="41" name="TextBox 40"/>
          <p:cNvSpPr txBox="1"/>
          <p:nvPr/>
        </p:nvSpPr>
        <p:spPr>
          <a:xfrm>
            <a:off x="5605272" y="1865376"/>
            <a:ext cx="768096" cy="16459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50" b="1">
                <a:solidFill>
                  <a:srgbClr val="C2570A"/>
                </a:solidFill>
                <a:latin typeface="Microsoft YaHei"/>
                <a:ea typeface="Microsoft YaHei"/>
                <a:cs typeface="Microsoft YaHei"/>
              </a:rPr>
              <a:t>补丁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05272" y="2523744"/>
            <a:ext cx="768096" cy="16459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50" b="1">
                <a:solidFill>
                  <a:srgbClr val="B4382F"/>
                </a:solidFill>
                <a:latin typeface="Microsoft YaHei"/>
                <a:ea typeface="Microsoft YaHei"/>
                <a:cs typeface="Microsoft YaHei"/>
              </a:rPr>
              <a:t>反例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456432" y="3072384"/>
            <a:ext cx="5065776" cy="20116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对抗回合　＝　一个 group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456432" y="3310128"/>
            <a:ext cx="1197864" cy="402336"/>
          </a:xfrm>
          <a:prstGeom prst="roundRect">
            <a:avLst>
              <a:gd name="adj" fmla="val 8000"/>
            </a:avLst>
          </a:prstGeom>
          <a:solidFill>
            <a:srgbClr val="F2F8FD"/>
          </a:solidFill>
          <a:ln w="9525">
            <a:solidFill>
              <a:srgbClr val="AFCEE1"/>
            </a:solidFill>
          </a:ln>
        </p:spPr>
        <p:txBody>
          <a:bodyPr rtlCol="0" anchor="ctr" wrap="square" lIns="45720" tIns="18288" rIns="45720" bIns="18288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F62CE"/>
                </a:solidFill>
                <a:latin typeface="Consolas"/>
                <a:ea typeface="Microsoft YaHei"/>
                <a:cs typeface="Microsoft YaHei"/>
              </a:rPr>
              <a:t>1</a:t>
            </a:r>
            <a:r>
              <a:rPr sz="75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　</a:t>
            </a:r>
            <a:r>
              <a:rPr sz="750" b="0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提议者采 N 个候选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745736" y="3310128"/>
            <a:ext cx="1197864" cy="402336"/>
          </a:xfrm>
          <a:prstGeom prst="roundRect">
            <a:avLst>
              <a:gd name="adj" fmla="val 8000"/>
            </a:avLst>
          </a:prstGeom>
          <a:solidFill>
            <a:srgbClr val="F2F8FD"/>
          </a:solidFill>
          <a:ln w="9525">
            <a:solidFill>
              <a:srgbClr val="AFCEE1"/>
            </a:solidFill>
          </a:ln>
        </p:spPr>
        <p:txBody>
          <a:bodyPr rtlCol="0" anchor="ctr" wrap="square" lIns="45720" tIns="18288" rIns="45720" bIns="18288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F62CE"/>
                </a:solidFill>
                <a:latin typeface="Consolas"/>
                <a:ea typeface="Microsoft YaHei"/>
                <a:cs typeface="Microsoft YaHei"/>
              </a:rPr>
              <a:t>2</a:t>
            </a:r>
            <a:r>
              <a:rPr sz="75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　</a:t>
            </a:r>
            <a:r>
              <a:rPr sz="750" b="0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挑战者提交反例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4663440" y="3511296"/>
            <a:ext cx="73152" cy="0"/>
          </a:xfrm>
          <a:prstGeom prst="line">
            <a:avLst/>
          </a:prstGeom>
          <a:ln w="12700">
            <a:solidFill>
              <a:srgbClr val="40708B"/>
            </a:solidFill>
            <a:tailEnd type="triangle" w="med" len="med"/>
          </a:ln>
        </p:spPr>
      </p:cxnSp>
      <p:sp>
        <p:nvSpPr>
          <p:cNvPr id="47" name="Rounded Rectangle 46"/>
          <p:cNvSpPr/>
          <p:nvPr/>
        </p:nvSpPr>
        <p:spPr>
          <a:xfrm>
            <a:off x="6035040" y="3310128"/>
            <a:ext cx="1197864" cy="402336"/>
          </a:xfrm>
          <a:prstGeom prst="roundRect">
            <a:avLst>
              <a:gd name="adj" fmla="val 8000"/>
            </a:avLst>
          </a:prstGeom>
          <a:solidFill>
            <a:srgbClr val="F2F8FD"/>
          </a:solidFill>
          <a:ln w="9525">
            <a:solidFill>
              <a:srgbClr val="AFCEE1"/>
            </a:solidFill>
          </a:ln>
        </p:spPr>
        <p:txBody>
          <a:bodyPr rtlCol="0" anchor="ctr" wrap="square" lIns="45720" tIns="18288" rIns="45720" bIns="18288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F62CE"/>
                </a:solidFill>
                <a:latin typeface="Consolas"/>
                <a:ea typeface="Microsoft YaHei"/>
                <a:cs typeface="Microsoft YaHei"/>
              </a:rPr>
              <a:t>3</a:t>
            </a:r>
            <a:r>
              <a:rPr sz="75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　</a:t>
            </a:r>
            <a:r>
              <a:rPr sz="750" b="0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Harness 逐个判决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5952744" y="3511296"/>
            <a:ext cx="73152" cy="0"/>
          </a:xfrm>
          <a:prstGeom prst="line">
            <a:avLst/>
          </a:prstGeom>
          <a:ln w="12700">
            <a:solidFill>
              <a:srgbClr val="40708B"/>
            </a:solidFill>
            <a:tailEnd type="triangle" w="med" len="med"/>
          </a:ln>
        </p:spPr>
      </p:cxnSp>
      <p:sp>
        <p:nvSpPr>
          <p:cNvPr id="49" name="Rounded Rectangle 48"/>
          <p:cNvSpPr/>
          <p:nvPr/>
        </p:nvSpPr>
        <p:spPr>
          <a:xfrm>
            <a:off x="7324344" y="3310128"/>
            <a:ext cx="1197864" cy="402336"/>
          </a:xfrm>
          <a:prstGeom prst="roundRect">
            <a:avLst>
              <a:gd name="adj" fmla="val 8000"/>
            </a:avLst>
          </a:prstGeom>
          <a:solidFill>
            <a:srgbClr val="F2F8FD"/>
          </a:solidFill>
          <a:ln w="9525">
            <a:solidFill>
              <a:srgbClr val="AFCEE1"/>
            </a:solidFill>
          </a:ln>
        </p:spPr>
        <p:txBody>
          <a:bodyPr rtlCol="0" anchor="ctr" wrap="square" lIns="45720" tIns="18288" rIns="45720" bIns="18288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F62CE"/>
                </a:solidFill>
                <a:latin typeface="Consolas"/>
                <a:ea typeface="Microsoft YaHei"/>
                <a:cs typeface="Microsoft YaHei"/>
              </a:rPr>
              <a:t>4</a:t>
            </a:r>
            <a:r>
              <a:rPr sz="75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　</a:t>
            </a:r>
            <a:r>
              <a:rPr sz="750" b="0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取最优；反例留档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7242048" y="3511296"/>
            <a:ext cx="73152" cy="0"/>
          </a:xfrm>
          <a:prstGeom prst="line">
            <a:avLst/>
          </a:prstGeom>
          <a:ln w="12700">
            <a:solidFill>
              <a:srgbClr val="40708B"/>
            </a:solidFill>
            <a:tailEnd type="triangle" w="med" len="med"/>
          </a:ln>
        </p:spPr>
      </p:cxnSp>
      <p:sp>
        <p:nvSpPr>
          <p:cNvPr id="51" name="Rounded Rectangle 50"/>
          <p:cNvSpPr/>
          <p:nvPr/>
        </p:nvSpPr>
        <p:spPr>
          <a:xfrm>
            <a:off x="3456432" y="3803904"/>
            <a:ext cx="5065776" cy="310896"/>
          </a:xfrm>
          <a:prstGeom prst="roundRect">
            <a:avLst>
              <a:gd name="adj" fmla="val 23529"/>
            </a:avLst>
          </a:prstGeom>
          <a:solidFill>
            <a:srgbClr val="ECF7F2"/>
          </a:solidFill>
          <a:ln w="12700">
            <a:solidFill>
              <a:srgbClr val="17795F"/>
            </a:solidFill>
          </a:ln>
        </p:spPr>
        <p:txBody>
          <a:bodyPr rtlCol="0" anchor="ctr" wrap="square" tIns="36576" bIns="36576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17795F"/>
                </a:solidFill>
                <a:latin typeface="Microsoft YaHei"/>
                <a:ea typeface="Microsoft YaHei"/>
                <a:cs typeface="Microsoft YaHei"/>
              </a:rPr>
              <a:t>终止　</a:t>
            </a:r>
            <a:r>
              <a:rPr sz="850" b="1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挑战者在预算内找不到反例　且　四道门全过　→　晋升候选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48640" y="4956048"/>
            <a:ext cx="11094415" cy="1426464"/>
          </a:xfrm>
          <a:prstGeom prst="roundRect">
            <a:avLst>
              <a:gd name="adj" fmla="val 329"/>
            </a:avLst>
          </a:prstGeom>
          <a:solidFill>
            <a:srgbClr val="FBF8F2"/>
          </a:solidFill>
          <a:ln w="15875">
            <a:solidFill>
              <a:srgbClr val="D2690C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31520" y="5010912"/>
            <a:ext cx="1554480" cy="54864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C2570A"/>
                </a:solidFill>
                <a:latin typeface="Microsoft YaHei"/>
                <a:ea typeface="Microsoft YaHei"/>
                <a:cs typeface="Microsoft YaHei"/>
              </a:rPr>
              <a:t>RL-ready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本阶段不做训练循环，只留数据通路与四个接口缝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2377440" y="5065776"/>
            <a:ext cx="1700784" cy="749808"/>
          </a:xfrm>
          <a:prstGeom prst="roundRect">
            <a:avLst>
              <a:gd name="adj" fmla="val 3763"/>
            </a:avLst>
          </a:prstGeom>
          <a:solidFill>
            <a:srgbClr val="FFFFFF"/>
          </a:solidFill>
          <a:ln w="12700">
            <a:solidFill>
              <a:srgbClr val="D26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2377440" y="5065776"/>
            <a:ext cx="1700784" cy="201168"/>
          </a:xfrm>
          <a:prstGeom prst="roundRect">
            <a:avLst>
              <a:gd name="adj" fmla="val 3763"/>
            </a:avLst>
          </a:prstGeom>
          <a:solidFill>
            <a:srgbClr val="D269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2377440" y="5193792"/>
            <a:ext cx="1700784" cy="73152"/>
          </a:xfrm>
          <a:prstGeom prst="rect">
            <a:avLst/>
          </a:prstGeom>
          <a:solidFill>
            <a:srgbClr val="D269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450592" y="5065776"/>
            <a:ext cx="1554480" cy="20116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Consolas"/>
                <a:ea typeface="Microsoft YaHei"/>
                <a:cs typeface="Microsoft YaHei"/>
              </a:rPr>
              <a:t>policy.py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450592" y="5303520"/>
            <a:ext cx="1554480" cy="47548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750" b="1">
                <a:solidFill>
                  <a:srgbClr val="0A2B45"/>
                </a:solidFill>
                <a:latin typeface="Consolas"/>
                <a:ea typeface="Microsoft YaHei"/>
                <a:cs typeface="Microsoft YaHei"/>
              </a:rPr>
              <a:t>Policy.sample(prompt, n, T)</a:t>
            </a:r>
          </a:p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今天 HTTP 强模型，之后换可训练基座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4169664" y="5065776"/>
            <a:ext cx="1700784" cy="749808"/>
          </a:xfrm>
          <a:prstGeom prst="roundRect">
            <a:avLst>
              <a:gd name="adj" fmla="val 3763"/>
            </a:avLst>
          </a:prstGeom>
          <a:solidFill>
            <a:srgbClr val="FFFFFF"/>
          </a:solidFill>
          <a:ln w="12700">
            <a:solidFill>
              <a:srgbClr val="D26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4169664" y="5065776"/>
            <a:ext cx="1700784" cy="201168"/>
          </a:xfrm>
          <a:prstGeom prst="roundRect">
            <a:avLst>
              <a:gd name="adj" fmla="val 3763"/>
            </a:avLst>
          </a:prstGeom>
          <a:solidFill>
            <a:srgbClr val="D269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4169664" y="5193792"/>
            <a:ext cx="1700784" cy="73152"/>
          </a:xfrm>
          <a:prstGeom prst="rect">
            <a:avLst/>
          </a:prstGeom>
          <a:solidFill>
            <a:srgbClr val="D269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242816" y="5065776"/>
            <a:ext cx="1554480" cy="20116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Consolas"/>
                <a:ea typeface="Microsoft YaHei"/>
                <a:cs typeface="Microsoft YaHei"/>
              </a:rPr>
              <a:t>loop.py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242816" y="5303520"/>
            <a:ext cx="1554480" cy="47548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750" b="1">
                <a:solidFill>
                  <a:srgbClr val="0A2B45"/>
                </a:solidFill>
                <a:latin typeface="Consolas"/>
                <a:ea typeface="Microsoft YaHei"/>
                <a:cs typeface="Microsoft YaHei"/>
              </a:rPr>
              <a:t>--n-candidates N</a:t>
            </a:r>
          </a:p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best-of-N 就是 GRPO 的 group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4087368" y="5440680"/>
            <a:ext cx="73152" cy="0"/>
          </a:xfrm>
          <a:prstGeom prst="line">
            <a:avLst/>
          </a:prstGeom>
          <a:ln w="12700">
            <a:solidFill>
              <a:srgbClr val="7FA4BA"/>
            </a:solidFill>
            <a:tailEnd type="triangle" w="med" len="med"/>
          </a:ln>
        </p:spPr>
      </p:cxnSp>
      <p:sp>
        <p:nvSpPr>
          <p:cNvPr id="65" name="Rounded Rectangle 64"/>
          <p:cNvSpPr/>
          <p:nvPr/>
        </p:nvSpPr>
        <p:spPr>
          <a:xfrm>
            <a:off x="5961888" y="5065776"/>
            <a:ext cx="1700784" cy="749808"/>
          </a:xfrm>
          <a:prstGeom prst="roundRect">
            <a:avLst>
              <a:gd name="adj" fmla="val 3763"/>
            </a:avLst>
          </a:prstGeom>
          <a:solidFill>
            <a:srgbClr val="FFFFFF"/>
          </a:solidFill>
          <a:ln w="12700">
            <a:solidFill>
              <a:srgbClr val="0F62C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" name="Rounded Rectangle 65"/>
          <p:cNvSpPr/>
          <p:nvPr/>
        </p:nvSpPr>
        <p:spPr>
          <a:xfrm>
            <a:off x="5961888" y="5065776"/>
            <a:ext cx="1700784" cy="201168"/>
          </a:xfrm>
          <a:prstGeom prst="roundRect">
            <a:avLst>
              <a:gd name="adj" fmla="val 3763"/>
            </a:avLst>
          </a:prstGeom>
          <a:solidFill>
            <a:srgbClr val="0F62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961888" y="5193792"/>
            <a:ext cx="1700784" cy="73152"/>
          </a:xfrm>
          <a:prstGeom prst="rect">
            <a:avLst/>
          </a:prstGeom>
          <a:solidFill>
            <a:srgbClr val="0F62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035040" y="5065776"/>
            <a:ext cx="1554480" cy="20116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Consolas"/>
                <a:ea typeface="Microsoft YaHei"/>
                <a:cs typeface="Microsoft YaHei"/>
              </a:rPr>
              <a:t>reward.py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035040" y="5303520"/>
            <a:ext cx="1554480" cy="47548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750" b="1">
                <a:solidFill>
                  <a:srgbClr val="0A2B45"/>
                </a:solidFill>
                <a:latin typeface="Consolas"/>
                <a:ea typeface="Microsoft YaHei"/>
                <a:cs typeface="Microsoft YaHei"/>
              </a:rPr>
              <a:t>harness 结果 → 奖励 + 优势</a:t>
            </a:r>
          </a:p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正确性 + roofline 达上限比例</a:t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5879592" y="5440680"/>
            <a:ext cx="73152" cy="0"/>
          </a:xfrm>
          <a:prstGeom prst="line">
            <a:avLst/>
          </a:prstGeom>
          <a:ln w="12700">
            <a:solidFill>
              <a:srgbClr val="7FA4BA"/>
            </a:solidFill>
            <a:tailEnd type="triangle" w="med" len="med"/>
          </a:ln>
        </p:spPr>
      </p:cxnSp>
      <p:sp>
        <p:nvSpPr>
          <p:cNvPr id="71" name="Rounded Rectangle 70"/>
          <p:cNvSpPr/>
          <p:nvPr/>
        </p:nvSpPr>
        <p:spPr>
          <a:xfrm>
            <a:off x="7754112" y="5065776"/>
            <a:ext cx="1700784" cy="749808"/>
          </a:xfrm>
          <a:prstGeom prst="roundRect">
            <a:avLst>
              <a:gd name="adj" fmla="val 3763"/>
            </a:avLst>
          </a:prstGeom>
          <a:solidFill>
            <a:srgbClr val="FFFFFF"/>
          </a:solidFill>
          <a:ln w="12700">
            <a:solidFill>
              <a:srgbClr val="0F62C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>
            <a:off x="7754112" y="5065776"/>
            <a:ext cx="1700784" cy="201168"/>
          </a:xfrm>
          <a:prstGeom prst="roundRect">
            <a:avLst>
              <a:gd name="adj" fmla="val 3763"/>
            </a:avLst>
          </a:prstGeom>
          <a:solidFill>
            <a:srgbClr val="0F62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7754112" y="5193792"/>
            <a:ext cx="1700784" cy="73152"/>
          </a:xfrm>
          <a:prstGeom prst="rect">
            <a:avLst/>
          </a:prstGeom>
          <a:solidFill>
            <a:srgbClr val="0F62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827264" y="5065776"/>
            <a:ext cx="1554480" cy="20116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Consolas"/>
                <a:ea typeface="Microsoft YaHei"/>
                <a:cs typeface="Microsoft YaHei"/>
              </a:rPr>
              <a:t>trajectory.py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827264" y="5303520"/>
            <a:ext cx="1554480" cy="47548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750" b="1">
                <a:solidFill>
                  <a:srgbClr val="0A2B45"/>
                </a:solidFill>
                <a:latin typeface="Consolas"/>
                <a:ea typeface="Microsoft YaHei"/>
                <a:cs typeface="Microsoft YaHei"/>
              </a:rPr>
              <a:t>results/rollouts.jsonl</a:t>
            </a:r>
          </a:p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prompt · candidates · reward · advantage</a:t>
            </a:r>
          </a:p>
        </p:txBody>
      </p:sp>
      <p:cxnSp>
        <p:nvCxnSpPr>
          <p:cNvPr id="76" name="Connector 75"/>
          <p:cNvCxnSpPr/>
          <p:nvPr/>
        </p:nvCxnSpPr>
        <p:spPr>
          <a:xfrm>
            <a:off x="7671816" y="5440680"/>
            <a:ext cx="73152" cy="0"/>
          </a:xfrm>
          <a:prstGeom prst="line">
            <a:avLst/>
          </a:prstGeom>
          <a:ln w="12700">
            <a:solidFill>
              <a:srgbClr val="7FA4BA"/>
            </a:solidFill>
            <a:tailEnd type="triangle" w="med" len="med"/>
          </a:ln>
        </p:spPr>
      </p:cxnSp>
      <p:cxnSp>
        <p:nvCxnSpPr>
          <p:cNvPr id="77" name="Connector 76"/>
          <p:cNvCxnSpPr/>
          <p:nvPr/>
        </p:nvCxnSpPr>
        <p:spPr>
          <a:xfrm>
            <a:off x="9464040" y="5440680"/>
            <a:ext cx="73152" cy="0"/>
          </a:xfrm>
          <a:prstGeom prst="line">
            <a:avLst/>
          </a:prstGeom>
          <a:ln w="15875">
            <a:solidFill>
              <a:srgbClr val="40708B"/>
            </a:solidFill>
            <a:tailEnd type="triangle" w="med" len="med"/>
          </a:ln>
        </p:spPr>
      </p:cxnSp>
      <p:sp>
        <p:nvSpPr>
          <p:cNvPr id="78" name="Rounded Rectangle 77"/>
          <p:cNvSpPr/>
          <p:nvPr/>
        </p:nvSpPr>
        <p:spPr>
          <a:xfrm>
            <a:off x="9546336" y="5065776"/>
            <a:ext cx="1968703" cy="749808"/>
          </a:xfrm>
          <a:prstGeom prst="roundRect">
            <a:avLst>
              <a:gd name="adj" fmla="val 3251"/>
            </a:avLst>
          </a:prstGeom>
          <a:solidFill>
            <a:srgbClr val="F2F8FD"/>
          </a:solidFill>
          <a:ln w="12700">
            <a:solidFill>
              <a:srgbClr val="7FA4BA"/>
            </a:solidFill>
            <a:prstDash val="dash"/>
          </a:ln>
        </p:spPr>
        <p:txBody>
          <a:bodyPr rtlCol="0" anchor="ctr" wrap="square" lIns="54864" tIns="18288" rIns="54864" bIns="18288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1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训练循环（独立系统）</a:t>
            </a:r>
          </a:p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拒绝采样 SFT → GRPO → 多轮 RL</a:t>
            </a:r>
          </a:p>
        </p:txBody>
      </p:sp>
      <p:sp>
        <p:nvSpPr>
          <p:cNvPr id="79" name="Rectangle 78"/>
          <p:cNvSpPr/>
          <p:nvPr/>
        </p:nvSpPr>
        <p:spPr>
          <a:xfrm>
            <a:off x="731520" y="5907024"/>
            <a:ext cx="45720" cy="274320"/>
          </a:xfrm>
          <a:prstGeom prst="rect">
            <a:avLst/>
          </a:prstGeom>
          <a:solidFill>
            <a:srgbClr val="B438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859536" y="5888736"/>
            <a:ext cx="10600639" cy="31089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B4382F"/>
                </a:solidFill>
                <a:latin typeface="Microsoft YaHei"/>
                <a:ea typeface="Microsoft YaHei"/>
                <a:cs typeface="Microsoft YaHei"/>
              </a:rPr>
              <a:t>防 reward hacking　</a:t>
            </a:r>
            <a:r>
              <a:rPr sz="80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奖励被 roofline 物理上界封顶 · CPU 参考对齐 · 多 shape golden 用例 —— 物理下界同时是奖励天花板，刷不出假收益</a:t>
            </a:r>
          </a:p>
        </p:txBody>
      </p:sp>
      <p:cxnSp>
        <p:nvCxnSpPr>
          <p:cNvPr id="81" name="Connector 80"/>
          <p:cNvCxnSpPr/>
          <p:nvPr/>
        </p:nvCxnSpPr>
        <p:spPr>
          <a:xfrm>
            <a:off x="2944368" y="2194560"/>
            <a:ext cx="329184" cy="0"/>
          </a:xfrm>
          <a:prstGeom prst="line">
            <a:avLst/>
          </a:prstGeom>
          <a:ln w="19050">
            <a:solidFill>
              <a:srgbClr val="40708B"/>
            </a:solidFill>
            <a:tailEnd type="triangle" w="med" len="med"/>
          </a:ln>
        </p:spPr>
      </p:cxnSp>
      <p:sp>
        <p:nvSpPr>
          <p:cNvPr id="82" name="Rounded Rectangle 81"/>
          <p:cNvSpPr/>
          <p:nvPr/>
        </p:nvSpPr>
        <p:spPr>
          <a:xfrm>
            <a:off x="2889504" y="2093976"/>
            <a:ext cx="475488" cy="2011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40708B"/>
            </a:solidFill>
          </a:ln>
        </p:spPr>
        <p:txBody>
          <a:bodyPr rtlCol="0" anchor="ctr" wrap="square" lIns="18288" tIns="0" rIns="18288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读取</a:t>
            </a:r>
          </a:p>
        </p:txBody>
      </p:sp>
      <p:cxnSp>
        <p:nvCxnSpPr>
          <p:cNvPr id="83" name="Connector 82"/>
          <p:cNvCxnSpPr/>
          <p:nvPr/>
        </p:nvCxnSpPr>
        <p:spPr>
          <a:xfrm>
            <a:off x="2944368" y="3785615"/>
            <a:ext cx="329184" cy="0"/>
          </a:xfrm>
          <a:prstGeom prst="line">
            <a:avLst/>
          </a:prstGeom>
          <a:ln w="19050">
            <a:solidFill>
              <a:srgbClr val="40708B"/>
            </a:solidFill>
            <a:tailEnd type="triangle" w="med" len="med"/>
          </a:ln>
        </p:spPr>
      </p:cxnSp>
      <p:sp>
        <p:nvSpPr>
          <p:cNvPr id="84" name="Rounded Rectangle 83"/>
          <p:cNvSpPr/>
          <p:nvPr/>
        </p:nvSpPr>
        <p:spPr>
          <a:xfrm>
            <a:off x="2889504" y="3685031"/>
            <a:ext cx="475488" cy="2011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40708B"/>
            </a:solidFill>
          </a:ln>
        </p:spPr>
        <p:txBody>
          <a:bodyPr rtlCol="0" anchor="ctr" wrap="square" lIns="18288" tIns="0" rIns="18288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观察</a:t>
            </a:r>
          </a:p>
        </p:txBody>
      </p:sp>
      <p:cxnSp>
        <p:nvCxnSpPr>
          <p:cNvPr id="85" name="Connector 84"/>
          <p:cNvCxnSpPr/>
          <p:nvPr/>
        </p:nvCxnSpPr>
        <p:spPr>
          <a:xfrm>
            <a:off x="8705088" y="2706624"/>
            <a:ext cx="237744" cy="0"/>
          </a:xfrm>
          <a:prstGeom prst="line">
            <a:avLst/>
          </a:prstGeom>
          <a:ln w="19050">
            <a:solidFill>
              <a:srgbClr val="D2690C"/>
            </a:solidFill>
            <a:tailEnd type="triangle" w="med" len="med"/>
          </a:ln>
        </p:spPr>
      </p:cxnSp>
      <p:sp>
        <p:nvSpPr>
          <p:cNvPr id="86" name="Rounded Rectangle 85"/>
          <p:cNvSpPr/>
          <p:nvPr/>
        </p:nvSpPr>
        <p:spPr>
          <a:xfrm>
            <a:off x="8503920" y="2404872"/>
            <a:ext cx="640080" cy="2011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2570A"/>
            </a:solidFill>
          </a:ln>
        </p:spPr>
        <p:txBody>
          <a:bodyPr rtlCol="0" anchor="ctr" wrap="square" lIns="18288" tIns="0" rIns="18288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C2570A"/>
                </a:solidFill>
                <a:latin typeface="Microsoft YaHei"/>
                <a:ea typeface="Microsoft YaHei"/>
                <a:cs typeface="Microsoft YaHei"/>
              </a:rPr>
              <a:t>两方用例</a:t>
            </a:r>
          </a:p>
        </p:txBody>
      </p:sp>
      <p:cxnSp>
        <p:nvCxnSpPr>
          <p:cNvPr id="87" name="Connector 86"/>
          <p:cNvCxnSpPr/>
          <p:nvPr/>
        </p:nvCxnSpPr>
        <p:spPr>
          <a:xfrm>
            <a:off x="8705088" y="3474719"/>
            <a:ext cx="237744" cy="0"/>
          </a:xfrm>
          <a:prstGeom prst="line">
            <a:avLst/>
          </a:prstGeom>
          <a:ln w="19050">
            <a:solidFill>
              <a:srgbClr val="0F62CE"/>
            </a:solidFill>
            <a:tailEnd type="triangle" w="med" len="med"/>
          </a:ln>
        </p:spPr>
      </p:cxnSp>
      <p:sp>
        <p:nvSpPr>
          <p:cNvPr id="88" name="Rounded Rectangle 87"/>
          <p:cNvSpPr/>
          <p:nvPr/>
        </p:nvSpPr>
        <p:spPr>
          <a:xfrm>
            <a:off x="8503920" y="3374135"/>
            <a:ext cx="640080" cy="2011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F62CE"/>
            </a:solidFill>
          </a:ln>
        </p:spPr>
        <p:txBody>
          <a:bodyPr rtlCol="0" anchor="ctr" wrap="square" lIns="18288" tIns="0" rIns="18288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0F62CE"/>
                </a:solidFill>
                <a:latin typeface="Microsoft YaHei"/>
                <a:ea typeface="Microsoft YaHei"/>
                <a:cs typeface="Microsoft YaHei"/>
              </a:rPr>
              <a:t>触发评测</a:t>
            </a:r>
          </a:p>
        </p:txBody>
      </p:sp>
      <p:sp>
        <p:nvSpPr>
          <p:cNvPr id="89" name="Freeform 88"/>
          <p:cNvSpPr/>
          <p:nvPr/>
        </p:nvSpPr>
        <p:spPr>
          <a:xfrm>
            <a:off x="1746504" y="4462272"/>
            <a:ext cx="8564727" cy="310896"/>
          </a:xfrm>
          <a:custGeom>
            <a:avLst/>
            <a:gdLst/>
            <a:ahLst/>
            <a:cxnLst/>
            <a:rect l="l" t="t" r="r" b="b"/>
            <a:pathLst>
              <a:path w="8564727" h="310896">
                <a:moveTo>
                  <a:pt x="8564727" y="73152"/>
                </a:moveTo>
                <a:lnTo>
                  <a:pt x="8564727" y="310896"/>
                </a:lnTo>
                <a:lnTo>
                  <a:pt x="0" y="310896"/>
                </a:lnTo>
                <a:lnTo>
                  <a:pt x="0" y="0"/>
                </a:lnTo>
              </a:path>
            </a:pathLst>
          </a:custGeom>
          <a:noFill/>
          <a:ln w="15875">
            <a:solidFill>
              <a:srgbClr val="40708B"/>
            </a:solidFill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0" name="Rounded Rectangle 89"/>
          <p:cNvSpPr/>
          <p:nvPr/>
        </p:nvSpPr>
        <p:spPr>
          <a:xfrm>
            <a:off x="5120640" y="4672583"/>
            <a:ext cx="1737360" cy="2011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40708B"/>
            </a:solidFill>
          </a:ln>
        </p:spPr>
        <p:txBody>
          <a:bodyPr rtlCol="0" anchor="ctr" wrap="square" lIns="18288" tIns="0" rIns="18288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回写：判决 · 偏差 · 反例命中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0362895" y="6473952"/>
            <a:ext cx="1280160" cy="25603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708B"/>
                </a:solidFill>
                <a:latin typeface="Consolas"/>
                <a:ea typeface="Microsoft YaHei"/>
                <a:cs typeface="Microsoft YaHei"/>
              </a:rPr>
              <a:t>1 / 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