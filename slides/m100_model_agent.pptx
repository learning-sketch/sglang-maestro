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notesMasters/notesMaster1.xml" ContentType="application/vnd.openxmlformats-officedocument.presentationml.notesMaster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theme/theme2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9"/>
  </p:sldIdLst>
  <p:sldSz cx="12191695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notesMaster" Target="notesMasters/notesMaster1.xml"/><Relationship Id="rId9" Type="http://schemas.openxmlformats.org/officeDocument/2006/relationships/slide" Target="slides/slide2.xml"/></Relationships>
</file>

<file path=ppt/notesMasters/_rels/notesMaster1.xml.rels><?xml version='1.0' encoding='UTF-8' standalone='yes'?>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p="http://schemas.openxmlformats.org/presentationml/2006/main" xmlns:r="http://schemas.openxmlformats.org/officeDocument/2006/relationships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0F89C1C7-3DCD-1040-A9CF-14679D8B5DDD}" type="datetimeFigureOut">
              <a:rPr lang="en-US" smtClean="0"/>
              <a:t>10/17/16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1143000" y="685800"/>
            <a:ext cx="4572000" cy="34290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BB5E49A5-4136-284D-997B-48E1D791AD67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23252185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.xml"/></Relationships>
</file>

<file path=ppt/notesSlides/_rels/notesSlide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.xml"/></Relationships>
</file>

<file path=ppt/notesSlides/notesSlide1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pPr>
              <a:spcAft>
                <a:spcPts val="600"/>
              </a:spcAft>
            </a:pPr>
            <a:r>
              <a:rPr sz="1200" b="1">
                <a:solidFill>
                  <a:srgbClr val="66727F"/>
                </a:solidFill>
                <a:latin typeface="Microsoft YaHei"/>
                <a:ea typeface="Microsoft YaHei"/>
                <a:cs typeface="Microsoft YaHei"/>
              </a:rPr>
              <a:t>【Agent 框架 · 约 95 秒（1:35）】</a:t>
            </a:r>
          </a:p>
          <a:p>
            <a:pPr>
              <a:spcAft>
                <a:spcPts val="600"/>
              </a:spcAft>
            </a:pPr>
            <a:r>
              <a:rPr sz="1200" b="0">
                <a:solidFill>
                  <a:srgbClr val="16202A"/>
                </a:solidFill>
                <a:latin typeface="Microsoft YaHei"/>
                <a:ea typeface="Microsoft YaHei"/>
                <a:cs typeface="Microsoft YaHei"/>
              </a:rPr>
              <a:t>这套 Agent 在 M100 上做两件事：把模型适配下来，再把性能调上去。执行后端是 SGLang，第一个任务是 Qwen3-VL-8B 的 channel-FP8。</a:t>
            </a:r>
          </a:p>
          <a:p>
            <a:pPr>
              <a:spcAft>
                <a:spcPts val="600"/>
              </a:spcAft>
            </a:pPr>
            <a:r>
              <a:rPr sz="1200" b="0">
                <a:solidFill>
                  <a:srgbClr val="16202A"/>
                </a:solidFill>
                <a:latin typeface="Microsoft YaHei"/>
                <a:ea typeface="Microsoft YaHei"/>
                <a:cs typeface="Microsoft YaHei"/>
              </a:rPr>
              <a:t>它的哲学是这四步：冻结一切可变量，改只在隔离副本里改，判定交给独立的确定性门禁，全程留证据、随时可回退。它不信 LLM 的自述，一切以真机实测为准。</a:t>
            </a:r>
          </a:p>
          <a:p>
            <a:pPr>
              <a:spcAft>
                <a:spcPts val="600"/>
              </a:spcAft>
            </a:pPr>
            <a:r>
              <a:rPr sz="1200" b="0">
                <a:solidFill>
                  <a:srgbClr val="16202A"/>
                </a:solidFill>
                <a:latin typeface="Microsoft YaHei"/>
                <a:ea typeface="Microsoft YaHei"/>
                <a:cs typeface="Microsoft YaHei"/>
              </a:rPr>
              <a:t>结构上是三条命令线，共用同一套底座，所以改一条线的口径三条线一起变。今天重点讲最成熟的调优线。</a:t>
            </a:r>
          </a:p>
          <a:p>
            <a:pPr>
              <a:spcAft>
                <a:spcPts val="600"/>
              </a:spcAft>
            </a:pPr>
            <a:r>
              <a:rPr sz="1200" b="0">
                <a:solidFill>
                  <a:srgbClr val="16202A"/>
                </a:solidFill>
                <a:latin typeface="Microsoft YaHei"/>
                <a:ea typeface="Microsoft YaHei"/>
                <a:cs typeface="Microsoft YaHei"/>
              </a:rPr>
              <a:t>调优线四个阶段：A 建立工作基线，启动失败就让规划器按日志证据提修复，全失败就不往下走；B 是可选的 profiling，只用来定位、不参与收益计算；C 是候选迭代，预算不够或连续三个没收益就停。</a:t>
            </a:r>
          </a:p>
          <a:p>
            <a:pPr>
              <a:spcAft>
                <a:spcPts val="600"/>
              </a:spcAft>
            </a:pPr>
            <a:r>
              <a:rPr sz="1200" b="0">
                <a:solidFill>
                  <a:srgbClr val="16202A"/>
                </a:solidFill>
                <a:latin typeface="Microsoft YaHei"/>
                <a:ea typeface="Microsoft YaHei"/>
                <a:cs typeface="Microsoft YaHei"/>
              </a:rPr>
              <a:t>D 最关键：重测一次基线，再对每个候选做全量复验，相对初始基线和重测基线都提升才算交付收益。所以筛选收益不等于交付收益——没复验通过的，报告里保留基线、不宣称加速。</a:t>
            </a:r>
          </a:p>
          <a:p>
            <a:pPr>
              <a:spcAft>
                <a:spcPts val="600"/>
              </a:spcAft>
            </a:pPr>
            <a:r>
              <a:rPr sz="1200" b="1">
                <a:solidFill>
                  <a:srgbClr val="66727F"/>
                </a:solidFill>
                <a:latin typeface="Microsoft YaHei"/>
                <a:ea typeface="Microsoft YaHei"/>
                <a:cs typeface="Microsoft YaHei"/>
              </a:rPr>
              <a:t>被问到再说 ——</a:t>
            </a:r>
          </a:p>
          <a:p>
            <a:pPr>
              <a:spcAft>
                <a:spcPts val="600"/>
              </a:spcAft>
            </a:pPr>
            <a:r>
              <a:rPr sz="1200" b="0">
                <a:solidFill>
                  <a:srgbClr val="66727F"/>
                </a:solidFill>
                <a:latin typeface="Microsoft YaHei"/>
                <a:ea typeface="Microsoft YaHei"/>
                <a:cs typeface="Microsoft YaHei"/>
              </a:rPr>
              <a:t>预算 36000 秒，最终复验预留 600 秒。这个预留我认为偏小：最多 6 轮完整复验摊下来一轮一百秒，而一轮要起服务、过三道门、跑全量评测。建议按候选数量和实测单轮耗时自适应。</a:t>
            </a:r>
          </a:p>
          <a:p>
            <a:pPr>
              <a:spcAft>
                <a:spcPts val="600"/>
              </a:spcAft>
            </a:pPr>
            <a:r>
              <a:rPr sz="1200" b="0">
                <a:solidFill>
                  <a:srgbClr val="66727F"/>
                </a:solidFill>
                <a:latin typeface="Microsoft YaHei"/>
                <a:ea typeface="Microsoft YaHei"/>
                <a:cs typeface="Microsoft YaHei"/>
              </a:rPr>
              <a:t>恢复不重置 deadline，所以临近尾声被中断再恢复，阶段 D 可能拿不到足额预留。现在的行为是预算优先，必要时应该显式延长并记进 state。</a:t>
            </a:r>
          </a:p>
          <a:p>
            <a:pPr>
              <a:spcAft>
                <a:spcPts val="600"/>
              </a:spcAft>
            </a:pPr>
            <a:r>
              <a:rPr sz="1200" b="0">
                <a:solidFill>
                  <a:srgbClr val="66727F"/>
                </a:solidFill>
                <a:latin typeface="Microsoft YaHei"/>
                <a:ea typeface="Microsoft YaHei"/>
                <a:cs typeface="Microsoft YaHei"/>
              </a:rPr>
              <a:t>已验收的候选不会成为新基线，候选永远从基线分叉，所以多个独立收益不会叠加——一次 run 交付的是最好的那一个，不是它们的组合。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pPr>
              <a:spcAft>
                <a:spcPts val="600"/>
              </a:spcAft>
            </a:pPr>
            <a:r>
              <a:rPr sz="1200" b="1">
                <a:solidFill>
                  <a:srgbClr val="66727F"/>
                </a:solidFill>
                <a:latin typeface="Microsoft YaHei"/>
                <a:ea typeface="Microsoft YaHei"/>
                <a:cs typeface="Microsoft YaHei"/>
              </a:rPr>
              <a:t>【Agent 门禁 · 约 105 秒（1:45）】</a:t>
            </a:r>
          </a:p>
          <a:p>
            <a:pPr>
              <a:spcAft>
                <a:spcPts val="600"/>
              </a:spcAft>
            </a:pPr>
            <a:r>
              <a:rPr sz="1200" b="0">
                <a:solidFill>
                  <a:srgbClr val="16202A"/>
                </a:solidFill>
                <a:latin typeface="Microsoft YaHei"/>
                <a:ea typeface="Microsoft YaHei"/>
                <a:cs typeface="Microsoft YaHei"/>
              </a:rPr>
              <a:t>这一页回答：凭什么信它报出来的数字。答案是三道门的判据都写成固定阈值，不由模型解释。</a:t>
            </a:r>
          </a:p>
          <a:p>
            <a:pPr>
              <a:spcAft>
                <a:spcPts val="600"/>
              </a:spcAft>
            </a:pPr>
            <a:r>
              <a:rPr sz="1200" b="0">
                <a:solidFill>
                  <a:srgbClr val="16202A"/>
                </a:solidFill>
                <a:latin typeface="Microsoft YaHei"/>
                <a:ea typeface="Microsoft YaHei"/>
                <a:cs typeface="Microsoft YaHei"/>
              </a:rPr>
              <a:t>顺序是从便宜到贵：先比数值，三段固定文本做 teacher-forcing，贪心输出的 token 必须完全一致，logprob 最大绝对差不超过 0.03；再比正确率，同一批 MMStar 题目零下降，解析率也不许降；最后才测性能，四个指标各重复三次取中位，任一指标回归不超过 5%，有效收益要同时大于 3% 和实测噪声极差。任一道不过立即返回，不浪费后面的设备时间。</a:t>
            </a:r>
          </a:p>
          <a:p>
            <a:pPr>
              <a:spcAft>
                <a:spcPts val="600"/>
              </a:spcAft>
            </a:pPr>
            <a:r>
              <a:rPr sz="1200" b="0">
                <a:solidFill>
                  <a:srgbClr val="16202A"/>
                </a:solidFill>
                <a:latin typeface="Microsoft YaHei"/>
                <a:ea typeface="Microsoft YaHei"/>
                <a:cs typeface="Microsoft YaHei"/>
              </a:rPr>
              <a:t>左下是防作弊：prompt 的 token 数必须等于冻结值，出现前缀缓存命中直接拒，精度和缓存这些口径一律不许动——不能靠偷工减料来变快。</a:t>
            </a:r>
          </a:p>
          <a:p>
            <a:pPr>
              <a:spcAft>
                <a:spcPts val="600"/>
              </a:spcAft>
            </a:pPr>
            <a:r>
              <a:rPr sz="1200" b="0">
                <a:solidFill>
                  <a:srgbClr val="16202A"/>
                </a:solidFill>
                <a:latin typeface="Microsoft YaHei"/>
                <a:ea typeface="Microsoft YaHei"/>
                <a:cs typeface="Microsoft YaHei"/>
              </a:rPr>
              <a:t>右下这条是整套设计里最省时间的：提实验前必须读过或搜过真实源码并带上证据，环境变量要真实存在，补丁原文必须唯一匹配，Python 补丁还要能通过编译。虚构的补丁在规划阶段就被打回，不会浪费一次设备实验。</a:t>
            </a:r>
          </a:p>
          <a:p>
            <a:pPr>
              <a:spcAft>
                <a:spcPts val="600"/>
              </a:spcAft>
            </a:pPr>
            <a:r>
              <a:rPr sz="1200" b="0">
                <a:solidFill>
                  <a:srgbClr val="16202A"/>
                </a:solidFill>
                <a:latin typeface="Microsoft YaHei"/>
                <a:ea typeface="Microsoft YaHei"/>
                <a:cs typeface="Microsoft YaHei"/>
              </a:rPr>
              <a:t>最下面一行是不变量：原始安装包只读，改动只在隔离副本，一次 run 的每一轮都能回放。</a:t>
            </a:r>
          </a:p>
          <a:p>
            <a:pPr>
              <a:spcAft>
                <a:spcPts val="600"/>
              </a:spcAft>
            </a:pPr>
            <a:r>
              <a:rPr sz="1200" b="1">
                <a:solidFill>
                  <a:srgbClr val="66727F"/>
                </a:solidFill>
                <a:latin typeface="Microsoft YaHei"/>
                <a:ea typeface="Microsoft YaHei"/>
                <a:cs typeface="Microsoft YaHei"/>
              </a:rPr>
              <a:t>被问到再说 ——</a:t>
            </a:r>
          </a:p>
          <a:p>
            <a:pPr>
              <a:spcAft>
                <a:spcPts val="600"/>
              </a:spcAft>
            </a:pPr>
            <a:r>
              <a:rPr sz="1200" b="0">
                <a:solidFill>
                  <a:srgbClr val="66727F"/>
                </a:solidFill>
                <a:latin typeface="Microsoft YaHei"/>
                <a:ea typeface="Microsoft YaHei"/>
                <a:cs typeface="Microsoft YaHei"/>
              </a:rPr>
              <a:t>正确率零容差在 24 题的筛选集上一道题就是 4.17 个百分点，而且和容许 0.03 logprob 漂移自相矛盾：漂移唯一的表现形式就是临界题翻转。建议改成同一批题目上的配对检验。</a:t>
            </a:r>
          </a:p>
          <a:p>
            <a:pPr>
              <a:spcAft>
                <a:spcPts val="600"/>
              </a:spcAft>
            </a:pPr>
            <a:r>
              <a:rPr sz="1200" b="0">
                <a:solidFill>
                  <a:srgbClr val="66727F"/>
                </a:solidFill>
                <a:latin typeface="Microsoft YaHei"/>
                <a:ea typeface="Microsoft YaHei"/>
                <a:cs typeface="Microsoft YaHei"/>
              </a:rPr>
              <a:t>3 次重复的极差只能算粗估，而且基线与候选是十小时窗口里的不同时间块，设备漂移会直接进对比。要让数字经得起追问，得在同一窗口里交错测 A/B/A。</a:t>
            </a:r>
          </a:p>
          <a:p>
            <a:pPr>
              <a:spcAft>
                <a:spcPts val="600"/>
              </a:spcAft>
            </a:pPr>
            <a:r>
              <a:rPr sz="1200" b="0">
                <a:solidFill>
                  <a:srgbClr val="66727F"/>
                </a:solidFill>
                <a:latin typeface="Microsoft YaHei"/>
                <a:ea typeface="Microsoft YaHei"/>
                <a:cs typeface="Microsoft YaHei"/>
              </a:rPr>
              <a:t>数值门比的是候选与 M100 基线，不是参考实现，所以基线自身的数值错误发现不了。接入线已经有冻结的独立 CPU 参考，调优线应该在阶段 A 继承一次。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2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48640" y="384048"/>
            <a:ext cx="8229600" cy="292608"/>
          </a:xfrm>
          <a:prstGeom prst="rect">
            <a:avLst/>
          </a:prstGeom>
          <a:noFill/>
        </p:spPr>
        <p:txBody>
          <a:bodyPr wrap="square" anchor="ctr" lIns="0" tIns="0" rIns="0" bIns="0">
            <a:noAutofit/>
          </a:bodyPr>
          <a:lstStyle/>
          <a:p>
            <a:pPr algn="l" latinLnBrk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100" b="1">
                <a:solidFill>
                  <a:srgbClr val="C0612C"/>
                </a:solidFill>
                <a:latin typeface="Consolas"/>
                <a:ea typeface="Microsoft YaHei"/>
                <a:cs typeface="Microsoft YaHei"/>
              </a:rPr>
              <a:t>AGENT 框架 · M100-MODEL-AGENT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48640" y="731520"/>
            <a:ext cx="11094415" cy="530352"/>
          </a:xfrm>
          <a:prstGeom prst="rect">
            <a:avLst/>
          </a:prstGeom>
          <a:noFill/>
        </p:spPr>
        <p:txBody>
          <a:bodyPr wrap="square" anchor="ctr" lIns="0" tIns="0" rIns="0" bIns="0">
            <a:noAutofit/>
          </a:bodyPr>
          <a:lstStyle/>
          <a:p>
            <a:pPr algn="l" latinLnBrk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2500" b="1">
                <a:solidFill>
                  <a:srgbClr val="16202A"/>
                </a:solidFill>
                <a:latin typeface="Microsoft YaHei"/>
                <a:ea typeface="Microsoft YaHei"/>
                <a:cs typeface="Microsoft YaHei"/>
              </a:rPr>
              <a:t>三条命令线共用一套底座，收益只认最终复验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48640" y="1261872"/>
            <a:ext cx="11094415" cy="329184"/>
          </a:xfrm>
          <a:prstGeom prst="rect">
            <a:avLst/>
          </a:prstGeom>
          <a:noFill/>
        </p:spPr>
        <p:txBody>
          <a:bodyPr wrap="square" anchor="ctr" lIns="0" tIns="0" rIns="0" bIns="0">
            <a:noAutofit/>
          </a:bodyPr>
          <a:lstStyle/>
          <a:p>
            <a:pPr algn="l" latinLnBrk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300" b="0">
                <a:solidFill>
                  <a:srgbClr val="66727F"/>
                </a:solidFill>
                <a:latin typeface="Microsoft YaHei"/>
                <a:ea typeface="Microsoft YaHei"/>
                <a:cs typeface="Microsoft YaHei"/>
              </a:rPr>
              <a:t>冻结一切可变量 · 在隔离副本里改 · 独立门禁裁决 · 留证据可回退——这四步贯穿所有代码</a:t>
            </a:r>
          </a:p>
        </p:txBody>
      </p:sp>
      <p:sp>
        <p:nvSpPr>
          <p:cNvPr id="5" name="Rectangle 4"/>
          <p:cNvSpPr/>
          <p:nvPr/>
        </p:nvSpPr>
        <p:spPr>
          <a:xfrm>
            <a:off x="548640" y="1755648"/>
            <a:ext cx="3527450" cy="804672"/>
          </a:xfrm>
          <a:prstGeom prst="rect">
            <a:avLst/>
          </a:prstGeom>
          <a:solidFill>
            <a:srgbClr val="F8EADF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786384" y="1828800"/>
            <a:ext cx="3051962" cy="292608"/>
          </a:xfrm>
          <a:prstGeom prst="rect">
            <a:avLst/>
          </a:prstGeom>
          <a:noFill/>
        </p:spPr>
        <p:txBody>
          <a:bodyPr wrap="square" anchor="ctr" lIns="0" tIns="0" rIns="0" bIns="0">
            <a:noAutofit/>
          </a:bodyPr>
          <a:lstStyle/>
          <a:p>
            <a:pPr algn="l" latinLnBrk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300" b="1">
                <a:solidFill>
                  <a:srgbClr val="16202A"/>
                </a:solidFill>
                <a:latin typeface="Microsoft YaHei"/>
                <a:ea typeface="Microsoft YaHei"/>
                <a:cs typeface="Microsoft YaHei"/>
              </a:rPr>
              <a:t>调优线</a:t>
            </a:r>
            <a:r>
              <a:rPr sz="1050" b="0">
                <a:solidFill>
                  <a:srgbClr val="C0612C"/>
                </a:solidFill>
                <a:latin typeface="Consolas"/>
                <a:ea typeface="Microsoft YaHei"/>
                <a:cs typeface="Microsoft YaHei"/>
              </a:rPr>
              <a:t>　run / resume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786384" y="2157984"/>
            <a:ext cx="3051962" cy="292608"/>
          </a:xfrm>
          <a:prstGeom prst="rect">
            <a:avLst/>
          </a:prstGeom>
          <a:noFill/>
        </p:spPr>
        <p:txBody>
          <a:bodyPr wrap="square" anchor="ctr" lIns="0" tIns="0" rIns="0" bIns="0">
            <a:noAutofit/>
          </a:bodyPr>
          <a:lstStyle/>
          <a:p>
            <a:pPr algn="l" latinLnBrk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050" b="0">
                <a:solidFill>
                  <a:srgbClr val="35424F"/>
                </a:solidFill>
                <a:latin typeface="Microsoft YaHei"/>
                <a:ea typeface="Microsoft YaHei"/>
                <a:cs typeface="Microsoft YaHei"/>
              </a:rPr>
              <a:t>冻结基线 → 候选迭代 → 最终复验</a:t>
            </a:r>
          </a:p>
        </p:txBody>
      </p:sp>
      <p:sp>
        <p:nvSpPr>
          <p:cNvPr id="8" name="Rectangle 7"/>
          <p:cNvSpPr/>
          <p:nvPr/>
        </p:nvSpPr>
        <p:spPr>
          <a:xfrm>
            <a:off x="4332122" y="1755648"/>
            <a:ext cx="3527450" cy="804672"/>
          </a:xfrm>
          <a:prstGeom prst="rect">
            <a:avLst/>
          </a:prstGeom>
          <a:solidFill>
            <a:srgbClr val="F6F7F9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4569866" y="1828800"/>
            <a:ext cx="3051962" cy="292608"/>
          </a:xfrm>
          <a:prstGeom prst="rect">
            <a:avLst/>
          </a:prstGeom>
          <a:noFill/>
        </p:spPr>
        <p:txBody>
          <a:bodyPr wrap="square" anchor="ctr" lIns="0" tIns="0" rIns="0" bIns="0">
            <a:noAutofit/>
          </a:bodyPr>
          <a:lstStyle/>
          <a:p>
            <a:pPr algn="l" latinLnBrk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300" b="1">
                <a:solidFill>
                  <a:srgbClr val="16202A"/>
                </a:solidFill>
                <a:latin typeface="Microsoft YaHei"/>
                <a:ea typeface="Microsoft YaHei"/>
                <a:cs typeface="Microsoft YaHei"/>
              </a:rPr>
              <a:t>接入线</a:t>
            </a:r>
            <a:r>
              <a:rPr sz="1050" b="0">
                <a:solidFill>
                  <a:srgbClr val="66727F"/>
                </a:solidFill>
                <a:latin typeface="Consolas"/>
                <a:ea typeface="Microsoft YaHei"/>
                <a:cs typeface="Microsoft YaHei"/>
              </a:rPr>
              <a:t>　onboard-*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4569866" y="2157984"/>
            <a:ext cx="3051962" cy="292608"/>
          </a:xfrm>
          <a:prstGeom prst="rect">
            <a:avLst/>
          </a:prstGeom>
          <a:noFill/>
        </p:spPr>
        <p:txBody>
          <a:bodyPr wrap="square" anchor="ctr" lIns="0" tIns="0" rIns="0" bIns="0">
            <a:noAutofit/>
          </a:bodyPr>
          <a:lstStyle/>
          <a:p>
            <a:pPr algn="l" latinLnBrk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050" b="0">
                <a:solidFill>
                  <a:srgbClr val="35424F"/>
                </a:solidFill>
                <a:latin typeface="Microsoft YaHei"/>
                <a:ea typeface="Microsoft YaHei"/>
                <a:cs typeface="Microsoft YaHei"/>
              </a:rPr>
              <a:t>静态发现 + 八层验收，冻结 CPU 参考裁决</a:t>
            </a:r>
          </a:p>
        </p:txBody>
      </p:sp>
      <p:sp>
        <p:nvSpPr>
          <p:cNvPr id="11" name="Rectangle 10"/>
          <p:cNvSpPr/>
          <p:nvPr/>
        </p:nvSpPr>
        <p:spPr>
          <a:xfrm>
            <a:off x="8115604" y="1755648"/>
            <a:ext cx="3527450" cy="804672"/>
          </a:xfrm>
          <a:prstGeom prst="rect">
            <a:avLst/>
          </a:prstGeom>
          <a:solidFill>
            <a:srgbClr val="F6F7F9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8353348" y="1828800"/>
            <a:ext cx="3051962" cy="292608"/>
          </a:xfrm>
          <a:prstGeom prst="rect">
            <a:avLst/>
          </a:prstGeom>
          <a:noFill/>
        </p:spPr>
        <p:txBody>
          <a:bodyPr wrap="square" anchor="ctr" lIns="0" tIns="0" rIns="0" bIns="0">
            <a:noAutofit/>
          </a:bodyPr>
          <a:lstStyle/>
          <a:p>
            <a:pPr algn="l" latinLnBrk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300" b="1">
                <a:solidFill>
                  <a:srgbClr val="16202A"/>
                </a:solidFill>
                <a:latin typeface="Microsoft YaHei"/>
                <a:ea typeface="Microsoft YaHei"/>
                <a:cs typeface="Microsoft YaHei"/>
              </a:rPr>
              <a:t>优化线</a:t>
            </a:r>
            <a:r>
              <a:rPr sz="1050" b="0">
                <a:solidFill>
                  <a:srgbClr val="66727F"/>
                </a:solidFill>
                <a:latin typeface="Consolas"/>
                <a:ea typeface="Microsoft YaHei"/>
                <a:cs typeface="Microsoft YaHei"/>
              </a:rPr>
              <a:t>　optimize-*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8353348" y="2157984"/>
            <a:ext cx="3051962" cy="292608"/>
          </a:xfrm>
          <a:prstGeom prst="rect">
            <a:avLst/>
          </a:prstGeom>
          <a:noFill/>
        </p:spPr>
        <p:txBody>
          <a:bodyPr wrap="square" anchor="ctr" lIns="0" tIns="0" rIns="0" bIns="0">
            <a:noAutofit/>
          </a:bodyPr>
          <a:lstStyle/>
          <a:p>
            <a:pPr algn="l" latinLnBrk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050" b="0">
                <a:solidFill>
                  <a:srgbClr val="35424F"/>
                </a:solidFill>
                <a:latin typeface="Microsoft YaHei"/>
                <a:ea typeface="Microsoft YaHei"/>
                <a:cs typeface="Microsoft YaHei"/>
              </a:rPr>
              <a:t>从已验收工作区启动，trace 驱动迭代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548640" y="2651760"/>
            <a:ext cx="11094415" cy="256032"/>
          </a:xfrm>
          <a:prstGeom prst="rect">
            <a:avLst/>
          </a:prstGeom>
          <a:noFill/>
        </p:spPr>
        <p:txBody>
          <a:bodyPr wrap="square" anchor="ctr" lIns="0" tIns="0" rIns="0" bIns="0">
            <a:noAutofit/>
          </a:bodyPr>
          <a:lstStyle/>
          <a:p>
            <a:pPr algn="l" latinLnBrk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000" b="0">
                <a:solidFill>
                  <a:srgbClr val="66727F"/>
                </a:solidFill>
                <a:latin typeface="Consolas"/>
                <a:ea typeface="Microsoft YaHei"/>
                <a:cs typeface="Microsoft YaHei"/>
              </a:rPr>
              <a:t>共用底座　contract · server · workspace · evaluation · benchmark · policy · profiling · integrations · hardware</a:t>
            </a:r>
          </a:p>
        </p:txBody>
      </p:sp>
      <p:sp>
        <p:nvSpPr>
          <p:cNvPr id="15" name="Rectangle 14"/>
          <p:cNvSpPr/>
          <p:nvPr/>
        </p:nvSpPr>
        <p:spPr>
          <a:xfrm>
            <a:off x="548640" y="3017520"/>
            <a:ext cx="2609011" cy="1865376"/>
          </a:xfrm>
          <a:prstGeom prst="rect">
            <a:avLst/>
          </a:prstGeom>
          <a:solidFill>
            <a:srgbClr val="F6F7F9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16" name="Oval 15"/>
          <p:cNvSpPr/>
          <p:nvPr/>
        </p:nvSpPr>
        <p:spPr>
          <a:xfrm>
            <a:off x="768096" y="3163824"/>
            <a:ext cx="310896" cy="310896"/>
          </a:xfrm>
          <a:prstGeom prst="ellipse">
            <a:avLst/>
          </a:prstGeom>
          <a:solidFill>
            <a:srgbClr val="C0612C"/>
          </a:solidFill>
          <a:ln>
            <a:noFill/>
          </a:ln>
        </p:spPr>
        <p:txBody>
          <a:bodyPr rtlCol="0" anchor="ctr" wrap="square" lIns="0" tIns="0" rIns="0" bIns="0">
            <a:noAutofit/>
          </a:bodyPr>
          <a:lstStyle/>
          <a:p>
            <a:pPr algn="ctr" latinLnBrk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200" b="1">
                <a:solidFill>
                  <a:srgbClr val="FFFFFF"/>
                </a:solidFill>
                <a:latin typeface="Arial"/>
                <a:ea typeface="Microsoft YaHei"/>
                <a:cs typeface="Microsoft YaHei"/>
              </a:rPr>
              <a:t>A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1152144" y="3145536"/>
            <a:ext cx="1786051" cy="292608"/>
          </a:xfrm>
          <a:prstGeom prst="rect">
            <a:avLst/>
          </a:prstGeom>
          <a:noFill/>
        </p:spPr>
        <p:txBody>
          <a:bodyPr wrap="square" anchor="ctr" lIns="0" tIns="0" rIns="0" bIns="0">
            <a:noAutofit/>
          </a:bodyPr>
          <a:lstStyle/>
          <a:p>
            <a:pPr algn="l" latinLnBrk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300" b="1">
                <a:solidFill>
                  <a:srgbClr val="16202A"/>
                </a:solidFill>
                <a:latin typeface="Microsoft YaHei"/>
                <a:ea typeface="Microsoft YaHei"/>
                <a:cs typeface="Microsoft YaHei"/>
              </a:rPr>
              <a:t>建立工作基线</a:t>
            </a:r>
          </a:p>
        </p:txBody>
      </p:sp>
      <p:sp>
        <p:nvSpPr>
          <p:cNvPr id="18" name="Oval 17"/>
          <p:cNvSpPr/>
          <p:nvPr/>
        </p:nvSpPr>
        <p:spPr>
          <a:xfrm>
            <a:off x="768096" y="3712464"/>
            <a:ext cx="91440" cy="91440"/>
          </a:xfrm>
          <a:prstGeom prst="ellipse">
            <a:avLst/>
          </a:prstGeom>
          <a:solidFill>
            <a:srgbClr val="C0612C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969264" y="3584448"/>
            <a:ext cx="1968931" cy="384048"/>
          </a:xfrm>
          <a:prstGeom prst="rect">
            <a:avLst/>
          </a:prstGeom>
          <a:noFill/>
        </p:spPr>
        <p:txBody>
          <a:bodyPr wrap="square" anchor="ctr" lIns="0" tIns="0" rIns="0" bIns="0">
            <a:noAutofit/>
          </a:bodyPr>
          <a:lstStyle/>
          <a:p>
            <a:pPr algn="l" latinLnBrk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050" b="0">
                <a:solidFill>
                  <a:srgbClr val="35424F"/>
                </a:solidFill>
                <a:latin typeface="Microsoft YaHei"/>
                <a:ea typeface="Microsoft YaHei"/>
                <a:cs typeface="Microsoft YaHei"/>
              </a:rPr>
              <a:t>首轮 000-baseline 全量评测</a:t>
            </a:r>
          </a:p>
        </p:txBody>
      </p:sp>
      <p:sp>
        <p:nvSpPr>
          <p:cNvPr id="20" name="Oval 19"/>
          <p:cNvSpPr/>
          <p:nvPr/>
        </p:nvSpPr>
        <p:spPr>
          <a:xfrm>
            <a:off x="768096" y="4096512"/>
            <a:ext cx="91440" cy="91440"/>
          </a:xfrm>
          <a:prstGeom prst="ellipse">
            <a:avLst/>
          </a:prstGeom>
          <a:solidFill>
            <a:srgbClr val="C0612C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21" name="TextBox 20"/>
          <p:cNvSpPr txBox="1"/>
          <p:nvPr/>
        </p:nvSpPr>
        <p:spPr>
          <a:xfrm>
            <a:off x="969264" y="3968496"/>
            <a:ext cx="1968931" cy="384048"/>
          </a:xfrm>
          <a:prstGeom prst="rect">
            <a:avLst/>
          </a:prstGeom>
          <a:noFill/>
        </p:spPr>
        <p:txBody>
          <a:bodyPr wrap="square" anchor="ctr" lIns="0" tIns="0" rIns="0" bIns="0">
            <a:noAutofit/>
          </a:bodyPr>
          <a:lstStyle/>
          <a:p>
            <a:pPr algn="l" latinLnBrk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050" b="0">
                <a:solidFill>
                  <a:srgbClr val="35424F"/>
                </a:solidFill>
                <a:latin typeface="Microsoft YaHei"/>
                <a:ea typeface="Microsoft YaHei"/>
                <a:cs typeface="Microsoft YaHei"/>
              </a:rPr>
              <a:t>启动失败按日志证据提修复</a:t>
            </a:r>
          </a:p>
        </p:txBody>
      </p:sp>
      <p:sp>
        <p:nvSpPr>
          <p:cNvPr id="22" name="Oval 21"/>
          <p:cNvSpPr/>
          <p:nvPr/>
        </p:nvSpPr>
        <p:spPr>
          <a:xfrm>
            <a:off x="768096" y="4480560"/>
            <a:ext cx="91440" cy="91440"/>
          </a:xfrm>
          <a:prstGeom prst="ellipse">
            <a:avLst/>
          </a:prstGeom>
          <a:solidFill>
            <a:srgbClr val="C0612C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23" name="TextBox 22"/>
          <p:cNvSpPr txBox="1"/>
          <p:nvPr/>
        </p:nvSpPr>
        <p:spPr>
          <a:xfrm>
            <a:off x="969264" y="4352544"/>
            <a:ext cx="1968931" cy="384048"/>
          </a:xfrm>
          <a:prstGeom prst="rect">
            <a:avLst/>
          </a:prstGeom>
          <a:noFill/>
        </p:spPr>
        <p:txBody>
          <a:bodyPr wrap="square" anchor="ctr" lIns="0" tIns="0" rIns="0" bIns="0">
            <a:noAutofit/>
          </a:bodyPr>
          <a:lstStyle/>
          <a:p>
            <a:pPr algn="l" latinLnBrk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050" b="0">
                <a:solidFill>
                  <a:srgbClr val="35424F"/>
                </a:solidFill>
                <a:latin typeface="Microsoft YaHei"/>
                <a:ea typeface="Microsoft YaHei"/>
                <a:cs typeface="Microsoft YaHei"/>
              </a:rPr>
              <a:t>全失败即 baseline_failed</a:t>
            </a:r>
          </a:p>
        </p:txBody>
      </p:sp>
      <p:sp>
        <p:nvSpPr>
          <p:cNvPr id="24" name="Rectangle 23"/>
          <p:cNvSpPr/>
          <p:nvPr/>
        </p:nvSpPr>
        <p:spPr>
          <a:xfrm>
            <a:off x="3377107" y="3017520"/>
            <a:ext cx="2609011" cy="1865376"/>
          </a:xfrm>
          <a:prstGeom prst="rect">
            <a:avLst/>
          </a:prstGeom>
          <a:solidFill>
            <a:srgbClr val="F6F7F9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25" name="Oval 24"/>
          <p:cNvSpPr/>
          <p:nvPr/>
        </p:nvSpPr>
        <p:spPr>
          <a:xfrm>
            <a:off x="3596563" y="3163824"/>
            <a:ext cx="310896" cy="310896"/>
          </a:xfrm>
          <a:prstGeom prst="ellipse">
            <a:avLst/>
          </a:prstGeom>
          <a:solidFill>
            <a:srgbClr val="C0612C"/>
          </a:solidFill>
          <a:ln>
            <a:noFill/>
          </a:ln>
        </p:spPr>
        <p:txBody>
          <a:bodyPr rtlCol="0" anchor="ctr" wrap="square" lIns="0" tIns="0" rIns="0" bIns="0">
            <a:noAutofit/>
          </a:bodyPr>
          <a:lstStyle/>
          <a:p>
            <a:pPr algn="ctr" latinLnBrk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200" b="1">
                <a:solidFill>
                  <a:srgbClr val="FFFFFF"/>
                </a:solidFill>
                <a:latin typeface="Arial"/>
                <a:ea typeface="Microsoft YaHei"/>
                <a:cs typeface="Microsoft YaHei"/>
              </a:rPr>
              <a:t>B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3980611" y="3145536"/>
            <a:ext cx="1786051" cy="292608"/>
          </a:xfrm>
          <a:prstGeom prst="rect">
            <a:avLst/>
          </a:prstGeom>
          <a:noFill/>
        </p:spPr>
        <p:txBody>
          <a:bodyPr wrap="square" anchor="ctr" lIns="0" tIns="0" rIns="0" bIns="0">
            <a:noAutofit/>
          </a:bodyPr>
          <a:lstStyle/>
          <a:p>
            <a:pPr algn="l" latinLnBrk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300" b="1">
                <a:solidFill>
                  <a:srgbClr val="16202A"/>
                </a:solidFill>
                <a:latin typeface="Microsoft YaHei"/>
                <a:ea typeface="Microsoft YaHei"/>
                <a:cs typeface="Microsoft YaHei"/>
              </a:rPr>
              <a:t>Profiling（可选）</a:t>
            </a:r>
          </a:p>
        </p:txBody>
      </p:sp>
      <p:sp>
        <p:nvSpPr>
          <p:cNvPr id="27" name="Oval 26"/>
          <p:cNvSpPr/>
          <p:nvPr/>
        </p:nvSpPr>
        <p:spPr>
          <a:xfrm>
            <a:off x="3596563" y="3712464"/>
            <a:ext cx="91440" cy="91440"/>
          </a:xfrm>
          <a:prstGeom prst="ellipse">
            <a:avLst/>
          </a:prstGeom>
          <a:solidFill>
            <a:srgbClr val="C0612C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28" name="TextBox 27"/>
          <p:cNvSpPr txBox="1"/>
          <p:nvPr/>
        </p:nvSpPr>
        <p:spPr>
          <a:xfrm>
            <a:off x="3797731" y="3584448"/>
            <a:ext cx="1968931" cy="384048"/>
          </a:xfrm>
          <a:prstGeom prst="rect">
            <a:avLst/>
          </a:prstGeom>
          <a:noFill/>
        </p:spPr>
        <p:txBody>
          <a:bodyPr wrap="square" anchor="ctr" lIns="0" tIns="0" rIns="0" bIns="0">
            <a:noAutofit/>
          </a:bodyPr>
          <a:lstStyle/>
          <a:p>
            <a:pPr algn="l" latinLnBrk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050" b="0">
                <a:solidFill>
                  <a:srgbClr val="35424F"/>
                </a:solidFill>
                <a:latin typeface="Microsoft YaHei"/>
                <a:ea typeface="Microsoft YaHei"/>
                <a:cs typeface="Microsoft YaHei"/>
              </a:rPr>
              <a:t>独立进程采 trace</a:t>
            </a:r>
          </a:p>
        </p:txBody>
      </p:sp>
      <p:sp>
        <p:nvSpPr>
          <p:cNvPr id="29" name="Oval 28"/>
          <p:cNvSpPr/>
          <p:nvPr/>
        </p:nvSpPr>
        <p:spPr>
          <a:xfrm>
            <a:off x="3596563" y="4096512"/>
            <a:ext cx="91440" cy="91440"/>
          </a:xfrm>
          <a:prstGeom prst="ellipse">
            <a:avLst/>
          </a:prstGeom>
          <a:solidFill>
            <a:srgbClr val="C0612C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30" name="TextBox 29"/>
          <p:cNvSpPr txBox="1"/>
          <p:nvPr/>
        </p:nvSpPr>
        <p:spPr>
          <a:xfrm>
            <a:off x="3797731" y="3968496"/>
            <a:ext cx="1968931" cy="384048"/>
          </a:xfrm>
          <a:prstGeom prst="rect">
            <a:avLst/>
          </a:prstGeom>
          <a:noFill/>
        </p:spPr>
        <p:txBody>
          <a:bodyPr wrap="square" anchor="ctr" lIns="0" tIns="0" rIns="0" bIns="0">
            <a:noAutofit/>
          </a:bodyPr>
          <a:lstStyle/>
          <a:p>
            <a:pPr algn="l" latinLnBrk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050" b="0">
                <a:solidFill>
                  <a:srgbClr val="35424F"/>
                </a:solidFill>
                <a:latin typeface="Microsoft YaHei"/>
                <a:ea typeface="Microsoft YaHei"/>
                <a:cs typeface="Microsoft YaHei"/>
              </a:rPr>
              <a:t>只用于定位</a:t>
            </a:r>
          </a:p>
        </p:txBody>
      </p:sp>
      <p:sp>
        <p:nvSpPr>
          <p:cNvPr id="31" name="Oval 30"/>
          <p:cNvSpPr/>
          <p:nvPr/>
        </p:nvSpPr>
        <p:spPr>
          <a:xfrm>
            <a:off x="3596563" y="4480560"/>
            <a:ext cx="91440" cy="91440"/>
          </a:xfrm>
          <a:prstGeom prst="ellipse">
            <a:avLst/>
          </a:prstGeom>
          <a:solidFill>
            <a:srgbClr val="C0612C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32" name="TextBox 31"/>
          <p:cNvSpPr txBox="1"/>
          <p:nvPr/>
        </p:nvSpPr>
        <p:spPr>
          <a:xfrm>
            <a:off x="3797731" y="4352544"/>
            <a:ext cx="1968931" cy="384048"/>
          </a:xfrm>
          <a:prstGeom prst="rect">
            <a:avLst/>
          </a:prstGeom>
          <a:noFill/>
        </p:spPr>
        <p:txBody>
          <a:bodyPr wrap="square" anchor="ctr" lIns="0" tIns="0" rIns="0" bIns="0">
            <a:noAutofit/>
          </a:bodyPr>
          <a:lstStyle/>
          <a:p>
            <a:pPr algn="l" latinLnBrk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050" b="0">
                <a:solidFill>
                  <a:srgbClr val="35424F"/>
                </a:solidFill>
                <a:latin typeface="Microsoft YaHei"/>
                <a:ea typeface="Microsoft YaHei"/>
                <a:cs typeface="Microsoft YaHei"/>
              </a:rPr>
              <a:t>不参与收益计算</a:t>
            </a:r>
          </a:p>
        </p:txBody>
      </p:sp>
      <p:cxnSp>
        <p:nvCxnSpPr>
          <p:cNvPr id="33" name="Connector 32"/>
          <p:cNvCxnSpPr/>
          <p:nvPr/>
        </p:nvCxnSpPr>
        <p:spPr>
          <a:xfrm>
            <a:off x="3194227" y="3950208"/>
            <a:ext cx="146304" cy="0"/>
          </a:xfrm>
          <a:prstGeom prst="line">
            <a:avLst/>
          </a:prstGeom>
          <a:ln w="15875">
            <a:solidFill>
              <a:srgbClr val="C0612C"/>
            </a:solidFill>
            <a:tailEnd type="triangle" w="med" len="med"/>
          </a:ln>
        </p:spPr>
      </p:cxnSp>
      <p:sp>
        <p:nvSpPr>
          <p:cNvPr id="34" name="Rectangle 33"/>
          <p:cNvSpPr/>
          <p:nvPr/>
        </p:nvSpPr>
        <p:spPr>
          <a:xfrm>
            <a:off x="6205575" y="3017520"/>
            <a:ext cx="2609011" cy="1865376"/>
          </a:xfrm>
          <a:prstGeom prst="rect">
            <a:avLst/>
          </a:prstGeom>
          <a:solidFill>
            <a:srgbClr val="F6F7F9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35" name="Oval 34"/>
          <p:cNvSpPr/>
          <p:nvPr/>
        </p:nvSpPr>
        <p:spPr>
          <a:xfrm>
            <a:off x="6425031" y="3163824"/>
            <a:ext cx="310896" cy="310896"/>
          </a:xfrm>
          <a:prstGeom prst="ellipse">
            <a:avLst/>
          </a:prstGeom>
          <a:solidFill>
            <a:srgbClr val="C0612C"/>
          </a:solidFill>
          <a:ln>
            <a:noFill/>
          </a:ln>
        </p:spPr>
        <p:txBody>
          <a:bodyPr rtlCol="0" anchor="ctr" wrap="square" lIns="0" tIns="0" rIns="0" bIns="0">
            <a:noAutofit/>
          </a:bodyPr>
          <a:lstStyle/>
          <a:p>
            <a:pPr algn="ctr" latinLnBrk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200" b="1">
                <a:solidFill>
                  <a:srgbClr val="FFFFFF"/>
                </a:solidFill>
                <a:latin typeface="Arial"/>
                <a:ea typeface="Microsoft YaHei"/>
                <a:cs typeface="Microsoft YaHei"/>
              </a:rPr>
              <a:t>C</a:t>
            </a:r>
          </a:p>
        </p:txBody>
      </p:sp>
      <p:sp>
        <p:nvSpPr>
          <p:cNvPr id="36" name="TextBox 35"/>
          <p:cNvSpPr txBox="1"/>
          <p:nvPr/>
        </p:nvSpPr>
        <p:spPr>
          <a:xfrm>
            <a:off x="6809079" y="3145536"/>
            <a:ext cx="1786051" cy="292608"/>
          </a:xfrm>
          <a:prstGeom prst="rect">
            <a:avLst/>
          </a:prstGeom>
          <a:noFill/>
        </p:spPr>
        <p:txBody>
          <a:bodyPr wrap="square" anchor="ctr" lIns="0" tIns="0" rIns="0" bIns="0">
            <a:noAutofit/>
          </a:bodyPr>
          <a:lstStyle/>
          <a:p>
            <a:pPr algn="l" latinLnBrk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300" b="1">
                <a:solidFill>
                  <a:srgbClr val="16202A"/>
                </a:solidFill>
                <a:latin typeface="Microsoft YaHei"/>
                <a:ea typeface="Microsoft YaHei"/>
                <a:cs typeface="Microsoft YaHei"/>
              </a:rPr>
              <a:t>候选迭代</a:t>
            </a:r>
          </a:p>
        </p:txBody>
      </p:sp>
      <p:sp>
        <p:nvSpPr>
          <p:cNvPr id="37" name="Oval 36"/>
          <p:cNvSpPr/>
          <p:nvPr/>
        </p:nvSpPr>
        <p:spPr>
          <a:xfrm>
            <a:off x="6425031" y="3712464"/>
            <a:ext cx="91440" cy="91440"/>
          </a:xfrm>
          <a:prstGeom prst="ellipse">
            <a:avLst/>
          </a:prstGeom>
          <a:solidFill>
            <a:srgbClr val="C0612C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38" name="TextBox 37"/>
          <p:cNvSpPr txBox="1"/>
          <p:nvPr/>
        </p:nvSpPr>
        <p:spPr>
          <a:xfrm>
            <a:off x="6626199" y="3584448"/>
            <a:ext cx="1968931" cy="384048"/>
          </a:xfrm>
          <a:prstGeom prst="rect">
            <a:avLst/>
          </a:prstGeom>
          <a:noFill/>
        </p:spPr>
        <p:txBody>
          <a:bodyPr wrap="square" anchor="ctr" lIns="0" tIns="0" rIns="0" bIns="0">
            <a:noAutofit/>
          </a:bodyPr>
          <a:lstStyle/>
          <a:p>
            <a:pPr algn="l" latinLnBrk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050" b="0">
                <a:solidFill>
                  <a:srgbClr val="35424F"/>
                </a:solidFill>
                <a:latin typeface="Microsoft YaHei"/>
                <a:ea typeface="Microsoft YaHei"/>
                <a:cs typeface="Microsoft YaHei"/>
              </a:rPr>
              <a:t>预算 &gt; 预留 + 180s 才继续</a:t>
            </a:r>
          </a:p>
        </p:txBody>
      </p:sp>
      <p:sp>
        <p:nvSpPr>
          <p:cNvPr id="39" name="Oval 38"/>
          <p:cNvSpPr/>
          <p:nvPr/>
        </p:nvSpPr>
        <p:spPr>
          <a:xfrm>
            <a:off x="6425031" y="4096512"/>
            <a:ext cx="91440" cy="91440"/>
          </a:xfrm>
          <a:prstGeom prst="ellipse">
            <a:avLst/>
          </a:prstGeom>
          <a:solidFill>
            <a:srgbClr val="C0612C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40" name="TextBox 39"/>
          <p:cNvSpPr txBox="1"/>
          <p:nvPr/>
        </p:nvSpPr>
        <p:spPr>
          <a:xfrm>
            <a:off x="6626199" y="3968496"/>
            <a:ext cx="1968931" cy="384048"/>
          </a:xfrm>
          <a:prstGeom prst="rect">
            <a:avLst/>
          </a:prstGeom>
          <a:noFill/>
        </p:spPr>
        <p:txBody>
          <a:bodyPr wrap="square" anchor="ctr" lIns="0" tIns="0" rIns="0" bIns="0">
            <a:noAutofit/>
          </a:bodyPr>
          <a:lstStyle/>
          <a:p>
            <a:pPr algn="l" latinLnBrk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050" b="0">
                <a:solidFill>
                  <a:srgbClr val="35424F"/>
                </a:solidFill>
                <a:latin typeface="Microsoft YaHei"/>
                <a:ea typeface="Microsoft YaHei"/>
                <a:cs typeface="Microsoft YaHei"/>
              </a:rPr>
              <a:t>实验累计上限 6 个</a:t>
            </a:r>
          </a:p>
        </p:txBody>
      </p:sp>
      <p:sp>
        <p:nvSpPr>
          <p:cNvPr id="41" name="Oval 40"/>
          <p:cNvSpPr/>
          <p:nvPr/>
        </p:nvSpPr>
        <p:spPr>
          <a:xfrm>
            <a:off x="6425031" y="4480560"/>
            <a:ext cx="91440" cy="91440"/>
          </a:xfrm>
          <a:prstGeom prst="ellipse">
            <a:avLst/>
          </a:prstGeom>
          <a:solidFill>
            <a:srgbClr val="C0612C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42" name="TextBox 41"/>
          <p:cNvSpPr txBox="1"/>
          <p:nvPr/>
        </p:nvSpPr>
        <p:spPr>
          <a:xfrm>
            <a:off x="6626199" y="4352544"/>
            <a:ext cx="1968931" cy="384048"/>
          </a:xfrm>
          <a:prstGeom prst="rect">
            <a:avLst/>
          </a:prstGeom>
          <a:noFill/>
        </p:spPr>
        <p:txBody>
          <a:bodyPr wrap="square" anchor="ctr" lIns="0" tIns="0" rIns="0" bIns="0">
            <a:noAutofit/>
          </a:bodyPr>
          <a:lstStyle/>
          <a:p>
            <a:pPr algn="l" latinLnBrk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050" b="0">
                <a:solidFill>
                  <a:srgbClr val="35424F"/>
                </a:solidFill>
                <a:latin typeface="Microsoft YaHei"/>
                <a:ea typeface="Microsoft YaHei"/>
                <a:cs typeface="Microsoft YaHei"/>
              </a:rPr>
              <a:t>连续 3 个无收益即停</a:t>
            </a:r>
          </a:p>
        </p:txBody>
      </p:sp>
      <p:cxnSp>
        <p:nvCxnSpPr>
          <p:cNvPr id="43" name="Connector 42"/>
          <p:cNvCxnSpPr/>
          <p:nvPr/>
        </p:nvCxnSpPr>
        <p:spPr>
          <a:xfrm>
            <a:off x="6022695" y="3950208"/>
            <a:ext cx="146304" cy="0"/>
          </a:xfrm>
          <a:prstGeom prst="line">
            <a:avLst/>
          </a:prstGeom>
          <a:ln w="15875">
            <a:solidFill>
              <a:srgbClr val="C0612C"/>
            </a:solidFill>
            <a:tailEnd type="triangle" w="med" len="med"/>
          </a:ln>
        </p:spPr>
      </p:cxnSp>
      <p:sp>
        <p:nvSpPr>
          <p:cNvPr id="44" name="Rectangle 43"/>
          <p:cNvSpPr/>
          <p:nvPr/>
        </p:nvSpPr>
        <p:spPr>
          <a:xfrm>
            <a:off x="9034043" y="3017520"/>
            <a:ext cx="2609011" cy="1865376"/>
          </a:xfrm>
          <a:prstGeom prst="rect">
            <a:avLst/>
          </a:prstGeom>
          <a:solidFill>
            <a:srgbClr val="F6F7F9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45" name="Oval 44"/>
          <p:cNvSpPr/>
          <p:nvPr/>
        </p:nvSpPr>
        <p:spPr>
          <a:xfrm>
            <a:off x="9253499" y="3163824"/>
            <a:ext cx="310896" cy="310896"/>
          </a:xfrm>
          <a:prstGeom prst="ellipse">
            <a:avLst/>
          </a:prstGeom>
          <a:solidFill>
            <a:srgbClr val="C0612C"/>
          </a:solidFill>
          <a:ln>
            <a:noFill/>
          </a:ln>
        </p:spPr>
        <p:txBody>
          <a:bodyPr rtlCol="0" anchor="ctr" wrap="square" lIns="0" tIns="0" rIns="0" bIns="0">
            <a:noAutofit/>
          </a:bodyPr>
          <a:lstStyle/>
          <a:p>
            <a:pPr algn="ctr" latinLnBrk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200" b="1">
                <a:solidFill>
                  <a:srgbClr val="FFFFFF"/>
                </a:solidFill>
                <a:latin typeface="Arial"/>
                <a:ea typeface="Microsoft YaHei"/>
                <a:cs typeface="Microsoft YaHei"/>
              </a:rPr>
              <a:t>D</a:t>
            </a:r>
          </a:p>
        </p:txBody>
      </p:sp>
      <p:sp>
        <p:nvSpPr>
          <p:cNvPr id="46" name="TextBox 45"/>
          <p:cNvSpPr txBox="1"/>
          <p:nvPr/>
        </p:nvSpPr>
        <p:spPr>
          <a:xfrm>
            <a:off x="9637547" y="3145536"/>
            <a:ext cx="1786051" cy="292608"/>
          </a:xfrm>
          <a:prstGeom prst="rect">
            <a:avLst/>
          </a:prstGeom>
          <a:noFill/>
        </p:spPr>
        <p:txBody>
          <a:bodyPr wrap="square" anchor="ctr" lIns="0" tIns="0" rIns="0" bIns="0">
            <a:noAutofit/>
          </a:bodyPr>
          <a:lstStyle/>
          <a:p>
            <a:pPr algn="l" latinLnBrk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300" b="1">
                <a:solidFill>
                  <a:srgbClr val="16202A"/>
                </a:solidFill>
                <a:latin typeface="Microsoft YaHei"/>
                <a:ea typeface="Microsoft YaHei"/>
                <a:cs typeface="Microsoft YaHei"/>
              </a:rPr>
              <a:t>最终复验</a:t>
            </a:r>
          </a:p>
        </p:txBody>
      </p:sp>
      <p:sp>
        <p:nvSpPr>
          <p:cNvPr id="47" name="Oval 46"/>
          <p:cNvSpPr/>
          <p:nvPr/>
        </p:nvSpPr>
        <p:spPr>
          <a:xfrm>
            <a:off x="9253499" y="3712464"/>
            <a:ext cx="91440" cy="91440"/>
          </a:xfrm>
          <a:prstGeom prst="ellipse">
            <a:avLst/>
          </a:prstGeom>
          <a:solidFill>
            <a:srgbClr val="C0612C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48" name="TextBox 47"/>
          <p:cNvSpPr txBox="1"/>
          <p:nvPr/>
        </p:nvSpPr>
        <p:spPr>
          <a:xfrm>
            <a:off x="9454667" y="3584448"/>
            <a:ext cx="1968931" cy="384048"/>
          </a:xfrm>
          <a:prstGeom prst="rect">
            <a:avLst/>
          </a:prstGeom>
          <a:noFill/>
        </p:spPr>
        <p:txBody>
          <a:bodyPr wrap="square" anchor="ctr" lIns="0" tIns="0" rIns="0" bIns="0">
            <a:noAutofit/>
          </a:bodyPr>
          <a:lstStyle/>
          <a:p>
            <a:pPr algn="l" latinLnBrk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050" b="0">
                <a:solidFill>
                  <a:srgbClr val="35424F"/>
                </a:solidFill>
                <a:latin typeface="Microsoft YaHei"/>
                <a:ea typeface="Microsoft YaHei"/>
                <a:cs typeface="Microsoft YaHei"/>
              </a:rPr>
              <a:t>先重测基线（只测性能）</a:t>
            </a:r>
          </a:p>
        </p:txBody>
      </p:sp>
      <p:sp>
        <p:nvSpPr>
          <p:cNvPr id="49" name="Oval 48"/>
          <p:cNvSpPr/>
          <p:nvPr/>
        </p:nvSpPr>
        <p:spPr>
          <a:xfrm>
            <a:off x="9253499" y="4096512"/>
            <a:ext cx="91440" cy="91440"/>
          </a:xfrm>
          <a:prstGeom prst="ellipse">
            <a:avLst/>
          </a:prstGeom>
          <a:solidFill>
            <a:srgbClr val="C0612C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50" name="TextBox 49"/>
          <p:cNvSpPr txBox="1"/>
          <p:nvPr/>
        </p:nvSpPr>
        <p:spPr>
          <a:xfrm>
            <a:off x="9454667" y="3968496"/>
            <a:ext cx="1968931" cy="384048"/>
          </a:xfrm>
          <a:prstGeom prst="rect">
            <a:avLst/>
          </a:prstGeom>
          <a:noFill/>
        </p:spPr>
        <p:txBody>
          <a:bodyPr wrap="square" anchor="ctr" lIns="0" tIns="0" rIns="0" bIns="0">
            <a:noAutofit/>
          </a:bodyPr>
          <a:lstStyle/>
          <a:p>
            <a:pPr algn="l" latinLnBrk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050" b="0">
                <a:solidFill>
                  <a:srgbClr val="35424F"/>
                </a:solidFill>
                <a:latin typeface="Microsoft YaHei"/>
                <a:ea typeface="Microsoft YaHei"/>
                <a:cs typeface="Microsoft YaHei"/>
              </a:rPr>
              <a:t>每个候选做全量复验</a:t>
            </a:r>
          </a:p>
        </p:txBody>
      </p:sp>
      <p:sp>
        <p:nvSpPr>
          <p:cNvPr id="51" name="Oval 50"/>
          <p:cNvSpPr/>
          <p:nvPr/>
        </p:nvSpPr>
        <p:spPr>
          <a:xfrm>
            <a:off x="9253499" y="4480560"/>
            <a:ext cx="91440" cy="91440"/>
          </a:xfrm>
          <a:prstGeom prst="ellipse">
            <a:avLst/>
          </a:prstGeom>
          <a:solidFill>
            <a:srgbClr val="C0612C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52" name="TextBox 51"/>
          <p:cNvSpPr txBox="1"/>
          <p:nvPr/>
        </p:nvSpPr>
        <p:spPr>
          <a:xfrm>
            <a:off x="9454667" y="4352544"/>
            <a:ext cx="1968931" cy="384048"/>
          </a:xfrm>
          <a:prstGeom prst="rect">
            <a:avLst/>
          </a:prstGeom>
          <a:noFill/>
        </p:spPr>
        <p:txBody>
          <a:bodyPr wrap="square" anchor="ctr" lIns="0" tIns="0" rIns="0" bIns="0">
            <a:noAutofit/>
          </a:bodyPr>
          <a:lstStyle/>
          <a:p>
            <a:pPr algn="l" latinLnBrk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050" b="0">
                <a:solidFill>
                  <a:srgbClr val="35424F"/>
                </a:solidFill>
                <a:latin typeface="Microsoft YaHei"/>
                <a:ea typeface="Microsoft YaHei"/>
                <a:cs typeface="Microsoft YaHei"/>
              </a:rPr>
              <a:t>两个基线都提升才算收益</a:t>
            </a:r>
          </a:p>
        </p:txBody>
      </p:sp>
      <p:cxnSp>
        <p:nvCxnSpPr>
          <p:cNvPr id="53" name="Connector 52"/>
          <p:cNvCxnSpPr/>
          <p:nvPr/>
        </p:nvCxnSpPr>
        <p:spPr>
          <a:xfrm>
            <a:off x="8851163" y="3950208"/>
            <a:ext cx="146304" cy="0"/>
          </a:xfrm>
          <a:prstGeom prst="line">
            <a:avLst/>
          </a:prstGeom>
          <a:ln w="15875">
            <a:solidFill>
              <a:srgbClr val="C0612C"/>
            </a:solidFill>
            <a:tailEnd type="triangle" w="med" len="med"/>
          </a:ln>
        </p:spPr>
      </p:cxnSp>
      <p:sp>
        <p:nvSpPr>
          <p:cNvPr id="54" name="Rectangle 53"/>
          <p:cNvSpPr/>
          <p:nvPr/>
        </p:nvSpPr>
        <p:spPr>
          <a:xfrm>
            <a:off x="548640" y="5047488"/>
            <a:ext cx="11094415" cy="932688"/>
          </a:xfrm>
          <a:prstGeom prst="rect">
            <a:avLst/>
          </a:prstGeom>
          <a:solidFill>
            <a:srgbClr val="F8EADF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55" name="Rectangle 54"/>
          <p:cNvSpPr/>
          <p:nvPr/>
        </p:nvSpPr>
        <p:spPr>
          <a:xfrm>
            <a:off x="548640" y="5047488"/>
            <a:ext cx="64008" cy="932688"/>
          </a:xfrm>
          <a:prstGeom prst="rect">
            <a:avLst/>
          </a:prstGeom>
          <a:solidFill>
            <a:srgbClr val="C0612C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56" name="TextBox 55"/>
          <p:cNvSpPr txBox="1"/>
          <p:nvPr/>
        </p:nvSpPr>
        <p:spPr>
          <a:xfrm>
            <a:off x="859536" y="5157216"/>
            <a:ext cx="10454335" cy="365760"/>
          </a:xfrm>
          <a:prstGeom prst="rect">
            <a:avLst/>
          </a:prstGeom>
          <a:noFill/>
        </p:spPr>
        <p:txBody>
          <a:bodyPr wrap="square" anchor="ctr" lIns="0" tIns="0" rIns="0" bIns="0">
            <a:noAutofit/>
          </a:bodyPr>
          <a:lstStyle/>
          <a:p>
            <a:pPr algn="l" latinLnBrk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200" b="1">
                <a:solidFill>
                  <a:srgbClr val="C0612C"/>
                </a:solidFill>
                <a:latin typeface="Consolas"/>
                <a:ea typeface="Microsoft YaHei"/>
                <a:cs typeface="Microsoft YaHei"/>
              </a:rPr>
              <a:t>关键区分　</a:t>
            </a:r>
            <a:r>
              <a:rPr sz="1600" b="1">
                <a:solidFill>
                  <a:srgbClr val="16202A"/>
                </a:solidFill>
                <a:latin typeface="Microsoft YaHei"/>
                <a:ea typeface="Microsoft YaHei"/>
                <a:cs typeface="Microsoft YaHei"/>
              </a:rPr>
              <a:t>筛选收益 ≠ 交付收益</a:t>
            </a:r>
          </a:p>
        </p:txBody>
      </p:sp>
      <p:sp>
        <p:nvSpPr>
          <p:cNvPr id="57" name="TextBox 56"/>
          <p:cNvSpPr txBox="1"/>
          <p:nvPr/>
        </p:nvSpPr>
        <p:spPr>
          <a:xfrm>
            <a:off x="859536" y="5632703"/>
            <a:ext cx="10454335" cy="274320"/>
          </a:xfrm>
          <a:prstGeom prst="rect">
            <a:avLst/>
          </a:prstGeom>
          <a:noFill/>
        </p:spPr>
        <p:txBody>
          <a:bodyPr wrap="square" anchor="ctr" lIns="0" tIns="0" rIns="0" bIns="0">
            <a:noAutofit/>
          </a:bodyPr>
          <a:lstStyle/>
          <a:p>
            <a:pPr algn="l" latinLnBrk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150" b="0">
                <a:solidFill>
                  <a:srgbClr val="35424F"/>
                </a:solidFill>
                <a:latin typeface="Microsoft YaHei"/>
                <a:ea typeface="Microsoft YaHei"/>
                <a:cs typeface="Microsoft YaHei"/>
              </a:rPr>
              <a:t>相对初始基线与重测基线都提升才算 verified_gain；否则保留基线，报告不宣称加速</a:t>
            </a:r>
          </a:p>
        </p:txBody>
      </p:sp>
      <p:sp>
        <p:nvSpPr>
          <p:cNvPr id="58" name="TextBox 57"/>
          <p:cNvSpPr txBox="1"/>
          <p:nvPr/>
        </p:nvSpPr>
        <p:spPr>
          <a:xfrm>
            <a:off x="548640" y="6382512"/>
            <a:ext cx="9722815" cy="256032"/>
          </a:xfrm>
          <a:prstGeom prst="rect">
            <a:avLst/>
          </a:prstGeom>
          <a:noFill/>
        </p:spPr>
        <p:txBody>
          <a:bodyPr wrap="square" anchor="ctr" lIns="0" tIns="0" rIns="0" bIns="0">
            <a:noAutofit/>
          </a:bodyPr>
          <a:lstStyle/>
          <a:p>
            <a:pPr algn="l" latinLnBrk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000" b="0">
                <a:solidFill>
                  <a:srgbClr val="66727F"/>
                </a:solidFill>
                <a:latin typeface="Microsoft YaHei"/>
                <a:ea typeface="Microsoft YaHei"/>
                <a:cs typeface="Microsoft YaHei"/>
              </a:rPr>
              <a:t>三条线结构同构，底座模块共享：改一条线的口径，三条线一起变；预算 36000s，最终复验预留 600s</a:t>
            </a:r>
          </a:p>
        </p:txBody>
      </p:sp>
      <p:sp>
        <p:nvSpPr>
          <p:cNvPr id="59" name="TextBox 58"/>
          <p:cNvSpPr txBox="1"/>
          <p:nvPr/>
        </p:nvSpPr>
        <p:spPr>
          <a:xfrm>
            <a:off x="10362895" y="6382512"/>
            <a:ext cx="1280160" cy="256032"/>
          </a:xfrm>
          <a:prstGeom prst="rect">
            <a:avLst/>
          </a:prstGeom>
          <a:noFill/>
        </p:spPr>
        <p:txBody>
          <a:bodyPr wrap="square" anchor="ctr" lIns="0" tIns="0" rIns="0" bIns="0">
            <a:noAutofit/>
          </a:bodyPr>
          <a:lstStyle/>
          <a:p>
            <a:pPr algn="r" latinLnBrk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000" b="0">
                <a:solidFill>
                  <a:srgbClr val="66727F"/>
                </a:solidFill>
                <a:latin typeface="Consolas"/>
                <a:ea typeface="Microsoft YaHei"/>
                <a:cs typeface="Microsoft YaHei"/>
              </a:rPr>
              <a:t>Agent 框架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48640" y="384048"/>
            <a:ext cx="8229600" cy="292608"/>
          </a:xfrm>
          <a:prstGeom prst="rect">
            <a:avLst/>
          </a:prstGeom>
          <a:noFill/>
        </p:spPr>
        <p:txBody>
          <a:bodyPr wrap="square" anchor="ctr" lIns="0" tIns="0" rIns="0" bIns="0">
            <a:noAutofit/>
          </a:bodyPr>
          <a:lstStyle/>
          <a:p>
            <a:pPr algn="l" latinLnBrk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100" b="1">
                <a:solidFill>
                  <a:srgbClr val="C0612C"/>
                </a:solidFill>
                <a:latin typeface="Consolas"/>
                <a:ea typeface="Microsoft YaHei"/>
                <a:cs typeface="Microsoft YaHei"/>
              </a:rPr>
              <a:t>AGENT 门禁 · 凭什么信这些数字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48640" y="731520"/>
            <a:ext cx="11094415" cy="530352"/>
          </a:xfrm>
          <a:prstGeom prst="rect">
            <a:avLst/>
          </a:prstGeom>
          <a:noFill/>
        </p:spPr>
        <p:txBody>
          <a:bodyPr wrap="square" anchor="ctr" lIns="0" tIns="0" rIns="0" bIns="0">
            <a:noAutofit/>
          </a:bodyPr>
          <a:lstStyle/>
          <a:p>
            <a:pPr algn="l" latinLnBrk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2500" b="1">
                <a:solidFill>
                  <a:srgbClr val="16202A"/>
                </a:solidFill>
                <a:latin typeface="Microsoft YaHei"/>
                <a:ea typeface="Microsoft YaHei"/>
                <a:cs typeface="Microsoft YaHei"/>
              </a:rPr>
              <a:t>三道门的判据都是固定阈值，不由模型解释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48640" y="1261872"/>
            <a:ext cx="11094415" cy="329184"/>
          </a:xfrm>
          <a:prstGeom prst="rect">
            <a:avLst/>
          </a:prstGeom>
          <a:noFill/>
        </p:spPr>
        <p:txBody>
          <a:bodyPr wrap="square" anchor="ctr" lIns="0" tIns="0" rIns="0" bIns="0">
            <a:noAutofit/>
          </a:bodyPr>
          <a:lstStyle/>
          <a:p>
            <a:pPr algn="l" latinLnBrk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300" b="0">
                <a:solidFill>
                  <a:srgbClr val="66727F"/>
                </a:solidFill>
                <a:latin typeface="Microsoft YaHei"/>
                <a:ea typeface="Microsoft YaHei"/>
                <a:cs typeface="Microsoft YaHei"/>
              </a:rPr>
              <a:t>顺序由便宜到贵，任一道不过立即返回；LLM 只负责提候选，无权解释结果</a:t>
            </a:r>
          </a:p>
        </p:txBody>
      </p:sp>
      <p:sp>
        <p:nvSpPr>
          <p:cNvPr id="5" name="Rectangle 4"/>
          <p:cNvSpPr/>
          <p:nvPr/>
        </p:nvSpPr>
        <p:spPr>
          <a:xfrm>
            <a:off x="548640" y="1755648"/>
            <a:ext cx="3539642" cy="1993392"/>
          </a:xfrm>
          <a:prstGeom prst="rect">
            <a:avLst/>
          </a:prstGeom>
          <a:solidFill>
            <a:srgbClr val="F6F7F9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768096" y="1865376"/>
            <a:ext cx="3100730" cy="310896"/>
          </a:xfrm>
          <a:prstGeom prst="rect">
            <a:avLst/>
          </a:prstGeom>
          <a:noFill/>
        </p:spPr>
        <p:txBody>
          <a:bodyPr wrap="square" anchor="ctr" lIns="0" tIns="0" rIns="0" bIns="0">
            <a:noAutofit/>
          </a:bodyPr>
          <a:lstStyle/>
          <a:p>
            <a:pPr algn="l" latinLnBrk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200" b="1">
                <a:solidFill>
                  <a:srgbClr val="C0612C"/>
                </a:solidFill>
                <a:latin typeface="Microsoft YaHei"/>
                <a:ea typeface="Microsoft YaHei"/>
                <a:cs typeface="Microsoft YaHei"/>
              </a:rPr>
              <a:t>① </a:t>
            </a:r>
            <a:r>
              <a:rPr sz="1350" b="1">
                <a:solidFill>
                  <a:srgbClr val="16202A"/>
                </a:solidFill>
                <a:latin typeface="Microsoft YaHei"/>
                <a:ea typeface="Microsoft YaHei"/>
                <a:cs typeface="Microsoft YaHei"/>
              </a:rPr>
              <a:t>数值门</a:t>
            </a:r>
            <a:r>
              <a:rPr sz="1000" b="0">
                <a:solidFill>
                  <a:srgbClr val="66727F"/>
                </a:solidFill>
                <a:latin typeface="Consolas"/>
                <a:ea typeface="Microsoft YaHei"/>
                <a:cs typeface="Microsoft YaHei"/>
              </a:rPr>
              <a:t>　check_numerics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768096" y="2267712"/>
            <a:ext cx="640080" cy="420624"/>
          </a:xfrm>
          <a:prstGeom prst="rect">
            <a:avLst/>
          </a:prstGeom>
          <a:noFill/>
        </p:spPr>
        <p:txBody>
          <a:bodyPr wrap="square" anchor="ctr" lIns="0" tIns="0" rIns="0" bIns="0">
            <a:noAutofit/>
          </a:bodyPr>
          <a:lstStyle/>
          <a:p>
            <a:pPr algn="l" latinLnBrk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050" b="1">
                <a:solidFill>
                  <a:srgbClr val="C0612C"/>
                </a:solidFill>
                <a:latin typeface="Microsoft YaHei"/>
                <a:ea typeface="Microsoft YaHei"/>
                <a:cs typeface="Microsoft YaHei"/>
              </a:rPr>
              <a:t>探针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426464" y="2267712"/>
            <a:ext cx="2442362" cy="420624"/>
          </a:xfrm>
          <a:prstGeom prst="rect">
            <a:avLst/>
          </a:prstGeom>
          <a:noFill/>
        </p:spPr>
        <p:txBody>
          <a:bodyPr wrap="square" anchor="ctr" lIns="0" tIns="0" rIns="0" bIns="0">
            <a:noAutofit/>
          </a:bodyPr>
          <a:lstStyle/>
          <a:p>
            <a:pPr algn="l" latinLnBrk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050" b="0">
                <a:solidFill>
                  <a:srgbClr val="35424F"/>
                </a:solidFill>
                <a:latin typeface="Microsoft YaHei"/>
                <a:ea typeface="Microsoft YaHei"/>
                <a:cs typeface="Microsoft YaHei"/>
              </a:rPr>
              <a:t>3 段固定文本 teacher-forcing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768096" y="2724912"/>
            <a:ext cx="640080" cy="420624"/>
          </a:xfrm>
          <a:prstGeom prst="rect">
            <a:avLst/>
          </a:prstGeom>
          <a:noFill/>
        </p:spPr>
        <p:txBody>
          <a:bodyPr wrap="square" anchor="ctr" lIns="0" tIns="0" rIns="0" bIns="0">
            <a:noAutofit/>
          </a:bodyPr>
          <a:lstStyle/>
          <a:p>
            <a:pPr algn="l" latinLnBrk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050" b="1">
                <a:solidFill>
                  <a:srgbClr val="C0612C"/>
                </a:solidFill>
                <a:latin typeface="Microsoft YaHei"/>
                <a:ea typeface="Microsoft YaHei"/>
                <a:cs typeface="Microsoft YaHei"/>
              </a:rPr>
              <a:t>判据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426464" y="2724912"/>
            <a:ext cx="2442362" cy="420624"/>
          </a:xfrm>
          <a:prstGeom prst="rect">
            <a:avLst/>
          </a:prstGeom>
          <a:noFill/>
        </p:spPr>
        <p:txBody>
          <a:bodyPr wrap="square" anchor="ctr" lIns="0" tIns="0" rIns="0" bIns="0">
            <a:noAutofit/>
          </a:bodyPr>
          <a:lstStyle/>
          <a:p>
            <a:pPr algn="l" latinLnBrk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050" b="0">
                <a:solidFill>
                  <a:srgbClr val="35424F"/>
                </a:solidFill>
                <a:latin typeface="Microsoft YaHei"/>
                <a:ea typeface="Microsoft YaHei"/>
                <a:cs typeface="Microsoft YaHei"/>
              </a:rPr>
              <a:t>贪心 token 完全一致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768096" y="3182112"/>
            <a:ext cx="640080" cy="420624"/>
          </a:xfrm>
          <a:prstGeom prst="rect">
            <a:avLst/>
          </a:prstGeom>
          <a:noFill/>
        </p:spPr>
        <p:txBody>
          <a:bodyPr wrap="square" anchor="ctr" lIns="0" tIns="0" rIns="0" bIns="0">
            <a:noAutofit/>
          </a:bodyPr>
          <a:lstStyle/>
          <a:p>
            <a:pPr algn="l" latinLnBrk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050" b="1">
                <a:solidFill>
                  <a:srgbClr val="C0612C"/>
                </a:solidFill>
                <a:latin typeface="Microsoft YaHei"/>
                <a:ea typeface="Microsoft YaHei"/>
                <a:cs typeface="Microsoft YaHei"/>
              </a:rPr>
              <a:t>阈值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1426464" y="3182112"/>
            <a:ext cx="2442362" cy="420624"/>
          </a:xfrm>
          <a:prstGeom prst="rect">
            <a:avLst/>
          </a:prstGeom>
          <a:noFill/>
        </p:spPr>
        <p:txBody>
          <a:bodyPr wrap="square" anchor="ctr" lIns="0" tIns="0" rIns="0" bIns="0">
            <a:noAutofit/>
          </a:bodyPr>
          <a:lstStyle/>
          <a:p>
            <a:pPr algn="l" latinLnBrk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050" b="0">
                <a:solidFill>
                  <a:srgbClr val="35424F"/>
                </a:solidFill>
                <a:latin typeface="Microsoft YaHei"/>
                <a:ea typeface="Microsoft YaHei"/>
                <a:cs typeface="Microsoft YaHei"/>
              </a:rPr>
              <a:t>logprob 最大绝对差 ≤ 0.03</a:t>
            </a:r>
          </a:p>
        </p:txBody>
      </p:sp>
      <p:sp>
        <p:nvSpPr>
          <p:cNvPr id="13" name="Rectangle 12"/>
          <p:cNvSpPr/>
          <p:nvPr/>
        </p:nvSpPr>
        <p:spPr>
          <a:xfrm>
            <a:off x="4326026" y="1755648"/>
            <a:ext cx="3539642" cy="1993392"/>
          </a:xfrm>
          <a:prstGeom prst="rect">
            <a:avLst/>
          </a:prstGeom>
          <a:solidFill>
            <a:srgbClr val="F6F7F9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4545482" y="1865376"/>
            <a:ext cx="3100730" cy="310896"/>
          </a:xfrm>
          <a:prstGeom prst="rect">
            <a:avLst/>
          </a:prstGeom>
          <a:noFill/>
        </p:spPr>
        <p:txBody>
          <a:bodyPr wrap="square" anchor="ctr" lIns="0" tIns="0" rIns="0" bIns="0">
            <a:noAutofit/>
          </a:bodyPr>
          <a:lstStyle/>
          <a:p>
            <a:pPr algn="l" latinLnBrk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200" b="1">
                <a:solidFill>
                  <a:srgbClr val="C0612C"/>
                </a:solidFill>
                <a:latin typeface="Microsoft YaHei"/>
                <a:ea typeface="Microsoft YaHei"/>
                <a:cs typeface="Microsoft YaHei"/>
              </a:rPr>
              <a:t>② </a:t>
            </a:r>
            <a:r>
              <a:rPr sz="1350" b="1">
                <a:solidFill>
                  <a:srgbClr val="16202A"/>
                </a:solidFill>
                <a:latin typeface="Microsoft YaHei"/>
                <a:ea typeface="Microsoft YaHei"/>
                <a:cs typeface="Microsoft YaHei"/>
              </a:rPr>
              <a:t>质量门</a:t>
            </a:r>
            <a:r>
              <a:rPr sz="1000" b="0">
                <a:solidFill>
                  <a:srgbClr val="66727F"/>
                </a:solidFill>
                <a:latin typeface="Consolas"/>
                <a:ea typeface="Microsoft YaHei"/>
                <a:cs typeface="Microsoft YaHei"/>
              </a:rPr>
              <a:t>　check_quality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4545482" y="2267712"/>
            <a:ext cx="640080" cy="420624"/>
          </a:xfrm>
          <a:prstGeom prst="rect">
            <a:avLst/>
          </a:prstGeom>
          <a:noFill/>
        </p:spPr>
        <p:txBody>
          <a:bodyPr wrap="square" anchor="ctr" lIns="0" tIns="0" rIns="0" bIns="0">
            <a:noAutofit/>
          </a:bodyPr>
          <a:lstStyle/>
          <a:p>
            <a:pPr algn="l" latinLnBrk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050" b="1">
                <a:solidFill>
                  <a:srgbClr val="C0612C"/>
                </a:solidFill>
                <a:latin typeface="Microsoft YaHei"/>
                <a:ea typeface="Microsoft YaHei"/>
                <a:cs typeface="Microsoft YaHei"/>
              </a:rPr>
              <a:t>题集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5203850" y="2267712"/>
            <a:ext cx="2442362" cy="420624"/>
          </a:xfrm>
          <a:prstGeom prst="rect">
            <a:avLst/>
          </a:prstGeom>
          <a:noFill/>
        </p:spPr>
        <p:txBody>
          <a:bodyPr wrap="square" anchor="ctr" lIns="0" tIns="0" rIns="0" bIns="0">
            <a:noAutofit/>
          </a:bodyPr>
          <a:lstStyle/>
          <a:p>
            <a:pPr algn="l" latinLnBrk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050" b="0">
                <a:solidFill>
                  <a:srgbClr val="35424F"/>
                </a:solidFill>
                <a:latin typeface="Microsoft YaHei"/>
                <a:ea typeface="Microsoft YaHei"/>
                <a:cs typeface="Microsoft YaHei"/>
              </a:rPr>
              <a:t>MMStar 分层抽样 120 题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4545482" y="2724912"/>
            <a:ext cx="640080" cy="420624"/>
          </a:xfrm>
          <a:prstGeom prst="rect">
            <a:avLst/>
          </a:prstGeom>
          <a:noFill/>
        </p:spPr>
        <p:txBody>
          <a:bodyPr wrap="square" anchor="ctr" lIns="0" tIns="0" rIns="0" bIns="0">
            <a:noAutofit/>
          </a:bodyPr>
          <a:lstStyle/>
          <a:p>
            <a:pPr algn="l" latinLnBrk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050" b="1">
                <a:solidFill>
                  <a:srgbClr val="C0612C"/>
                </a:solidFill>
                <a:latin typeface="Microsoft YaHei"/>
                <a:ea typeface="Microsoft YaHei"/>
                <a:cs typeface="Microsoft YaHei"/>
              </a:rPr>
              <a:t>判据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5203850" y="2724912"/>
            <a:ext cx="2442362" cy="420624"/>
          </a:xfrm>
          <a:prstGeom prst="rect">
            <a:avLst/>
          </a:prstGeom>
          <a:noFill/>
        </p:spPr>
        <p:txBody>
          <a:bodyPr wrap="square" anchor="ctr" lIns="0" tIns="0" rIns="0" bIns="0">
            <a:noAutofit/>
          </a:bodyPr>
          <a:lstStyle/>
          <a:p>
            <a:pPr algn="l" latinLnBrk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050" b="0">
                <a:solidFill>
                  <a:srgbClr val="35424F"/>
                </a:solidFill>
                <a:latin typeface="Microsoft YaHei"/>
                <a:ea typeface="Microsoft YaHei"/>
                <a:cs typeface="Microsoft YaHei"/>
              </a:rPr>
              <a:t>正确率零下降，解析率不得降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4545482" y="3182112"/>
            <a:ext cx="640080" cy="420624"/>
          </a:xfrm>
          <a:prstGeom prst="rect">
            <a:avLst/>
          </a:prstGeom>
          <a:noFill/>
        </p:spPr>
        <p:txBody>
          <a:bodyPr wrap="square" anchor="ctr" lIns="0" tIns="0" rIns="0" bIns="0">
            <a:noAutofit/>
          </a:bodyPr>
          <a:lstStyle/>
          <a:p>
            <a:pPr algn="l" latinLnBrk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050" b="1">
                <a:solidFill>
                  <a:srgbClr val="C0612C"/>
                </a:solidFill>
                <a:latin typeface="Microsoft YaHei"/>
                <a:ea typeface="Microsoft YaHei"/>
                <a:cs typeface="Microsoft YaHei"/>
              </a:rPr>
              <a:t>硬拒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5203850" y="3182112"/>
            <a:ext cx="2442362" cy="420624"/>
          </a:xfrm>
          <a:prstGeom prst="rect">
            <a:avLst/>
          </a:prstGeom>
          <a:noFill/>
        </p:spPr>
        <p:txBody>
          <a:bodyPr wrap="square" anchor="ctr" lIns="0" tIns="0" rIns="0" bIns="0">
            <a:noAutofit/>
          </a:bodyPr>
          <a:lstStyle/>
          <a:p>
            <a:pPr algn="l" latinLnBrk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050" b="0">
                <a:solidFill>
                  <a:srgbClr val="35424F"/>
                </a:solidFill>
                <a:latin typeface="Microsoft YaHei"/>
                <a:ea typeface="Microsoft YaHei"/>
                <a:cs typeface="Microsoft YaHei"/>
              </a:rPr>
              <a:t>答不出选项一律记错</a:t>
            </a:r>
          </a:p>
        </p:txBody>
      </p:sp>
      <p:cxnSp>
        <p:nvCxnSpPr>
          <p:cNvPr id="21" name="Connector 20"/>
          <p:cNvCxnSpPr/>
          <p:nvPr/>
        </p:nvCxnSpPr>
        <p:spPr>
          <a:xfrm>
            <a:off x="4134002" y="2752344"/>
            <a:ext cx="146304" cy="0"/>
          </a:xfrm>
          <a:prstGeom prst="line">
            <a:avLst/>
          </a:prstGeom>
          <a:ln w="15875">
            <a:solidFill>
              <a:srgbClr val="C0612C"/>
            </a:solidFill>
            <a:tailEnd type="triangle" w="med" len="med"/>
          </a:ln>
        </p:spPr>
      </p:cxnSp>
      <p:sp>
        <p:nvSpPr>
          <p:cNvPr id="22" name="Rectangle 21"/>
          <p:cNvSpPr/>
          <p:nvPr/>
        </p:nvSpPr>
        <p:spPr>
          <a:xfrm>
            <a:off x="8103412" y="1755648"/>
            <a:ext cx="3539642" cy="1993392"/>
          </a:xfrm>
          <a:prstGeom prst="rect">
            <a:avLst/>
          </a:prstGeom>
          <a:solidFill>
            <a:srgbClr val="F6F7F9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23" name="TextBox 22"/>
          <p:cNvSpPr txBox="1"/>
          <p:nvPr/>
        </p:nvSpPr>
        <p:spPr>
          <a:xfrm>
            <a:off x="8322868" y="1865376"/>
            <a:ext cx="3100730" cy="310896"/>
          </a:xfrm>
          <a:prstGeom prst="rect">
            <a:avLst/>
          </a:prstGeom>
          <a:noFill/>
        </p:spPr>
        <p:txBody>
          <a:bodyPr wrap="square" anchor="ctr" lIns="0" tIns="0" rIns="0" bIns="0">
            <a:noAutofit/>
          </a:bodyPr>
          <a:lstStyle/>
          <a:p>
            <a:pPr algn="l" latinLnBrk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200" b="1">
                <a:solidFill>
                  <a:srgbClr val="C0612C"/>
                </a:solidFill>
                <a:latin typeface="Microsoft YaHei"/>
                <a:ea typeface="Microsoft YaHei"/>
                <a:cs typeface="Microsoft YaHei"/>
              </a:rPr>
              <a:t>③ </a:t>
            </a:r>
            <a:r>
              <a:rPr sz="1350" b="1">
                <a:solidFill>
                  <a:srgbClr val="16202A"/>
                </a:solidFill>
                <a:latin typeface="Microsoft YaHei"/>
                <a:ea typeface="Microsoft YaHei"/>
                <a:cs typeface="Microsoft YaHei"/>
              </a:rPr>
              <a:t>性能门</a:t>
            </a:r>
            <a:r>
              <a:rPr sz="1000" b="0">
                <a:solidFill>
                  <a:srgbClr val="66727F"/>
                </a:solidFill>
                <a:latin typeface="Consolas"/>
                <a:ea typeface="Microsoft YaHei"/>
                <a:cs typeface="Microsoft YaHei"/>
              </a:rPr>
              <a:t>　compare_performance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8322868" y="2267712"/>
            <a:ext cx="640080" cy="420624"/>
          </a:xfrm>
          <a:prstGeom prst="rect">
            <a:avLst/>
          </a:prstGeom>
          <a:noFill/>
        </p:spPr>
        <p:txBody>
          <a:bodyPr wrap="square" anchor="ctr" lIns="0" tIns="0" rIns="0" bIns="0">
            <a:noAutofit/>
          </a:bodyPr>
          <a:lstStyle/>
          <a:p>
            <a:pPr algn="l" latinLnBrk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050" b="1">
                <a:solidFill>
                  <a:srgbClr val="C0612C"/>
                </a:solidFill>
                <a:latin typeface="Microsoft YaHei"/>
                <a:ea typeface="Microsoft YaHei"/>
                <a:cs typeface="Microsoft YaHei"/>
              </a:rPr>
              <a:t>指标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8981236" y="2267712"/>
            <a:ext cx="2442362" cy="420624"/>
          </a:xfrm>
          <a:prstGeom prst="rect">
            <a:avLst/>
          </a:prstGeom>
          <a:noFill/>
        </p:spPr>
        <p:txBody>
          <a:bodyPr wrap="square" anchor="ctr" lIns="0" tIns="0" rIns="0" bIns="0">
            <a:noAutofit/>
          </a:bodyPr>
          <a:lstStyle/>
          <a:p>
            <a:pPr algn="l" latinLnBrk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050" b="0">
                <a:solidFill>
                  <a:srgbClr val="35424F"/>
                </a:solidFill>
                <a:latin typeface="Microsoft YaHei"/>
                <a:ea typeface="Microsoft YaHei"/>
                <a:cs typeface="Microsoft YaHei"/>
              </a:rPr>
              <a:t>吞吐 ↑，TTFT / TPOT / 延迟 p95 ↓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8322868" y="2724912"/>
            <a:ext cx="640080" cy="420624"/>
          </a:xfrm>
          <a:prstGeom prst="rect">
            <a:avLst/>
          </a:prstGeom>
          <a:noFill/>
        </p:spPr>
        <p:txBody>
          <a:bodyPr wrap="square" anchor="ctr" lIns="0" tIns="0" rIns="0" bIns="0">
            <a:noAutofit/>
          </a:bodyPr>
          <a:lstStyle/>
          <a:p>
            <a:pPr algn="l" latinLnBrk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050" b="1">
                <a:solidFill>
                  <a:srgbClr val="C0612C"/>
                </a:solidFill>
                <a:latin typeface="Microsoft YaHei"/>
                <a:ea typeface="Microsoft YaHei"/>
                <a:cs typeface="Microsoft YaHei"/>
              </a:rPr>
              <a:t>重复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8981236" y="2724912"/>
            <a:ext cx="2442362" cy="420624"/>
          </a:xfrm>
          <a:prstGeom prst="rect">
            <a:avLst/>
          </a:prstGeom>
          <a:noFill/>
        </p:spPr>
        <p:txBody>
          <a:bodyPr wrap="square" anchor="ctr" lIns="0" tIns="0" rIns="0" bIns="0">
            <a:noAutofit/>
          </a:bodyPr>
          <a:lstStyle/>
          <a:p>
            <a:pPr algn="l" latinLnBrk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050" b="0">
                <a:solidFill>
                  <a:srgbClr val="35424F"/>
                </a:solidFill>
                <a:latin typeface="Microsoft YaHei"/>
                <a:ea typeface="Microsoft YaHei"/>
                <a:cs typeface="Microsoft YaHei"/>
              </a:rPr>
              <a:t>每档 3 次取中位，记噪声极差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8322868" y="3182112"/>
            <a:ext cx="640080" cy="420624"/>
          </a:xfrm>
          <a:prstGeom prst="rect">
            <a:avLst/>
          </a:prstGeom>
          <a:noFill/>
        </p:spPr>
        <p:txBody>
          <a:bodyPr wrap="square" anchor="ctr" lIns="0" tIns="0" rIns="0" bIns="0">
            <a:noAutofit/>
          </a:bodyPr>
          <a:lstStyle/>
          <a:p>
            <a:pPr algn="l" latinLnBrk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050" b="1">
                <a:solidFill>
                  <a:srgbClr val="C0612C"/>
                </a:solidFill>
                <a:latin typeface="Microsoft YaHei"/>
                <a:ea typeface="Microsoft YaHei"/>
                <a:cs typeface="Microsoft YaHei"/>
              </a:rPr>
              <a:t>有效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8981236" y="3182112"/>
            <a:ext cx="2442362" cy="420624"/>
          </a:xfrm>
          <a:prstGeom prst="rect">
            <a:avLst/>
          </a:prstGeom>
          <a:noFill/>
        </p:spPr>
        <p:txBody>
          <a:bodyPr wrap="square" anchor="ctr" lIns="0" tIns="0" rIns="0" bIns="0">
            <a:noAutofit/>
          </a:bodyPr>
          <a:lstStyle/>
          <a:p>
            <a:pPr algn="l" latinLnBrk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050" b="0">
                <a:solidFill>
                  <a:srgbClr val="35424F"/>
                </a:solidFill>
                <a:latin typeface="Microsoft YaHei"/>
                <a:ea typeface="Microsoft YaHei"/>
                <a:cs typeface="Microsoft YaHei"/>
              </a:rPr>
              <a:t>回归 ≤ 5%，收益 &gt; 3% 且 &gt; 噪声</a:t>
            </a:r>
          </a:p>
        </p:txBody>
      </p:sp>
      <p:cxnSp>
        <p:nvCxnSpPr>
          <p:cNvPr id="30" name="Connector 29"/>
          <p:cNvCxnSpPr/>
          <p:nvPr/>
        </p:nvCxnSpPr>
        <p:spPr>
          <a:xfrm>
            <a:off x="7911388" y="2752344"/>
            <a:ext cx="146304" cy="0"/>
          </a:xfrm>
          <a:prstGeom prst="line">
            <a:avLst/>
          </a:prstGeom>
          <a:ln w="15875">
            <a:solidFill>
              <a:srgbClr val="C0612C"/>
            </a:solidFill>
            <a:tailEnd type="triangle" w="med" len="med"/>
          </a:ln>
        </p:spPr>
      </p:cxnSp>
      <p:sp>
        <p:nvSpPr>
          <p:cNvPr id="31" name="TextBox 30"/>
          <p:cNvSpPr txBox="1"/>
          <p:nvPr/>
        </p:nvSpPr>
        <p:spPr>
          <a:xfrm>
            <a:off x="548640" y="3895344"/>
            <a:ext cx="5364327" cy="274320"/>
          </a:xfrm>
          <a:prstGeom prst="rect">
            <a:avLst/>
          </a:prstGeom>
          <a:noFill/>
        </p:spPr>
        <p:txBody>
          <a:bodyPr wrap="square" anchor="ctr" lIns="0" tIns="0" rIns="0" bIns="0">
            <a:noAutofit/>
          </a:bodyPr>
          <a:lstStyle/>
          <a:p>
            <a:pPr algn="l" latinLnBrk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300" b="1">
                <a:solidFill>
                  <a:srgbClr val="16202A"/>
                </a:solidFill>
                <a:latin typeface="Microsoft YaHei"/>
                <a:ea typeface="Microsoft YaHei"/>
                <a:cs typeface="Microsoft YaHei"/>
              </a:rPr>
              <a:t>防作弊</a:t>
            </a:r>
            <a:r>
              <a:rPr sz="1050" b="0">
                <a:solidFill>
                  <a:srgbClr val="66727F"/>
                </a:solidFill>
                <a:latin typeface="Microsoft YaHei"/>
                <a:ea typeface="Microsoft YaHei"/>
                <a:cs typeface="Microsoft YaHei"/>
              </a:rPr>
              <a:t>　候选不能靠减少工作量换“变快”</a:t>
            </a:r>
          </a:p>
        </p:txBody>
      </p:sp>
      <p:sp>
        <p:nvSpPr>
          <p:cNvPr id="32" name="Oval 31"/>
          <p:cNvSpPr/>
          <p:nvPr/>
        </p:nvSpPr>
        <p:spPr>
          <a:xfrm>
            <a:off x="548640" y="4334256"/>
            <a:ext cx="91440" cy="91440"/>
          </a:xfrm>
          <a:prstGeom prst="ellipse">
            <a:avLst/>
          </a:prstGeom>
          <a:solidFill>
            <a:srgbClr val="C0612C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33" name="TextBox 32"/>
          <p:cNvSpPr txBox="1"/>
          <p:nvPr/>
        </p:nvSpPr>
        <p:spPr>
          <a:xfrm>
            <a:off x="749808" y="4224528"/>
            <a:ext cx="5163159" cy="347472"/>
          </a:xfrm>
          <a:prstGeom prst="rect">
            <a:avLst/>
          </a:prstGeom>
          <a:noFill/>
        </p:spPr>
        <p:txBody>
          <a:bodyPr wrap="square" anchor="ctr" lIns="0" tIns="0" rIns="0" bIns="0">
            <a:noAutofit/>
          </a:bodyPr>
          <a:lstStyle/>
          <a:p>
            <a:pPr algn="l" latinLnBrk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100" b="0">
                <a:solidFill>
                  <a:srgbClr val="35424F"/>
                </a:solidFill>
                <a:latin typeface="Microsoft YaHei"/>
                <a:ea typeface="Microsoft YaHei"/>
                <a:cs typeface="Microsoft YaHei"/>
              </a:rPr>
              <a:t>prompt_tokens 必须等于冻结的 input_tokens</a:t>
            </a:r>
          </a:p>
        </p:txBody>
      </p:sp>
      <p:sp>
        <p:nvSpPr>
          <p:cNvPr id="34" name="Oval 33"/>
          <p:cNvSpPr/>
          <p:nvPr/>
        </p:nvSpPr>
        <p:spPr>
          <a:xfrm>
            <a:off x="548640" y="4681728"/>
            <a:ext cx="91440" cy="91440"/>
          </a:xfrm>
          <a:prstGeom prst="ellipse">
            <a:avLst/>
          </a:prstGeom>
          <a:solidFill>
            <a:srgbClr val="C0612C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35" name="TextBox 34"/>
          <p:cNvSpPr txBox="1"/>
          <p:nvPr/>
        </p:nvSpPr>
        <p:spPr>
          <a:xfrm>
            <a:off x="749808" y="4572000"/>
            <a:ext cx="5163159" cy="347472"/>
          </a:xfrm>
          <a:prstGeom prst="rect">
            <a:avLst/>
          </a:prstGeom>
          <a:noFill/>
        </p:spPr>
        <p:txBody>
          <a:bodyPr wrap="square" anchor="ctr" lIns="0" tIns="0" rIns="0" bIns="0">
            <a:noAutofit/>
          </a:bodyPr>
          <a:lstStyle/>
          <a:p>
            <a:pPr algn="l" latinLnBrk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100" b="0">
                <a:solidFill>
                  <a:srgbClr val="35424F"/>
                </a:solidFill>
                <a:latin typeface="Microsoft YaHei"/>
                <a:ea typeface="Microsoft YaHei"/>
                <a:cs typeface="Microsoft YaHei"/>
              </a:rPr>
              <a:t>前缀缓存命中（cached_tokens &gt; 0）直接拒</a:t>
            </a:r>
          </a:p>
        </p:txBody>
      </p:sp>
      <p:sp>
        <p:nvSpPr>
          <p:cNvPr id="36" name="Oval 35"/>
          <p:cNvSpPr/>
          <p:nvPr/>
        </p:nvSpPr>
        <p:spPr>
          <a:xfrm>
            <a:off x="548640" y="5029200"/>
            <a:ext cx="91440" cy="91440"/>
          </a:xfrm>
          <a:prstGeom prst="ellipse">
            <a:avLst/>
          </a:prstGeom>
          <a:solidFill>
            <a:srgbClr val="C0612C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37" name="TextBox 36"/>
          <p:cNvSpPr txBox="1"/>
          <p:nvPr/>
        </p:nvSpPr>
        <p:spPr>
          <a:xfrm>
            <a:off x="749808" y="4919472"/>
            <a:ext cx="5163159" cy="347472"/>
          </a:xfrm>
          <a:prstGeom prst="rect">
            <a:avLst/>
          </a:prstGeom>
          <a:noFill/>
        </p:spPr>
        <p:txBody>
          <a:bodyPr wrap="square" anchor="ctr" lIns="0" tIns="0" rIns="0" bIns="0">
            <a:noAutofit/>
          </a:bodyPr>
          <a:lstStyle/>
          <a:p>
            <a:pPr algn="l" latinLnBrk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100" b="0">
                <a:solidFill>
                  <a:srgbClr val="35424F"/>
                </a:solidFill>
                <a:latin typeface="Microsoft YaHei"/>
                <a:ea typeface="Microsoft YaHei"/>
                <a:cs typeface="Microsoft YaHei"/>
              </a:rPr>
              <a:t>精度 / 缓存 / 上下文长度一律冻结，env 限白名单</a:t>
            </a:r>
          </a:p>
        </p:txBody>
      </p:sp>
      <p:sp>
        <p:nvSpPr>
          <p:cNvPr id="38" name="TextBox 37"/>
          <p:cNvSpPr txBox="1"/>
          <p:nvPr/>
        </p:nvSpPr>
        <p:spPr>
          <a:xfrm>
            <a:off x="6278727" y="3895344"/>
            <a:ext cx="5364327" cy="274320"/>
          </a:xfrm>
          <a:prstGeom prst="rect">
            <a:avLst/>
          </a:prstGeom>
          <a:noFill/>
        </p:spPr>
        <p:txBody>
          <a:bodyPr wrap="square" anchor="ctr" lIns="0" tIns="0" rIns="0" bIns="0">
            <a:noAutofit/>
          </a:bodyPr>
          <a:lstStyle/>
          <a:p>
            <a:pPr algn="l" latinLnBrk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300" b="1">
                <a:solidFill>
                  <a:srgbClr val="16202A"/>
                </a:solidFill>
                <a:latin typeface="Microsoft YaHei"/>
                <a:ea typeface="Microsoft YaHei"/>
                <a:cs typeface="Microsoft YaHei"/>
              </a:rPr>
              <a:t>规划即校验</a:t>
            </a:r>
            <a:r>
              <a:rPr sz="1050" b="0">
                <a:solidFill>
                  <a:srgbClr val="66727F"/>
                </a:solidFill>
                <a:latin typeface="Microsoft YaHei"/>
                <a:ea typeface="Microsoft YaHei"/>
                <a:cs typeface="Microsoft YaHei"/>
              </a:rPr>
              <a:t>　虚构的补丁在规划阶段就被打回</a:t>
            </a:r>
          </a:p>
        </p:txBody>
      </p:sp>
      <p:sp>
        <p:nvSpPr>
          <p:cNvPr id="39" name="Oval 38"/>
          <p:cNvSpPr/>
          <p:nvPr/>
        </p:nvSpPr>
        <p:spPr>
          <a:xfrm>
            <a:off x="6278727" y="4334256"/>
            <a:ext cx="91440" cy="91440"/>
          </a:xfrm>
          <a:prstGeom prst="ellipse">
            <a:avLst/>
          </a:prstGeom>
          <a:solidFill>
            <a:srgbClr val="C0612C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40" name="TextBox 39"/>
          <p:cNvSpPr txBox="1"/>
          <p:nvPr/>
        </p:nvSpPr>
        <p:spPr>
          <a:xfrm>
            <a:off x="6479895" y="4224528"/>
            <a:ext cx="5163159" cy="347472"/>
          </a:xfrm>
          <a:prstGeom prst="rect">
            <a:avLst/>
          </a:prstGeom>
          <a:noFill/>
        </p:spPr>
        <p:txBody>
          <a:bodyPr wrap="square" anchor="ctr" lIns="0" tIns="0" rIns="0" bIns="0">
            <a:noAutofit/>
          </a:bodyPr>
          <a:lstStyle/>
          <a:p>
            <a:pPr algn="l" latinLnBrk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100" b="0">
                <a:solidFill>
                  <a:srgbClr val="35424F"/>
                </a:solidFill>
                <a:latin typeface="Microsoft YaHei"/>
                <a:ea typeface="Microsoft YaHei"/>
                <a:cs typeface="Microsoft YaHei"/>
              </a:rPr>
              <a:t>提实验前必须 read / search 过真实源码并附 evidence</a:t>
            </a:r>
          </a:p>
        </p:txBody>
      </p:sp>
      <p:sp>
        <p:nvSpPr>
          <p:cNvPr id="41" name="Oval 40"/>
          <p:cNvSpPr/>
          <p:nvPr/>
        </p:nvSpPr>
        <p:spPr>
          <a:xfrm>
            <a:off x="6278727" y="4681728"/>
            <a:ext cx="91440" cy="91440"/>
          </a:xfrm>
          <a:prstGeom prst="ellipse">
            <a:avLst/>
          </a:prstGeom>
          <a:solidFill>
            <a:srgbClr val="C0612C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42" name="TextBox 41"/>
          <p:cNvSpPr txBox="1"/>
          <p:nvPr/>
        </p:nvSpPr>
        <p:spPr>
          <a:xfrm>
            <a:off x="6479895" y="4572000"/>
            <a:ext cx="5163159" cy="347472"/>
          </a:xfrm>
          <a:prstGeom prst="rect">
            <a:avLst/>
          </a:prstGeom>
          <a:noFill/>
        </p:spPr>
        <p:txBody>
          <a:bodyPr wrap="square" anchor="ctr" lIns="0" tIns="0" rIns="0" bIns="0">
            <a:noAutofit/>
          </a:bodyPr>
          <a:lstStyle/>
          <a:p>
            <a:pPr algn="l" latinLnBrk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100" b="0">
                <a:solidFill>
                  <a:srgbClr val="35424F"/>
                </a:solidFill>
                <a:latin typeface="Microsoft YaHei"/>
                <a:ea typeface="Microsoft YaHei"/>
                <a:cs typeface="Microsoft YaHei"/>
              </a:rPr>
              <a:t>env 变量要真实存在，补丁原文必须唯一匹配</a:t>
            </a:r>
          </a:p>
        </p:txBody>
      </p:sp>
      <p:sp>
        <p:nvSpPr>
          <p:cNvPr id="43" name="Oval 42"/>
          <p:cNvSpPr/>
          <p:nvPr/>
        </p:nvSpPr>
        <p:spPr>
          <a:xfrm>
            <a:off x="6278727" y="5029200"/>
            <a:ext cx="91440" cy="91440"/>
          </a:xfrm>
          <a:prstGeom prst="ellipse">
            <a:avLst/>
          </a:prstGeom>
          <a:solidFill>
            <a:srgbClr val="C0612C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44" name="TextBox 43"/>
          <p:cNvSpPr txBox="1"/>
          <p:nvPr/>
        </p:nvSpPr>
        <p:spPr>
          <a:xfrm>
            <a:off x="6479895" y="4919472"/>
            <a:ext cx="5163159" cy="347472"/>
          </a:xfrm>
          <a:prstGeom prst="rect">
            <a:avLst/>
          </a:prstGeom>
          <a:noFill/>
        </p:spPr>
        <p:txBody>
          <a:bodyPr wrap="square" anchor="ctr" lIns="0" tIns="0" rIns="0" bIns="0">
            <a:noAutofit/>
          </a:bodyPr>
          <a:lstStyle/>
          <a:p>
            <a:pPr algn="l" latinLnBrk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100" b="0">
                <a:solidFill>
                  <a:srgbClr val="35424F"/>
                </a:solidFill>
                <a:latin typeface="Microsoft YaHei"/>
                <a:ea typeface="Microsoft YaHei"/>
                <a:cs typeface="Microsoft YaHei"/>
              </a:rPr>
              <a:t>Python 补丁 apply 后立即 compile() 检查</a:t>
            </a:r>
          </a:p>
        </p:txBody>
      </p:sp>
      <p:sp>
        <p:nvSpPr>
          <p:cNvPr id="45" name="Rectangle 44"/>
          <p:cNvSpPr/>
          <p:nvPr/>
        </p:nvSpPr>
        <p:spPr>
          <a:xfrm>
            <a:off x="548640" y="5413248"/>
            <a:ext cx="11094415" cy="475488"/>
          </a:xfrm>
          <a:prstGeom prst="rect">
            <a:avLst/>
          </a:prstGeom>
          <a:solidFill>
            <a:srgbClr val="F8EADF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46" name="Rectangle 45"/>
          <p:cNvSpPr/>
          <p:nvPr/>
        </p:nvSpPr>
        <p:spPr>
          <a:xfrm>
            <a:off x="548640" y="5413248"/>
            <a:ext cx="64008" cy="475488"/>
          </a:xfrm>
          <a:prstGeom prst="rect">
            <a:avLst/>
          </a:prstGeom>
          <a:solidFill>
            <a:srgbClr val="C0612C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47" name="TextBox 46"/>
          <p:cNvSpPr txBox="1"/>
          <p:nvPr/>
        </p:nvSpPr>
        <p:spPr>
          <a:xfrm>
            <a:off x="859536" y="5413248"/>
            <a:ext cx="10454335" cy="475488"/>
          </a:xfrm>
          <a:prstGeom prst="rect">
            <a:avLst/>
          </a:prstGeom>
          <a:noFill/>
        </p:spPr>
        <p:txBody>
          <a:bodyPr wrap="square" anchor="ctr" lIns="0" tIns="0" rIns="0" bIns="0">
            <a:noAutofit/>
          </a:bodyPr>
          <a:lstStyle/>
          <a:p>
            <a:pPr algn="l" latinLnBrk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200" b="1">
                <a:solidFill>
                  <a:srgbClr val="C0612C"/>
                </a:solidFill>
                <a:latin typeface="Consolas"/>
                <a:ea typeface="Microsoft YaHei"/>
                <a:cs typeface="Microsoft YaHei"/>
              </a:rPr>
              <a:t>不变量　</a:t>
            </a:r>
            <a:r>
              <a:rPr sz="1600" b="1">
                <a:solidFill>
                  <a:srgbClr val="16202A"/>
                </a:solidFill>
                <a:latin typeface="Microsoft YaHei"/>
                <a:ea typeface="Microsoft YaHei"/>
                <a:cs typeface="Microsoft YaHei"/>
              </a:rPr>
              <a:t>原始包只读，改动只在隔离副本，一次 run 的每一轮都可回放</a:t>
            </a:r>
          </a:p>
        </p:txBody>
      </p:sp>
      <p:sp>
        <p:nvSpPr>
          <p:cNvPr id="48" name="TextBox 47"/>
          <p:cNvSpPr txBox="1"/>
          <p:nvPr/>
        </p:nvSpPr>
        <p:spPr>
          <a:xfrm>
            <a:off x="548640" y="6382512"/>
            <a:ext cx="9722815" cy="256032"/>
          </a:xfrm>
          <a:prstGeom prst="rect">
            <a:avLst/>
          </a:prstGeom>
          <a:noFill/>
        </p:spPr>
        <p:txBody>
          <a:bodyPr wrap="square" anchor="ctr" lIns="0" tIns="0" rIns="0" bIns="0">
            <a:noAutofit/>
          </a:bodyPr>
          <a:lstStyle/>
          <a:p>
            <a:pPr algn="l" latinLnBrk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000" b="0">
                <a:solidFill>
                  <a:srgbClr val="66727F"/>
                </a:solidFill>
                <a:latin typeface="Microsoft YaHei"/>
                <a:ea typeface="Microsoft YaHei"/>
                <a:cs typeface="Microsoft YaHei"/>
              </a:rPr>
              <a:t>数值门与质量门在 evaluation.py，性能门在 benchmark.py；阈值全部来自冻结契约，候选无权修改</a:t>
            </a:r>
          </a:p>
        </p:txBody>
      </p:sp>
      <p:sp>
        <p:nvSpPr>
          <p:cNvPr id="49" name="TextBox 48"/>
          <p:cNvSpPr txBox="1"/>
          <p:nvPr/>
        </p:nvSpPr>
        <p:spPr>
          <a:xfrm>
            <a:off x="10362895" y="6382512"/>
            <a:ext cx="1280160" cy="256032"/>
          </a:xfrm>
          <a:prstGeom prst="rect">
            <a:avLst/>
          </a:prstGeom>
          <a:noFill/>
        </p:spPr>
        <p:txBody>
          <a:bodyPr wrap="square" anchor="ctr" lIns="0" tIns="0" rIns="0" bIns="0">
            <a:noAutofit/>
          </a:bodyPr>
          <a:lstStyle/>
          <a:p>
            <a:pPr algn="r" latinLnBrk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000" b="0">
                <a:solidFill>
                  <a:srgbClr val="66727F"/>
                </a:solidFill>
                <a:latin typeface="Consolas"/>
                <a:ea typeface="Microsoft YaHei"/>
                <a:cs typeface="Microsoft YaHei"/>
              </a:rPr>
              <a:t>Agent 门禁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ppt/theme/theme2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