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 / 8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【2 / 8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【3 / 8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7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7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【4 / 8 · 模型层 · 执行迭代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这一页是模型层的工作方式：人定目标，Agent 在固定约束内迭代，结果交回人验收。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最上面一行是三个阶段：架构接入做新架构的逐层验收，性能调优在实测环境下迭代，持续优化按 Trace 长期迭代。今天重点是中间这条。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中间整段无人值守。A 先完成预检再验收基线；B 独立采样 Trace，只用于诊断，不计入收益；C 是候选迭代，小步改动、逐轮验证收益，右边那个回环标注的就是它；D 最终复验，重测基线与候选，独立复验一遍。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【5 / 8 · 模型层 · 候选验收 · 约 100 秒（1:40）】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这一页放大上一页的 C 阶段：里面每一个候选，都要走完左边这条流水线。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下面两条保证候选之间可比：输入、精度、上下文与缓存条件全部固定，prompt 的 token 数必须等于冻结值；诊断和正式压测分开，收益由关闭 profiler 的独立复测确认——不能靠减少实际工作量换速度。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右边放这条流水线判出来的结果。口径要强调：只有独立复验通过的收益才进入最终交付，筛选阶段看起来有收益、复验没过的，一个都不算。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【6 / 8 · 算子层 · 生成与迭代 · 约 100 秒（1:40）】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【7 / 8 · 局部加速到整体收益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上一页说算子快了不等于模型快了，这一页用一个算例说明能差多少。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两个场景，区别只在算子占比。场景 A 偏 GEMM，GEMM 占 80%、Attention 占 10%；场景 B 里 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【8 / 8 · 算子耗时到服务容量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最后一页讲方法：从算子耗时一路算到单机容量，这条链怎么用。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一句话收尾：这条链只用于排优先级；任何进入交付的收益，都以整模型实测为准。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268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0118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6 页展开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人与 AGENT 的分工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82496"/>
            <a:ext cx="3515258" cy="4572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682496"/>
            <a:ext cx="3515258" cy="4572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9386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00474" y="1911095"/>
            <a:ext cx="19202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8127796" y="1682496"/>
            <a:ext cx="3515258" cy="4572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8964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90052" y="1911095"/>
            <a:ext cx="19202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548640" y="2304288"/>
            <a:ext cx="2286000" cy="2926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04288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432304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29992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285292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4198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27355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84048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694176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2" name="Oval 21"/>
          <p:cNvSpPr/>
          <p:nvPr/>
        </p:nvSpPr>
        <p:spPr>
          <a:xfrm>
            <a:off x="749808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11480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54880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010912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304288"/>
            <a:ext cx="576072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2432304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2816352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28416" y="29260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2816352"/>
            <a:ext cx="13716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2816352"/>
            <a:ext cx="3154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先完成预检，再验收基线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18688" y="3346704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328416" y="3456432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94176" y="3346704"/>
            <a:ext cx="13716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3346704"/>
            <a:ext cx="3154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独立采样，只用于诊断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18688" y="3877056"/>
            <a:ext cx="5358383" cy="4937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328416" y="39867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4176" y="3877056"/>
            <a:ext cx="13716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92040" y="3877056"/>
            <a:ext cx="3154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小步改动，逐轮验证收益</a:t>
            </a:r>
          </a:p>
        </p:txBody>
      </p:sp>
      <p:sp>
        <p:nvSpPr>
          <p:cNvPr id="40" name="Freeform 39"/>
          <p:cNvSpPr/>
          <p:nvPr/>
        </p:nvSpPr>
        <p:spPr>
          <a:xfrm>
            <a:off x="8138160" y="3968496"/>
            <a:ext cx="237744" cy="310896"/>
          </a:xfrm>
          <a:custGeom>
            <a:avLst/>
            <a:gdLst/>
            <a:ahLst/>
            <a:cxnLst/>
            <a:rect l="l" t="t" r="r" b="b"/>
            <a:pathLst>
              <a:path w="237744" h="310896">
                <a:moveTo>
                  <a:pt x="0" y="310896"/>
                </a:moveTo>
                <a:lnTo>
                  <a:pt x="237744" y="310896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18688" y="4407408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8416" y="451713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94176" y="4407408"/>
            <a:ext cx="13716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407408"/>
            <a:ext cx="3154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重测基线与候选，独立复验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4956048"/>
            <a:ext cx="361188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61119" y="2304288"/>
            <a:ext cx="2681935" cy="2926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19" y="2304288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62288" y="2432304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29992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285292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4198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27355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53" name="Oval 52"/>
          <p:cNvSpPr/>
          <p:nvPr/>
        </p:nvSpPr>
        <p:spPr>
          <a:xfrm>
            <a:off x="9162288" y="384048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63456" y="3694176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5" name="Oval 54"/>
          <p:cNvSpPr/>
          <p:nvPr/>
        </p:nvSpPr>
        <p:spPr>
          <a:xfrm>
            <a:off x="9162288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63456" y="411480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62288" y="4754880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19" y="5010912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9" name="Freeform 58"/>
          <p:cNvSpPr/>
          <p:nvPr/>
        </p:nvSpPr>
        <p:spPr>
          <a:xfrm>
            <a:off x="1691640" y="5230368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5412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三个阶段共用同一套契约与验收口径；架构接入验收通过后自动交接到优化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单个候选的验收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三道条件由便宜到贵排列；判据为任务冻结时写定的阈值，不由模型解释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1566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84831"/>
            <a:ext cx="6156655" cy="40233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84831"/>
            <a:ext cx="5717743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33472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633472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633472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633472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633472"/>
            <a:ext cx="238932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200400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200400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200400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3200400"/>
            <a:ext cx="238932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67328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767328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767328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66543" y="3767328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3767328"/>
            <a:ext cx="238932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25696"/>
            <a:ext cx="61566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固定外部环境与输入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保证候选之间可比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483717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736592"/>
            <a:ext cx="595548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固定输入、精度、上下文与缓存条件；prompt token 数必须等于冻结值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6636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065776"/>
            <a:ext cx="595548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诊断与正式压测分开；收益由关闭 profiler 的独立复测确认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71055" y="1737360"/>
            <a:ext cx="4572000" cy="3602736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3.94 in（约 4:3）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86400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486400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7" name="Freeform 16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难点 · 局部加速与整体收益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偏 GEMM 的负载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占比增加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1792224"/>
            <a:ext cx="4858207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219456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167128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250545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3785615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3758183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328" y="4096511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需要调度仿真与压测验证</a:t>
            </a:r>
          </a:p>
        </p:txBody>
      </p:sp>
      <p:sp>
        <p:nvSpPr>
          <p:cNvPr id="36" name="Oval 35"/>
          <p:cNvSpPr/>
          <p:nvPr/>
        </p:nvSpPr>
        <p:spPr>
          <a:xfrm>
            <a:off x="6784848" y="466344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636007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497433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6" y="2889504"/>
            <a:ext cx="317699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48807" y="2889504"/>
            <a:ext cx="39712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245931" y="288950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96328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6" y="3163824"/>
            <a:ext cx="1985619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57435" y="3163824"/>
            <a:ext cx="1588495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45931" y="316382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1816" y="3451860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6408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21624" y="3451860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86216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27464" y="3451860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92056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51592" y="3401568"/>
            <a:ext cx="119146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方法 · 从算子耗时到服务容量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C5CCD4"/>
            </a:solidFill>
            <a:tailEnd type="triangle" w="med" len="med"/>
          </a:ln>
        </p:spPr>
      </p:cxnSp>
      <p:sp>
        <p:nvSpPr>
          <p:cNvPr id="7" name="Rectangle 6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31" name="Freeform 30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