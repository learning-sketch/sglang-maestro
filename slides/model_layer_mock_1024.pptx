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模型层 · 一次完整的候选迭代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30B-A3B 单卡：10 个候选，5 个过三道门，峰值吞吐 +37%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判定全部来自 M100 真机——数值不对、更慢的当场挡掉，占比太小的不接线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冻结口径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128 专家 / top-8 · 48 层 · M100 单卡 TP1 · qsx8_lever2 env · 1K/1K · CG-on + overlap-on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主指标 持续输出 tok/s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75104"/>
            <a:ext cx="274320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48256"/>
            <a:ext cx="2340864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峰值吞吐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持续输出 tok/s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340864"/>
            <a:ext cx="2340864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+37%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416165"/>
            <a:ext cx="640080" cy="918090"/>
          </a:xfrm>
          <a:prstGeom prst="rect">
            <a:avLst/>
          </a:prstGeom>
          <a:solidFill>
            <a:srgbClr val="AFCE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60133"/>
            <a:ext cx="10972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1370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98264"/>
            <a:ext cx="10972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3072384"/>
            <a:ext cx="640080" cy="126187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65960" y="2816352"/>
            <a:ext cx="10972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1883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398264"/>
            <a:ext cx="10972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2959" y="4334256"/>
            <a:ext cx="2194561" cy="0"/>
          </a:xfrm>
          <a:prstGeom prst="line">
            <a:avLst/>
          </a:prstGeom>
          <a:ln w="12700">
            <a:solidFill>
              <a:srgbClr val="AFCEE1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749808" y="4681728"/>
            <a:ext cx="234086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基线峰值在 c128，1K/1K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1975104"/>
            <a:ext cx="8168335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75888" y="2048256"/>
            <a:ext cx="776599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候选明细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五组，全部为单卡 TP1 口径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75888" y="2340864"/>
            <a:ext cx="265176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340864"/>
            <a:ext cx="2002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C 筛选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2340864"/>
            <a:ext cx="128016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D 复验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4664" y="2340864"/>
            <a:ext cx="15544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675888" y="2578608"/>
            <a:ext cx="776599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3602736" y="2633472"/>
            <a:ext cx="7912303" cy="56692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5888" y="2633472"/>
            <a:ext cx="26517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替掉散点 elementwise 3.08 ms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 per-token quant 0.43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2002536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单核 1.75 ms/步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13064" y="2633472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device 单步时间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24.7 → 22.2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84664" y="2633472"/>
            <a:ext cx="155448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交付，全矩阵 +22~38%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2736" y="3236976"/>
            <a:ext cx="7912303" cy="420624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75888" y="3236976"/>
            <a:ext cx="265176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换 SDNN 恒定核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现用核随 rows×hidden 从 20 涨到 141 µs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3236976"/>
            <a:ext cx="200253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微基准 c128 5.43×，cos = 1.0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13064" y="3236976"/>
            <a:ext cx="128016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E2E 吞吐 +3%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TPOT −3.4%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84664" y="3236976"/>
            <a:ext cx="155448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75888" y="3694176"/>
            <a:ext cx="26517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grouped-GEMM group-mode 四个旋钮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8" y="3694176"/>
            <a:ext cx="2002536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四模式完全同速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force_nogroup −20%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no_group cos 0.000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13064" y="369417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4664" y="3694176"/>
            <a:ext cx="155448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① 挡掉一个，③ 挡掉其余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判定为闭源核内在开销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75888" y="4297680"/>
            <a:ext cx="26517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4297680"/>
            <a:ext cx="2002536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0.61×，更慢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13064" y="4297680"/>
            <a:ext cx="12801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84664" y="4297680"/>
            <a:ext cx="15544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③ 未过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75888" y="4608576"/>
            <a:ext cx="26517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19088" y="4608576"/>
            <a:ext cx="2002536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内核 2×，数值对（Δ 3e-8）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13064" y="4608576"/>
            <a:ext cx="12801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只占 ~0.9% TPOT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84664" y="4608576"/>
            <a:ext cx="15544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③ 过但不值当，未接线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5084064"/>
            <a:ext cx="26517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三道门的漏斗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由便宜到贵，任一道不过即停，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数值不对、更慢的当场挡掉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91840" y="5084064"/>
            <a:ext cx="250332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74720" y="5157216"/>
            <a:ext cx="213756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候选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74720" y="5376672"/>
            <a:ext cx="21375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5786" y="5084064"/>
            <a:ext cx="250332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98666" y="5157216"/>
            <a:ext cx="213756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过三道门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98666" y="5376672"/>
            <a:ext cx="21375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5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86602" y="5394959"/>
            <a:ext cx="237744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57" name="Rectangle 56"/>
          <p:cNvSpPr/>
          <p:nvPr/>
        </p:nvSpPr>
        <p:spPr>
          <a:xfrm>
            <a:off x="9139732" y="5084064"/>
            <a:ext cx="2503322" cy="6217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2612" y="5157216"/>
            <a:ext cx="213756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2612" y="5376672"/>
            <a:ext cx="21375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810548" y="5394959"/>
            <a:ext cx="237744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61" name="Rectangle 60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两个交付都在替换小核；闭源 grouped-GEMM 的旋钮调不动，占比不到 1% 的核再快也不接线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6382512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C 列是内核或微基准读数，D 列是整步或端到端读数，两列口径不同、不能互相换算；表中全部为 M100 单卡 TP1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模型层 · roofline 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整步耗时里，谁贴着上界，谁还有空间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用 B 阶段的 Trace 把各类算子放上同一张 roofline——只用来选下一轮的方向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卡常数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峰值算力 __ TFLOPS（__ 精度）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|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实测带宽 __ GB/s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|　</a:t>
            </a: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拐点 __ FLOP/Byte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|　</a:t>
            </a: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工作点 并发 __ · 输入 __ / 输出 __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常数用探针实测值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75104"/>
            <a:ext cx="7315200" cy="36027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29968"/>
            <a:ext cx="356616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可达性能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 = min(峰值算力, 实测带宽 × 算术强度)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07407" y="2148840"/>
            <a:ext cx="237744" cy="0"/>
          </a:xfrm>
          <a:prstGeom prst="line">
            <a:avLst/>
          </a:prstGeom>
          <a:ln w="15875">
            <a:solidFill>
              <a:srgbClr val="D4147A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700016" y="2011680"/>
            <a:ext cx="126187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访存受限段（斜线）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16752" y="2148840"/>
            <a:ext cx="237744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309360" y="2011680"/>
            <a:ext cx="126187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算力受限段（平台）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89888" y="4499810"/>
            <a:ext cx="5879592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786384" y="4399226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89888" y="4037797"/>
            <a:ext cx="5879592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786384" y="3937213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389888" y="3575785"/>
            <a:ext cx="5879592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786384" y="3475201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389888" y="3113772"/>
            <a:ext cx="5879592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86384" y="3013188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389888" y="2651760"/>
            <a:ext cx="5879592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786384" y="2551176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389888" y="4846320"/>
            <a:ext cx="5879592" cy="0"/>
          </a:xfrm>
          <a:prstGeom prst="line">
            <a:avLst/>
          </a:prstGeom>
          <a:ln w="12700">
            <a:solidFill>
              <a:srgbClr val="AFCEE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1389888" y="2651760"/>
            <a:ext cx="0" cy="2194560"/>
          </a:xfrm>
          <a:prstGeom prst="line">
            <a:avLst/>
          </a:prstGeom>
          <a:ln w="12700">
            <a:solidFill>
              <a:srgbClr val="AFCEE1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1115568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5509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95451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35393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5334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15276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5218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1389888" y="2651760"/>
            <a:ext cx="3569752" cy="1963553"/>
          </a:xfrm>
          <a:prstGeom prst="line">
            <a:avLst/>
          </a:prstGeom>
          <a:ln w="25400">
            <a:solidFill>
              <a:srgbClr val="D4147A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4959640" y="2651760"/>
            <a:ext cx="230984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sp>
        <p:nvSpPr>
          <p:cNvPr id="37" name="Oval 36"/>
          <p:cNvSpPr/>
          <p:nvPr/>
        </p:nvSpPr>
        <p:spPr>
          <a:xfrm>
            <a:off x="4895632" y="2587752"/>
            <a:ext cx="128016" cy="128016"/>
          </a:xfrm>
          <a:prstGeom prst="ellipse">
            <a:avLst/>
          </a:prstGeom>
          <a:solidFill>
            <a:srgbClr val="0A2B45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36680" y="2340864"/>
            <a:ext cx="16459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拐点 __ FLOP/Byte</a:t>
            </a:r>
          </a:p>
        </p:txBody>
      </p:sp>
      <p:sp>
        <p:nvSpPr>
          <p:cNvPr id="39" name="Oval 38"/>
          <p:cNvSpPr/>
          <p:nvPr/>
        </p:nvSpPr>
        <p:spPr>
          <a:xfrm>
            <a:off x="2021542" y="4445680"/>
            <a:ext cx="164592" cy="164592"/>
          </a:xfrm>
          <a:prstGeom prst="ellipse">
            <a:avLst/>
          </a:prstGeom>
          <a:solidFill>
            <a:srgbClr val="AFCEE1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31854" y="4427392"/>
            <a:ext cx="106984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Norm / 逐元素</a:t>
            </a:r>
          </a:p>
        </p:txBody>
      </p:sp>
      <p:sp>
        <p:nvSpPr>
          <p:cNvPr id="41" name="Oval 40"/>
          <p:cNvSpPr/>
          <p:nvPr/>
        </p:nvSpPr>
        <p:spPr>
          <a:xfrm>
            <a:off x="3407446" y="3608992"/>
            <a:ext cx="164592" cy="164592"/>
          </a:xfrm>
          <a:prstGeom prst="ellipse">
            <a:avLst/>
          </a:prstGeom>
          <a:solidFill>
            <a:srgbClr val="AFCEE1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89108" y="3801016"/>
            <a:ext cx="10012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43" name="Oval 42"/>
          <p:cNvSpPr/>
          <p:nvPr/>
        </p:nvSpPr>
        <p:spPr>
          <a:xfrm>
            <a:off x="3827417" y="3265849"/>
            <a:ext cx="164592" cy="164592"/>
          </a:xfrm>
          <a:prstGeom prst="ellipse">
            <a:avLst/>
          </a:prstGeom>
          <a:solidFill>
            <a:srgbClr val="AFCEE1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80529" y="3457873"/>
            <a:ext cx="6583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4056017" y="2992615"/>
            <a:ext cx="496740" cy="273234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4385201" y="3247561"/>
            <a:ext cx="13533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并发 ↑ 至 __ 越过拐点</a:t>
            </a:r>
          </a:p>
        </p:txBody>
      </p:sp>
      <p:sp>
        <p:nvSpPr>
          <p:cNvPr id="47" name="Oval 46"/>
          <p:cNvSpPr/>
          <p:nvPr/>
        </p:nvSpPr>
        <p:spPr>
          <a:xfrm>
            <a:off x="6179253" y="2919339"/>
            <a:ext cx="164592" cy="16459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915" y="3111363"/>
            <a:ext cx="10012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49" name="Oval 48"/>
          <p:cNvSpPr/>
          <p:nvPr/>
        </p:nvSpPr>
        <p:spPr>
          <a:xfrm>
            <a:off x="6851207" y="2739707"/>
            <a:ext cx="164592" cy="16459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61519" y="2721419"/>
            <a:ext cx="6583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8" y="5285231"/>
            <a:ext cx="56692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○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prefill　</a:t>
            </a: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decode　　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横轴 算术强度 FLOP/Byte　纵轴 可达性能 TFLOPS　两轴均为对数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79" y="5266944"/>
            <a:ext cx="1078992" cy="219456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79" y="5266944"/>
            <a:ext cx="107899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示意　非数据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046719" y="1975104"/>
            <a:ext cx="3596335" cy="36027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47888" y="2048256"/>
            <a:ext cx="319399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每类算子的读数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时间与占比来自 Trace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11311" y="2395728"/>
            <a:ext cx="142646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3495" y="2395728"/>
            <a:ext cx="38404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强度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13263" y="2395728"/>
            <a:ext cx="38404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实测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43032" y="2395728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距上界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0" y="2395728"/>
            <a:ext cx="38404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占比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247888" y="2651760"/>
            <a:ext cx="319399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8211311" y="2706624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prefill · GEMM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83495" y="270662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13263" y="270662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43032" y="2706624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64240" y="270662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11311" y="3044952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prefill · Attention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83495" y="3044952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13263" y="3044952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43032" y="3044952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3044952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74736" y="3383280"/>
            <a:ext cx="3340303" cy="31089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11311" y="3383280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decode · GEMM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83495" y="3383280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13263" y="3383280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543032" y="3383280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064240" y="3383280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11311" y="3721608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· Attention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83495" y="3721608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13263" y="3721608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43032" y="3721608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064240" y="3721608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11311" y="4059935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· Norm/逐元素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683495" y="4059935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113263" y="4059935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43032" y="4059935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64240" y="4059935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11311" y="4398264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通信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83495" y="439826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13263" y="439826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543032" y="4398264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064240" y="439826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47888" y="4809744"/>
            <a:ext cx="3193999" cy="71323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距上界 = 实测 ÷ 该强度的上界；占比按所在阶段算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贴斜线的只能少搬字节，贴平台的只能少算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通信受互联带宽限制，只列占比，不上图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待填：按点落在哪一段，写一句下一轮该优化谁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8640" y="6382512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方案 B　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只需一次 Trace 加 FLOP/Byte 计数，今天就能填；它回答「下一轮该优化谁」，不回答「优化到哪了」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