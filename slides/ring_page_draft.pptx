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64008" cy="347472"/>
          </a:xfrm>
          <a:prstGeom prst="rect">
            <a:avLst/>
          </a:prstGeom>
          <a:solidFill>
            <a:srgbClr val="306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01752"/>
            <a:ext cx="694944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M100 Model Agent：一轮迭代的运行视图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60624" y="530352"/>
            <a:ext cx="109728" cy="109728"/>
          </a:xfrm>
          <a:prstGeom prst="rect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25216" y="457200"/>
            <a:ext cx="517839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控制器层</a:t>
            </a:r>
          </a:p>
        </p:txBody>
      </p:sp>
      <p:sp>
        <p:nvSpPr>
          <p:cNvPr id="6" name="Rectangle 5"/>
          <p:cNvSpPr/>
          <p:nvPr/>
        </p:nvSpPr>
        <p:spPr>
          <a:xfrm>
            <a:off x="9433094" y="530352"/>
            <a:ext cx="109728" cy="109728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97686" y="457200"/>
            <a:ext cx="1143481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规划器层 · 外部托管</a:t>
            </a:r>
          </a:p>
        </p:txBody>
      </p:sp>
      <p:sp>
        <p:nvSpPr>
          <p:cNvPr id="8" name="Rectangle 7"/>
          <p:cNvSpPr/>
          <p:nvPr/>
        </p:nvSpPr>
        <p:spPr>
          <a:xfrm>
            <a:off x="8651523" y="530352"/>
            <a:ext cx="109728" cy="109728"/>
          </a:xfrm>
          <a:prstGeom prst="rect">
            <a:avLst/>
          </a:prstGeom>
          <a:solidFill>
            <a:srgbClr val="1E8A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16115" y="457200"/>
            <a:ext cx="397523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证据层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3855" y="713232"/>
            <a:ext cx="5029200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24 个模块全部在图上 · codex/m100-selfiterate-30b-20261019 @ 04f3965 · 快照 2026-10-20 01:11 UTC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914400"/>
            <a:ext cx="32918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969264"/>
            <a:ext cx="3035808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合同 · 冻结并哈希校验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1188720"/>
            <a:ext cx="3035808" cy="51206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5424F"/>
                </a:solidFill>
                <a:latin typeface="Consolas"/>
                <a:ea typeface="Microsoft YaHei"/>
                <a:cs typeface="Microsoft YaHei"/>
              </a:rPr>
              <a:t>optimization-task.json</a:t>
            </a:r>
            <a:r>
              <a:rPr sz="8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模型 / 精度 / 负载 / 门限 / 预算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5424F"/>
                </a:solidFill>
                <a:latin typeface="Consolas"/>
                <a:ea typeface="Microsoft YaHei"/>
                <a:cs typeface="Microsoft YaHei"/>
              </a:rPr>
              <a:t>generation-task.json</a:t>
            </a:r>
            <a:r>
              <a:rPr sz="8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数值探针 + 质量合同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5424F"/>
                </a:solidFill>
                <a:latin typeface="Consolas"/>
                <a:ea typeface="Microsoft YaHei"/>
                <a:cs typeface="Microsoft YaHei"/>
              </a:rPr>
              <a:t>backup/</a:t>
            </a:r>
            <a:r>
              <a:rPr sz="8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manifest 组件 SHA + 冻结基准 + planner-skills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00032" y="914400"/>
            <a:ext cx="2243023" cy="1298448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28048" y="969264"/>
            <a:ext cx="1986991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规划器的边界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8048" y="1188720"/>
            <a:ext cx="1986991" cy="987551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5424F"/>
                </a:solidFill>
                <a:latin typeface="Consolas"/>
                <a:ea typeface="Microsoft YaHei"/>
                <a:cs typeface="Microsoft YaHei"/>
              </a:rPr>
              <a:t>planner-skills/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INDEX.md + 10 个 SKILL.md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默认只附 INDEX，一轮最多读 2 个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5424F"/>
                </a:solidFill>
                <a:latin typeface="Consolas"/>
                <a:ea typeface="Microsoft YaHei"/>
                <a:cs typeface="Microsoft YaHei"/>
              </a:rPr>
              <a:t>probe · planner_diagnostics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证据不足时的有界诊断，≤ 64 KiB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本轮 5 个 probe，都改变了决策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依赖当前 Codex 会话托管，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还不能无人值守长跑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3429000" cy="841248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5907024"/>
            <a:ext cx="3172968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F63A8"/>
                </a:solidFill>
                <a:latin typeface="Microsoft YaHei"/>
                <a:ea typeface="Microsoft YaHei"/>
                <a:cs typeface="Microsoft YaHei"/>
              </a:rPr>
              <a:t>0  入口 · A 阶段，只跑一次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6126480"/>
            <a:ext cx="3172968" cy="53035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5424F"/>
                </a:solidFill>
                <a:latin typeface="Consolas"/>
                <a:ea typeface="Microsoft YaHei"/>
                <a:cs typeface="Microsoft YaHei"/>
              </a:rPr>
              <a:t>memory_preflight</a:t>
            </a:r>
            <a:r>
              <a:rPr sz="8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显存预检；控制器另查卡空闲、备份、SHA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5424F"/>
                </a:solidFill>
                <a:latin typeface="Consolas"/>
                <a:ea typeface="Microsoft YaHei"/>
                <a:cs typeface="Microsoft YaHei"/>
              </a:rPr>
              <a:t>server · evaluation · benchmark</a:t>
            </a:r>
            <a:r>
              <a:rPr sz="8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冻结配置起服务、测基线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5424F"/>
                </a:solidFill>
                <a:latin typeface="Consolas"/>
                <a:ea typeface="Microsoft YaHei"/>
                <a:cs typeface="Microsoft YaHei"/>
              </a:rPr>
              <a:t>diagnostic_profiles</a:t>
            </a:r>
            <a:r>
              <a:rPr sz="8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任何候选执行前生成诊断映射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35424F"/>
                </a:solidFill>
                <a:latin typeface="Consolas"/>
                <a:ea typeface="Microsoft YaHei"/>
                <a:cs typeface="Microsoft YaHei"/>
              </a:rPr>
              <a:t>optimization_source</a:t>
            </a:r>
            <a:r>
              <a:rPr sz="8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导入已完整验证的结果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841247" y="4270248"/>
            <a:ext cx="0" cy="1581912"/>
          </a:xfrm>
          <a:prstGeom prst="line">
            <a:avLst/>
          </a:prstGeom>
          <a:ln w="15875">
            <a:solidFill>
              <a:srgbClr val="3F63A8"/>
            </a:solidFill>
            <a:tailEnd type="triangle" w="med" len="med"/>
          </a:ln>
        </p:spPr>
      </p:cxnSp>
      <p:sp>
        <p:nvSpPr>
          <p:cNvPr id="21" name="Rectangle 20"/>
          <p:cNvSpPr/>
          <p:nvPr/>
        </p:nvSpPr>
        <p:spPr>
          <a:xfrm>
            <a:off x="9400032" y="5376672"/>
            <a:ext cx="2243023" cy="1316736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28048" y="5431536"/>
            <a:ext cx="1986991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被测系统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8048" y="5650992"/>
            <a:ext cx="1986991" cy="100583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SGLang 原仓库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原 Git 版本，未提交修改保留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xInfer / xtorch_ops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只编登记的 standalone 组件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M100 单卡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Qwen3-VL-30B-A3B · channel-fp8</a:t>
            </a:r>
          </a:p>
          <a:p>
            <a:pPr algn="l" latinLnBrk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75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native kernel 由 subagent 写，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不是 xpugen 生成</a:t>
            </a:r>
          </a:p>
        </p:txBody>
      </p:sp>
      <p:sp>
        <p:nvSpPr>
          <p:cNvPr id="24" name="Oval 23"/>
          <p:cNvSpPr/>
          <p:nvPr/>
        </p:nvSpPr>
        <p:spPr>
          <a:xfrm>
            <a:off x="1707184" y="1600200"/>
            <a:ext cx="8778240" cy="4389120"/>
          </a:xfrm>
          <a:prstGeom prst="ellipse">
            <a:avLst/>
          </a:prstGeom>
          <a:noFill/>
          <a:ln w="127000">
            <a:solidFill>
              <a:srgbClr val="EEF1F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Arc 24"/>
          <p:cNvSpPr/>
          <p:nvPr/>
        </p:nvSpPr>
        <p:spPr>
          <a:xfrm>
            <a:off x="1707184" y="1600200"/>
            <a:ext cx="8778240" cy="4389120"/>
          </a:xfrm>
          <a:prstGeom prst="arc">
            <a:avLst>
              <a:gd name="adj1" fmla="val 11221267"/>
              <a:gd name="adj2" fmla="val 11577168"/>
            </a:avLst>
          </a:prstGeom>
          <a:noFill/>
          <a:ln w="19050">
            <a:solidFill>
              <a:srgbClr val="66727F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Arc 25"/>
          <p:cNvSpPr/>
          <p:nvPr/>
        </p:nvSpPr>
        <p:spPr>
          <a:xfrm>
            <a:off x="1707184" y="1600200"/>
            <a:ext cx="8778240" cy="4389120"/>
          </a:xfrm>
          <a:prstGeom prst="arc">
            <a:avLst>
              <a:gd name="adj1" fmla="val 13329414"/>
              <a:gd name="adj2" fmla="val 13675211"/>
            </a:avLst>
          </a:prstGeom>
          <a:noFill/>
          <a:ln w="19050">
            <a:solidFill>
              <a:srgbClr val="66727F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Arc 26"/>
          <p:cNvSpPr/>
          <p:nvPr/>
        </p:nvSpPr>
        <p:spPr>
          <a:xfrm>
            <a:off x="1707184" y="1600200"/>
            <a:ext cx="8778240" cy="4389120"/>
          </a:xfrm>
          <a:prstGeom prst="arc">
            <a:avLst>
              <a:gd name="adj1" fmla="val 17093074"/>
              <a:gd name="adj2" fmla="val 17522061"/>
            </a:avLst>
          </a:prstGeom>
          <a:noFill/>
          <a:ln w="19050">
            <a:solidFill>
              <a:srgbClr val="66727F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Arc 27"/>
          <p:cNvSpPr/>
          <p:nvPr/>
        </p:nvSpPr>
        <p:spPr>
          <a:xfrm>
            <a:off x="1707184" y="1600200"/>
            <a:ext cx="8778240" cy="4389120"/>
          </a:xfrm>
          <a:prstGeom prst="arc">
            <a:avLst>
              <a:gd name="adj1" fmla="val 20136706"/>
              <a:gd name="adj2" fmla="val 20556111"/>
            </a:avLst>
          </a:prstGeom>
          <a:noFill/>
          <a:ln w="19050">
            <a:solidFill>
              <a:srgbClr val="66727F"/>
            </a:solidFill>
            <a:headEnd type="triangle" w="med" len="med"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Arc 28"/>
          <p:cNvSpPr/>
          <p:nvPr/>
        </p:nvSpPr>
        <p:spPr>
          <a:xfrm>
            <a:off x="1707184" y="1600200"/>
            <a:ext cx="8778240" cy="4389120"/>
          </a:xfrm>
          <a:prstGeom prst="arc">
            <a:avLst>
              <a:gd name="adj1" fmla="val 21505578"/>
              <a:gd name="adj2" fmla="val 94421"/>
            </a:avLst>
          </a:prstGeom>
          <a:noFill/>
          <a:ln w="19050">
            <a:solidFill>
              <a:srgbClr val="66727F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Arc 29"/>
          <p:cNvSpPr/>
          <p:nvPr/>
        </p:nvSpPr>
        <p:spPr>
          <a:xfrm>
            <a:off x="1707184" y="1600200"/>
            <a:ext cx="8778240" cy="4389120"/>
          </a:xfrm>
          <a:prstGeom prst="arc">
            <a:avLst>
              <a:gd name="adj1" fmla="val 1043888"/>
              <a:gd name="adj2" fmla="val 1463293"/>
            </a:avLst>
          </a:prstGeom>
          <a:noFill/>
          <a:ln w="19050">
            <a:solidFill>
              <a:srgbClr val="66727F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Arc 30"/>
          <p:cNvSpPr/>
          <p:nvPr/>
        </p:nvSpPr>
        <p:spPr>
          <a:xfrm>
            <a:off x="1707184" y="1600200"/>
            <a:ext cx="8778240" cy="4389120"/>
          </a:xfrm>
          <a:prstGeom prst="arc">
            <a:avLst>
              <a:gd name="adj1" fmla="val 4077938"/>
              <a:gd name="adj2" fmla="val 4506925"/>
            </a:avLst>
          </a:prstGeom>
          <a:noFill/>
          <a:ln w="19050">
            <a:solidFill>
              <a:srgbClr val="66727F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Arc 31"/>
          <p:cNvSpPr/>
          <p:nvPr/>
        </p:nvSpPr>
        <p:spPr>
          <a:xfrm>
            <a:off x="1707184" y="1600200"/>
            <a:ext cx="8778240" cy="4389120"/>
          </a:xfrm>
          <a:prstGeom prst="arc">
            <a:avLst>
              <a:gd name="adj1" fmla="val 7924788"/>
              <a:gd name="adj2" fmla="val 8270585"/>
            </a:avLst>
          </a:prstGeom>
          <a:noFill/>
          <a:ln w="19050">
            <a:solidFill>
              <a:srgbClr val="66727F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Arc 32"/>
          <p:cNvSpPr/>
          <p:nvPr/>
        </p:nvSpPr>
        <p:spPr>
          <a:xfrm>
            <a:off x="1707184" y="1600200"/>
            <a:ext cx="8778240" cy="4389120"/>
          </a:xfrm>
          <a:prstGeom prst="arc">
            <a:avLst>
              <a:gd name="adj1" fmla="val 10022831"/>
              <a:gd name="adj2" fmla="val 10378732"/>
            </a:avLst>
          </a:prstGeom>
          <a:noFill/>
          <a:ln w="19050">
            <a:solidFill>
              <a:srgbClr val="66727F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4184" y="3319272"/>
            <a:ext cx="228600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4184" y="3319272"/>
            <a:ext cx="54864" cy="950976"/>
          </a:xfrm>
          <a:prstGeom prst="rect">
            <a:avLst/>
          </a:prstGeom>
          <a:solidFill>
            <a:srgbClr val="1E8A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0488" y="3355848"/>
            <a:ext cx="2048256" cy="8778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E8A6E"/>
                </a:solidFill>
                <a:latin typeface="Arial"/>
                <a:ea typeface="Microsoft YaHei"/>
                <a:cs typeface="Microsoft YaHei"/>
              </a:rPr>
              <a:t>1 </a:t>
            </a: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采 trace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profile_session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roofline_instrumentation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另起一次性服务，关 CG 与 overlap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start / stop_profile 夹固定诊断请求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E8A6E"/>
                </a:solidFill>
                <a:latin typeface="Microsoft YaHei"/>
                <a:ea typeface="Microsoft YaHei"/>
                <a:cs typeface="Microsoft YaHei"/>
              </a:rPr>
              <a:t>本轮 </a:t>
            </a:r>
            <a:r>
              <a:rPr sz="8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profile 0 → 8，每轮 D 后重采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40793" y="1879511"/>
            <a:ext cx="228600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640793" y="1879511"/>
            <a:ext cx="54864" cy="950976"/>
          </a:xfrm>
          <a:prstGeom prst="rect">
            <a:avLst/>
          </a:prstGeom>
          <a:solidFill>
            <a:srgbClr val="1E8A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87097" y="1916087"/>
            <a:ext cx="2048256" cy="8778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E8A6E"/>
                </a:solidFill>
                <a:latin typeface="Arial"/>
                <a:ea typeface="Microsoft YaHei"/>
                <a:cs typeface="Microsoft YaHei"/>
              </a:rPr>
              <a:t>2 </a:t>
            </a: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归因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roofline_trace · trace_diagnosis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截 decode 窗口，按源码 scope 归因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kernel 名只在缺 scope 时回退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E8A6E"/>
                </a:solidFill>
                <a:latin typeface="Microsoft YaHei"/>
                <a:ea typeface="Microsoft YaHei"/>
                <a:cs typeface="Microsoft YaHei"/>
              </a:rPr>
              <a:t>本轮 </a:t>
            </a:r>
            <a:r>
              <a:rPr sz="8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总和 23.921 ≈ 并集 23.920 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42457" y="1146069"/>
            <a:ext cx="228600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2457" y="1146069"/>
            <a:ext cx="54864" cy="950976"/>
          </a:xfrm>
          <a:prstGeom prst="rect">
            <a:avLst/>
          </a:prstGeom>
          <a:solidFill>
            <a:srgbClr val="1E8A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8761" y="1182645"/>
            <a:ext cx="2048256" cy="8778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E8A6E"/>
                </a:solidFill>
                <a:latin typeface="Arial"/>
                <a:ea typeface="Microsoft YaHei"/>
                <a:cs typeface="Microsoft YaHei"/>
              </a:rPr>
              <a:t>3 </a:t>
            </a: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账本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roofline · hardware-ceilings/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config → FLOPs/字节 → 下界 → ratio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专家字节用路由实测 distinct experts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E8A6E"/>
                </a:solidFill>
                <a:latin typeface="Microsoft YaHei"/>
                <a:ea typeface="Microsoft YaHei"/>
                <a:cs typeface="Microsoft YaHei"/>
              </a:rPr>
              <a:t>本轮 </a:t>
            </a:r>
            <a:r>
              <a:rPr sz="8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两类 GEMM 自检失败，按授权隔离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13871" y="1381590"/>
            <a:ext cx="228600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013871" y="1381590"/>
            <a:ext cx="54864" cy="950976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60175" y="1418166"/>
            <a:ext cx="2048256" cy="8778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C0612C"/>
                </a:solidFill>
                <a:latin typeface="Arial"/>
                <a:ea typeface="Microsoft YaHei"/>
                <a:cs typeface="Microsoft YaHei"/>
              </a:rPr>
              <a:t>4 </a:t>
            </a: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规划请求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optimization_planner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planner_memory · planner_mailbox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UUID + 请求 SHA + 动作 schema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上下文 ≤ 18 KB，整条消息 ≤ 28 KB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本轮 </a:t>
            </a:r>
            <a:r>
              <a:rPr sz="8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18 轮往来，全部落盘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50641" y="2677644"/>
            <a:ext cx="22860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0612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50641" y="2677644"/>
            <a:ext cx="54864" cy="950976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96945" y="2714220"/>
            <a:ext cx="2048256" cy="8778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C0612C"/>
                </a:solidFill>
                <a:latin typeface="Arial"/>
                <a:ea typeface="Microsoft YaHei"/>
                <a:cs typeface="Microsoft YaHei"/>
              </a:rPr>
              <a:t>5 </a:t>
            </a: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Codex subagent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/root/optimization_planner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读源码与冻结证据，提假设、写补丁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read/search/list/probe/patch/stop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不能碰设备、起服务、宣布成功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本轮 </a:t>
            </a:r>
            <a:r>
              <a:rPr sz="8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6 轮读了 roofline-fusion-advisor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50641" y="3960899"/>
            <a:ext cx="228600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50641" y="3960899"/>
            <a:ext cx="54864" cy="950976"/>
          </a:xfrm>
          <a:prstGeom prst="rect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96945" y="3997475"/>
            <a:ext cx="2048256" cy="8778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3F63A8"/>
                </a:solidFill>
                <a:latin typeface="Arial"/>
                <a:ea typeface="Microsoft YaHei"/>
                <a:cs typeface="Microsoft YaHei"/>
              </a:rPr>
              <a:t>6 </a:t>
            </a: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落地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git_workspace · server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development_workspace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optimization_adapters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原位建版本、打隔离补丁、只编登记组件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F63A8"/>
                </a:solidFill>
                <a:latin typeface="Microsoft YaHei"/>
                <a:ea typeface="Microsoft YaHei"/>
                <a:cs typeface="Microsoft YaHei"/>
              </a:rPr>
              <a:t>本轮 </a:t>
            </a:r>
            <a:r>
              <a:rPr sz="8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5 / 16 卡在构建身份 → retry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13871" y="5256953"/>
            <a:ext cx="228600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13871" y="5256953"/>
            <a:ext cx="54864" cy="950976"/>
          </a:xfrm>
          <a:prstGeom prst="rect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60175" y="5293529"/>
            <a:ext cx="2048256" cy="8778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3F63A8"/>
                </a:solidFill>
                <a:latin typeface="Arial"/>
                <a:ea typeface="Microsoft YaHei"/>
                <a:cs typeface="Microsoft YaHei"/>
              </a:rPr>
              <a:t>7 </a:t>
            </a: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C 筛选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device 侧 · 隔离算子链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对照与候选对称预热，µs 级微测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≥ 2% 才记 device_screened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F63A8"/>
                </a:solidFill>
                <a:latin typeface="Microsoft YaHei"/>
                <a:ea typeface="Microsoft YaHei"/>
                <a:cs typeface="Microsoft YaHei"/>
              </a:rPr>
              <a:t>本轮 </a:t>
            </a:r>
            <a:r>
              <a:rPr sz="8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6 个通过，+1.61% / +0.77% 被拒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42457" y="5492474"/>
            <a:ext cx="228600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342457" y="5492474"/>
            <a:ext cx="54864" cy="950976"/>
          </a:xfrm>
          <a:prstGeom prst="rect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88761" y="5529050"/>
            <a:ext cx="2048256" cy="8778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3F63A8"/>
                </a:solidFill>
                <a:latin typeface="Arial"/>
                <a:ea typeface="Microsoft YaHei"/>
                <a:cs typeface="Microsoft YaHei"/>
              </a:rPr>
              <a:t>8 </a:t>
            </a: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数值 + 质量门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evaluation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3 个文本探针 |Δlogprob| ≤ 0.03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MMStar 冻结 60 题，解析、截断都计入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F63A8"/>
                </a:solidFill>
                <a:latin typeface="Microsoft YaHei"/>
                <a:ea typeface="Microsoft YaHei"/>
                <a:cs typeface="Microsoft YaHei"/>
              </a:rPr>
              <a:t>本轮 </a:t>
            </a:r>
            <a:r>
              <a:rPr sz="8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交付版 Δ 0.0 · MMStar 45/60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40793" y="4759032"/>
            <a:ext cx="228600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640793" y="4759032"/>
            <a:ext cx="54864" cy="950976"/>
          </a:xfrm>
          <a:prstGeom prst="rect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787097" y="4795608"/>
            <a:ext cx="2048256" cy="8778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3F63A8"/>
                </a:solidFill>
                <a:latin typeface="Arial"/>
                <a:ea typeface="Microsoft YaHei"/>
                <a:cs typeface="Microsoft YaHei"/>
              </a:rPr>
              <a:t>9 </a:t>
            </a: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D 三方 A/B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optimization_staging · benchmark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selfiterate_gates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原始 / 上一版 / 候选共用加载库 SHA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各 3 次取中位，关 profiler，过噪声门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F63A8"/>
                </a:solidFill>
                <a:latin typeface="Microsoft YaHei"/>
                <a:ea typeface="Microsoft YaHei"/>
                <a:cs typeface="Microsoft YaHei"/>
              </a:rPr>
              <a:t>本轮 </a:t>
            </a:r>
            <a:r>
              <a:rPr sz="8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3 轮都过；034 c32 +45.61%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31720" y="2871216"/>
            <a:ext cx="1691640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Chrome trace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+ 路由探针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86784" y="2139696"/>
            <a:ext cx="1737360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每类 kernel 时长、调用数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区间并集与总和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60720" y="2139696"/>
            <a:ext cx="1207008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ranked_targets</a:t>
            </a:r>
          </a:p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+ 隔离项与原因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98079" y="2377440"/>
            <a:ext cx="1600200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请求 ⇄ 回复</a:t>
            </a:r>
          </a:p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ID / SHA 不匹配即拒收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83879" y="3648456"/>
            <a:ext cx="210312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提案：假设 + 补丁 + 证据引用</a:t>
            </a:r>
          </a:p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证据齐备才落地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0" y="4892040"/>
            <a:ext cx="1783080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构建身份一致才进入比较</a:t>
            </a:r>
          </a:p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否则 </a:t>
            </a:r>
            <a:r>
              <a:rPr sz="8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optimization_retry</a:t>
            </a:r>
            <a:r>
              <a:rPr sz="8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 重测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60720" y="5120640"/>
            <a:ext cx="1207008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device_screened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86784" y="5120640"/>
            <a:ext cx="1737360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进 bundle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三方同库构建，本轮 8 次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31720" y="4315968"/>
            <a:ext cx="1691640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verified_gain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→ best 晋升 → 再采 trace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069080" y="2788920"/>
            <a:ext cx="4069080" cy="2039112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069080" y="2788920"/>
            <a:ext cx="4069080" cy="45720"/>
          </a:xfrm>
          <a:prstGeom prst="rect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51960" y="2898648"/>
            <a:ext cx="3703320" cy="1856231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F63A8"/>
                </a:solidFill>
                <a:latin typeface="Microsoft YaHei"/>
                <a:ea typeface="Microsoft YaHei"/>
                <a:cs typeface="Microsoft YaHei"/>
              </a:rPr>
              <a:t>控制器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optimization · selfiterate · optimization_export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Python，确定性：设备锁、状态机、恢复、验证、报告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B4382F"/>
                </a:solidFill>
                <a:latin typeface="Microsoft YaHei"/>
                <a:ea typeface="Microsoft YaHei"/>
                <a:cs typeface="Microsoft YaHei"/>
              </a:rPr>
              <a:t>硬约束　</a:t>
            </a:r>
            <a:r>
              <a:rPr sz="9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规划器不能自行宣布实验成功，数值、图文质量、性能收益全部由控制器独立检查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F63A8"/>
                </a:solidFill>
                <a:latin typeface="Microsoft YaHei"/>
                <a:ea typeface="Microsoft YaHei"/>
                <a:cs typeface="Microsoft YaHei"/>
              </a:rPr>
              <a:t>本轮 </a:t>
            </a:r>
            <a:r>
              <a:rPr sz="8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35 条 trial：candidate 16（含 6 次 retry）· 构建准备 8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baseline 1 · baseline-recheck 7 · verification 3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候选尝试累计 25 次：新主线 16 + 旧主线 9</a:t>
            </a:r>
          </a:p>
          <a:p>
            <a:pPr algn="l" latinLnBrk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拒绝原因经 planner_memory 带回下一轮请求；基础设施中断不记成优化无效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