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37744"/>
            <a:ext cx="64008" cy="347472"/>
          </a:xfrm>
          <a:prstGeom prst="rect">
            <a:avLst/>
          </a:prstGeom>
          <a:solidFill>
            <a:srgbClr val="306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137160"/>
            <a:ext cx="694944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M100 Model Agent：一轮迭代的运行视图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66928"/>
            <a:ext cx="768096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不绑定具体模型：每个组件做什么、把什么交给下一个、在哪一步会被拦下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63504" y="274320"/>
            <a:ext cx="109728" cy="109728"/>
          </a:xfrm>
          <a:prstGeom prst="rect">
            <a:avLst/>
          </a:prstGeom>
          <a:solidFill>
            <a:srgbClr val="3542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28096" y="201168"/>
            <a:ext cx="81495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人 · 按需介入</a:t>
            </a:r>
          </a:p>
        </p:txBody>
      </p:sp>
      <p:sp>
        <p:nvSpPr>
          <p:cNvPr id="7" name="Rectangle 6"/>
          <p:cNvSpPr/>
          <p:nvPr/>
        </p:nvSpPr>
        <p:spPr>
          <a:xfrm>
            <a:off x="9771964" y="274320"/>
            <a:ext cx="109728" cy="109728"/>
          </a:xfrm>
          <a:prstGeom prst="rect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6556" y="201168"/>
            <a:ext cx="5257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控制器层</a:t>
            </a:r>
          </a:p>
        </p:txBody>
      </p:sp>
      <p:sp>
        <p:nvSpPr>
          <p:cNvPr id="9" name="Rectangle 8"/>
          <p:cNvSpPr/>
          <p:nvPr/>
        </p:nvSpPr>
        <p:spPr>
          <a:xfrm>
            <a:off x="8196910" y="274320"/>
            <a:ext cx="109728" cy="10972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1502" y="201168"/>
            <a:ext cx="120929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规划器层 · 外部会话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36815" y="274320"/>
            <a:ext cx="109728" cy="109728"/>
          </a:xfrm>
          <a:prstGeom prst="rect">
            <a:avLst/>
          </a:prstGeom>
          <a:solidFill>
            <a:srgbClr val="1E8A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1407" y="201168"/>
            <a:ext cx="394334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证据层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3855" y="475488"/>
            <a:ext cx="5029200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全链路 24 个核心模块 · 本页只讲机制，单次运行的数据见记录页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868680"/>
            <a:ext cx="11094415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886968"/>
            <a:ext cx="10801807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任务契约 · 冻结并哈希校验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5424F"/>
                </a:solidFill>
                <a:latin typeface="Consolas"/>
                <a:ea typeface="Microsoft YaHei"/>
                <a:cs typeface="Microsoft YaHei"/>
              </a:rPr>
              <a:t>optimization-task.json</a:t>
            </a:r>
            <a:r>
              <a:rPr sz="8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模型 / 精度 / 负载 / 门限 / 预算</a:t>
            </a:r>
            <a:r>
              <a:rPr sz="80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750" b="0">
                <a:solidFill>
                  <a:srgbClr val="35424F"/>
                </a:solidFill>
                <a:latin typeface="Consolas"/>
                <a:ea typeface="Microsoft YaHei"/>
                <a:cs typeface="Microsoft YaHei"/>
              </a:rPr>
              <a:t>generation-task.json</a:t>
            </a:r>
            <a:r>
              <a:rPr sz="8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数值探针 + 质量契约</a:t>
            </a:r>
            <a:r>
              <a:rPr sz="80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750" b="0">
                <a:solidFill>
                  <a:srgbClr val="35424F"/>
                </a:solidFill>
                <a:latin typeface="Consolas"/>
                <a:ea typeface="Microsoft YaHei"/>
                <a:cs typeface="Microsoft YaHei"/>
              </a:rPr>
              <a:t>backup/</a:t>
            </a:r>
            <a:r>
              <a:rPr sz="8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manifest 组件 SHA + 冻结基准 + planner-skills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126480"/>
            <a:ext cx="5120640" cy="64008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6163056"/>
            <a:ext cx="4828031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0  入口</a:t>
            </a:r>
            <a:r>
              <a:rPr sz="8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进环之前只跑一次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5424F"/>
                </a:solidFill>
                <a:latin typeface="Consolas"/>
                <a:ea typeface="Microsoft YaHei"/>
                <a:cs typeface="Microsoft YaHei"/>
              </a:rPr>
              <a:t>memory_preflight</a:t>
            </a:r>
            <a:r>
              <a:rPr sz="8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显存预检</a:t>
            </a:r>
            <a:r>
              <a:rPr sz="80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750" b="0">
                <a:solidFill>
                  <a:srgbClr val="35424F"/>
                </a:solidFill>
                <a:latin typeface="Consolas"/>
                <a:ea typeface="Microsoft YaHei"/>
                <a:cs typeface="Microsoft YaHei"/>
              </a:rPr>
              <a:t>server · evaluation · benchmark</a:t>
            </a:r>
            <a:r>
              <a:rPr sz="8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起服务、测基线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5424F"/>
                </a:solidFill>
                <a:latin typeface="Consolas"/>
                <a:ea typeface="Microsoft YaHei"/>
                <a:cs typeface="Microsoft YaHei"/>
              </a:rPr>
              <a:t>diagnostic_profiles</a:t>
            </a:r>
            <a:r>
              <a:rPr sz="8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生成诊断映射</a:t>
            </a:r>
            <a:r>
              <a:rPr sz="80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750" b="0">
                <a:solidFill>
                  <a:srgbClr val="35424F"/>
                </a:solidFill>
                <a:latin typeface="Consolas"/>
                <a:ea typeface="Microsoft YaHei"/>
                <a:cs typeface="Microsoft YaHei"/>
              </a:rPr>
              <a:t>optimization_source</a:t>
            </a:r>
            <a:r>
              <a:rPr sz="8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导入已验证结果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59" y="6126480"/>
            <a:ext cx="5790895" cy="64008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98464" y="6163056"/>
            <a:ext cx="549828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被测系统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5424F"/>
                </a:solidFill>
                <a:latin typeface="Consolas"/>
                <a:ea typeface="Microsoft YaHei"/>
                <a:cs typeface="Microsoft YaHei"/>
              </a:rPr>
              <a:t>SGLang 原仓库</a:t>
            </a:r>
            <a:r>
              <a:rPr sz="8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原 Git 版本，未提交修改保留</a:t>
            </a:r>
            <a:r>
              <a:rPr sz="80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750" b="0">
                <a:solidFill>
                  <a:srgbClr val="35424F"/>
                </a:solidFill>
                <a:latin typeface="Consolas"/>
                <a:ea typeface="Microsoft YaHei"/>
                <a:cs typeface="Microsoft YaHei"/>
              </a:rPr>
              <a:t>xInfer / xtorch_ops</a:t>
            </a:r>
            <a:r>
              <a:rPr sz="8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只编登记的 standalone 组件</a:t>
            </a:r>
            <a:r>
              <a:rPr sz="80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750" b="0">
                <a:solidFill>
                  <a:srgbClr val="35424F"/>
                </a:solidFill>
                <a:latin typeface="Consolas"/>
                <a:ea typeface="Microsoft YaHei"/>
                <a:cs typeface="Microsoft YaHei"/>
              </a:rPr>
              <a:t>M100 单卡</a:t>
            </a:r>
            <a:r>
              <a:rPr sz="8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目标模型与精度由任务契约锁定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算子层的跨层调用尚未接入：融合算子由规划器直接写成内联补丁，不经 xpugen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26080" y="1892808"/>
            <a:ext cx="411480" cy="0"/>
          </a:xfrm>
          <a:prstGeom prst="line">
            <a:avLst/>
          </a:prstGeom>
          <a:ln w="19050">
            <a:solidFill>
              <a:srgbClr val="66727F"/>
            </a:solidFill>
            <a:tailEnd type="triangle" w="med" len="med"/>
          </a:ln>
        </p:spPr>
      </p:cxnSp>
      <p:cxnSp>
        <p:nvCxnSpPr>
          <p:cNvPr id="21" name="Connector 20"/>
          <p:cNvCxnSpPr/>
          <p:nvPr/>
        </p:nvCxnSpPr>
        <p:spPr>
          <a:xfrm>
            <a:off x="5715000" y="1892808"/>
            <a:ext cx="411480" cy="0"/>
          </a:xfrm>
          <a:prstGeom prst="line">
            <a:avLst/>
          </a:prstGeom>
          <a:ln w="19050">
            <a:solidFill>
              <a:srgbClr val="66727F"/>
            </a:solidFill>
            <a:tailEnd type="triangle" w="med" len="med"/>
          </a:ln>
        </p:spPr>
      </p:cxnSp>
      <p:cxnSp>
        <p:nvCxnSpPr>
          <p:cNvPr id="22" name="Connector 21"/>
          <p:cNvCxnSpPr/>
          <p:nvPr/>
        </p:nvCxnSpPr>
        <p:spPr>
          <a:xfrm>
            <a:off x="8503920" y="1892808"/>
            <a:ext cx="274320" cy="0"/>
          </a:xfrm>
          <a:prstGeom prst="line">
            <a:avLst/>
          </a:prstGeom>
          <a:ln w="19050">
            <a:solidFill>
              <a:srgbClr val="66727F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>
            <a:off x="10210647" y="4078224"/>
            <a:ext cx="0" cy="1005840"/>
          </a:xfrm>
          <a:prstGeom prst="line">
            <a:avLst/>
          </a:prstGeom>
          <a:ln w="19050">
            <a:solidFill>
              <a:srgbClr val="66727F"/>
            </a:solidFill>
            <a:tailEnd type="triangle" w="med" len="med"/>
          </a:ln>
        </p:spPr>
      </p:cxnSp>
      <p:cxnSp>
        <p:nvCxnSpPr>
          <p:cNvPr id="24" name="Connector 23"/>
          <p:cNvCxnSpPr/>
          <p:nvPr/>
        </p:nvCxnSpPr>
        <p:spPr>
          <a:xfrm flipH="1">
            <a:off x="8366760" y="5532120"/>
            <a:ext cx="411480" cy="0"/>
          </a:xfrm>
          <a:prstGeom prst="line">
            <a:avLst/>
          </a:prstGeom>
          <a:ln w="19050">
            <a:solidFill>
              <a:srgbClr val="66727F"/>
            </a:solidFill>
            <a:tailEnd type="triangle" w="med" len="med"/>
          </a:ln>
        </p:spPr>
      </p:cxnSp>
      <p:cxnSp>
        <p:nvCxnSpPr>
          <p:cNvPr id="25" name="Connector 24"/>
          <p:cNvCxnSpPr/>
          <p:nvPr/>
        </p:nvCxnSpPr>
        <p:spPr>
          <a:xfrm flipH="1">
            <a:off x="5577840" y="5532120"/>
            <a:ext cx="411480" cy="0"/>
          </a:xfrm>
          <a:prstGeom prst="line">
            <a:avLst/>
          </a:prstGeom>
          <a:ln w="19050">
            <a:solidFill>
              <a:srgbClr val="66727F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 flipH="1">
            <a:off x="2926080" y="5532120"/>
            <a:ext cx="274320" cy="0"/>
          </a:xfrm>
          <a:prstGeom prst="line">
            <a:avLst/>
          </a:prstGeom>
          <a:ln w="19050">
            <a:solidFill>
              <a:srgbClr val="66727F"/>
            </a:solidFill>
            <a:tailEnd type="triangle" w="med" len="med"/>
          </a:ln>
        </p:spPr>
      </p:cxnSp>
      <p:cxnSp>
        <p:nvCxnSpPr>
          <p:cNvPr id="27" name="Connector 26"/>
          <p:cNvCxnSpPr/>
          <p:nvPr/>
        </p:nvCxnSpPr>
        <p:spPr>
          <a:xfrm flipV="1">
            <a:off x="1737360" y="2340864"/>
            <a:ext cx="0" cy="2743200"/>
          </a:xfrm>
          <a:prstGeom prst="line">
            <a:avLst/>
          </a:prstGeom>
          <a:ln w="19050">
            <a:solidFill>
              <a:srgbClr val="66727F"/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548640" y="1444752"/>
            <a:ext cx="237744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1444752"/>
            <a:ext cx="54864" cy="896112"/>
          </a:xfrm>
          <a:prstGeom prst="rect">
            <a:avLst/>
          </a:prstGeom>
          <a:solidFill>
            <a:srgbClr val="1E8A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" y="1481328"/>
            <a:ext cx="2139696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1 </a:t>
            </a: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采 trace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profile_session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roofline_instrumentation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另起一次性服务，关 CG 与 overlap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start / stop_profile 圈定固定诊断请求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诊断数据不计入收益口径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37560" y="1444752"/>
            <a:ext cx="237744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37560" y="1444752"/>
            <a:ext cx="54864" cy="896112"/>
          </a:xfrm>
          <a:prstGeom prst="rect">
            <a:avLst/>
          </a:prstGeom>
          <a:solidFill>
            <a:srgbClr val="1E8A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83864" y="1481328"/>
            <a:ext cx="2139696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2 </a:t>
            </a: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归因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roofline_trace · trace_diagnosis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截 decode 窗口，按源码 scope 归因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kernel 名只在缺 scope 时回退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区间并集与总和互校，防重叠漏记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26480" y="1444752"/>
            <a:ext cx="237744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6480" y="1444752"/>
            <a:ext cx="54864" cy="896112"/>
          </a:xfrm>
          <a:prstGeom prst="rect">
            <a:avLst/>
          </a:prstGeom>
          <a:solidFill>
            <a:srgbClr val="1E8A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72784" y="1481328"/>
            <a:ext cx="2139696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3 </a:t>
            </a: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账本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roofline · hardware-ceilings/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config → FLOPs / 字节 → 下界与 ratio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专家层字节取路由实测 distinct experts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快于下界者判自检证伪，按授权隔离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78240" y="1444752"/>
            <a:ext cx="2864815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1444752"/>
            <a:ext cx="54864" cy="2633472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24544" y="1472184"/>
            <a:ext cx="262707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Arial"/>
                <a:ea typeface="Microsoft YaHei"/>
                <a:cs typeface="Microsoft YaHei"/>
              </a:rPr>
              <a:t>4 </a:t>
            </a: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方案与补丁</a:t>
            </a:r>
            <a:r>
              <a:rPr sz="8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全环唯一产生改动的一步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06256" y="1719072"/>
            <a:ext cx="2608783" cy="794335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906256" y="1719072"/>
            <a:ext cx="36576" cy="794335"/>
          </a:xfrm>
          <a:prstGeom prst="rect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52560" y="1737360"/>
            <a:ext cx="2425903" cy="757759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控制器侧 · 封装请求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optimization_planner · planner_memory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planner_mailbox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UUID + 请求 SHA + 动作 schema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上下文 ≤ 18 KB，单条消息 ≤ 28 KB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ID / SHA 不匹配即拒收，往返全部落盘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906256" y="2568271"/>
            <a:ext cx="2608783" cy="93030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906256" y="2568271"/>
            <a:ext cx="36576" cy="930302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52560" y="2586559"/>
            <a:ext cx="2425903" cy="89372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规划器 · 外部会话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/root/optimization_planner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planner-skills/ · planner_diagnostics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读源码与冻结证据，提假设、写补丁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默认只附 INDEX，一轮最多再取 2 个 SKILL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证据不足可发起有界诊断，输出 ≤ 64 KiB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不能碰设备、起服务、宣布成功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906256" y="3553437"/>
            <a:ext cx="2608783" cy="415058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906256" y="3553437"/>
            <a:ext cx="36576" cy="415058"/>
          </a:xfrm>
          <a:prstGeom prst="rect">
            <a:avLst/>
          </a:prstGeom>
          <a:solidFill>
            <a:srgbClr val="3542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0" y="3571725"/>
            <a:ext cx="2425903" cy="37848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人 · 按需介入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复杂场景由人直接写补丁，或与规划器协同实现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介入不改变判决路径，同样走下面三道门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778240" y="5084064"/>
            <a:ext cx="2864815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778240" y="5084064"/>
            <a:ext cx="54864" cy="896112"/>
          </a:xfrm>
          <a:prstGeom prst="rect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24544" y="5120640"/>
            <a:ext cx="2627071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3F63A8"/>
                </a:solidFill>
                <a:latin typeface="Arial"/>
                <a:ea typeface="Microsoft YaHei"/>
                <a:cs typeface="Microsoft YaHei"/>
              </a:rPr>
              <a:t>5 </a:t>
            </a: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落地 · 构建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git_workspace · server · development_workspace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optimization_adapters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在源码工作区原位构建，打隔离补丁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只增量编译已登记的 standalone 组件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89320" y="5084064"/>
            <a:ext cx="237744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989320" y="5084064"/>
            <a:ext cx="54864" cy="896112"/>
          </a:xfrm>
          <a:prstGeom prst="rect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35624" y="5120640"/>
            <a:ext cx="2139696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3F63A8"/>
                </a:solidFill>
                <a:latin typeface="Arial"/>
                <a:ea typeface="Microsoft YaHei"/>
                <a:cs typeface="Microsoft YaHei"/>
              </a:rPr>
              <a:t>6 </a:t>
            </a: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算子级微测初筛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device 侧 · 隔离算子链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对照与候选对称预热，µs 级微测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提速达到筛选阈值才记 device_screened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0" y="5084064"/>
            <a:ext cx="237744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200400" y="5084064"/>
            <a:ext cx="54864" cy="896112"/>
          </a:xfrm>
          <a:prstGeom prst="rect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6704" y="5120640"/>
            <a:ext cx="2139696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3F63A8"/>
                </a:solidFill>
                <a:latin typeface="Arial"/>
                <a:ea typeface="Microsoft YaHei"/>
                <a:cs typeface="Microsoft YaHei"/>
              </a:rPr>
              <a:t>7 </a:t>
            </a: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数值 + 质量门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evaluation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固定文本探针比对数概率，偏差须在容差内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评测得分不降，解析失败与截断都计入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5084064"/>
            <a:ext cx="237744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48640" y="5084064"/>
            <a:ext cx="54864" cy="896112"/>
          </a:xfrm>
          <a:prstGeom prst="rect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4944" y="5120640"/>
            <a:ext cx="2139696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3F63A8"/>
                </a:solidFill>
                <a:latin typeface="Arial"/>
                <a:ea typeface="Microsoft YaHei"/>
                <a:cs typeface="Microsoft YaHei"/>
              </a:rPr>
              <a:t>8 </a:t>
            </a: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端到端三方复验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optimization_staging · benchmark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selfiterate_gates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原始 / 上一版 / 候选共用加载库 SHA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重复取中位，关 profiler，须过噪声门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240280" y="2414016"/>
            <a:ext cx="1691640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Chrome trace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+ 路由探针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83480" y="2414016"/>
            <a:ext cx="1691640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每类 kernel 时长、调用数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区间并集与总和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0840" y="2414016"/>
            <a:ext cx="1691640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ranked_targets</a:t>
            </a:r>
          </a:p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+ 隔离项与原因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01000" y="4151376"/>
            <a:ext cx="2103120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提案：假设 + 补丁 + 证据引用</a:t>
            </a:r>
          </a:p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证据齐备才落地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60920" y="4645152"/>
            <a:ext cx="178308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构建身份一致才比较，否则</a:t>
            </a:r>
          </a:p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optimization_retry</a:t>
            </a:r>
            <a:r>
              <a:rPr sz="8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 重测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0" y="4645152"/>
            <a:ext cx="178308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device_screened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83080" y="4645152"/>
            <a:ext cx="178308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进 bundle，三方同库构建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74519" y="3218688"/>
            <a:ext cx="13716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verified_gain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→ best 晋升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→ 再采 trace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91840" y="2944368"/>
            <a:ext cx="4983480" cy="1627632"/>
          </a:xfrm>
          <a:prstGeom prst="rect">
            <a:avLst/>
          </a:prstGeom>
          <a:solidFill>
            <a:srgbClr val="E8ED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291840" y="2944368"/>
            <a:ext cx="4983480" cy="45720"/>
          </a:xfrm>
          <a:prstGeom prst="rect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474720" y="3035808"/>
            <a:ext cx="4617720" cy="14630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控制器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optimization · selfiterate · optimization_export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Python，确定性：设备锁、状态机、失败恢复、验证、报告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硬约束　</a:t>
            </a:r>
            <a:r>
              <a:rPr sz="9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规划器不能自行宣布实验成功，数值、图文质量、性能收益全部由控制器独立检查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每次尝试按 trial 落盘：候选、构建准备、基线、基线复核、最终复验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拒绝原因经 planner_memory 带回下一轮请求；基础设施中断不计入方案失败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