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73152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Agent Roofline 核算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2799" y="1060704"/>
            <a:ext cx="2103120" cy="493776"/>
          </a:xfrm>
          <a:prstGeom prst="roundRect">
            <a:avLst>
              <a:gd name="adj" fmla="val 14814"/>
            </a:avLst>
          </a:prstGeom>
          <a:solidFill>
            <a:srgbClr val="7FA4BA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单算子</a:t>
            </a:r>
            <a:r>
              <a:rPr sz="1100" b="0">
                <a:solidFill>
                  <a:srgbClr val="FFFFFF"/>
                </a:solidFill>
                <a:latin typeface="Consolas"/>
                <a:ea typeface="Microsoft YaHei"/>
                <a:cs typeface="Microsoft YaHei"/>
              </a:rPr>
              <a:t>　Roofline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44287" y="1060704"/>
            <a:ext cx="2103120" cy="493776"/>
          </a:xfrm>
          <a:prstGeom prst="roundRect">
            <a:avLst>
              <a:gd name="adj" fmla="val 14814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Layer</a:t>
            </a:r>
            <a:r>
              <a:rPr sz="1100" b="0">
                <a:solidFill>
                  <a:srgbClr val="FFFFFF"/>
                </a:solidFill>
                <a:latin typeface="Consolas"/>
                <a:ea typeface="Microsoft YaHei"/>
                <a:cs typeface="Microsoft YaHei"/>
              </a:rPr>
              <a:t>　Roofline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477359" y="1307592"/>
            <a:ext cx="493776" cy="0"/>
          </a:xfrm>
          <a:prstGeom prst="line">
            <a:avLst/>
          </a:prstGeom>
          <a:ln w="31750">
            <a:solidFill>
              <a:srgbClr val="7FA4BA"/>
            </a:solidFill>
            <a:tailEnd type="triangle" w="med" len="med"/>
          </a:ln>
        </p:spPr>
      </p:cxnSp>
      <p:sp>
        <p:nvSpPr>
          <p:cNvPr id="8" name="Rounded Rectangle 7"/>
          <p:cNvSpPr/>
          <p:nvPr/>
        </p:nvSpPr>
        <p:spPr>
          <a:xfrm>
            <a:off x="7805775" y="1060704"/>
            <a:ext cx="2103120" cy="493776"/>
          </a:xfrm>
          <a:prstGeom prst="roundRect">
            <a:avLst>
              <a:gd name="adj" fmla="val 14814"/>
            </a:avLst>
          </a:prstGeom>
          <a:solidFill>
            <a:srgbClr val="9E4206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</a:t>
            </a:r>
            <a:r>
              <a:rPr sz="1100" b="0">
                <a:solidFill>
                  <a:srgbClr val="FFFFFF"/>
                </a:solidFill>
                <a:latin typeface="Consolas"/>
                <a:ea typeface="Microsoft YaHei"/>
                <a:cs typeface="Microsoft YaHei"/>
              </a:rPr>
              <a:t>　Roofline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238847" y="1307592"/>
            <a:ext cx="493776" cy="0"/>
          </a:xfrm>
          <a:prstGeom prst="line">
            <a:avLst/>
          </a:prstGeom>
          <a:ln w="31750">
            <a:solidFill>
              <a:srgbClr val="D2690C"/>
            </a:solidFill>
            <a:tailEnd type="triangle" w="med" len="med"/>
          </a:ln>
        </p:spPr>
      </p:cxnSp>
      <p:sp>
        <p:nvSpPr>
          <p:cNvPr id="10" name="Rectangle 9"/>
          <p:cNvSpPr/>
          <p:nvPr/>
        </p:nvSpPr>
        <p:spPr>
          <a:xfrm>
            <a:off x="548640" y="1755648"/>
            <a:ext cx="6766560" cy="448056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1801368"/>
            <a:ext cx="6492240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单步 Decode 逐算子理论下界（µs / 层）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2039112"/>
            <a:ext cx="128016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5" y="2039112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路径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14015" y="2039112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读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07791" y="2039112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写 MB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1568" y="2039112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GFLOP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5344" y="2039112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t_read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2039112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t_write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19472" y="2039112"/>
            <a:ext cx="43891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t_comp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3248" y="2039112"/>
            <a:ext cx="530352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t_其它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98464" y="2039112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取 max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8" y="2039112"/>
            <a:ext cx="475488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×48 ms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6656" y="2249424"/>
            <a:ext cx="6364224" cy="0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76656" y="2286000"/>
            <a:ext cx="128016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input_rmsnorm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56815" y="2286000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14015" y="2286000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07791" y="2286000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01568" y="2286000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5344" y="2286000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7408" y="2286000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19472" y="2286000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98464" y="2286000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0528" y="2286000"/>
            <a:ext cx="475488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6656" y="2509113"/>
            <a:ext cx="6364224" cy="223113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" y="2509113"/>
            <a:ext cx="128016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qkv_proj GEMM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56815" y="2509113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14015" y="2509113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21.10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07791" y="2509113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1568" y="2509113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0.67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95344" y="2509113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16.23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07408" y="2509113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1.78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19472" y="2509113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5.99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98464" y="2509113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16.23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10528" y="2509113"/>
            <a:ext cx="475488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0.779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" y="2732227"/>
            <a:ext cx="128016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q_norm/k_norm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56815" y="2732227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14015" y="2732227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07791" y="2732227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01568" y="2732227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95344" y="2732227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07408" y="2732227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19472" y="2732227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98464" y="2732227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10528" y="2732227"/>
            <a:ext cx="475488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76656" y="2955340"/>
            <a:ext cx="6364224" cy="223113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76656" y="2955340"/>
            <a:ext cx="128016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3D-RoPE(mrope)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56815" y="2955340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414015" y="2955340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907791" y="2955340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0.328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401568" y="2955340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95344" y="2955340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07408" y="2955340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19472" y="2955340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98464" y="2955340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0.44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10528" y="2955340"/>
            <a:ext cx="475488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6656" y="3178454"/>
            <a:ext cx="128016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store_kv(page)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956815" y="3178454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414015" y="3178454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07791" y="3178454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0.066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401568" y="3178454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895344" y="3178454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407408" y="3178454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19472" y="3178454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98464" y="3178454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10528" y="3178454"/>
            <a:ext cx="475488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6656" y="3401568"/>
            <a:ext cx="6364224" cy="223113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76656" y="3401568"/>
            <a:ext cx="128016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decode attention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956815" y="3401568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414015" y="3401568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100.93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907791" y="3401568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0.262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401568" y="3401568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0.81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895344" y="3401568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54.85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407408" y="3401568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919472" y="3401568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7.19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13248" y="3401568"/>
            <a:ext cx="53035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32.4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98464" y="3401568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54.85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10528" y="3401568"/>
            <a:ext cx="475488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2.633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76656" y="3624681"/>
            <a:ext cx="128016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o_proj GEMM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956815" y="3624681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414015" y="3624681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17.04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907791" y="3624681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401568" y="3624681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895344" y="3624681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13.11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407408" y="3624681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919472" y="3624681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4.79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998464" y="3624681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13.11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510528" y="3624681"/>
            <a:ext cx="475488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0.629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76656" y="3847795"/>
            <a:ext cx="6364224" cy="223113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76656" y="3847795"/>
            <a:ext cx="128016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post_rmsnorm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956815" y="3847795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414015" y="3847795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907791" y="3847795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3401568" y="3847795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895344" y="3847795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407408" y="3847795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919472" y="3847795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998464" y="3847795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510528" y="3847795"/>
            <a:ext cx="475488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6656" y="4070908"/>
            <a:ext cx="128016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router gate GEMM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956815" y="4070908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414015" y="4070908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0.66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907791" y="4070908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401568" y="4070908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895344" y="4070908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407408" y="4070908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919472" y="4070908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998464" y="4070908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510528" y="4070908"/>
            <a:ext cx="475488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0.024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76656" y="4294022"/>
            <a:ext cx="6364224" cy="223113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76656" y="4294022"/>
            <a:ext cx="128016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topk+softmax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956815" y="4294022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414015" y="4294022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07791" y="4294022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401568" y="4294022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95344" y="4294022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407408" y="4294022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919472" y="4294022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998464" y="4294022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510528" y="4294022"/>
            <a:ext cx="475488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0.001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676656" y="4517136"/>
            <a:ext cx="128016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act_quant(fp8)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956815" y="4517136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414015" y="4517136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907791" y="4517136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0.066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401568" y="4517136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895344" y="4517136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407408" y="4517136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0.09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919472" y="4517136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998464" y="4517136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510528" y="4517136"/>
            <a:ext cx="475488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0.009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76656" y="4740249"/>
            <a:ext cx="6364224" cy="223113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76656" y="4740249"/>
            <a:ext cx="128016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permute/shuffle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956815" y="4740249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414015" y="4740249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907791" y="4740249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0.524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401568" y="4740249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895344" y="4740249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407408" y="4740249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919472" y="4740249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998464" y="4740249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0.71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510528" y="4740249"/>
            <a:ext cx="475488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0.034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76656" y="4963363"/>
            <a:ext cx="128016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expert gate+up GEMM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956815" y="4963363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414015" y="4963363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127.76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907791" y="4963363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0.786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401568" y="4963363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1.61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895344" y="4963363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98.28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407408" y="4963363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4.27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919472" y="4963363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7.19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998464" y="4963363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98.28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510528" y="4963363"/>
            <a:ext cx="475488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4.717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676656" y="5186476"/>
            <a:ext cx="6364224" cy="223113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76656" y="5186476"/>
            <a:ext cx="128016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silu_and_mul(+quant)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956815" y="5186476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414015" y="5186476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0.79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907791" y="5186476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0.197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401568" y="5186476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895344" y="5186476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407408" y="5186476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0.27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919472" y="5186476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5413248" y="5186476"/>
            <a:ext cx="53035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6.6(SFU)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998464" y="5186476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6.55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510528" y="5186476"/>
            <a:ext cx="475488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0.315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676656" y="5409590"/>
            <a:ext cx="128016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expert down GEMM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956815" y="5409590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sdnn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2414015" y="5409590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63.82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907791" y="5409590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1.049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401568" y="5409590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0.81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895344" y="5409590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49.09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4407408" y="5409590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5.70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4919472" y="5409590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3.60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998464" y="5409590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49.09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510528" y="5409590"/>
            <a:ext cx="475488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2.356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76656" y="5632704"/>
            <a:ext cx="6364224" cy="223113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76656" y="5632704"/>
            <a:ext cx="128016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unpermute+combine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956815" y="5632704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cluster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2414015" y="5632704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1.05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2907791" y="5632704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0.131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3401568" y="5632704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3895344" y="5632704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4407408" y="5632704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0.18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919472" y="5632704"/>
            <a:ext cx="438912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998464" y="5632704"/>
            <a:ext cx="457200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1.42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6510528" y="5632704"/>
            <a:ext cx="475488" cy="223113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0.068</a:t>
            </a:r>
          </a:p>
        </p:txBody>
      </p:sp>
      <p:cxnSp>
        <p:nvCxnSpPr>
          <p:cNvPr id="194" name="Connector 193"/>
          <p:cNvCxnSpPr/>
          <p:nvPr/>
        </p:nvCxnSpPr>
        <p:spPr>
          <a:xfrm>
            <a:off x="5980176" y="2039112"/>
            <a:ext cx="0" cy="3816705"/>
          </a:xfrm>
          <a:prstGeom prst="line">
            <a:avLst/>
          </a:prstGeom>
          <a:ln w="9525">
            <a:solidFill>
              <a:srgbClr val="AFCEE1"/>
            </a:solidFill>
          </a:ln>
        </p:spPr>
      </p:cxnSp>
      <p:sp>
        <p:nvSpPr>
          <p:cNvPr id="195" name="Rectangle 194"/>
          <p:cNvSpPr/>
          <p:nvPr/>
        </p:nvSpPr>
        <p:spPr>
          <a:xfrm>
            <a:off x="676656" y="5883249"/>
            <a:ext cx="6364224" cy="237744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731520" y="5883249"/>
            <a:ext cx="18288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单层合计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5998464" y="5883249"/>
            <a:ext cx="45720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242.3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6510528" y="5883249"/>
            <a:ext cx="4754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11.629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76656" y="5998464"/>
            <a:ext cx="649224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橙色为决定该算子下界的那一列：16 个算子里 15 个卡在读，唯一例外是 silu_and_mul 卡在 SFU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7443216" y="1755648"/>
            <a:ext cx="4199839" cy="179222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7626096" y="1792224"/>
            <a:ext cx="3870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Roofline：所有算子都落在访存区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8010144" y="2048255"/>
            <a:ext cx="2454783" cy="987552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3" name="Connector 202"/>
          <p:cNvCxnSpPr/>
          <p:nvPr/>
        </p:nvCxnSpPr>
        <p:spPr>
          <a:xfrm flipV="1">
            <a:off x="8010144" y="2048255"/>
            <a:ext cx="3016211" cy="890343"/>
          </a:xfrm>
          <a:prstGeom prst="line">
            <a:avLst/>
          </a:prstGeom>
          <a:ln w="19050">
            <a:solidFill>
              <a:srgbClr val="40708B"/>
            </a:solidFill>
          </a:ln>
        </p:spPr>
      </p:cxnSp>
      <p:cxnSp>
        <p:nvCxnSpPr>
          <p:cNvPr id="204" name="Connector 203"/>
          <p:cNvCxnSpPr/>
          <p:nvPr/>
        </p:nvCxnSpPr>
        <p:spPr>
          <a:xfrm>
            <a:off x="10464927" y="2212848"/>
            <a:ext cx="885520" cy="0"/>
          </a:xfrm>
          <a:prstGeom prst="line">
            <a:avLst/>
          </a:prstGeom>
          <a:ln w="15875">
            <a:solidFill>
              <a:srgbClr val="0F62CE"/>
            </a:solidFill>
          </a:ln>
        </p:spPr>
      </p:cxnSp>
      <p:sp>
        <p:nvSpPr>
          <p:cNvPr id="205" name="Oval 204"/>
          <p:cNvSpPr/>
          <p:nvPr/>
        </p:nvSpPr>
        <p:spPr>
          <a:xfrm>
            <a:off x="10428351" y="2176272"/>
            <a:ext cx="73152" cy="73152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6" name="Connector 205"/>
          <p:cNvCxnSpPr/>
          <p:nvPr/>
        </p:nvCxnSpPr>
        <p:spPr>
          <a:xfrm>
            <a:off x="11026355" y="2048255"/>
            <a:ext cx="324092" cy="0"/>
          </a:xfrm>
          <a:prstGeom prst="line">
            <a:avLst/>
          </a:prstGeom>
          <a:ln w="15875">
            <a:solidFill>
              <a:srgbClr val="D2690C"/>
            </a:solidFill>
          </a:ln>
        </p:spPr>
      </p:cxnSp>
      <p:sp>
        <p:nvSpPr>
          <p:cNvPr id="207" name="Oval 206"/>
          <p:cNvSpPr/>
          <p:nvPr/>
        </p:nvSpPr>
        <p:spPr>
          <a:xfrm>
            <a:off x="10989779" y="2011679"/>
            <a:ext cx="73152" cy="7315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8083296" y="2057399"/>
            <a:ext cx="1700784" cy="1554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带宽屋顶 ＝ 算术强度 × 带宽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8083296" y="2212847"/>
            <a:ext cx="1700784" cy="1554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fp8 算力屋顶（拐点 171）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8083296" y="2368295"/>
            <a:ext cx="1700784" cy="1554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bf16 算力屋顶（拐点 85）</a:t>
            </a:r>
          </a:p>
        </p:txBody>
      </p:sp>
      <p:cxnSp>
        <p:nvCxnSpPr>
          <p:cNvPr id="211" name="Connector 210"/>
          <p:cNvCxnSpPr/>
          <p:nvPr/>
        </p:nvCxnSpPr>
        <p:spPr>
          <a:xfrm>
            <a:off x="8010144" y="3035808"/>
            <a:ext cx="3340303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cxnSp>
        <p:nvCxnSpPr>
          <p:cNvPr id="212" name="Connector 211"/>
          <p:cNvCxnSpPr/>
          <p:nvPr/>
        </p:nvCxnSpPr>
        <p:spPr>
          <a:xfrm>
            <a:off x="8010144" y="2048255"/>
            <a:ext cx="0" cy="987553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13" name="TextBox 212"/>
          <p:cNvSpPr txBox="1"/>
          <p:nvPr/>
        </p:nvSpPr>
        <p:spPr>
          <a:xfrm>
            <a:off x="7827264" y="3044951"/>
            <a:ext cx="365760" cy="1554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8940698" y="3044951"/>
            <a:ext cx="365760" cy="1554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054132" y="3044951"/>
            <a:ext cx="365760" cy="1554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167567" y="3044951"/>
            <a:ext cx="365760" cy="1554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256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7607808" y="2793491"/>
            <a:ext cx="347472" cy="1554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1/16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607808" y="2464308"/>
            <a:ext cx="347472" cy="1554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1/4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7607808" y="2135124"/>
            <a:ext cx="347472" cy="1554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7607808" y="1970531"/>
            <a:ext cx="347472" cy="1554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21" name="Oval 220"/>
          <p:cNvSpPr/>
          <p:nvPr/>
        </p:nvSpPr>
        <p:spPr>
          <a:xfrm>
            <a:off x="8516569" y="2726551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8649157" y="2868283"/>
            <a:ext cx="1097280" cy="1554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decode attention</a:t>
            </a:r>
          </a:p>
        </p:txBody>
      </p:sp>
      <p:sp>
        <p:nvSpPr>
          <p:cNvPr id="223" name="Oval 222"/>
          <p:cNvSpPr/>
          <p:nvPr/>
        </p:nvSpPr>
        <p:spPr>
          <a:xfrm>
            <a:off x="8875015" y="2621088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9007603" y="2680524"/>
            <a:ext cx="1097280" cy="1554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expert GEMM ×2</a:t>
            </a:r>
          </a:p>
        </p:txBody>
      </p:sp>
      <p:sp>
        <p:nvSpPr>
          <p:cNvPr id="225" name="Oval 224"/>
          <p:cNvSpPr/>
          <p:nvPr/>
        </p:nvSpPr>
        <p:spPr>
          <a:xfrm>
            <a:off x="9612239" y="2401877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9744827" y="2461313"/>
            <a:ext cx="1097280" cy="1554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qkv_proj / o_proj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7626096" y="3200400"/>
            <a:ext cx="3870655" cy="1554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算术强度（FLOP / Byte）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7644384" y="3328415"/>
            <a:ext cx="3815791" cy="1828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 个带计算的算子强度 8–31 FLOP/Byte，另外 10 个 FLOP ＝ 0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443216" y="3621024"/>
            <a:ext cx="4199839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特殊结构计算方法</a:t>
            </a:r>
            <a:r>
              <a:rPr sz="7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下界公式在这两处要改，否则算出来的「极限」本身就是错的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7443216" y="3968496"/>
            <a:ext cx="4199839" cy="1152144"/>
          </a:xfrm>
          <a:prstGeom prst="roundRect">
            <a:avLst>
              <a:gd name="adj" fmla="val 1088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1" name="Rounded Rectangle 230"/>
          <p:cNvSpPr/>
          <p:nvPr/>
        </p:nvSpPr>
        <p:spPr>
          <a:xfrm>
            <a:off x="7443216" y="3968496"/>
            <a:ext cx="4199839" cy="237744"/>
          </a:xfrm>
          <a:prstGeom prst="roundRect">
            <a:avLst>
              <a:gd name="adj" fmla="val 1088"/>
            </a:avLst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7443216" y="4114800"/>
            <a:ext cx="4199839" cy="9144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7571232" y="3968496"/>
            <a:ext cx="394380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MoE</a:t>
            </a:r>
            <a:r>
              <a:rPr sz="850" b="0">
                <a:solidFill>
                  <a:srgbClr val="FFFFFF"/>
                </a:solidFill>
                <a:latin typeface="Consolas"/>
                <a:ea typeface="Microsoft YaHei"/>
                <a:cs typeface="Microsoft YaHei"/>
              </a:rPr>
              <a:t>　Roofline 计算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7571232" y="4229100"/>
            <a:ext cx="3943807" cy="1600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·　</a:t>
            </a:r>
            <a:r>
              <a:rPr sz="7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激活专家数按命中率算</a:t>
            </a:r>
            <a:r>
              <a:rPr sz="7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　</a:t>
            </a:r>
            <a:r>
              <a:rPr sz="7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E/EP × [1 − (1 − k/E)^T]，不是 B×k，也不是全部专家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7571232" y="4382719"/>
            <a:ext cx="3943807" cy="1600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·　</a:t>
            </a:r>
            <a:r>
              <a:rPr sz="7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只读激活到的权重</a:t>
            </a:r>
            <a:r>
              <a:rPr sz="7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　</a:t>
            </a:r>
            <a:r>
              <a:rPr sz="7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字节 = 激活专家 × 3 × hidden × inter × bpp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7571232" y="4536338"/>
            <a:ext cx="3943807" cy="1600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·　</a:t>
            </a:r>
            <a:r>
              <a:rPr sz="7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算力按 token–专家对</a:t>
            </a:r>
            <a:r>
              <a:rPr sz="7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　</a:t>
            </a:r>
            <a:r>
              <a:rPr sz="7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FLOP = 2 × T·k/EP × 3 × hidden × inter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7571232" y="4689957"/>
            <a:ext cx="3943807" cy="1600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·　</a:t>
            </a:r>
            <a:r>
              <a:rPr sz="7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dispatch / combine 另记</a:t>
            </a:r>
            <a:r>
              <a:rPr sz="7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　</a:t>
            </a:r>
            <a:r>
              <a:rPr sz="7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T·k·hidden 字节走 all-to-all，fp8 派发减半</a:t>
            </a:r>
          </a:p>
        </p:txBody>
      </p:sp>
      <p:sp>
        <p:nvSpPr>
          <p:cNvPr id="238" name="Rounded Rectangle 237"/>
          <p:cNvSpPr/>
          <p:nvPr/>
        </p:nvSpPr>
        <p:spPr>
          <a:xfrm>
            <a:off x="7534656" y="4892040"/>
            <a:ext cx="4016959" cy="192024"/>
          </a:xfrm>
          <a:prstGeom prst="roundRect">
            <a:avLst>
              <a:gd name="adj" fmla="val 50000"/>
            </a:avLst>
          </a:prstGeom>
          <a:solidFill>
            <a:srgbClr val="E6F0FC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批越小命中的专家越少，读的权重却摊不薄 —— MoE 在 decode 下天然更吃读带宽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7443216" y="5212080"/>
            <a:ext cx="4199839" cy="1152144"/>
          </a:xfrm>
          <a:prstGeom prst="roundRect">
            <a:avLst>
              <a:gd name="adj" fmla="val 1088"/>
            </a:avLst>
          </a:prstGeom>
          <a:solidFill>
            <a:srgbClr val="FFFFFF"/>
          </a:solidFill>
          <a:ln w="1270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0" name="Rounded Rectangle 239"/>
          <p:cNvSpPr/>
          <p:nvPr/>
        </p:nvSpPr>
        <p:spPr>
          <a:xfrm>
            <a:off x="7443216" y="5212080"/>
            <a:ext cx="4199839" cy="237744"/>
          </a:xfrm>
          <a:prstGeom prst="roundRect">
            <a:avLst>
              <a:gd name="adj" fmla="val 1088"/>
            </a:avLst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1" name="Rectangle 240"/>
          <p:cNvSpPr/>
          <p:nvPr/>
        </p:nvSpPr>
        <p:spPr>
          <a:xfrm>
            <a:off x="7443216" y="5358384"/>
            <a:ext cx="4199839" cy="91440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7571232" y="5212080"/>
            <a:ext cx="394380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投机推理</a:t>
            </a:r>
            <a:r>
              <a:rPr sz="850" b="0">
                <a:solidFill>
                  <a:srgbClr val="FFFFFF"/>
                </a:solidFill>
                <a:latin typeface="Consolas"/>
                <a:ea typeface="Microsoft YaHei"/>
                <a:cs typeface="Microsoft YaHei"/>
              </a:rPr>
              <a:t>　Roofline 计算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7571232" y="5472684"/>
            <a:ext cx="3943807" cy="1600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·　</a:t>
            </a:r>
            <a:r>
              <a:rPr sz="7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一步不止一次前向</a:t>
            </a:r>
            <a:r>
              <a:rPr sz="7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　</a:t>
            </a:r>
            <a:r>
              <a:rPr sz="7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 次 draft + 1 次 verify（s+1 token）+ 1 次 draft extend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571232" y="5626303"/>
            <a:ext cx="3943807" cy="1600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·　</a:t>
            </a:r>
            <a:r>
              <a:rPr sz="7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按等效 TPOT 比</a:t>
            </a:r>
            <a:r>
              <a:rPr sz="7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　</a:t>
            </a:r>
            <a:r>
              <a:rPr sz="7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一步耗时 ÷ 接受长度，才和普通 decode 可比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7571232" y="5779922"/>
            <a:ext cx="3943807" cy="1600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·　</a:t>
            </a:r>
            <a:r>
              <a:rPr sz="7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verify 放大了批量</a:t>
            </a:r>
            <a:r>
              <a:rPr sz="7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　</a:t>
            </a:r>
            <a:r>
              <a:rPr sz="7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算术强度随之上升，可能从访存受限翻成算力受限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7571232" y="5933541"/>
            <a:ext cx="3943807" cy="1600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·　</a:t>
            </a:r>
            <a:r>
              <a:rPr sz="7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盈亏线写进账本</a:t>
            </a:r>
            <a:r>
              <a:rPr sz="7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　</a:t>
            </a:r>
            <a:r>
              <a:rPr sz="7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接受长度 &lt; 一步耗时 ÷ decode 耗时，就不该开</a:t>
            </a:r>
          </a:p>
        </p:txBody>
      </p:sp>
      <p:sp>
        <p:nvSpPr>
          <p:cNvPr id="247" name="Rounded Rectangle 246"/>
          <p:cNvSpPr/>
          <p:nvPr/>
        </p:nvSpPr>
        <p:spPr>
          <a:xfrm>
            <a:off x="7534656" y="6135624"/>
            <a:ext cx="4016959" cy="192024"/>
          </a:xfrm>
          <a:prstGeom prst="roundRect">
            <a:avLst>
              <a:gd name="adj" fmla="val 50000"/>
            </a:avLst>
          </a:prstGeom>
          <a:solidFill>
            <a:srgbClr val="FBE6D4"/>
          </a:solidFill>
          <a:ln>
            <a:noFill/>
          </a:ln>
        </p:spPr>
        <p:txBody>
          <a:bodyPr rtlCol="0" anchor="ctr" wrap="square" lIns="54864" tIns="0" rIns="54864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芯片拐点越低，verify 越早转算力受限 —— 大批量下投机反而是负收益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 /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