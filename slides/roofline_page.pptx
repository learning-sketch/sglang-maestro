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84048"/>
            <a:ext cx="68580" cy="38404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310896"/>
            <a:ext cx="7315200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模型层 Agent Roofline 核算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2799" y="1060704"/>
            <a:ext cx="2103120" cy="493776"/>
          </a:xfrm>
          <a:prstGeom prst="roundRect">
            <a:avLst>
              <a:gd name="adj" fmla="val 14814"/>
            </a:avLst>
          </a:prstGeom>
          <a:solidFill>
            <a:srgbClr val="7FA4BA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单算子</a:t>
            </a:r>
            <a:r>
              <a:rPr sz="1100" b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　Roofline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4287" y="1060704"/>
            <a:ext cx="2103120" cy="493776"/>
          </a:xfrm>
          <a:prstGeom prst="roundRect">
            <a:avLst>
              <a:gd name="adj" fmla="val 14814"/>
            </a:avLst>
          </a:prstGeom>
          <a:solidFill>
            <a:srgbClr val="D2690C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Layer</a:t>
            </a:r>
            <a:r>
              <a:rPr sz="1100" b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　Roofline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77359" y="1307592"/>
            <a:ext cx="493776" cy="0"/>
          </a:xfrm>
          <a:prstGeom prst="line">
            <a:avLst/>
          </a:prstGeom>
          <a:ln w="31750">
            <a:solidFill>
              <a:srgbClr val="7FA4BA"/>
            </a:solidFill>
            <a:tailEnd type="triangle" w="med" len="med"/>
          </a:ln>
        </p:spPr>
      </p:cxnSp>
      <p:sp>
        <p:nvSpPr>
          <p:cNvPr id="8" name="Rounded Rectangle 7"/>
          <p:cNvSpPr/>
          <p:nvPr/>
        </p:nvSpPr>
        <p:spPr>
          <a:xfrm>
            <a:off x="7805775" y="1060704"/>
            <a:ext cx="2103120" cy="493776"/>
          </a:xfrm>
          <a:prstGeom prst="roundRect">
            <a:avLst>
              <a:gd name="adj" fmla="val 14814"/>
            </a:avLst>
          </a:prstGeom>
          <a:solidFill>
            <a:srgbClr val="9E4206"/>
          </a:solidFill>
          <a:ln>
            <a:noFill/>
          </a:ln>
        </p:spPr>
        <p:txBody>
          <a:bodyPr rtlCol="0" anchor="ctr" wrap="square" tIns="36576" bIns="36576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100" b="0">
                <a:solidFill>
                  <a:srgbClr val="FFFFFF"/>
                </a:solidFill>
                <a:latin typeface="Consolas"/>
                <a:ea typeface="Microsoft YaHei"/>
                <a:cs typeface="Microsoft YaHei"/>
              </a:rPr>
              <a:t>　Roofline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38847" y="1307592"/>
            <a:ext cx="493776" cy="0"/>
          </a:xfrm>
          <a:prstGeom prst="line">
            <a:avLst/>
          </a:prstGeom>
          <a:ln w="31750">
            <a:solidFill>
              <a:srgbClr val="D2690C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548640" y="1755648"/>
            <a:ext cx="67665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801368"/>
            <a:ext cx="649224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单步 Decode 逐算子理论下界（µs / 层）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039112"/>
            <a:ext cx="128016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5" y="2039112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4015" y="2039112"/>
            <a:ext cx="4389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读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1" y="2039112"/>
            <a:ext cx="4389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写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39112"/>
            <a:ext cx="4389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GFLOP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2039112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t_read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039112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t_write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039112"/>
            <a:ext cx="43891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t_comp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039112"/>
            <a:ext cx="53035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t_其它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8464" y="2039112"/>
            <a:ext cx="45720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取 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039112"/>
            <a:ext cx="47548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×48 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6656" y="2249424"/>
            <a:ext cx="6364224" cy="0"/>
          </a:xfrm>
          <a:prstGeom prst="line">
            <a:avLst/>
          </a:prstGeom>
          <a:ln w="9525">
            <a:solidFill>
              <a:srgbClr val="AFCEE1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76656" y="2286000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input_rmsnorm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6815" y="228600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14015" y="228600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1" y="228600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228600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5344" y="228600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228600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228600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98464" y="228600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2286000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" y="2509113"/>
            <a:ext cx="6364224" cy="22311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2509113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qkv_proj GEMM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56815" y="2509113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14015" y="2509113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21.10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7791" y="2509113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2509113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5344" y="2509113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16.23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2509113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2509113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5.99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98464" y="2509113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16.23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2509113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0.779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2732227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q_norm/k_norm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6815" y="2732227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14015" y="2732227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07791" y="2732227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1568" y="2732227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95344" y="2732227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7408" y="2732227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9472" y="2732227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98464" y="2732227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2732227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" y="2955340"/>
            <a:ext cx="6364224" cy="22311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6656" y="2955340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3D-RoPE(mrope)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56815" y="295534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14015" y="295534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07791" y="295534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0.328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01568" y="295534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95344" y="295534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07408" y="295534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19472" y="295534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98464" y="295534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0.44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0528" y="2955340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0.021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" y="3178454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store_kv(page)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56815" y="3178454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14015" y="3178454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07791" y="3178454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0.066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01568" y="3178454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95344" y="3178454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0.09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07408" y="3178454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19472" y="3178454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98464" y="3178454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10528" y="3178454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6656" y="3401568"/>
            <a:ext cx="6364224" cy="22311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76656" y="3401568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decode attention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56815" y="3401568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14015" y="3401568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100.93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07791" y="3401568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0.262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01568" y="3401568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0.81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95344" y="3401568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54.85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07408" y="3401568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1.42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19472" y="3401568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7.19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13248" y="3401568"/>
            <a:ext cx="53035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32.4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98464" y="3401568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54.85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10528" y="3401568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2.633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6656" y="3624681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o_proj GEMM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56815" y="3624681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14015" y="3624681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17.04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07791" y="3624681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01568" y="3624681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0.54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95344" y="3624681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13.11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07408" y="3624681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0.71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19472" y="3624681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4.79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998464" y="3624681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13.11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10528" y="3624681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0.629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6656" y="3847795"/>
            <a:ext cx="6364224" cy="22311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76656" y="3847795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post_rmsnorm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56815" y="3847795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414015" y="3847795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07791" y="3847795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01568" y="3847795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95344" y="3847795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07408" y="3847795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919472" y="3847795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98464" y="3847795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510528" y="3847795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6656" y="4070908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router gate GEMM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956815" y="4070908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414015" y="4070908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0.66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907791" y="4070908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01568" y="4070908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95344" y="4070908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0.50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407408" y="4070908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919472" y="4070908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98464" y="4070908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0.50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10528" y="4070908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0.024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76656" y="4294022"/>
            <a:ext cx="6364224" cy="22311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76656" y="4294022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topk+softmax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956815" y="4294022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414015" y="4294022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907791" y="4294022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0.001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01568" y="4294022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895344" y="4294022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407408" y="4294022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919472" y="4294022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98464" y="4294022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10528" y="4294022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6656" y="4517136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act_quant(fp8)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956815" y="4517136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414015" y="4517136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07791" y="4517136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0.066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01568" y="4517136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95344" y="4517136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07408" y="4517136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0.09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919472" y="4517136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998464" y="4517136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510528" y="4517136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0.009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76656" y="4740249"/>
            <a:ext cx="6364224" cy="22311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76656" y="4740249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permute/shuffle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956815" y="4740249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414015" y="4740249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0.52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907791" y="4740249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0.524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01568" y="4740249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95344" y="4740249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0.71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407408" y="4740249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0.71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919472" y="4740249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998464" y="4740249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0.71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510528" y="4740249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0.034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76656" y="4963363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expert gate+up GEMM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956815" y="4963363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414015" y="4963363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127.76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907791" y="4963363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0.786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401568" y="4963363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1.61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895344" y="4963363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98.28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407408" y="4963363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4.27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919472" y="4963363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7.19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998464" y="4963363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98.28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510528" y="4963363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4.717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76656" y="5186476"/>
            <a:ext cx="6364224" cy="22311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6656" y="5186476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silu_and_mul(+quant)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956815" y="5186476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414015" y="5186476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0.79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907791" y="5186476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0.197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401568" y="5186476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895344" y="5186476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1.06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407408" y="5186476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0.27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919472" y="5186476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5413248" y="5186476"/>
            <a:ext cx="53035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6.6(SFU)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998464" y="5186476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6.55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510528" y="5186476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0.315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76656" y="5409590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expert down GEMM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956815" y="540959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sdnn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414015" y="540959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63.82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907791" y="540959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1.049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401568" y="540959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0.81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895344" y="540959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49.09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407408" y="540959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5.70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919472" y="5409590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3.60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998464" y="5409590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49.09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510528" y="5409590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2.356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76656" y="5632704"/>
            <a:ext cx="6364224" cy="22311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76656" y="5632704"/>
            <a:ext cx="128016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unpermute+combine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956815" y="5632704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cluster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414015" y="5632704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1.05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907791" y="5632704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0.131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401568" y="5632704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895344" y="5632704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2570A"/>
                </a:solidFill>
                <a:latin typeface="Consolas"/>
                <a:ea typeface="Microsoft YaHei"/>
                <a:cs typeface="Microsoft YaHei"/>
              </a:rPr>
              <a:t>1.42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407408" y="5632704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0.18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919472" y="5632704"/>
            <a:ext cx="438912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B4D69"/>
                </a:solidFill>
                <a:latin typeface="Consolas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998464" y="5632704"/>
            <a:ext cx="457200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1.42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510528" y="5632704"/>
            <a:ext cx="475488" cy="223113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0.068</a:t>
            </a:r>
          </a:p>
        </p:txBody>
      </p:sp>
      <p:cxnSp>
        <p:nvCxnSpPr>
          <p:cNvPr id="194" name="Connector 193"/>
          <p:cNvCxnSpPr/>
          <p:nvPr/>
        </p:nvCxnSpPr>
        <p:spPr>
          <a:xfrm>
            <a:off x="5980176" y="2039112"/>
            <a:ext cx="0" cy="3816705"/>
          </a:xfrm>
          <a:prstGeom prst="line">
            <a:avLst/>
          </a:prstGeom>
          <a:ln w="9525">
            <a:solidFill>
              <a:srgbClr val="AFCEE1"/>
            </a:solidFill>
          </a:ln>
        </p:spPr>
      </p:cxnSp>
      <p:sp>
        <p:nvSpPr>
          <p:cNvPr id="195" name="Rectangle 194"/>
          <p:cNvSpPr/>
          <p:nvPr/>
        </p:nvSpPr>
        <p:spPr>
          <a:xfrm>
            <a:off x="676656" y="5883249"/>
            <a:ext cx="6364224" cy="237744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31520" y="5883249"/>
            <a:ext cx="182880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单层合计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998464" y="5883249"/>
            <a:ext cx="457200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242.3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510528" y="5883249"/>
            <a:ext cx="475488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11.629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76656" y="5998464"/>
            <a:ext cx="649224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橙色为决定该算子下界的那一列：16 个算子里 15 个卡在读，唯一例外是 silu_and_mul 卡在 SFU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443216" y="1755648"/>
            <a:ext cx="4199839" cy="1792224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626096" y="1792224"/>
            <a:ext cx="3870655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Roofline：所有算子都落在访存区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8010144" y="2048255"/>
            <a:ext cx="2454783" cy="98755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8010144" y="2048255"/>
            <a:ext cx="3016211" cy="890343"/>
          </a:xfrm>
          <a:prstGeom prst="line">
            <a:avLst/>
          </a:prstGeom>
          <a:ln w="19050">
            <a:solidFill>
              <a:srgbClr val="40708B"/>
            </a:solidFill>
          </a:ln>
        </p:spPr>
      </p:cxnSp>
      <p:cxnSp>
        <p:nvCxnSpPr>
          <p:cNvPr id="204" name="Connector 203"/>
          <p:cNvCxnSpPr/>
          <p:nvPr/>
        </p:nvCxnSpPr>
        <p:spPr>
          <a:xfrm>
            <a:off x="10464927" y="2212848"/>
            <a:ext cx="885520" cy="0"/>
          </a:xfrm>
          <a:prstGeom prst="line">
            <a:avLst/>
          </a:prstGeom>
          <a:ln w="15875">
            <a:solidFill>
              <a:srgbClr val="0F62CE"/>
            </a:solidFill>
          </a:ln>
        </p:spPr>
      </p:cxnSp>
      <p:sp>
        <p:nvSpPr>
          <p:cNvPr id="205" name="Oval 204"/>
          <p:cNvSpPr/>
          <p:nvPr/>
        </p:nvSpPr>
        <p:spPr>
          <a:xfrm>
            <a:off x="10428351" y="2176272"/>
            <a:ext cx="73152" cy="73152"/>
          </a:xfrm>
          <a:prstGeom prst="ellipse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11026355" y="2048255"/>
            <a:ext cx="324092" cy="0"/>
          </a:xfrm>
          <a:prstGeom prst="line">
            <a:avLst/>
          </a:prstGeom>
          <a:ln w="15875">
            <a:solidFill>
              <a:srgbClr val="D2690C"/>
            </a:solidFill>
          </a:ln>
        </p:spPr>
      </p:cxnSp>
      <p:sp>
        <p:nvSpPr>
          <p:cNvPr id="207" name="Oval 206"/>
          <p:cNvSpPr/>
          <p:nvPr/>
        </p:nvSpPr>
        <p:spPr>
          <a:xfrm>
            <a:off x="10989779" y="2011679"/>
            <a:ext cx="73152" cy="73152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083296" y="2057399"/>
            <a:ext cx="1700784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带宽屋顶 ＝ 算术强度 × 带宽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083296" y="2212847"/>
            <a:ext cx="1700784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fp8 算力屋顶（拐点 171）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083296" y="2368295"/>
            <a:ext cx="1700784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bf16 算力屋顶（拐点 85）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8010144" y="3035808"/>
            <a:ext cx="3340303" cy="0"/>
          </a:xfrm>
          <a:prstGeom prst="line">
            <a:avLst/>
          </a:prstGeom>
          <a:ln w="9525">
            <a:solidFill>
              <a:srgbClr val="7FA4BA"/>
            </a:solidFill>
          </a:ln>
        </p:spPr>
      </p:cxnSp>
      <p:cxnSp>
        <p:nvCxnSpPr>
          <p:cNvPr id="212" name="Connector 211"/>
          <p:cNvCxnSpPr/>
          <p:nvPr/>
        </p:nvCxnSpPr>
        <p:spPr>
          <a:xfrm>
            <a:off x="8010144" y="2048255"/>
            <a:ext cx="0" cy="987553"/>
          </a:xfrm>
          <a:prstGeom prst="line">
            <a:avLst/>
          </a:prstGeom>
          <a:ln w="9525">
            <a:solidFill>
              <a:srgbClr val="7FA4BA"/>
            </a:solidFill>
          </a:ln>
        </p:spPr>
      </p:cxnSp>
      <p:sp>
        <p:nvSpPr>
          <p:cNvPr id="213" name="TextBox 212"/>
          <p:cNvSpPr txBox="1"/>
          <p:nvPr/>
        </p:nvSpPr>
        <p:spPr>
          <a:xfrm>
            <a:off x="7827264" y="3044951"/>
            <a:ext cx="365760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940698" y="3044951"/>
            <a:ext cx="365760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054132" y="3044951"/>
            <a:ext cx="365760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1167567" y="3044951"/>
            <a:ext cx="365760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607808" y="2793491"/>
            <a:ext cx="347472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1/16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607808" y="2464308"/>
            <a:ext cx="347472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1/4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607808" y="2135124"/>
            <a:ext cx="347472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607808" y="1970531"/>
            <a:ext cx="347472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1" name="Oval 220"/>
          <p:cNvSpPr/>
          <p:nvPr/>
        </p:nvSpPr>
        <p:spPr>
          <a:xfrm>
            <a:off x="8516569" y="2726551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649157" y="2868283"/>
            <a:ext cx="1097280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decode attention</a:t>
            </a:r>
          </a:p>
        </p:txBody>
      </p:sp>
      <p:sp>
        <p:nvSpPr>
          <p:cNvPr id="223" name="Oval 222"/>
          <p:cNvSpPr/>
          <p:nvPr/>
        </p:nvSpPr>
        <p:spPr>
          <a:xfrm>
            <a:off x="8875015" y="2621088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9007603" y="2680524"/>
            <a:ext cx="1097280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expert GEMM ×2</a:t>
            </a:r>
          </a:p>
        </p:txBody>
      </p:sp>
      <p:sp>
        <p:nvSpPr>
          <p:cNvPr id="225" name="Oval 224"/>
          <p:cNvSpPr/>
          <p:nvPr/>
        </p:nvSpPr>
        <p:spPr>
          <a:xfrm>
            <a:off x="9612239" y="2401877"/>
            <a:ext cx="100584" cy="100584"/>
          </a:xfrm>
          <a:prstGeom prst="ellipse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9744827" y="2461313"/>
            <a:ext cx="1097280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2570A"/>
                </a:solidFill>
                <a:latin typeface="Microsoft YaHei"/>
                <a:ea typeface="Microsoft YaHei"/>
                <a:cs typeface="Microsoft YaHei"/>
              </a:rPr>
              <a:t>qkv_proj / o_proj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626096" y="3200400"/>
            <a:ext cx="3870655" cy="15544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算术强度（FLOP / Byte）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644384" y="3328415"/>
            <a:ext cx="3815791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6 个带计算的算子强度 8–31 FLOP/Byte，另外 10 个 FLOP ＝ 0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443216" y="3621024"/>
            <a:ext cx="4199839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特殊结构</a:t>
            </a:r>
            <a:r>
              <a:rPr sz="8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下界公式要改两处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7443216" y="4023360"/>
            <a:ext cx="4199839" cy="1097280"/>
          </a:xfrm>
          <a:prstGeom prst="roundRect">
            <a:avLst>
              <a:gd name="adj" fmla="val 1088"/>
            </a:avLst>
          </a:prstGeom>
          <a:solidFill>
            <a:srgbClr val="FFFFFF"/>
          </a:solidFill>
          <a:ln w="12700">
            <a:solidFill>
              <a:srgbClr val="0F62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Rounded Rectangle 230"/>
          <p:cNvSpPr/>
          <p:nvPr/>
        </p:nvSpPr>
        <p:spPr>
          <a:xfrm>
            <a:off x="7443216" y="4023360"/>
            <a:ext cx="4199839" cy="237744"/>
          </a:xfrm>
          <a:prstGeom prst="roundRect">
            <a:avLst>
              <a:gd name="adj" fmla="val 1088"/>
            </a:avLst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7443216" y="4169664"/>
            <a:ext cx="4199839" cy="91440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7571232" y="4023360"/>
            <a:ext cx="394380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MoE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571232" y="4297680"/>
            <a:ext cx="713232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激活专家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8321040" y="4297680"/>
            <a:ext cx="319399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E/EP × [1 − (1 − k/E)^T]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571232" y="4498848"/>
            <a:ext cx="713232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权重字节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8321040" y="4498848"/>
            <a:ext cx="319399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激活专家 × 3 × hidden × inter × bpp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571232" y="4700016"/>
            <a:ext cx="713232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通信字节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321040" y="4700016"/>
            <a:ext cx="319399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T · k · hidden，fp8 派发减半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7534656" y="4873752"/>
            <a:ext cx="4016959" cy="201168"/>
          </a:xfrm>
          <a:prstGeom prst="roundRect">
            <a:avLst>
              <a:gd name="adj" fmla="val 50000"/>
            </a:avLst>
          </a:prstGeom>
          <a:solidFill>
            <a:srgbClr val="E6F0FC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批小 → 命中专家少 → 更吃读带宽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7443216" y="5248656"/>
            <a:ext cx="4199839" cy="1097280"/>
          </a:xfrm>
          <a:prstGeom prst="roundRect">
            <a:avLst>
              <a:gd name="adj" fmla="val 1088"/>
            </a:avLst>
          </a:prstGeom>
          <a:solidFill>
            <a:srgbClr val="FFFFFF"/>
          </a:solidFill>
          <a:ln w="12700">
            <a:solidFill>
              <a:srgbClr val="D2690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Rounded Rectangle 241"/>
          <p:cNvSpPr/>
          <p:nvPr/>
        </p:nvSpPr>
        <p:spPr>
          <a:xfrm>
            <a:off x="7443216" y="5248656"/>
            <a:ext cx="4199839" cy="237744"/>
          </a:xfrm>
          <a:prstGeom prst="roundRect">
            <a:avLst>
              <a:gd name="adj" fmla="val 1088"/>
            </a:avLst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7443216" y="5394960"/>
            <a:ext cx="4199839" cy="91440"/>
          </a:xfrm>
          <a:prstGeom prst="rect">
            <a:avLst/>
          </a:prstGeom>
          <a:solidFill>
            <a:srgbClr val="D269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571232" y="5248656"/>
            <a:ext cx="3943807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投机推理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571232" y="5522976"/>
            <a:ext cx="713232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一步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321040" y="5522976"/>
            <a:ext cx="319399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s × draft + verify(s+1) + extend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571232" y="5724144"/>
            <a:ext cx="713232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等效 TPOT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8321040" y="5724144"/>
            <a:ext cx="319399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一步耗时 ÷ 接受长度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571232" y="5925312"/>
            <a:ext cx="713232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盈亏线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8321040" y="5925312"/>
            <a:ext cx="3193999" cy="1828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接受长度 &lt; 一步 ÷ decode 即亏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7534656" y="6099048"/>
            <a:ext cx="4016959" cy="201168"/>
          </a:xfrm>
          <a:prstGeom prst="roundRect">
            <a:avLst>
              <a:gd name="adj" fmla="val 50000"/>
            </a:avLst>
          </a:prstGeom>
          <a:solidFill>
            <a:srgbClr val="FBE6D4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D2690C"/>
                </a:solidFill>
                <a:latin typeface="Microsoft YaHei"/>
                <a:ea typeface="Microsoft YaHei"/>
                <a:cs typeface="Microsoft YaHei"/>
              </a:rPr>
              <a:t>批大 → verify 转算力受限 → 负收益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10362895" y="6473952"/>
            <a:ext cx="128016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