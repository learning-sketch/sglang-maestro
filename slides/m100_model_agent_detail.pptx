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【01 / 08 · 约 35 秒（0:35）】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这套 Agent 做的事，是在 M100 上把一个模型适配下来、再把性能调上去。执行后端是 SGLang，第一个任务是 Qwen3-VL-8B 的 channel-FP8。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它的哲学就是下面这四步：先把一切可变量冻结，改只在隔离副本里改，判定交给独立的确定性门禁，全程留证据、随时可回退。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一句话：它不信模型的自述，一切以真机实测为准。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【02 / 08 · 约 55 秒（0:55）】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架构上是三条命令线：接入线负责新架构能不能跑起来，调优线负责把性能调上去，优化线是 trace 驱动的持续迭代。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三条线结构同构，都是一个控制器加一个规划器，共用下面这一套底座——契约、进程身份、隔离与补丁、质量与数值门、性能门、规划器、采样、构建、设备解析。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接入线那八层，依次是构建、算子、层、前向、缓存、分布式、服务、质量，每层都用冻结的独立 CPU 参考按 atol / rtol 逐元素裁决。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今天重点讲调优线，它源码最完整；另外两条看同一套底座就行。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【03 / 08 · 约 65 秒（1:05）】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调优线分四个阶段。A 先建立工作基线：跑一次全量评测，启动失败就让规划器按日志证据提修复，每次都从原始备份重开，最多六次，全失败就是 baseline_failed，不往下走。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B 是可选的 profiling，用独立进程采 trace，只用来定位，不参与收益计算。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C 是候选迭代：预算还够就继续，最多六个候选，连续三个没有筛选收益就停。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D 是最终复验，这一步最关键：重测一次基线，再对每个候选做全量复验，相对初始基线和重测基线都提升，才算交付收益。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所以筛选收益不等于交付收益；没有复验通过的，报告里就保留基线、不宣称加速。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【04 / 08 · 约 50 秒（0:50）】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一个候选具体怎么跑：先在隔离副本上打补丁、生成完整 diff，需要的话跑算子生成和构建，然后给编译后的产物记一次身份。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服务起来之后连过三道门：先比数值，再比正确率，最后才测性能。任一道不过立即返回，不浪费后面的时间。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三个细节：候选的副本是从已验收基线复制的，所以之前的修复会自动继承；非复验候选只能用预留之外的预算；基线做全量评测，普通候选质量只筛 24 题，有收益才在复验阶段跑全 120 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【05 / 08 · 约 60 秒（1:00）】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三道门的判据都是写死的数字，不由模型解释。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数值门：三段固定文本做 teacher-forcing，贪心输出的 token 必须完全一致，logprob 最大绝对差不超过 0.03，出现 NaN、Inf 直接拒。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质量门：同一批 MMStar 题目，正确率零下降，解析率也不许降，答不出选项的一律记错。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性能门：四个指标各重复三次取中位，任一指标回归不超过 5%，有效收益要同时大于 3% 和实测噪声极差。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右边这一列是防作弊：prompt 的 token 数必须等于冻结值，出现前缀缓存命中直接拒，精度、缓存这些口径候选一律不许碰——不能靠偷工减料来“变快”。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【06 / 08 · 约 50 秒（0:50）】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规划器的候选有三个来源，优先级从高到低：有证据的诊断规则、启动失败的适配规则，最后才是模型自主。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模型自主这条有两道约束。工具层：要提实验，必须先读过或搜过真实源码并带上证据，否则打回。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规划层：环境变量必须在源码或配置里真实存在，补丁的原文必须唯一匹配，Python 补丁必须能通过编译。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也就是说，虚构的补丁在规划阶段就被打回，不会浪费一次设备实验——这是整套设计里最省时间的一条。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【07 / 08 · 约 50 秒（0:50）】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这一页是改不动的规则和留下的证据。左边六条：原始安装包只读；改动只在候选副本里；产物在仓库外；预算从初始化起算、恢复不重置；冻结物被改过就拒绝继续；清理进程要 pid、启动时刻、环境三重匹配。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右边是一次 run 留下的东西：冻结契约、源码副本和清单、题集、每个候选的副本与完整 diff、运行与服务身份、质量与性能原始数据、规划器的完整往来、事件流水，最后是 best 和报告。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出了问题能回到任意一轮；换个人接手，看这堆东西就够。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【08 / 08 · 约 45 秒（0:45）】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现状：调优线最成熟，首个任务是 Qwen3-VL-8B channel-FP8；接入线首个跨任务是 BGE reranker；优化线是 trace 驱动的迭代。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下一步我建议补四件事，都和“数字能不能被追问”有关：测量改成交错 A/B、质量门用配对显著性而不是零容差、复验预留按候选数量自适应，以及把每个模型的人力与设备消耗记成可对比的指标。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最后一句话：这套系统的能力不在模型写得多好，在门禁敢不敢把它判死。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>
            <a:off x="8351215" y="2286000"/>
            <a:ext cx="3291840" cy="3291840"/>
          </a:xfrm>
          <a:prstGeom prst="arc">
            <a:avLst>
              <a:gd name="adj1" fmla="val 18000000"/>
              <a:gd name="adj2" fmla="val 15000000"/>
            </a:avLst>
          </a:prstGeom>
          <a:noFill/>
          <a:ln w="38100">
            <a:solidFill>
              <a:srgbClr val="263340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7315200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2B233"/>
                </a:solidFill>
                <a:latin typeface="Consolas"/>
                <a:ea typeface="Microsoft YaHei"/>
                <a:cs typeface="Microsoft YaHei"/>
              </a:rPr>
              <a:t>M100-MODEL-AGENT · 架构评审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8778240" cy="1371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M100 上的模型适配与实测调优 Agent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D5DCE3"/>
                </a:solidFill>
                <a:latin typeface="Microsoft YaHei"/>
                <a:ea typeface="Microsoft YaHei"/>
                <a:cs typeface="Microsoft YaHei"/>
              </a:rPr>
              <a:t>执行后端 SGLang · 首个任务 Qwen3-VL-8B channel-FP8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429000"/>
            <a:ext cx="2121408" cy="786384"/>
          </a:xfrm>
          <a:prstGeom prst="rect">
            <a:avLst/>
          </a:prstGeom>
          <a:solidFill>
            <a:srgbClr val="222E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2121408" cy="7863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冻结一切可变量</a:t>
            </a:r>
          </a:p>
        </p:txBody>
      </p:sp>
      <p:sp>
        <p:nvSpPr>
          <p:cNvPr id="7" name="Rectangle 6"/>
          <p:cNvSpPr/>
          <p:nvPr/>
        </p:nvSpPr>
        <p:spPr>
          <a:xfrm>
            <a:off x="3090672" y="3429000"/>
            <a:ext cx="2121408" cy="786384"/>
          </a:xfrm>
          <a:prstGeom prst="rect">
            <a:avLst/>
          </a:prstGeom>
          <a:solidFill>
            <a:srgbClr val="222E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90672" y="3429000"/>
            <a:ext cx="2121408" cy="7863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在隔离副本里改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98648" y="3822191"/>
            <a:ext cx="146304" cy="0"/>
          </a:xfrm>
          <a:prstGeom prst="line">
            <a:avLst/>
          </a:prstGeom>
          <a:ln w="15875">
            <a:solidFill>
              <a:srgbClr val="E99A66"/>
            </a:solidFill>
            <a:tailEnd type="triangle" w="med" len="med"/>
          </a:ln>
        </p:spPr>
      </p:cxnSp>
      <p:sp>
        <p:nvSpPr>
          <p:cNvPr id="10" name="Rectangle 9"/>
          <p:cNvSpPr/>
          <p:nvPr/>
        </p:nvSpPr>
        <p:spPr>
          <a:xfrm>
            <a:off x="5449824" y="3429000"/>
            <a:ext cx="2121408" cy="786384"/>
          </a:xfrm>
          <a:prstGeom prst="rect">
            <a:avLst/>
          </a:prstGeom>
          <a:solidFill>
            <a:srgbClr val="222E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49824" y="3429000"/>
            <a:ext cx="2121408" cy="7863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独立门禁裁决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257800" y="3822191"/>
            <a:ext cx="146304" cy="0"/>
          </a:xfrm>
          <a:prstGeom prst="line">
            <a:avLst/>
          </a:prstGeom>
          <a:ln w="15875">
            <a:solidFill>
              <a:srgbClr val="E99A66"/>
            </a:solidFill>
            <a:tailEnd type="triangle" w="med" len="med"/>
          </a:ln>
        </p:spPr>
      </p:cxnSp>
      <p:sp>
        <p:nvSpPr>
          <p:cNvPr id="13" name="Rectangle 12"/>
          <p:cNvSpPr/>
          <p:nvPr/>
        </p:nvSpPr>
        <p:spPr>
          <a:xfrm>
            <a:off x="7808976" y="3429000"/>
            <a:ext cx="2121408" cy="786384"/>
          </a:xfrm>
          <a:prstGeom prst="rect">
            <a:avLst/>
          </a:prstGeom>
          <a:solidFill>
            <a:srgbClr val="222E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08976" y="3429000"/>
            <a:ext cx="2121408" cy="7863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留证据可回退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6952" y="3822191"/>
            <a:ext cx="146304" cy="0"/>
          </a:xfrm>
          <a:prstGeom prst="line">
            <a:avLst/>
          </a:prstGeom>
          <a:ln w="15875">
            <a:solidFill>
              <a:srgbClr val="E99A66"/>
            </a:solidFill>
            <a:tailEnd type="triangle" w="med" len="med"/>
          </a:ln>
        </p:spPr>
      </p:cxnSp>
      <p:sp>
        <p:nvSpPr>
          <p:cNvPr id="16" name="TextBox 15"/>
          <p:cNvSpPr txBox="1"/>
          <p:nvPr/>
        </p:nvSpPr>
        <p:spPr>
          <a:xfrm>
            <a:off x="731520" y="4526280"/>
            <a:ext cx="914400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四步贯穿所有代码：冻结 → 隔离 → 裁决 → 留证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66360"/>
            <a:ext cx="9326880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它不信 LLM 的自述，</a:t>
            </a:r>
            <a:r>
              <a:rPr sz="1900" b="1">
                <a:solidFill>
                  <a:srgbClr val="F2B233"/>
                </a:solidFill>
                <a:latin typeface="Microsoft YaHei"/>
                <a:ea typeface="Microsoft YaHei"/>
                <a:cs typeface="Microsoft YaHei"/>
              </a:rPr>
              <a:t>一切以真机实测为准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897880"/>
            <a:ext cx="914400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三条命令线 · 一套共享底座 · 三道确定性门禁 · 每一轮都可回放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架构 · 三条命令线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415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三条线各负责一段，结构同构，共用一套底座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1094415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每条线都是「一个控制器 + 一个规划器」；底座模块被三条线共享，口径只有一套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3515258" cy="2304288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911095"/>
            <a:ext cx="3039770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调优线</a:t>
            </a:r>
            <a:r>
              <a:rPr sz="1050" b="0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　run / resume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240280"/>
            <a:ext cx="303977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8" name="Oval 7"/>
          <p:cNvSpPr/>
          <p:nvPr/>
        </p:nvSpPr>
        <p:spPr>
          <a:xfrm>
            <a:off x="786384" y="2743200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596896"/>
            <a:ext cx="2820314" cy="4206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冻结基线 → 候选迭代 → 最终复验</a:t>
            </a:r>
          </a:p>
        </p:txBody>
      </p:sp>
      <p:sp>
        <p:nvSpPr>
          <p:cNvPr id="10" name="Oval 9"/>
          <p:cNvSpPr/>
          <p:nvPr/>
        </p:nvSpPr>
        <p:spPr>
          <a:xfrm>
            <a:off x="786384" y="3163824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017520"/>
            <a:ext cx="2820314" cy="4206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收益只认复验，报告不宣称未复验的加速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3584448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438144"/>
            <a:ext cx="2820314" cy="4206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源码最完整，本次重点讲这一条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8218" y="1783080"/>
            <a:ext cx="3515258" cy="2304288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962" y="1911095"/>
            <a:ext cx="3039770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接入线</a:t>
            </a:r>
            <a:r>
              <a:rPr sz="105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　onboard-*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5962" y="2240280"/>
            <a:ext cx="303977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OnboardingController</a:t>
            </a:r>
          </a:p>
        </p:txBody>
      </p:sp>
      <p:sp>
        <p:nvSpPr>
          <p:cNvPr id="17" name="Oval 16"/>
          <p:cNvSpPr/>
          <p:nvPr/>
        </p:nvSpPr>
        <p:spPr>
          <a:xfrm>
            <a:off x="4575962" y="2743200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95418" y="2596896"/>
            <a:ext cx="2820314" cy="4206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读 safetensors 头与分片索引做静态发现</a:t>
            </a:r>
          </a:p>
        </p:txBody>
      </p:sp>
      <p:sp>
        <p:nvSpPr>
          <p:cNvPr id="19" name="Oval 18"/>
          <p:cNvSpPr/>
          <p:nvPr/>
        </p:nvSpPr>
        <p:spPr>
          <a:xfrm>
            <a:off x="4575962" y="3163824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95418" y="3017520"/>
            <a:ext cx="2820314" cy="4206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构建到质量共八层，逐层独立验收</a:t>
            </a:r>
          </a:p>
        </p:txBody>
      </p:sp>
      <p:sp>
        <p:nvSpPr>
          <p:cNvPr id="21" name="Oval 20"/>
          <p:cNvSpPr/>
          <p:nvPr/>
        </p:nvSpPr>
        <p:spPr>
          <a:xfrm>
            <a:off x="4575962" y="3584448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95418" y="3438144"/>
            <a:ext cx="2820314" cy="4206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用冻结的独立 CPU 参考逐元素裁决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27796" y="1783080"/>
            <a:ext cx="3515258" cy="2304288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5540" y="1911095"/>
            <a:ext cx="3039770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优化线</a:t>
            </a:r>
            <a:r>
              <a:rPr sz="105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　optimize-*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5540" y="2240280"/>
            <a:ext cx="303977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OptimizationController</a:t>
            </a:r>
          </a:p>
        </p:txBody>
      </p:sp>
      <p:sp>
        <p:nvSpPr>
          <p:cNvPr id="26" name="Oval 25"/>
          <p:cNvSpPr/>
          <p:nvPr/>
        </p:nvSpPr>
        <p:spPr>
          <a:xfrm>
            <a:off x="8365540" y="2743200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84996" y="2596896"/>
            <a:ext cx="2820314" cy="4206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从已验收工作区启动，trace 驱动</a:t>
            </a:r>
          </a:p>
        </p:txBody>
      </p:sp>
      <p:sp>
        <p:nvSpPr>
          <p:cNvPr id="28" name="Oval 27"/>
          <p:cNvSpPr/>
          <p:nvPr/>
        </p:nvSpPr>
        <p:spPr>
          <a:xfrm>
            <a:off x="8365540" y="3163824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84996" y="3017520"/>
            <a:ext cx="2820314" cy="4206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每轮：重测基线 → 采 trace → 改 → 复验</a:t>
            </a:r>
          </a:p>
        </p:txBody>
      </p:sp>
      <p:sp>
        <p:nvSpPr>
          <p:cNvPr id="30" name="Oval 29"/>
          <p:cNvSpPr/>
          <p:nvPr/>
        </p:nvSpPr>
        <p:spPr>
          <a:xfrm>
            <a:off x="8365540" y="3584448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84996" y="3438144"/>
            <a:ext cx="2820314" cy="4206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线程数等 CPU 口径默认冻结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261104"/>
            <a:ext cx="11094415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共享底座：改哪一条线的口径，三条线一起变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590288"/>
            <a:ext cx="2057948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0612C"/>
            </a:solidFill>
          </a:ln>
        </p:spPr>
        <p:txBody>
          <a:bodyPr rtlCol="0" anchor="ctr" wrap="square" lIns="27432" tIns="0" rIns="2743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contract 契约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07756" y="4590288"/>
            <a:ext cx="2057948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0612C"/>
            </a:solidFill>
          </a:ln>
        </p:spPr>
        <p:txBody>
          <a:bodyPr rtlCol="0" anchor="ctr" wrap="square" lIns="27432" tIns="0" rIns="2743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server 进程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66873" y="4590288"/>
            <a:ext cx="2057948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0612C"/>
            </a:solidFill>
          </a:ln>
        </p:spPr>
        <p:txBody>
          <a:bodyPr rtlCol="0" anchor="ctr" wrap="square" lIns="27432" tIns="0" rIns="2743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workspace 隔离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25989" y="4590288"/>
            <a:ext cx="2057948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0612C"/>
            </a:solidFill>
          </a:ln>
        </p:spPr>
        <p:txBody>
          <a:bodyPr rtlCol="0" anchor="ctr" wrap="square" lIns="27432" tIns="0" rIns="2743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evaluation 质量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85106" y="4590288"/>
            <a:ext cx="2057948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0612C"/>
            </a:solidFill>
          </a:ln>
        </p:spPr>
        <p:txBody>
          <a:bodyPr rtlCol="0" anchor="ctr" wrap="square" lIns="27432" tIns="0" rIns="2743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benchmark 性能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71600" y="5138928"/>
            <a:ext cx="2211247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0612C"/>
            </a:solidFill>
          </a:ln>
        </p:spPr>
        <p:txBody>
          <a:bodyPr rtlCol="0" anchor="ctr" wrap="square" lIns="27432" tIns="0" rIns="2743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policy 规划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784015" y="5138928"/>
            <a:ext cx="2211247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0612C"/>
            </a:solidFill>
          </a:ln>
        </p:spPr>
        <p:txBody>
          <a:bodyPr rtlCol="0" anchor="ctr" wrap="square" lIns="27432" tIns="0" rIns="2743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profiling 采样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96431" y="5138928"/>
            <a:ext cx="2211247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0612C"/>
            </a:solidFill>
          </a:ln>
        </p:spPr>
        <p:txBody>
          <a:bodyPr rtlCol="0" anchor="ctr" wrap="square" lIns="27432" tIns="0" rIns="2743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integrations 构建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08847" y="5138928"/>
            <a:ext cx="2211247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0612C"/>
            </a:solidFill>
          </a:ln>
        </p:spPr>
        <p:txBody>
          <a:bodyPr rtlCol="0" anchor="ctr" wrap="square" lIns="27432" tIns="0" rIns="2743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hardware 设备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705856"/>
            <a:ext cx="11094415" cy="457200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8640" y="5705856"/>
            <a:ext cx="64008" cy="457200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9536" y="5705856"/>
            <a:ext cx="10454335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分工　</a:t>
            </a:r>
            <a:r>
              <a:rPr sz="16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LLM 只负责提候选，判定全部交给底座里的确定性模块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28655" y="6382512"/>
            <a:ext cx="91440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02 / 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382512"/>
            <a:ext cx="990569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bin/m100-agent → cli.py 按命令分发；三个控制器共用 contract / server / workspace 等模块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调优线 · RUN / RESUME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415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四个阶段依次推进，收益只认最终复验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1094415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预算 36000s，最终复验预留 600s；实验累计上限 6 个，连续 3 个无收益即停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595295" cy="265176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86384" y="1975104"/>
            <a:ext cx="329184" cy="329184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7" y="1956816"/>
            <a:ext cx="1699183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建立工作基线</a:t>
            </a:r>
          </a:p>
        </p:txBody>
      </p:sp>
      <p:sp>
        <p:nvSpPr>
          <p:cNvPr id="8" name="Oval 7"/>
          <p:cNvSpPr/>
          <p:nvPr/>
        </p:nvSpPr>
        <p:spPr>
          <a:xfrm>
            <a:off x="786384" y="2596896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32304"/>
            <a:ext cx="1900351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首轮 000-baseline 全量评测</a:t>
            </a:r>
          </a:p>
        </p:txBody>
      </p:sp>
      <p:sp>
        <p:nvSpPr>
          <p:cNvPr id="10" name="Oval 9"/>
          <p:cNvSpPr/>
          <p:nvPr/>
        </p:nvSpPr>
        <p:spPr>
          <a:xfrm>
            <a:off x="786384" y="3054096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889504"/>
            <a:ext cx="1900351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启动失败 → 按 server.log 证据提修复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3511296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346704"/>
            <a:ext cx="1900351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从原始备份重开，最多 6 次</a:t>
            </a:r>
          </a:p>
        </p:txBody>
      </p:sp>
      <p:sp>
        <p:nvSpPr>
          <p:cNvPr id="14" name="Oval 13"/>
          <p:cNvSpPr/>
          <p:nvPr/>
        </p:nvSpPr>
        <p:spPr>
          <a:xfrm>
            <a:off x="786384" y="3968496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803904"/>
            <a:ext cx="1900351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全失败 → baseline_failed，不再继续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1679" y="1828800"/>
            <a:ext cx="2595295" cy="265176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19423" y="1975104"/>
            <a:ext cx="329184" cy="329184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40047" y="1956816"/>
            <a:ext cx="1699183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Profiling（可选）</a:t>
            </a:r>
          </a:p>
        </p:txBody>
      </p:sp>
      <p:sp>
        <p:nvSpPr>
          <p:cNvPr id="19" name="Oval 18"/>
          <p:cNvSpPr/>
          <p:nvPr/>
        </p:nvSpPr>
        <p:spPr>
          <a:xfrm>
            <a:off x="3619423" y="2596896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38879" y="2432304"/>
            <a:ext cx="1900351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独立进程采 trace</a:t>
            </a:r>
          </a:p>
        </p:txBody>
      </p:sp>
      <p:sp>
        <p:nvSpPr>
          <p:cNvPr id="21" name="Oval 20"/>
          <p:cNvSpPr/>
          <p:nvPr/>
        </p:nvSpPr>
        <p:spPr>
          <a:xfrm>
            <a:off x="3619423" y="3054096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38879" y="2889504"/>
            <a:ext cx="1900351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只用于定位</a:t>
            </a:r>
          </a:p>
        </p:txBody>
      </p:sp>
      <p:sp>
        <p:nvSpPr>
          <p:cNvPr id="23" name="Oval 22"/>
          <p:cNvSpPr/>
          <p:nvPr/>
        </p:nvSpPr>
        <p:spPr>
          <a:xfrm>
            <a:off x="3619423" y="3511296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38879" y="3346704"/>
            <a:ext cx="1900351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不参与收益计算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189655" y="3154680"/>
            <a:ext cx="146304" cy="0"/>
          </a:xfrm>
          <a:prstGeom prst="line">
            <a:avLst/>
          </a:prstGeom>
          <a:ln w="15875">
            <a:solidFill>
              <a:srgbClr val="C0612C"/>
            </a:solidFill>
            <a:tailEnd type="triangle" w="med" len="med"/>
          </a:ln>
        </p:spPr>
      </p:cxnSp>
      <p:sp>
        <p:nvSpPr>
          <p:cNvPr id="26" name="Rectangle 25"/>
          <p:cNvSpPr/>
          <p:nvPr/>
        </p:nvSpPr>
        <p:spPr>
          <a:xfrm>
            <a:off x="6214719" y="1828800"/>
            <a:ext cx="2595295" cy="265176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52463" y="1975104"/>
            <a:ext cx="329184" cy="329184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3087" y="1956816"/>
            <a:ext cx="1699183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候选迭代</a:t>
            </a:r>
          </a:p>
        </p:txBody>
      </p:sp>
      <p:sp>
        <p:nvSpPr>
          <p:cNvPr id="29" name="Oval 28"/>
          <p:cNvSpPr/>
          <p:nvPr/>
        </p:nvSpPr>
        <p:spPr>
          <a:xfrm>
            <a:off x="6452463" y="2596896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1919" y="2432304"/>
            <a:ext cx="1900351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预算 &gt; 预留 + 180s 才继续</a:t>
            </a:r>
          </a:p>
        </p:txBody>
      </p:sp>
      <p:sp>
        <p:nvSpPr>
          <p:cNvPr id="31" name="Oval 30"/>
          <p:cNvSpPr/>
          <p:nvPr/>
        </p:nvSpPr>
        <p:spPr>
          <a:xfrm>
            <a:off x="6452463" y="3054096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1919" y="2889504"/>
            <a:ext cx="1900351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实验累计上限 6 个</a:t>
            </a:r>
          </a:p>
        </p:txBody>
      </p:sp>
      <p:sp>
        <p:nvSpPr>
          <p:cNvPr id="33" name="Oval 32"/>
          <p:cNvSpPr/>
          <p:nvPr/>
        </p:nvSpPr>
        <p:spPr>
          <a:xfrm>
            <a:off x="6452463" y="3511296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1919" y="3346704"/>
            <a:ext cx="1900351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连续 3 个无筛选收益即停</a:t>
            </a:r>
          </a:p>
        </p:txBody>
      </p:sp>
      <p:sp>
        <p:nvSpPr>
          <p:cNvPr id="35" name="Oval 34"/>
          <p:cNvSpPr/>
          <p:nvPr/>
        </p:nvSpPr>
        <p:spPr>
          <a:xfrm>
            <a:off x="6452463" y="3968496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1919" y="3803904"/>
            <a:ext cx="1900351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规划器抛错则退回配置候选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022695" y="3154680"/>
            <a:ext cx="146304" cy="0"/>
          </a:xfrm>
          <a:prstGeom prst="line">
            <a:avLst/>
          </a:prstGeom>
          <a:ln w="15875">
            <a:solidFill>
              <a:srgbClr val="C0612C"/>
            </a:solidFill>
            <a:tailEnd type="triangle" w="med" len="med"/>
          </a:ln>
        </p:spPr>
      </p:cxnSp>
      <p:sp>
        <p:nvSpPr>
          <p:cNvPr id="38" name="Rectangle 37"/>
          <p:cNvSpPr/>
          <p:nvPr/>
        </p:nvSpPr>
        <p:spPr>
          <a:xfrm>
            <a:off x="9047759" y="1828800"/>
            <a:ext cx="2595295" cy="265176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285503" y="1975104"/>
            <a:ext cx="329184" cy="329184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06127" y="1956816"/>
            <a:ext cx="1699183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最终复验</a:t>
            </a:r>
          </a:p>
        </p:txBody>
      </p:sp>
      <p:sp>
        <p:nvSpPr>
          <p:cNvPr id="41" name="Oval 40"/>
          <p:cNvSpPr/>
          <p:nvPr/>
        </p:nvSpPr>
        <p:spPr>
          <a:xfrm>
            <a:off x="9285503" y="2596896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04959" y="2432304"/>
            <a:ext cx="1900351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先重测基线（只测性能）</a:t>
            </a:r>
          </a:p>
        </p:txBody>
      </p:sp>
      <p:sp>
        <p:nvSpPr>
          <p:cNvPr id="43" name="Oval 42"/>
          <p:cNvSpPr/>
          <p:nvPr/>
        </p:nvSpPr>
        <p:spPr>
          <a:xfrm>
            <a:off x="9285503" y="3054096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4959" y="2889504"/>
            <a:ext cx="1900351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每个候选做全量复验</a:t>
            </a:r>
          </a:p>
        </p:txBody>
      </p:sp>
      <p:sp>
        <p:nvSpPr>
          <p:cNvPr id="45" name="Oval 44"/>
          <p:cNvSpPr/>
          <p:nvPr/>
        </p:nvSpPr>
        <p:spPr>
          <a:xfrm>
            <a:off x="9285503" y="3511296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04959" y="3346704"/>
            <a:ext cx="1900351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相对初始与重测基线都提升</a:t>
            </a:r>
          </a:p>
        </p:txBody>
      </p:sp>
      <p:sp>
        <p:nvSpPr>
          <p:cNvPr id="47" name="Oval 46"/>
          <p:cNvSpPr/>
          <p:nvPr/>
        </p:nvSpPr>
        <p:spPr>
          <a:xfrm>
            <a:off x="9285503" y="3968496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04959" y="3803904"/>
            <a:ext cx="1900351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→ verified_gain，否则 unconfirmed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855735" y="3154680"/>
            <a:ext cx="146304" cy="0"/>
          </a:xfrm>
          <a:prstGeom prst="line">
            <a:avLst/>
          </a:prstGeom>
          <a:ln w="15875">
            <a:solidFill>
              <a:srgbClr val="C0612C"/>
            </a:solidFill>
            <a:tailEnd type="triangle" w="med" len="med"/>
          </a:ln>
        </p:spPr>
      </p:cxnSp>
      <p:sp>
        <p:nvSpPr>
          <p:cNvPr id="50" name="TextBox 49"/>
          <p:cNvSpPr txBox="1"/>
          <p:nvPr/>
        </p:nvSpPr>
        <p:spPr>
          <a:xfrm>
            <a:off x="548640" y="4626864"/>
            <a:ext cx="11094415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执行前</a:t>
            </a:r>
            <a:r>
              <a:rPr sz="11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　取 run 锁与每张卡的文件锁 · 校验备份清单 / 题集 / 每张图片 sha256 · 残留实验标记 interrupted 并清理进程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5029200"/>
            <a:ext cx="11094415" cy="932688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48640" y="5029200"/>
            <a:ext cx="64008" cy="932688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9536" y="5138928"/>
            <a:ext cx="10454335" cy="3657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关键区分　</a:t>
            </a:r>
            <a:r>
              <a:rPr sz="16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筛选收益 ≠ 交付收益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9536" y="5614416"/>
            <a:ext cx="10454335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相对初始基线与重测基线都提升才算 verified_gain；否则 baseline_retained，报告不宣称加速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28655" y="6382512"/>
            <a:ext cx="91440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03 / 08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382512"/>
            <a:ext cx="990569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阶段 A 失败即 baseline_failed；finally 永远写报告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单次实验 · _EXPERIMENT()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415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一个候选要连过三道门，任一道不过立即返回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1094415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准备阶段改副本、记身份；服务起来后按「数值 → 质量 → 性能」成本由低到高依次判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0612C"/>
            </a:solidFill>
          </a:ln>
        </p:spPr>
        <p:txBody>
          <a:bodyPr rtlCol="0" anchor="ctr" wrap="square" lIns="27432" tIns="0" rIns="2743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隔离副本 + 打补丁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18288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0612C"/>
            </a:solidFill>
          </a:ln>
        </p:spPr>
        <p:txBody>
          <a:bodyPr rtlCol="0" anchor="ctr" wrap="square" lIns="27432" tIns="0" rIns="2743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算子生成 / 构建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32304" y="2057400"/>
            <a:ext cx="164592" cy="0"/>
          </a:xfrm>
          <a:prstGeom prst="line">
            <a:avLst/>
          </a:prstGeom>
          <a:ln w="15875">
            <a:solidFill>
              <a:srgbClr val="C0612C"/>
            </a:solidFill>
            <a:tailEnd type="triangle" w="med" len="med"/>
          </a:ln>
        </p:spPr>
      </p:cxnSp>
      <p:sp>
        <p:nvSpPr>
          <p:cNvPr id="8" name="Rounded Rectangle 7"/>
          <p:cNvSpPr/>
          <p:nvPr/>
        </p:nvSpPr>
        <p:spPr>
          <a:xfrm>
            <a:off x="4754879" y="18288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0612C"/>
            </a:solidFill>
          </a:ln>
        </p:spPr>
        <p:txBody>
          <a:bodyPr rtlCol="0" anchor="ctr" wrap="square" lIns="27432" tIns="0" rIns="2743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产物身份 manifest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35423" y="2057400"/>
            <a:ext cx="164593" cy="0"/>
          </a:xfrm>
          <a:prstGeom prst="line">
            <a:avLst/>
          </a:prstGeom>
          <a:ln w="15875">
            <a:solidFill>
              <a:srgbClr val="C0612C"/>
            </a:solidFill>
            <a:tailEnd type="triangle" w="med" len="med"/>
          </a:ln>
        </p:spPr>
      </p:cxnSp>
      <p:sp>
        <p:nvSpPr>
          <p:cNvPr id="10" name="TextBox 9"/>
          <p:cNvSpPr txBox="1"/>
          <p:nvPr/>
        </p:nvSpPr>
        <p:spPr>
          <a:xfrm>
            <a:off x="548640" y="2377440"/>
            <a:ext cx="603504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补丁限定 sglang/ 下的 .py / .cpp / .cu / .h / .hpp / .xpu，并生成完整 changes.patch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16352"/>
            <a:ext cx="6035040" cy="2249424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944368"/>
            <a:ext cx="5559552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with Server</a:t>
            </a: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　启动即核对身份：端口 bind、PCI 二次核对、model_path 比对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" y="3346704"/>
            <a:ext cx="5559552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346704"/>
            <a:ext cx="365760" cy="4937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5024" y="3346704"/>
            <a:ext cx="1097280" cy="4937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数值门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346704"/>
            <a:ext cx="1737360" cy="4937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贪心 token 必须一致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346704"/>
            <a:ext cx="2194560" cy="4937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logprob 最大差 ≤ 0.03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" y="3913632"/>
            <a:ext cx="5559552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913632"/>
            <a:ext cx="365760" cy="4937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5024" y="3913632"/>
            <a:ext cx="1097280" cy="4937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质量门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3913632"/>
            <a:ext cx="1737360" cy="4937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正确率零下降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3913632"/>
            <a:ext cx="2194560" cy="4937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解析率不得降，同一批题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" y="4480560"/>
            <a:ext cx="5559552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480560"/>
            <a:ext cx="365760" cy="4937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5024" y="4480560"/>
            <a:ext cx="1097280" cy="4937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性能门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4480560"/>
            <a:ext cx="1737360" cy="4937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回归 ≤ 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4480560"/>
            <a:ext cx="2194560" cy="4937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收益 &gt; max(3%, 噪声极差)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1828800"/>
            <a:ext cx="4693615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三个容易被忽略的细节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49440" y="2249424"/>
            <a:ext cx="64008" cy="841248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87183" y="2249424"/>
            <a:ext cx="4455871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候选继承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87183" y="2542032"/>
            <a:ext cx="4455871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副本从已验收基线复制，args / env 叠加基线生效项，修复自动继承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49440" y="3236976"/>
            <a:ext cx="64008" cy="841248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87183" y="3236976"/>
            <a:ext cx="4455871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预算切分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87183" y="3529584"/>
            <a:ext cx="4455871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非复验候选只能用预留之外的预算，给最终复验留出时间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49440" y="4224528"/>
            <a:ext cx="64008" cy="841248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87183" y="4224528"/>
            <a:ext cx="4455871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样本切分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87183" y="4517136"/>
            <a:ext cx="4455871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基线全量 120 题；普通候选只筛 24 题，有收益才跑全量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5340096"/>
            <a:ext cx="4693615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异常时留存 server.log 尾部 12KB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577840"/>
            <a:ext cx="11094415" cy="457200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5577840"/>
            <a:ext cx="64008" cy="457200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9536" y="5577840"/>
            <a:ext cx="10454335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顺序　</a:t>
            </a:r>
            <a:r>
              <a:rPr sz="16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任一门不过立即返回，不浪费后面的设备时间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28655" y="6382512"/>
            <a:ext cx="91440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04 / 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382512"/>
            <a:ext cx="990569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每个候选独立 trial 目录；finally 写 result.json 与事件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门禁 · 口径与防作弊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415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三道门的判据都是固定阈值，不由模型解释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1094415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阈值全部来自冻结契约：正确率零容差、logprob 0.03、回归 5%、有效收益 3%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3703320" cy="2487168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911095"/>
            <a:ext cx="3264408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数值门</a:t>
            </a:r>
            <a:r>
              <a:rPr sz="100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　check_numerics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304288"/>
            <a:ext cx="640080" cy="4389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探针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6464" y="2304288"/>
            <a:ext cx="2606039" cy="4389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3 段固定文本，teacher-forcing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779776"/>
            <a:ext cx="640080" cy="4389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判据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2779776"/>
            <a:ext cx="2606039" cy="4389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贪心 token 完全一致 · token 序列一致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255264"/>
            <a:ext cx="640080" cy="4389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阈值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6464" y="3255264"/>
            <a:ext cx="2606039" cy="4389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logprob 最大绝对差 ≤ 0.03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730752"/>
            <a:ext cx="640080" cy="4389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硬拒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6464" y="3730752"/>
            <a:ext cx="2606039" cy="4389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出现 NaN / Inf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9703" y="1783080"/>
            <a:ext cx="3703320" cy="2487168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59" y="1911095"/>
            <a:ext cx="3264408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质量门</a:t>
            </a:r>
            <a:r>
              <a:rPr sz="100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　check_quality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2304288"/>
            <a:ext cx="640080" cy="4389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题集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67527" y="2304288"/>
            <a:ext cx="2606039" cy="4389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MMStar 分层抽样 120 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59" y="2779776"/>
            <a:ext cx="640080" cy="4389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判据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67527" y="2779776"/>
            <a:ext cx="2606039" cy="4389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正确率 ≥ 基线 − 0（零容差）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59" y="3255264"/>
            <a:ext cx="640080" cy="4389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附加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67527" y="3255264"/>
            <a:ext cx="2606039" cy="4389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解析率不得低于基线，同一批题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59" y="3730752"/>
            <a:ext cx="640080" cy="4389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硬拒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67527" y="3730752"/>
            <a:ext cx="2606039" cy="4389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答不出选项一律记错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30767" y="1783080"/>
            <a:ext cx="3703320" cy="2487168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50224" y="1911095"/>
            <a:ext cx="3264408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性能门</a:t>
            </a:r>
            <a:r>
              <a:rPr sz="100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　compare_performance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50224" y="2304288"/>
            <a:ext cx="640080" cy="4389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08592" y="2304288"/>
            <a:ext cx="2606039" cy="4389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吞吐 ↑ · TTFT p95 ↓ · TPOT p95 ↓ · 延迟 p95 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50224" y="2779776"/>
            <a:ext cx="640080" cy="4389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重复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08592" y="2779776"/>
            <a:ext cx="2606039" cy="4389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每档 3 次取中位，记噪声极差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50224" y="3255264"/>
            <a:ext cx="640080" cy="4389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可行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08592" y="3255264"/>
            <a:ext cx="2606039" cy="4389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每指标回归 ≤ 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50224" y="3730752"/>
            <a:ext cx="640080" cy="4389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有效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08592" y="3730752"/>
            <a:ext cx="2606039" cy="4389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某指标提升 &gt; max(3%, 噪声极差)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443984"/>
            <a:ext cx="11094415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防作弊</a:t>
            </a:r>
            <a:r>
              <a:rPr sz="11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　候选不能靠减少工作量换“变快”</a:t>
            </a:r>
          </a:p>
        </p:txBody>
      </p:sp>
      <p:sp>
        <p:nvSpPr>
          <p:cNvPr id="36" name="Oval 35"/>
          <p:cNvSpPr/>
          <p:nvPr/>
        </p:nvSpPr>
        <p:spPr>
          <a:xfrm>
            <a:off x="548640" y="4910328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" y="4809744"/>
            <a:ext cx="5144871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prompt_tokens 必须等于冻结的 input_tokens</a:t>
            </a:r>
          </a:p>
        </p:txBody>
      </p:sp>
      <p:sp>
        <p:nvSpPr>
          <p:cNvPr id="38" name="Oval 37"/>
          <p:cNvSpPr/>
          <p:nvPr/>
        </p:nvSpPr>
        <p:spPr>
          <a:xfrm>
            <a:off x="548640" y="5239512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8096" y="5138928"/>
            <a:ext cx="5144871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出现前缀缓存命中（cached_tokens &gt; 0）直接拒</a:t>
            </a:r>
          </a:p>
        </p:txBody>
      </p:sp>
      <p:sp>
        <p:nvSpPr>
          <p:cNvPr id="40" name="Oval 39"/>
          <p:cNvSpPr/>
          <p:nvPr/>
        </p:nvSpPr>
        <p:spPr>
          <a:xfrm>
            <a:off x="548640" y="5568696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" y="5468112"/>
            <a:ext cx="5144871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流式必须完整结束且 token 数符合预期</a:t>
            </a:r>
          </a:p>
        </p:txBody>
      </p:sp>
      <p:sp>
        <p:nvSpPr>
          <p:cNvPr id="42" name="Oval 41"/>
          <p:cNvSpPr/>
          <p:nvPr/>
        </p:nvSpPr>
        <p:spPr>
          <a:xfrm>
            <a:off x="6278727" y="4910328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8183" y="4809744"/>
            <a:ext cx="5144871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先 warmup 同 shape，每次重复前 flush_cache</a:t>
            </a:r>
          </a:p>
        </p:txBody>
      </p:sp>
      <p:sp>
        <p:nvSpPr>
          <p:cNvPr id="44" name="Oval 43"/>
          <p:cNvSpPr/>
          <p:nvPr/>
        </p:nvSpPr>
        <p:spPr>
          <a:xfrm>
            <a:off x="6278727" y="5239512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8183" y="5138928"/>
            <a:ext cx="5144871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精度 / dtype / KV 缓存 / 上下文长度 / radix 缓存一律冻结</a:t>
            </a:r>
          </a:p>
        </p:txBody>
      </p:sp>
      <p:sp>
        <p:nvSpPr>
          <p:cNvPr id="46" name="Oval 45"/>
          <p:cNvSpPr/>
          <p:nvPr/>
        </p:nvSpPr>
        <p:spPr>
          <a:xfrm>
            <a:off x="6278727" y="5568696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8183" y="5468112"/>
            <a:ext cx="5144871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候选 env 只允许白名单前缀，且不得开 profiler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5852160"/>
            <a:ext cx="11094415" cy="420624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48640" y="5852160"/>
            <a:ext cx="64008" cy="420624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9536" y="5852160"/>
            <a:ext cx="10454335" cy="4206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裁决　</a:t>
            </a:r>
            <a:r>
              <a:rPr sz="16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门禁独立于规划器：提候选的人无权解释结果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28655" y="6382512"/>
            <a:ext cx="91440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05 / 08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382512"/>
            <a:ext cx="990569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数值门与质量门在 evaluation.py，性能门在 benchmark.py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规划器 · POLICY.PLANNER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415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先有证据才能动手：虚构的补丁在规划阶段被打回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1094415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候选来源按优先级排队，模型自主排在最后；提实验前必须核对过真实源码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5943600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候选来源（优先级从高到低）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212848"/>
            <a:ext cx="310896" cy="310896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194560"/>
            <a:ext cx="5504688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有证据的诊断规则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468879"/>
            <a:ext cx="5504688" cy="4206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日志与源码精确匹配才触发，例如缺 decode_jpeg_cuda 时提能力守卫补丁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980944"/>
            <a:ext cx="310896" cy="310896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962656"/>
            <a:ext cx="5504688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启动失败适配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236975"/>
            <a:ext cx="5504688" cy="4206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按模型 config 的 model_type 找源码，或匹配任务里 when_error 的候选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749039"/>
            <a:ext cx="310896" cy="310896"/>
          </a:xfrm>
          <a:prstGeom prst="ellipse">
            <a:avLst/>
          </a:prstGeom>
          <a:solidFill>
            <a:srgbClr val="8C96A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3730752"/>
            <a:ext cx="5504688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LLM 自主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005072"/>
            <a:ext cx="5504688" cy="4206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JSON 动作协议：read / search / read_artifact / experiment / stop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572000"/>
            <a:ext cx="594360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上下文</a:t>
            </a: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　摘要 + 有界历史，超 32KB 删中段；回复存 planner/；key 来自环境变量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1783080"/>
            <a:ext cx="4785055" cy="3108960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95744" y="1911095"/>
            <a:ext cx="4309567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规划即校验：四道预检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2304288"/>
            <a:ext cx="4309567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工具层强制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95744" y="2560320"/>
            <a:ext cx="4309567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提实验前必须 read / search 过真实源码，并附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95744" y="2926080"/>
            <a:ext cx="4309567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变量须存在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95744" y="3182112"/>
            <a:ext cx="4309567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env 变量要在源码、配置或补丁里真实出现（rg 查过）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95744" y="3547872"/>
            <a:ext cx="4309567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补丁须唯一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95744" y="3803904"/>
            <a:ext cx="4309567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old 必须在文件里唯一匹配一次；为空只允许建新文件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95744" y="4169664"/>
            <a:ext cx="4309567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语法须通过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95744" y="4425696"/>
            <a:ext cx="4309567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Python 补丁 apply 后立即 compile() 检查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937760"/>
            <a:ext cx="4785055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冻结口径：精度 / 缓存等参数一律不得修改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230368"/>
            <a:ext cx="11094415" cy="877824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230368"/>
            <a:ext cx="64008" cy="877824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" y="5340096"/>
            <a:ext cx="10454335" cy="3657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收益　</a:t>
            </a:r>
            <a:r>
              <a:rPr sz="16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打回一次虚构补丁，省下一次设备实验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" y="5760720"/>
            <a:ext cx="10454335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规划器抛错时退回已配置候选，流程不中断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382512"/>
            <a:ext cx="91440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06 / 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382512"/>
            <a:ext cx="990569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动作协议：read / search / read_artifact / experiment / stop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不变量 · 产物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415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六条规则不可更改，一次 run 的证据全部落盘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1094415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换个人接手，照着 run 目录就能复现结论、回到任意一轮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5394960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贯穿全局的强制规则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350008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2194560"/>
            <a:ext cx="5175504" cy="4389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原始安装包只读，不覆盖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788920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633472"/>
            <a:ext cx="5175504" cy="4389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所有改动只在候选副本内，产物在仓库外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227832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3072384"/>
            <a:ext cx="5175504" cy="4389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预算从初始化起算，恢复不重置 deadline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66744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3511296"/>
            <a:ext cx="5175504" cy="4389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恢复以实验为边界：完成的保留，中断的留档重调度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105656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3950208"/>
            <a:ext cx="5175504" cy="4389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冻结物（契约 / 源码 / 题集 / 图片）被改 → 拒绝继续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544568"/>
            <a:ext cx="91440" cy="91440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389120"/>
            <a:ext cx="5175504" cy="4389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只清理 pid + 启动时刻 + 环境三重匹配的自有进程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901184"/>
            <a:ext cx="5394960" cy="64008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4992624"/>
            <a:ext cx="4956048" cy="47548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导出 export 生成独立 launch.sh，引用 run 内的隔离副本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不写回共享环境：交付物与实验环境相互分离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59" y="1783080"/>
            <a:ext cx="5333695" cy="3685032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3" y="1911095"/>
            <a:ext cx="4858207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一次 run 留下什么</a:t>
            </a:r>
            <a:r>
              <a:rPr sz="100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　artifacts/&lt;时间戳&gt;-&lt;name&gt;/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2304288"/>
            <a:ext cx="1600200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task.json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2304288"/>
            <a:ext cx="3230575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冻结契约与它的 sha256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3" y="2752344"/>
            <a:ext cx="1600200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backup/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2752344"/>
            <a:ext cx="3230575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sglang 副本 + 逐文件清单 + env + 控制器源码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3" y="3200400"/>
            <a:ext cx="1600200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dataset/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3200400"/>
            <a:ext cx="3230575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题集与图片，逐张 sha256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47103" y="3648456"/>
            <a:ext cx="1600200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trials/&lt;id&gt;/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3648456"/>
            <a:ext cx="3230575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副本 · changes.patch · 运行与服务身份 · 质量 / 性能原始数据 · 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3" y="4096512"/>
            <a:ext cx="1600200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planner/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79" y="4096512"/>
            <a:ext cx="3230575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规划器的完整往来记录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47103" y="4544568"/>
            <a:ext cx="1600200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state · events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9" y="4544568"/>
            <a:ext cx="3230575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阶段状态与事件流水，可按轮次回放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47103" y="4992624"/>
            <a:ext cx="1600200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best · report.md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79" y="4992624"/>
            <a:ext cx="3230575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最终结论与报告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632704"/>
            <a:ext cx="11094415" cy="420624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5632704"/>
            <a:ext cx="64008" cy="420624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9536" y="5632704"/>
            <a:ext cx="10454335" cy="4206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可回退　</a:t>
            </a:r>
            <a:r>
              <a:rPr sz="16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冻结物被改过就拒绝继续，宁可停也不出带不确定性的结论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28655" y="6382512"/>
            <a:ext cx="91440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07 / 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382512"/>
            <a:ext cx="990569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state.json + events.jsonl 记录阶段与事件，恢复以实验为边界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2B233"/>
                </a:solidFill>
                <a:latin typeface="Consolas"/>
                <a:ea typeface="Microsoft YaHei"/>
                <a:cs typeface="Microsoft YaHei"/>
              </a:rPr>
              <a:t>现状与下一步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三条线都跑通了第一个任务，下一步补的是「数字经得起追问」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5364327" cy="2011680"/>
          </a:xfrm>
          <a:prstGeom prst="rect">
            <a:avLst/>
          </a:prstGeom>
          <a:solidFill>
            <a:srgbClr val="222E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874519"/>
            <a:ext cx="4852263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5C3A0"/>
                </a:solidFill>
                <a:latin typeface="Microsoft YaHei"/>
                <a:ea typeface="Microsoft YaHei"/>
                <a:cs typeface="Microsoft YaHei"/>
              </a:rPr>
              <a:t>已跑通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304287"/>
            <a:ext cx="109728" cy="109728"/>
          </a:xfrm>
          <a:prstGeom prst="ellipse">
            <a:avLst/>
          </a:prstGeom>
          <a:solidFill>
            <a:srgbClr val="55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2221991"/>
            <a:ext cx="4596231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DDE2E7"/>
                </a:solidFill>
                <a:latin typeface="Microsoft YaHei"/>
                <a:ea typeface="Microsoft YaHei"/>
                <a:cs typeface="Microsoft YaHei"/>
              </a:rPr>
              <a:t>调优线：Qwen3-VL-8B channel-FP8（源码最完整）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642615"/>
            <a:ext cx="109728" cy="109728"/>
          </a:xfrm>
          <a:prstGeom prst="ellipse">
            <a:avLst/>
          </a:prstGeom>
          <a:solidFill>
            <a:srgbClr val="55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" y="2560320"/>
            <a:ext cx="4596231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DDE2E7"/>
                </a:solidFill>
                <a:latin typeface="Microsoft YaHei"/>
                <a:ea typeface="Microsoft YaHei"/>
                <a:cs typeface="Microsoft YaHei"/>
              </a:rPr>
              <a:t>接入线：首个跨任务 BGE reranker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980944"/>
            <a:ext cx="109728" cy="109728"/>
          </a:xfrm>
          <a:prstGeom prst="ellipse">
            <a:avLst/>
          </a:prstGeom>
          <a:solidFill>
            <a:srgbClr val="55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" y="2898648"/>
            <a:ext cx="4596231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DDE2E7"/>
                </a:solidFill>
                <a:latin typeface="Microsoft YaHei"/>
                <a:ea typeface="Microsoft YaHei"/>
                <a:cs typeface="Microsoft YaHei"/>
              </a:rPr>
              <a:t>优化线：trace 驱动的性能迭代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8727" y="1691640"/>
            <a:ext cx="5364327" cy="2011680"/>
          </a:xfrm>
          <a:prstGeom prst="rect">
            <a:avLst/>
          </a:prstGeom>
          <a:solidFill>
            <a:srgbClr val="222E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4759" y="1874519"/>
            <a:ext cx="4852263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2B233"/>
                </a:solidFill>
                <a:latin typeface="Microsoft YaHei"/>
                <a:ea typeface="Microsoft YaHei"/>
                <a:cs typeface="Microsoft YaHei"/>
              </a:rPr>
              <a:t>下一步（建议）</a:t>
            </a:r>
          </a:p>
        </p:txBody>
      </p:sp>
      <p:sp>
        <p:nvSpPr>
          <p:cNvPr id="14" name="Oval 13"/>
          <p:cNvSpPr/>
          <p:nvPr/>
        </p:nvSpPr>
        <p:spPr>
          <a:xfrm>
            <a:off x="6553047" y="2304287"/>
            <a:ext cx="109728" cy="109728"/>
          </a:xfrm>
          <a:prstGeom prst="ellipse">
            <a:avLst/>
          </a:prstGeom>
          <a:noFill/>
          <a:ln w="15875">
            <a:solidFill>
              <a:srgbClr val="F2B23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90791" y="2221991"/>
            <a:ext cx="4596231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5CCD4"/>
                </a:solidFill>
                <a:latin typeface="Microsoft YaHei"/>
                <a:ea typeface="Microsoft YaHei"/>
                <a:cs typeface="Microsoft YaHei"/>
              </a:rPr>
              <a:t>测量改成交错 A / B，消除长跑期间的漂移</a:t>
            </a:r>
          </a:p>
        </p:txBody>
      </p:sp>
      <p:sp>
        <p:nvSpPr>
          <p:cNvPr id="16" name="Oval 15"/>
          <p:cNvSpPr/>
          <p:nvPr/>
        </p:nvSpPr>
        <p:spPr>
          <a:xfrm>
            <a:off x="6553047" y="2642615"/>
            <a:ext cx="109728" cy="109728"/>
          </a:xfrm>
          <a:prstGeom prst="ellipse">
            <a:avLst/>
          </a:prstGeom>
          <a:noFill/>
          <a:ln w="15875">
            <a:solidFill>
              <a:srgbClr val="F2B23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90791" y="2560320"/>
            <a:ext cx="4596231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5CCD4"/>
                </a:solidFill>
                <a:latin typeface="Microsoft YaHei"/>
                <a:ea typeface="Microsoft YaHei"/>
                <a:cs typeface="Microsoft YaHei"/>
              </a:rPr>
              <a:t>质量门用配对显著性替代零容差</a:t>
            </a:r>
          </a:p>
        </p:txBody>
      </p:sp>
      <p:sp>
        <p:nvSpPr>
          <p:cNvPr id="18" name="Oval 17"/>
          <p:cNvSpPr/>
          <p:nvPr/>
        </p:nvSpPr>
        <p:spPr>
          <a:xfrm>
            <a:off x="6553047" y="2980944"/>
            <a:ext cx="109728" cy="109728"/>
          </a:xfrm>
          <a:prstGeom prst="ellipse">
            <a:avLst/>
          </a:prstGeom>
          <a:noFill/>
          <a:ln w="15875">
            <a:solidFill>
              <a:srgbClr val="F2B23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90791" y="2898648"/>
            <a:ext cx="4596231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5CCD4"/>
                </a:solidFill>
                <a:latin typeface="Microsoft YaHei"/>
                <a:ea typeface="Microsoft YaHei"/>
                <a:cs typeface="Microsoft YaHei"/>
              </a:rPr>
              <a:t>复验预留按候选数量自适应</a:t>
            </a:r>
          </a:p>
        </p:txBody>
      </p:sp>
      <p:sp>
        <p:nvSpPr>
          <p:cNvPr id="20" name="Oval 19"/>
          <p:cNvSpPr/>
          <p:nvPr/>
        </p:nvSpPr>
        <p:spPr>
          <a:xfrm>
            <a:off x="6553047" y="3319271"/>
            <a:ext cx="109728" cy="109728"/>
          </a:xfrm>
          <a:prstGeom prst="ellipse">
            <a:avLst/>
          </a:prstGeom>
          <a:noFill/>
          <a:ln w="15875">
            <a:solidFill>
              <a:srgbClr val="F2B23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90791" y="3236975"/>
            <a:ext cx="4596231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5CCD4"/>
                </a:solidFill>
                <a:latin typeface="Microsoft YaHei"/>
                <a:ea typeface="Microsoft YaHei"/>
                <a:cs typeface="Microsoft YaHei"/>
              </a:rPr>
              <a:t>把每个模型的人力与设备消耗记为可对比指标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023360"/>
            <a:ext cx="11094415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前三条指向同一件事：十小时长跑、分块测量的对比容易被设备漂移污染；零容差的正确率门在小样本上也会误杀真实收益。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480560"/>
            <a:ext cx="11094415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第四条指向评审最常追问的那个数：一个模型的适配究竟省下多少人力与机时。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303520"/>
            <a:ext cx="11094415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这套系统的能力不在模型写得多好，在</a:t>
            </a:r>
            <a:r>
              <a:rPr sz="1900" b="1">
                <a:solidFill>
                  <a:srgbClr val="F2B233"/>
                </a:solidFill>
                <a:latin typeface="Microsoft YaHei"/>
                <a:ea typeface="Microsoft YaHei"/>
                <a:cs typeface="Microsoft YaHei"/>
              </a:rPr>
              <a:t>门禁敢不敢把它判死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382512"/>
            <a:ext cx="91440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08 / 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382512"/>
            <a:ext cx="990569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首个任务 Qwen3-VL-8B channel-FP8 · 首个跨任务 BGE reranker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