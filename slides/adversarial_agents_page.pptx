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93726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算子层 Agent 设计（下一步）：两个 Agent 对抗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59536"/>
            <a:ext cx="959205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提议者造补丁，挑战者造反例；谁都没有裁决权，编译、对精度、测速、判决全部由确定性 Harness 给出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" cy="237744"/>
          </a:xfrm>
          <a:prstGeom prst="rect">
            <a:avLst/>
          </a:prstGeom>
          <a:solidFill>
            <a:srgbClr val="4070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207008"/>
            <a:ext cx="2322576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环境与知识</a:t>
            </a:r>
            <a:r>
              <a:rPr sz="8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9856" y="1234440"/>
            <a:ext cx="54864" cy="237744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207008"/>
            <a:ext cx="517550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两个 Agent 对抗</a:t>
            </a:r>
            <a:r>
              <a:rPr sz="85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　Proposer vs Challenger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234440"/>
            <a:ext cx="54864" cy="23774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8864" y="1207008"/>
            <a:ext cx="2444191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确定性 Harness</a:t>
            </a:r>
            <a:r>
              <a:rPr sz="8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　无模型 · 唯一裁判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09344"/>
            <a:ext cx="24688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609344"/>
            <a:ext cx="64008" cy="841248"/>
          </a:xfrm>
          <a:prstGeom prst="rect">
            <a:avLst/>
          </a:prstGeom>
          <a:solidFill>
            <a:srgbClr val="4070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55064"/>
            <a:ext cx="2157984" cy="7498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任务上下文</a:t>
            </a:r>
            <a:r>
              <a:rPr sz="75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　Task Context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算子规格与 Shape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输入输出语义约束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15184"/>
            <a:ext cx="246888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15184"/>
            <a:ext cx="64008" cy="969264"/>
          </a:xfrm>
          <a:prstGeom prst="rect">
            <a:avLst/>
          </a:prstGeom>
          <a:solidFill>
            <a:srgbClr val="4070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60903"/>
            <a:ext cx="2157984" cy="8778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领域知识挂载</a:t>
            </a:r>
            <a:r>
              <a:rPr sz="75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　Domain Knowledge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M100 硬件规格卡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算子调优 Skills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历史反例库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15968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15968"/>
            <a:ext cx="64008" cy="1097280"/>
          </a:xfrm>
          <a:prstGeom prst="rect">
            <a:avLst/>
          </a:prstGeom>
          <a:solidFill>
            <a:srgbClr val="0A2B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61688"/>
            <a:ext cx="2157984" cy="1005839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证据黑板</a:t>
            </a:r>
            <a:r>
              <a:rPr sz="75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　Shared Blackboard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编译 / 精度 / 测速判决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反例命中记录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两方都只能读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609344"/>
            <a:ext cx="259049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609344"/>
            <a:ext cx="64008" cy="91440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655064"/>
            <a:ext cx="2279599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源码与检索</a:t>
            </a:r>
            <a:r>
              <a:rPr sz="7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　Source &amp; Retrieval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算子模板读取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AST 语法树检查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代码补丁生成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2816352"/>
            <a:ext cx="2590495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2816352"/>
            <a:ext cx="64008" cy="148132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862072"/>
            <a:ext cx="2279599" cy="1389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Harness 后端</a:t>
            </a:r>
            <a:r>
              <a:rPr sz="7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　backend / 耦合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L0 交叉编译运行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L1 Golden 精度对齐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Bench 真机微秒计时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Profile 模拟器分析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反例用例自动纳入回归集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4535424"/>
            <a:ext cx="2590495" cy="87782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4535424"/>
            <a:ext cx="64008" cy="877824"/>
          </a:xfrm>
          <a:prstGeom prst="rect">
            <a:avLst/>
          </a:prstGeom>
          <a:solidFill>
            <a:srgbClr val="1779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4581144"/>
            <a:ext cx="2279599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判决器</a:t>
            </a:r>
            <a:r>
              <a:rPr sz="750" b="1">
                <a:solidFill>
                  <a:srgbClr val="17795F"/>
                </a:solidFill>
                <a:latin typeface="Consolas"/>
                <a:ea typeface="Microsoft YaHei"/>
                <a:cs typeface="Microsoft YaHei"/>
              </a:rPr>
              <a:t>　四道门 · 一票否决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提议与反例同一套门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·　判决回写黑板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9856" y="1517904"/>
            <a:ext cx="5321808" cy="4059935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584448" y="1664207"/>
            <a:ext cx="2295144" cy="1517904"/>
          </a:xfrm>
          <a:prstGeom prst="roundRect">
            <a:avLst>
              <a:gd name="adj" fmla="val 4819"/>
            </a:avLst>
          </a:prstGeom>
          <a:solidFill>
            <a:srgbClr val="FBE6D4"/>
          </a:solidFill>
          <a:ln w="15875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12464" y="1719072"/>
            <a:ext cx="203911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提议者 Agent</a:t>
            </a:r>
            <a:r>
              <a:rPr sz="800" b="1">
                <a:solidFill>
                  <a:srgbClr val="D2690C"/>
                </a:solidFill>
                <a:latin typeface="Consolas"/>
                <a:ea typeface="Microsoft YaHei"/>
                <a:cs typeface="Microsoft YaHei"/>
              </a:rPr>
              <a:t>　Proposer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5092" y="2011679"/>
            <a:ext cx="1133856" cy="201168"/>
          </a:xfrm>
          <a:prstGeom prst="roundRect">
            <a:avLst>
              <a:gd name="adj" fmla="val 50000"/>
            </a:avLst>
          </a:prstGeom>
          <a:solidFill>
            <a:srgbClr val="D2690C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2464" y="2249424"/>
            <a:ext cx="2039111" cy="8778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读规格、读黑板、读 Skills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推演 DMA 搬运 / 计算流水 / 寄存器分配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产出：补丁 + 性能主张（哪些 shape 快多少）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1664207"/>
            <a:ext cx="2295144" cy="1517904"/>
          </a:xfrm>
          <a:prstGeom prst="roundRect">
            <a:avLst>
              <a:gd name="adj" fmla="val 4819"/>
            </a:avLst>
          </a:prstGeom>
          <a:solidFill>
            <a:srgbClr val="FBECEA"/>
          </a:solidFill>
          <a:ln w="15875">
            <a:solidFill>
              <a:srgbClr val="B438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1719072"/>
            <a:ext cx="203911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挑战者 Agent</a:t>
            </a:r>
            <a:r>
              <a:rPr sz="800" b="1">
                <a:solidFill>
                  <a:srgbClr val="B4382F"/>
                </a:solidFill>
                <a:latin typeface="Consolas"/>
                <a:ea typeface="Microsoft YaHei"/>
                <a:cs typeface="Microsoft YaHei"/>
              </a:rPr>
              <a:t>　Challenger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62572" y="2011679"/>
            <a:ext cx="1133856" cy="201168"/>
          </a:xfrm>
          <a:prstGeom prst="roundRect">
            <a:avLst>
              <a:gd name="adj" fmla="val 50000"/>
            </a:avLst>
          </a:prstGeom>
          <a:solidFill>
            <a:srgbClr val="B4382F"/>
          </a:solidFill>
          <a:ln>
            <a:noFill/>
          </a:ln>
        </p:spPr>
        <p:txBody>
          <a:bodyPr rtlCol="0" anchor="ctr" wrap="square" lIns="36576" tIns="0" rIns="36576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2249424"/>
            <a:ext cx="2039111" cy="8778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读补丁、读主张、读历史反例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找弱点：边界 shape · 非对齐 · 精度陷阱 · 性能断崖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产出：反例用例 + 质询（主张在哪些条件下不成立）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897879" y="2377439"/>
            <a:ext cx="365761" cy="0"/>
          </a:xfrm>
          <a:prstGeom prst="line">
            <a:avLst/>
          </a:prstGeom>
          <a:ln w="19050">
            <a:solidFill>
              <a:srgbClr val="D2690C"/>
            </a:solidFill>
            <a:tailEnd type="triangle" w="med" len="med"/>
          </a:ln>
        </p:spPr>
      </p:cxnSp>
      <p:cxnSp>
        <p:nvCxnSpPr>
          <p:cNvPr id="40" name="Connector 39"/>
          <p:cNvCxnSpPr/>
          <p:nvPr/>
        </p:nvCxnSpPr>
        <p:spPr>
          <a:xfrm flipH="1">
            <a:off x="5897879" y="2688336"/>
            <a:ext cx="365761" cy="0"/>
          </a:xfrm>
          <a:prstGeom prst="line">
            <a:avLst/>
          </a:prstGeom>
          <a:ln w="19050">
            <a:solidFill>
              <a:srgbClr val="B4382F"/>
            </a:solidFill>
            <a:tailEnd type="triangle" w="med" len="med"/>
          </a:ln>
        </p:spPr>
      </p:cxnSp>
      <p:sp>
        <p:nvSpPr>
          <p:cNvPr id="41" name="TextBox 40"/>
          <p:cNvSpPr txBox="1"/>
          <p:nvPr/>
        </p:nvSpPr>
        <p:spPr>
          <a:xfrm>
            <a:off x="5623559" y="2176272"/>
            <a:ext cx="914400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补丁 + 主张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59" y="2798063"/>
            <a:ext cx="914400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反例 + 质询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84448" y="3383279"/>
            <a:ext cx="4992624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对抗回合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84448" y="3657599"/>
            <a:ext cx="1165860" cy="566928"/>
          </a:xfrm>
          <a:prstGeom prst="roundRect">
            <a:avLst>
              <a:gd name="adj" fmla="val 8000"/>
            </a:avLst>
          </a:prstGeom>
          <a:solidFill>
            <a:srgbClr val="F2F8FD"/>
          </a:solidFill>
          <a:ln w="9525">
            <a:solidFill>
              <a:srgbClr val="AFCEE1"/>
            </a:solidFill>
          </a:ln>
        </p:spPr>
        <p:txBody>
          <a:bodyPr rtlCol="0" anchor="ctr" wrap="square" lIns="54864" tIns="18288" rIns="54864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1</a:t>
            </a: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8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提议者提交补丁与主张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60036" y="3657599"/>
            <a:ext cx="1165860" cy="566928"/>
          </a:xfrm>
          <a:prstGeom prst="roundRect">
            <a:avLst>
              <a:gd name="adj" fmla="val 8000"/>
            </a:avLst>
          </a:prstGeom>
          <a:solidFill>
            <a:srgbClr val="F2F8FD"/>
          </a:solidFill>
          <a:ln w="9525">
            <a:solidFill>
              <a:srgbClr val="AFCEE1"/>
            </a:solidFill>
          </a:ln>
        </p:spPr>
        <p:txBody>
          <a:bodyPr rtlCol="0" anchor="ctr" wrap="square" lIns="54864" tIns="18288" rIns="54864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2</a:t>
            </a: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8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挑战者提交反例与质询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759452" y="3941063"/>
            <a:ext cx="91440" cy="0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sp>
        <p:nvSpPr>
          <p:cNvPr id="47" name="Rounded Rectangle 46"/>
          <p:cNvSpPr/>
          <p:nvPr/>
        </p:nvSpPr>
        <p:spPr>
          <a:xfrm>
            <a:off x="6135624" y="3657599"/>
            <a:ext cx="1165860" cy="566928"/>
          </a:xfrm>
          <a:prstGeom prst="roundRect">
            <a:avLst>
              <a:gd name="adj" fmla="val 8000"/>
            </a:avLst>
          </a:prstGeom>
          <a:solidFill>
            <a:srgbClr val="F2F8FD"/>
          </a:solidFill>
          <a:ln w="9525">
            <a:solidFill>
              <a:srgbClr val="AFCEE1"/>
            </a:solidFill>
          </a:ln>
        </p:spPr>
        <p:txBody>
          <a:bodyPr rtlCol="0" anchor="ctr" wrap="square" lIns="54864" tIns="18288" rIns="54864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3</a:t>
            </a: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8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Harness 跑两方的用例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035040" y="3941063"/>
            <a:ext cx="91440" cy="0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sp>
        <p:nvSpPr>
          <p:cNvPr id="49" name="Rounded Rectangle 48"/>
          <p:cNvSpPr/>
          <p:nvPr/>
        </p:nvSpPr>
        <p:spPr>
          <a:xfrm>
            <a:off x="7411212" y="3657599"/>
            <a:ext cx="1165860" cy="566928"/>
          </a:xfrm>
          <a:prstGeom prst="roundRect">
            <a:avLst>
              <a:gd name="adj" fmla="val 8000"/>
            </a:avLst>
          </a:prstGeom>
          <a:solidFill>
            <a:srgbClr val="F2F8FD"/>
          </a:solidFill>
          <a:ln w="9525">
            <a:solidFill>
              <a:srgbClr val="AFCEE1"/>
            </a:solidFill>
          </a:ln>
        </p:spPr>
        <p:txBody>
          <a:bodyPr rtlCol="0" anchor="ctr" wrap="square" lIns="54864" tIns="18288" rIns="54864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4</a:t>
            </a: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8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反例命中 → 回合继续；预算耗尽 → 淘汰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310628" y="3941063"/>
            <a:ext cx="91440" cy="0"/>
          </a:xfrm>
          <a:prstGeom prst="line">
            <a:avLst/>
          </a:prstGeom>
          <a:ln w="12700">
            <a:solidFill>
              <a:srgbClr val="40708B"/>
            </a:solidFill>
            <a:tailEnd type="triangle" w="med" len="med"/>
          </a:ln>
        </p:spPr>
      </p:cxnSp>
      <p:sp>
        <p:nvSpPr>
          <p:cNvPr id="51" name="Freeform 50"/>
          <p:cNvSpPr/>
          <p:nvPr/>
        </p:nvSpPr>
        <p:spPr>
          <a:xfrm>
            <a:off x="4167378" y="4242816"/>
            <a:ext cx="3826764" cy="146304"/>
          </a:xfrm>
          <a:custGeom>
            <a:avLst/>
            <a:gdLst/>
            <a:ahLst/>
            <a:cxnLst/>
            <a:rect l="l" t="t" r="r" b="b"/>
            <a:pathLst>
              <a:path w="3826764" h="146304">
                <a:moveTo>
                  <a:pt x="3826764" y="0"/>
                </a:moveTo>
                <a:lnTo>
                  <a:pt x="3826764" y="146304"/>
                </a:lnTo>
                <a:lnTo>
                  <a:pt x="0" y="146304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7FA4BA"/>
            </a:solidFill>
            <a:prstDash val="dash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584448" y="4517136"/>
            <a:ext cx="4992624" cy="36576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 w="12700">
            <a:solidFill>
              <a:srgbClr val="17795F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7795F"/>
                </a:solidFill>
                <a:latin typeface="Microsoft YaHei"/>
                <a:ea typeface="Microsoft YaHei"/>
                <a:cs typeface="Microsoft YaHei"/>
              </a:rPr>
              <a:t>终止条件　</a:t>
            </a:r>
            <a:r>
              <a:rPr sz="9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挑战者在预算内找不到反例  且  四道门全过  →  晋升为候选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17520" y="2304288"/>
            <a:ext cx="365760" cy="0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54" name="Rounded Rectangle 53"/>
          <p:cNvSpPr/>
          <p:nvPr/>
        </p:nvSpPr>
        <p:spPr>
          <a:xfrm>
            <a:off x="2825496" y="2203704"/>
            <a:ext cx="78638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0708B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读取 / 感知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017520" y="4590288"/>
            <a:ext cx="365760" cy="0"/>
          </a:xfrm>
          <a:prstGeom prst="line">
            <a:avLst/>
          </a:prstGeom>
          <a:ln w="19050">
            <a:solidFill>
              <a:srgbClr val="40708B"/>
            </a:solidFill>
            <a:tailEnd type="triangle" w="med" len="med"/>
          </a:ln>
        </p:spPr>
      </p:cxnSp>
      <p:sp>
        <p:nvSpPr>
          <p:cNvPr id="56" name="Rounded Rectangle 55"/>
          <p:cNvSpPr/>
          <p:nvPr/>
        </p:nvSpPr>
        <p:spPr>
          <a:xfrm>
            <a:off x="2962656" y="4489703"/>
            <a:ext cx="5120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0708B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778240" y="2999231"/>
            <a:ext cx="237744" cy="0"/>
          </a:xfrm>
          <a:prstGeom prst="line">
            <a:avLst/>
          </a:prstGeom>
          <a:ln w="19050">
            <a:solidFill>
              <a:srgbClr val="D2690C"/>
            </a:solidFill>
            <a:tailEnd type="triangle" w="med" len="med"/>
          </a:ln>
        </p:spPr>
      </p:cxnSp>
      <p:sp>
        <p:nvSpPr>
          <p:cNvPr id="58" name="Rounded Rectangle 57"/>
          <p:cNvSpPr/>
          <p:nvPr/>
        </p:nvSpPr>
        <p:spPr>
          <a:xfrm>
            <a:off x="8577072" y="2679191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2570A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两方用例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778240" y="4078224"/>
            <a:ext cx="237744" cy="0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sp>
        <p:nvSpPr>
          <p:cNvPr id="60" name="Rounded Rectangle 59"/>
          <p:cNvSpPr/>
          <p:nvPr/>
        </p:nvSpPr>
        <p:spPr>
          <a:xfrm>
            <a:off x="8577072" y="3977639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2CE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触发评测</a:t>
            </a:r>
          </a:p>
        </p:txBody>
      </p:sp>
      <p:sp>
        <p:nvSpPr>
          <p:cNvPr id="61" name="Freeform 60"/>
          <p:cNvSpPr/>
          <p:nvPr/>
        </p:nvSpPr>
        <p:spPr>
          <a:xfrm>
            <a:off x="1783080" y="5449824"/>
            <a:ext cx="8564727" cy="310896"/>
          </a:xfrm>
          <a:custGeom>
            <a:avLst/>
            <a:gdLst/>
            <a:ahLst/>
            <a:cxnLst/>
            <a:rect l="l" t="t" r="r" b="b"/>
            <a:pathLst>
              <a:path w="8564727" h="310896">
                <a:moveTo>
                  <a:pt x="8564727" y="0"/>
                </a:moveTo>
                <a:lnTo>
                  <a:pt x="8564727" y="310896"/>
                </a:lnTo>
                <a:lnTo>
                  <a:pt x="0" y="310896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40708B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212080" y="5660136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0708B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回写：判决 · 偏差 · 反例命中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961888"/>
            <a:ext cx="11094415" cy="47548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8640" y="5961888"/>
            <a:ext cx="73152" cy="47548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4" y="5961888"/>
            <a:ext cx="10436047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核心设计</a:t>
            </a:r>
            <a:r>
              <a:rPr sz="12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　｜　</a:t>
            </a: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两个 Agent 都只产出假设——补丁与反例；谁对谁错由右侧确定性工具说了算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