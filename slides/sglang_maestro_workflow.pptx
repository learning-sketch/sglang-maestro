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sglang-maestro 工作流程：适配、分析与调优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输入模型、芯片和业务负载，自动完成适配分析、性能诊断和特性调优；下一步由执行器把方案自动落地到真机，实测数据回流形成闭环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自动分析与决策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一条命令 sglang-maestro run 串起全流程，各环节也可单独调用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HF config.json 或权重目录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72284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H20 或自定义设备（YAML 规格）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输入输出长度、到达率、SLO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61588"/>
            <a:ext cx="2011680" cy="53492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实测数据（可选）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trace、server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判断架构是否已被 SGLang 支持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平台插件需实现的接口清单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算子缺口、精度路线与最少卡数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改动原则与分步适配计划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941722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5188610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2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性能分析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88610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Roofline 定位算力 / 带宽 / 通信瓶颈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 诊断：融合算子、通算重叠、多流并行、权重预取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算子性能异常：未走图、主机同步、耗时离群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414564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7661452" y="1627632"/>
            <a:ext cx="2180234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场景 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特性调优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61452" y="2249424"/>
            <a:ext cx="2180234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逐项评估 DP attention / CP / SP / HiCache / EP / TBO / EPLB / 投机解码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给出适配要求、调优参数与预估收益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合并为组合启动配置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468880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9887407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10134295" y="1627632"/>
            <a:ext cx="16459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方案与配置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适配清单与分步计划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性能诊断与优化建议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调优后的启动配置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结论附源码出处</a:t>
            </a:r>
          </a:p>
          <a:p>
            <a:pPr algn="l" latinLnBrk="0">
              <a:lnSpc>
                <a:spcPct val="100000"/>
              </a:lnSpc>
              <a:spcBef>
                <a:spcPts val="800"/>
              </a:spcBef>
              <a:spcAft>
                <a:spcPts val="10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下一页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场景 5 自动性能测评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15768" y="4224528"/>
            <a:ext cx="7125919" cy="566928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15768" y="4224528"/>
            <a:ext cx="1051560" cy="566928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知识底座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各环节共用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767328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3767328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SGLang 源码知识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按固定 commit 自动抽取：参数、模型、平台接口、融合算子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92114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5792114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规则库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每条规则附 SGLang 源码出处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16900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816900" y="4224528"/>
            <a:ext cx="2024786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 + 离散事件仿真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预测单步耗时、吞吐与 SLO 达成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5768" y="4882896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自动落地闭环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执行器（规划中）在真机上自动执行：默认只打印命令（dry-run），显式加 --allow-exec 才真正执行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实测回流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trace、日志、压测结果回到输入：诊断真实瓶颈、校准成本模型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2978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自动调优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候选配置在真机上自动 A/B，按实测选优并回写配置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4012082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5" name="Rectangle 34"/>
          <p:cNvSpPr/>
          <p:nvPr/>
        </p:nvSpPr>
        <p:spPr>
          <a:xfrm>
            <a:off x="8234476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自动适配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按适配清单生成平台插件骨架、算子注册和 torch 参考实现，自动跑冒烟与精度对比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7923580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7" name="Connector 36"/>
          <p:cNvCxnSpPr/>
          <p:nvPr/>
        </p:nvCxnSpPr>
        <p:spPr>
          <a:xfrm>
            <a:off x="10957255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38" name="Connector 37"/>
          <p:cNvCxnSpPr/>
          <p:nvPr/>
        </p:nvCxnSpPr>
        <p:spPr>
          <a:xfrm flipV="1">
            <a:off x="1417320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39" name="TextBox 38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原则：确定性、离线、可复现 · 数值来自成本模型与仿真，不依赖大模型估算 · 每条结论附证据与源码出处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365760"/>
            <a:ext cx="64008" cy="38404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0584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场景 5：自动性能测评与最优部署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22960"/>
            <a:ext cx="113687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给定业务场景和 SLO，自动生成候选方案、仿真测评、选出最省卡的方案并生成压测脚本；实测结果回来后自动比对、校准并重新选优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2011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15768" y="1280160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D4ED8"/>
                </a:solidFill>
                <a:latin typeface="Microsoft YaHei"/>
                <a:ea typeface="Microsoft YaHei"/>
                <a:cs typeface="Microsoft YaHei"/>
              </a:rPr>
              <a:t>自动测评与选优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对应 sglang-maestro deploy，run 会在场景 3 之后自动执行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4295" y="1280160"/>
            <a:ext cx="164592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627632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模型与调优配置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来自场景 1–3 的结论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272284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芯片与卡数预算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芯片规格 YAML、最多可用卡数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16936"/>
            <a:ext cx="2011680" cy="534924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业务场景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长度分布、到达率与 SLO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61588"/>
            <a:ext cx="2011680" cy="534924"/>
          </a:xfrm>
          <a:prstGeom prst="rect">
            <a:avLst/>
          </a:prstGeom>
          <a:solidFill>
            <a:srgbClr val="FFF4EC"/>
          </a:solidFill>
          <a:ln w="9525">
            <a:solidFill>
              <a:srgbClr val="F3B58F"/>
            </a:solidFill>
          </a:ln>
        </p:spPr>
        <p:txBody>
          <a:bodyPr rtlCol="0" anchor="ctr" wrap="square" lIns="109728" tIns="18288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实测结果（可选）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server 日志、压测结果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68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候选方案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15768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基于场景 3 的调优配置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枚举实例规格：并行布局与特性组合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TPOT 超标时自动试更小的 chunk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50943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5" name="Rectangle 14"/>
          <p:cNvSpPr/>
          <p:nvPr/>
        </p:nvSpPr>
        <p:spPr>
          <a:xfrm>
            <a:off x="4561255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2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仿真测评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61255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成本模型算 prefill / decode 单步耗时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离散事件仿真请求排队、批处理与路由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二分求单实例达标的最高到达率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96431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6406743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选优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6743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给定到达率：满足 SLO 且卡数最少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不给到达率：预算内每卡吞吐最高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整集群带路由仿真，不达标加实例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41919" y="2862072"/>
            <a:ext cx="164592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8252231" y="1627632"/>
            <a:ext cx="1589455" cy="62179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txBody>
          <a:bodyPr rtlCol="0" anchor="ctr" wrap="square" lIns="128016" tIns="27432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00" b="0">
                <a:solidFill>
                  <a:srgbClr val="C7D7FE"/>
                </a:solidFill>
                <a:latin typeface="Microsoft YaHei"/>
                <a:ea typeface="Microsoft YaHei"/>
                <a:cs typeface="Microsoft YaHei"/>
              </a:rPr>
              <a:t>步骤 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测评脚本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52231" y="2249424"/>
            <a:ext cx="1589455" cy="1847088"/>
          </a:xfrm>
          <a:prstGeom prst="rect">
            <a:avLst/>
          </a:prstGeom>
          <a:solidFill>
            <a:srgbClr val="F5F8FF"/>
          </a:solidFill>
          <a:ln w="9525">
            <a:solidFill>
              <a:srgbClr val="C9D6F0"/>
            </a:solidFill>
          </a:ln>
        </p:spPr>
        <p:txBody>
          <a:bodyPr rtlCol="0" anchor="t" wrap="square" lIns="109728" tIns="128016" bIns="73152">
            <a:noAutofit/>
          </a:bodyPr>
          <a:lstStyle/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把实例放置到各台机器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生成启动、路由、健康检查命令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rgbClr val="1D4ED8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压测命令按业务场景重放请求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68880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9887407" y="2862072"/>
            <a:ext cx="201168" cy="0"/>
          </a:xfrm>
          <a:prstGeom prst="line">
            <a:avLst/>
          </a:prstGeom>
          <a:ln w="22225">
            <a:solidFill>
              <a:srgbClr val="9CA3AF"/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10134295" y="1627632"/>
            <a:ext cx="1645920" cy="246888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rtlCol="0" anchor="t" wrap="square" lIns="128016" tIns="146304" bIns="7315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测评报告与方案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各项指标的预测值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候选方案对比与选择理由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部署命令与上线步骤</a:t>
            </a:r>
          </a:p>
          <a:p>
            <a:pPr algn="l" latinLnBrk="0" marL="128016" indent="-128016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Clr>
                <a:srgbClr val="6B7280"/>
              </a:buClr>
              <a:buFont typeface="Arial"/>
              <a:buChar char="•"/>
            </a:pPr>
            <a:r>
              <a:rPr sz="110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有实测时：实测与预测偏差表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5768" y="4224528"/>
            <a:ext cx="7125919" cy="566928"/>
          </a:xfrm>
          <a:prstGeom prst="rect">
            <a:avLst/>
          </a:prstGeom>
          <a:solidFill>
            <a:srgbClr val="F9FAFB"/>
          </a:solidFill>
          <a:ln w="9525">
            <a:solidFill>
              <a:srgbClr val="D1D5D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15768" y="4224528"/>
            <a:ext cx="1051560" cy="566928"/>
          </a:xfrm>
          <a:prstGeom prst="rect">
            <a:avLst/>
          </a:prstGeom>
          <a:noFill/>
        </p:spPr>
        <p:txBody>
          <a:bodyPr wrap="square" anchor="ctr" lIns="128016" tIns="0" rIns="4572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1F2937"/>
                </a:solidFill>
                <a:latin typeface="Microsoft YaHei"/>
                <a:ea typeface="Microsoft YaHei"/>
                <a:cs typeface="Microsoft YaHei"/>
              </a:rPr>
              <a:t>测评指标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预测值与实测值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767328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3767328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TTFT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982199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1" name="TextBox 30"/>
          <p:cNvSpPr txBox="1"/>
          <p:nvPr/>
        </p:nvSpPr>
        <p:spPr>
          <a:xfrm>
            <a:off x="4982199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TPOT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P50 / P90 / P99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197071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6197071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输出吞吐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总量与每卡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411943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5" name="TextBox 34"/>
          <p:cNvSpPr txBox="1"/>
          <p:nvPr/>
        </p:nvSpPr>
        <p:spPr>
          <a:xfrm>
            <a:off x="7411943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SLO 达成率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达标请求占比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6815" y="4334256"/>
            <a:ext cx="0" cy="347472"/>
          </a:xfrm>
          <a:prstGeom prst="line">
            <a:avLst/>
          </a:prstGeom>
          <a:ln w="9525">
            <a:solidFill>
              <a:srgbClr val="D1D5DB"/>
            </a:solidFill>
          </a:ln>
        </p:spPr>
      </p:cxnSp>
      <p:sp>
        <p:nvSpPr>
          <p:cNvPr id="37" name="TextBox 36"/>
          <p:cNvSpPr txBox="1"/>
          <p:nvPr/>
        </p:nvSpPr>
        <p:spPr>
          <a:xfrm>
            <a:off x="8626815" y="4224528"/>
            <a:ext cx="1214871" cy="566928"/>
          </a:xfrm>
          <a:prstGeom prst="rect">
            <a:avLst/>
          </a:prstGeom>
          <a:noFill/>
        </p:spPr>
        <p:txBody>
          <a:bodyPr wrap="square" anchor="ctr" lIns="128016" tIns="18288" rIns="73152" bIns="18288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资源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卡数与实例数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15768" y="4882896"/>
            <a:ext cx="7125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实测闭环</a:t>
            </a:r>
            <a:r>
              <a:rPr sz="10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　预测与实测对不上时，自动校准成本模型并重新选优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校准并重新选优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拟合 prefill / decode 系数，带校准重新规划部署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2978" y="5212080"/>
            <a:ext cx="3545738" cy="786384"/>
          </a:xfrm>
          <a:prstGeom prst="rect">
            <a:avLst/>
          </a:prstGeom>
          <a:solidFill>
            <a:srgbClr val="FFF4EC"/>
          </a:solidFill>
          <a:ln w="12700">
            <a:solidFill>
              <a:srgbClr val="F3B58F"/>
            </a:solidFill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自动比对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实测与预测逐项比对，超出 ±20% 判为偏差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4012082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2" name="Rectangle 41"/>
          <p:cNvSpPr/>
          <p:nvPr/>
        </p:nvSpPr>
        <p:spPr>
          <a:xfrm>
            <a:off x="8234476" y="5212080"/>
            <a:ext cx="3545738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 wrap="square" lIns="146304" tIns="27432" rIns="109728" bIns="27432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9A3412"/>
                </a:solidFill>
                <a:latin typeface="Microsoft YaHei"/>
                <a:ea typeface="Microsoft YaHei"/>
                <a:cs typeface="Microsoft YaHei"/>
              </a:rPr>
              <a:t>真机压测</a:t>
            </a:r>
            <a:r>
              <a:rPr sz="900" b="0">
                <a:solidFill>
                  <a:srgbClr val="C2410C"/>
                </a:solidFill>
                <a:latin typeface="Microsoft YaHei"/>
                <a:ea typeface="Microsoft YaHei"/>
                <a:cs typeface="Microsoft YaHei"/>
              </a:rPr>
              <a:t>　规划中</a:t>
            </a:r>
          </a:p>
          <a:p>
            <a:pPr algn="l" latinLnBrk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74151"/>
                </a:solidFill>
                <a:latin typeface="Microsoft YaHei"/>
                <a:ea typeface="Microsoft YaHei"/>
                <a:cs typeface="Microsoft YaHei"/>
              </a:rPr>
              <a:t>执行器自动启动服务、跑压测、收集日志；目前由人按生成的命令执行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7923580" y="5605272"/>
            <a:ext cx="256032" cy="0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44" name="Connector 43"/>
          <p:cNvCxnSpPr/>
          <p:nvPr/>
        </p:nvCxnSpPr>
        <p:spPr>
          <a:xfrm>
            <a:off x="10957255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cxnSp>
        <p:nvCxnSpPr>
          <p:cNvPr id="45" name="Connector 44"/>
          <p:cNvCxnSpPr/>
          <p:nvPr/>
        </p:nvCxnSpPr>
        <p:spPr>
          <a:xfrm flipV="1">
            <a:off x="1417320" y="4142232"/>
            <a:ext cx="0" cy="1024128"/>
          </a:xfrm>
          <a:prstGeom prst="line">
            <a:avLst/>
          </a:prstGeom>
          <a:ln w="22225">
            <a:solidFill>
              <a:srgbClr val="C2410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11480" y="6254496"/>
            <a:ext cx="825977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命令：sglang-maestro deploy --model &lt;模型&gt; --hardware &lt;芯片&gt; --workload &lt;业务场景&gt; --no-pd [--calibration &lt;校准文件&gt;]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54135" y="6327648"/>
            <a:ext cx="274320" cy="146304"/>
          </a:xfrm>
          <a:prstGeom prst="rect">
            <a:avLst/>
          </a:prstGeom>
          <a:solidFill>
            <a:srgbClr val="FFFFFF"/>
          </a:solidFill>
          <a:ln w="12700">
            <a:solidFill>
              <a:srgbClr val="C2410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01607" y="6254496"/>
            <a:ext cx="25786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Microsoft YaHei"/>
                <a:ea typeface="Microsoft YaHei"/>
                <a:cs typeface="Microsoft YaHei"/>
              </a:rPr>
              <a:t>虚线框：规划中，目前由人按输出的命令执行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