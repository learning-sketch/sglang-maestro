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65760"/>
            <a:ext cx="64008" cy="3840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8229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sglang-maestro 工作流程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22960"/>
            <a:ext cx="113687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输入模型、芯片和业务负载，自动完成适配分析、性能诊断、特性调优和部署规划；真机实测数据回流后校准成本模型、重新规划，形成闭环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2011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5768" y="1280160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自动分析与决策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一条命令 sglang-maestro run 串起全流程，各环节也可单独调用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34295" y="1280160"/>
            <a:ext cx="164592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2011680" cy="59207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HF config.json 或权重目录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329434"/>
            <a:ext cx="2011680" cy="59207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芯片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H20 或自定义设备（YAML 规格）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031236"/>
            <a:ext cx="2011680" cy="59207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业务负载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输入输出长度、到达率、SLO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733038"/>
            <a:ext cx="2011680" cy="592074"/>
          </a:xfrm>
          <a:prstGeom prst="rect">
            <a:avLst/>
          </a:prstGeom>
          <a:solidFill>
            <a:srgbClr val="FFF4EC"/>
          </a:solidFill>
          <a:ln w="9525">
            <a:solidFill>
              <a:srgbClr val="F3B58F"/>
            </a:solidFill>
          </a:ln>
        </p:spPr>
        <p:txBody>
          <a:bodyPr rtlCol="0" anchor="ctr" wrap="square" lIns="109728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实测数据（可选）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trace、server 日志、压测结果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68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5768" y="2249424"/>
            <a:ext cx="1589455" cy="20756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判断架构是否已被 SGLang 支持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平台插件需实现的接口清单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算子缺口、精度路线与最少卡数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改动原则与分步适配计划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41799" y="2976372"/>
            <a:ext cx="182880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4561255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2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性能分析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61255" y="2249424"/>
            <a:ext cx="1589455" cy="20756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Roofline 定位算力 / 带宽 / 通信瓶颈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Trace 诊断：融合算子、通算重叠、多流并行、权重预取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算子性能异常：未走图、主机同步、耗时离群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87287" y="2976372"/>
            <a:ext cx="182880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6406743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3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特性调优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6743" y="2249424"/>
            <a:ext cx="1589455" cy="20756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逐项评估 DP attention、CP、SP、HiCache、EP、TBO、EPLB、投机解码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给出适配要求、调优参数与预估收益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合并为组合配置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032775" y="2976372"/>
            <a:ext cx="182880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8252231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5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最优部署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52231" y="2249424"/>
            <a:ext cx="1589455" cy="20756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搜索并行布局与实例数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对比 PD 分离与混部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离散事件仿真验证 SLO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生成启动、路由、压测命令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68880" y="29763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9887407" y="29763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10134295" y="1627632"/>
            <a:ext cx="1645920" cy="26974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t" wrap="square" lIns="128016" tIns="146304" bIns="73152">
            <a:no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报告与命令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6B7280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Markdown / JSON 报告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6B7280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每条结论附证据与源码出处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6B7280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启动、路由、压测命令</a:t>
            </a:r>
          </a:p>
          <a:p>
            <a:pPr algn="l" marL="128016" indent="-128016">
              <a:lnSpc>
                <a:spcPct val="105000"/>
              </a:lnSpc>
              <a:spcAft>
                <a:spcPts val="700"/>
              </a:spcAft>
              <a:buClr>
                <a:srgbClr val="6B7280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适配与上线步骤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5768" y="4480560"/>
            <a:ext cx="7125919" cy="603504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15768" y="4480560"/>
            <a:ext cx="1051560" cy="603504"/>
          </a:xfrm>
          <a:prstGeom prst="rect">
            <a:avLst/>
          </a:prstGeom>
          <a:noFill/>
        </p:spPr>
        <p:txBody>
          <a:bodyPr wrap="square" anchor="ctr" lIns="128016" tIns="0" rIns="45720" bIns="0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知识底座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各环节共用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67328" y="4590288"/>
            <a:ext cx="0" cy="384048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3767328" y="4480560"/>
            <a:ext cx="2024786" cy="603504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SGLang 源码知识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按固定 commit 自动抽取：参数、模型、平台接口、融合算子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92114" y="4590288"/>
            <a:ext cx="0" cy="384048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5792114" y="4480560"/>
            <a:ext cx="2024786" cy="603504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规则库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每条规则附 SGLang 源码出处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816900" y="4590288"/>
            <a:ext cx="0" cy="384048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7816900" y="4480560"/>
            <a:ext cx="2024786" cy="603504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成本模型 + 离散事件仿真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预测单步耗时、吞吐与 SLO 达成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358384"/>
            <a:ext cx="3545738" cy="658368"/>
          </a:xfrm>
          <a:prstGeom prst="rect">
            <a:avLst/>
          </a:prstGeom>
          <a:solidFill>
            <a:srgbClr val="FFF4EC"/>
          </a:solidFill>
          <a:ln w="12700">
            <a:solidFill>
              <a:srgbClr val="F3B58F"/>
            </a:solidFill>
          </a:ln>
        </p:spPr>
        <p:txBody>
          <a:bodyPr rtlCol="0" anchor="ctr" wrap="square" lIns="146304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回流为输入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诊断真实瓶颈、校准成本模型、重新规划部署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2978" y="5358384"/>
            <a:ext cx="354573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采集实测数据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profiler trace、server 日志、压测结果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012082" y="5687568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8234476" y="5358384"/>
            <a:ext cx="354573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bIns="27432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真机部署与压测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按输出的命令执行（当前由人操作）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7923580" y="5687568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39" name="Connector 38"/>
          <p:cNvCxnSpPr/>
          <p:nvPr/>
        </p:nvCxnSpPr>
        <p:spPr>
          <a:xfrm>
            <a:off x="10957255" y="4370832"/>
            <a:ext cx="0" cy="941832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10088575" y="4672584"/>
            <a:ext cx="77724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闭环反馈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1417320" y="4370832"/>
            <a:ext cx="0" cy="941832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42" name="TextBox 41"/>
          <p:cNvSpPr txBox="1"/>
          <p:nvPr/>
        </p:nvSpPr>
        <p:spPr>
          <a:xfrm>
            <a:off x="411480" y="6254496"/>
            <a:ext cx="768096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原则：确定性、离线、可复现 · 数值来自成本模型与仿真，不依赖大模型估算 · 每条结论附证据与源码出处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39735" y="6327648"/>
            <a:ext cx="27432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87207" y="6254496"/>
            <a:ext cx="34930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虚线框：在真机上人工执行；其余环节由工具自动完成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