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sglang-maestro 工作流程：适配、分析与调优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输入模型、芯片和业务负载，自动完成适配分析、性能诊断和特性调优；下一步由执行器把方案自动落地到真机，实测数据回流形成闭环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2011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5768" y="1280160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自动分析与决策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一条命令 sglang-maestro run 串起全流程，各环节也可单独调用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4295" y="1280160"/>
            <a:ext cx="1645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HF config.json 或权重目录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72284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H20 或自定义设备（YAML 规格）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输入输出长度、到达率、SLO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61588"/>
            <a:ext cx="2011680" cy="534924"/>
          </a:xfrm>
          <a:prstGeom prst="rect">
            <a:avLst/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实测数据（可选）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trace、server 日志、压测结果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判断架构是否已被 SGLang 支持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平台插件需实现的接口清单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算子缺口、精度路线与最少卡数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改动原则与分步适配计划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41722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88610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2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8610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Roofline 定位算力 / 带宽 / 通信瓶颈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 诊断：融合算子、通算重叠、多流并行、权重预取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算子性能异常：未走图、主机同步、耗时离群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14564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7661452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特性调优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61452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逐项评估 DP attention / CP / SP / HiCache / EP / TBO / EPLB / 投机解码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给出适配要求、调优参数与预估收益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合并为组合启动配置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68880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9887407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10134295" y="1627632"/>
            <a:ext cx="16459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t" wrap="square" lIns="128016" tIns="146304" bIns="7315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方案与配置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适配清单与分步计划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性能诊断与优化建议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调优后的启动配置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结论附源码出处</a:t>
            </a:r>
          </a:p>
          <a:p>
            <a:pPr algn="l" latinLnBrk="0">
              <a:lnSpc>
                <a:spcPct val="100000"/>
              </a:lnSpc>
              <a:spcBef>
                <a:spcPts val="800"/>
              </a:spcBef>
              <a:spcAft>
                <a:spcPts val="1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下一页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场景 5 自动性能测评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15768" y="4224528"/>
            <a:ext cx="7125919" cy="566928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5768" y="4224528"/>
            <a:ext cx="1051560" cy="566928"/>
          </a:xfrm>
          <a:prstGeom prst="rect">
            <a:avLst/>
          </a:prstGeom>
          <a:noFill/>
        </p:spPr>
        <p:txBody>
          <a:bodyPr wrap="square" anchor="ctr" lIns="128016" tIns="0" rIns="4572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知识底座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各环节共用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67328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3767328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SGLang 源码知识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按固定 commit 自动抽取：参数、模型、平台接口、融合算子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92114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792114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规则库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每条规则附 SGLang 源码出处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16900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816900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 + 离散事件仿真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预测单步耗时、吞吐与 SLO 达成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4882896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自动落地闭环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执行器（规划中）在真机上自动执行：默认只打印命令（dry-run），显式加 --allow-exec 才真正执行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实测回流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trace、日志、压测结果回到输入：诊断真实瓶颈、校准成本模型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2978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自动调优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候选配置在真机上自动 A/B，按实测选优并回写配置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4012082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8234476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自动适配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按适配清单生成平台插件骨架、算子注册和 torch 参考实现，自动跑冒烟与精度对比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23580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7" name="Connector 36"/>
          <p:cNvCxnSpPr/>
          <p:nvPr/>
        </p:nvCxnSpPr>
        <p:spPr>
          <a:xfrm>
            <a:off x="10957255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417320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411480" y="6254496"/>
            <a:ext cx="82597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原则：确定性、离线、可复现 · 数值来自成本模型与仿真，不依赖大模型估算 · 每条结论附证据与源码出处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541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1607" y="6254496"/>
            <a:ext cx="25786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虚线框：规划中，目前由人按输出的命令执行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场景 5：自动性能测评与最优部署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给定业务场景和 SLO，自动生成候选方案、仿真测评、选出最省卡的方案并生成压测脚本；实测结果回来后自动比对、校准并重新选优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40233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5880"/>
            <a:ext cx="2620441" cy="530352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64592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模型与调优配置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来自场景 1–3 的结论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62857" y="1325880"/>
            <a:ext cx="2620441" cy="530352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64592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芯片与卡数预算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芯片规格 YAML、最多可用卡数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1315" y="1325880"/>
            <a:ext cx="2620441" cy="530352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64592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业务场景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长度分布、到达率与 SLO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9773" y="1325880"/>
            <a:ext cx="2620441" cy="530352"/>
          </a:xfrm>
          <a:prstGeom prst="roundRect">
            <a:avLst>
              <a:gd name="adj" fmla="val 20000"/>
            </a:avLst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64592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实测结果（可选）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server 日志、压测结果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75104"/>
            <a:ext cx="6858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自动测评与选优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对应 sglang-maestro deploy，run 会在场景 3 之后自动执行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75104"/>
            <a:ext cx="33677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892807"/>
            <a:ext cx="0" cy="466345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>
            <a:off x="612648" y="2587752"/>
            <a:ext cx="0" cy="1892807"/>
          </a:xfrm>
          <a:prstGeom prst="line">
            <a:avLst/>
          </a:prstGeom>
          <a:ln w="25400">
            <a:solidFill>
              <a:srgbClr val="C7D7FE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914400" y="2304288"/>
            <a:ext cx="6858000" cy="566928"/>
          </a:xfrm>
          <a:prstGeom prst="roundRect">
            <a:avLst>
              <a:gd name="adj" fmla="val 14000"/>
            </a:avLst>
          </a:prstGeom>
          <a:solidFill>
            <a:srgbClr val="F5F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1480" y="2386584"/>
            <a:ext cx="402336" cy="402336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304288"/>
            <a:ext cx="96012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48840" y="2432304"/>
            <a:ext cx="0" cy="310896"/>
          </a:xfrm>
          <a:prstGeom prst="line">
            <a:avLst/>
          </a:prstGeom>
          <a:ln w="12700">
            <a:solidFill>
              <a:srgbClr val="C9D6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2276856" y="2304288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基于场景 3 的调优配置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6992" y="2304288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枚举实例规格：并行布局与特性组合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77128" y="2304288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TPOT 超标时自动试更小的 chunk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2935224"/>
            <a:ext cx="6858000" cy="566928"/>
          </a:xfrm>
          <a:prstGeom prst="roundRect">
            <a:avLst>
              <a:gd name="adj" fmla="val 14000"/>
            </a:avLst>
          </a:prstGeom>
          <a:solidFill>
            <a:srgbClr val="F5F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1480" y="3017520"/>
            <a:ext cx="402336" cy="402336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935224"/>
            <a:ext cx="96012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仿真测评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48840" y="3063240"/>
            <a:ext cx="0" cy="310896"/>
          </a:xfrm>
          <a:prstGeom prst="line">
            <a:avLst/>
          </a:prstGeom>
          <a:ln w="12700">
            <a:solidFill>
              <a:srgbClr val="C9D6F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2276856" y="2935224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成本模型算 prefill / decode 单步耗时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26992" y="2935224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离散事件仿真请求排队、批处理与路由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7128" y="2935224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二分求单实例达标的最高到达率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566160"/>
            <a:ext cx="6858000" cy="566928"/>
          </a:xfrm>
          <a:prstGeom prst="roundRect">
            <a:avLst>
              <a:gd name="adj" fmla="val 14000"/>
            </a:avLst>
          </a:prstGeom>
          <a:solidFill>
            <a:srgbClr val="F5F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" y="3648456"/>
            <a:ext cx="402336" cy="402336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566160"/>
            <a:ext cx="96012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选优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48840" y="3694176"/>
            <a:ext cx="0" cy="310896"/>
          </a:xfrm>
          <a:prstGeom prst="line">
            <a:avLst/>
          </a:prstGeom>
          <a:ln w="12700">
            <a:solidFill>
              <a:srgbClr val="C9D6F0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2276856" y="3566160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给定到达率：满足 SLO 且卡数最少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26992" y="3566160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不给到达率：预算内每卡吞吐最高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77128" y="3566160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整集群带路由仿真，不达标加实例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197096"/>
            <a:ext cx="6858000" cy="566928"/>
          </a:xfrm>
          <a:prstGeom prst="roundRect">
            <a:avLst>
              <a:gd name="adj" fmla="val 14000"/>
            </a:avLst>
          </a:prstGeom>
          <a:solidFill>
            <a:srgbClr val="F5F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1480" y="4279392"/>
            <a:ext cx="402336" cy="402336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97096"/>
            <a:ext cx="96012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测评脚本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48840" y="4325112"/>
            <a:ext cx="0" cy="310896"/>
          </a:xfrm>
          <a:prstGeom prst="line">
            <a:avLst/>
          </a:prstGeom>
          <a:ln w="12700">
            <a:solidFill>
              <a:srgbClr val="C9D6F0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2276856" y="4197096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把实例放置到各台机器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26992" y="4197096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生成启动、路由、健康检查命令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77128" y="4197096"/>
            <a:ext cx="174040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压测命令按业务场景重放请求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304288"/>
            <a:ext cx="3367735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304288"/>
            <a:ext cx="336773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359152"/>
            <a:ext cx="3367735" cy="1389888"/>
          </a:xfrm>
          <a:prstGeom prst="rect">
            <a:avLst/>
          </a:prstGeom>
          <a:noFill/>
        </p:spPr>
        <p:txBody>
          <a:bodyPr wrap="square" anchor="t" lIns="164592" tIns="128016" rIns="109728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测评报告与方案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6B7280"/>
              </a:buClr>
              <a:buFont typeface="Arial"/>
              <a:buChar char="•"/>
            </a:pPr>
            <a:r>
              <a:rPr sz="10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各项指标的预测值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6B7280"/>
              </a:buClr>
              <a:buFont typeface="Arial"/>
              <a:buChar char="•"/>
            </a:pPr>
            <a:r>
              <a:rPr sz="10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候选方案对比与选择理由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6B7280"/>
              </a:buClr>
              <a:buFont typeface="Arial"/>
              <a:buChar char="•"/>
            </a:pPr>
            <a:r>
              <a:rPr sz="10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部署命令与上线步骤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6B7280"/>
              </a:buClr>
              <a:buFont typeface="Arial"/>
              <a:buChar char="•"/>
            </a:pPr>
            <a:r>
              <a:rPr sz="10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有实测时：实测与预测偏差表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3877055"/>
            <a:ext cx="3367735" cy="210312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0" y="3877055"/>
            <a:ext cx="3367735" cy="402336"/>
          </a:xfrm>
          <a:prstGeom prst="rect">
            <a:avLst/>
          </a:prstGeom>
          <a:noFill/>
        </p:spPr>
        <p:txBody>
          <a:bodyPr wrap="square" anchor="ctr" lIns="164592" tIns="54864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测评指标</a:t>
            </a: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预测值与实测值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77072" y="4279392"/>
            <a:ext cx="3038551" cy="0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8412480" y="4279392"/>
            <a:ext cx="1325880" cy="325526"/>
          </a:xfrm>
          <a:prstGeom prst="rect">
            <a:avLst/>
          </a:prstGeom>
          <a:noFill/>
        </p:spPr>
        <p:txBody>
          <a:bodyPr wrap="square" anchor="ctr" lIns="164592" tIns="0" rIns="36576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TTFT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38359" y="4279392"/>
            <a:ext cx="2041855" cy="325526"/>
          </a:xfrm>
          <a:prstGeom prst="rect">
            <a:avLst/>
          </a:prstGeom>
          <a:noFill/>
        </p:spPr>
        <p:txBody>
          <a:bodyPr wrap="square" anchor="ctr" lIns="36576" tIns="0" rIns="164592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P50 / P90 / P99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577072" y="4604918"/>
            <a:ext cx="3038551" cy="0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51" name="TextBox 50"/>
          <p:cNvSpPr txBox="1"/>
          <p:nvPr/>
        </p:nvSpPr>
        <p:spPr>
          <a:xfrm>
            <a:off x="8412480" y="4604918"/>
            <a:ext cx="1325880" cy="325526"/>
          </a:xfrm>
          <a:prstGeom prst="rect">
            <a:avLst/>
          </a:prstGeom>
          <a:noFill/>
        </p:spPr>
        <p:txBody>
          <a:bodyPr wrap="square" anchor="ctr" lIns="164592" tIns="0" rIns="36576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TPOT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38359" y="4604918"/>
            <a:ext cx="2041855" cy="325526"/>
          </a:xfrm>
          <a:prstGeom prst="rect">
            <a:avLst/>
          </a:prstGeom>
          <a:noFill/>
        </p:spPr>
        <p:txBody>
          <a:bodyPr wrap="square" anchor="ctr" lIns="36576" tIns="0" rIns="164592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P50 / P90 / P99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577072" y="4930444"/>
            <a:ext cx="3038551" cy="0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412480" y="4930444"/>
            <a:ext cx="1325880" cy="325526"/>
          </a:xfrm>
          <a:prstGeom prst="rect">
            <a:avLst/>
          </a:prstGeom>
          <a:noFill/>
        </p:spPr>
        <p:txBody>
          <a:bodyPr wrap="square" anchor="ctr" lIns="164592" tIns="0" rIns="36576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输出吞吐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8359" y="4930444"/>
            <a:ext cx="2041855" cy="325526"/>
          </a:xfrm>
          <a:prstGeom prst="rect">
            <a:avLst/>
          </a:prstGeom>
          <a:noFill/>
        </p:spPr>
        <p:txBody>
          <a:bodyPr wrap="square" anchor="ctr" lIns="36576" tIns="0" rIns="164592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总量与每卡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577072" y="5255971"/>
            <a:ext cx="3038551" cy="0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8412480" y="5255971"/>
            <a:ext cx="1325880" cy="325526"/>
          </a:xfrm>
          <a:prstGeom prst="rect">
            <a:avLst/>
          </a:prstGeom>
          <a:noFill/>
        </p:spPr>
        <p:txBody>
          <a:bodyPr wrap="square" anchor="ctr" lIns="164592" tIns="0" rIns="36576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SLO 达成率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38359" y="5255971"/>
            <a:ext cx="2041855" cy="325526"/>
          </a:xfrm>
          <a:prstGeom prst="rect">
            <a:avLst/>
          </a:prstGeom>
          <a:noFill/>
        </p:spPr>
        <p:txBody>
          <a:bodyPr wrap="square" anchor="ctr" lIns="36576" tIns="0" rIns="164592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达标请求占比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5581497"/>
            <a:ext cx="3038551" cy="0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412480" y="5581497"/>
            <a:ext cx="1325880" cy="325526"/>
          </a:xfrm>
          <a:prstGeom prst="rect">
            <a:avLst/>
          </a:prstGeom>
          <a:noFill/>
        </p:spPr>
        <p:txBody>
          <a:bodyPr wrap="square" anchor="ctr" lIns="164592" tIns="0" rIns="36576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38359" y="5581497"/>
            <a:ext cx="2041855" cy="325526"/>
          </a:xfrm>
          <a:prstGeom prst="rect">
            <a:avLst/>
          </a:prstGeom>
          <a:noFill/>
        </p:spPr>
        <p:txBody>
          <a:bodyPr wrap="square" anchor="ctr" lIns="36576" tIns="0" rIns="164592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卡数与实例数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73752"/>
            <a:ext cx="6858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实测闭环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预测与实测对不上时，自动校准成本模型并重新选优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212080"/>
            <a:ext cx="2650292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真机压测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执行器自动启动服务、跑压测、收集日志；目前由人按生成的命令执行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116636" y="5596128"/>
            <a:ext cx="219456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65" name="Rounded Rectangle 64"/>
          <p:cNvSpPr/>
          <p:nvPr/>
        </p:nvSpPr>
        <p:spPr>
          <a:xfrm>
            <a:off x="3390956" y="5212080"/>
            <a:ext cx="1920502" cy="768096"/>
          </a:xfrm>
          <a:prstGeom prst="roundRect">
            <a:avLst>
              <a:gd name="adj" fmla="val 12000"/>
            </a:avLst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自动比对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实测与预测逐项比对，超出 ±20% 判为偏差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366322" y="5596128"/>
            <a:ext cx="219456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67" name="Rounded Rectangle 66"/>
          <p:cNvSpPr/>
          <p:nvPr/>
        </p:nvSpPr>
        <p:spPr>
          <a:xfrm>
            <a:off x="5640642" y="5212080"/>
            <a:ext cx="2131757" cy="768096"/>
          </a:xfrm>
          <a:prstGeom prst="roundRect">
            <a:avLst>
              <a:gd name="adj" fmla="val 12000"/>
            </a:avLst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校准并重新选优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拟合 prefill / decode 系数，带校准重新规划部署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12648" y="4709159"/>
            <a:ext cx="0" cy="466345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69" name="Freeform 68"/>
          <p:cNvSpPr/>
          <p:nvPr/>
        </p:nvSpPr>
        <p:spPr>
          <a:xfrm>
            <a:off x="7808975" y="2587752"/>
            <a:ext cx="283465" cy="3008376"/>
          </a:xfrm>
          <a:custGeom>
            <a:avLst/>
            <a:gdLst/>
            <a:ahLst/>
            <a:cxnLst/>
            <a:rect l="l" t="t" r="r" b="b"/>
            <a:pathLst>
              <a:path w="283465" h="3008376">
                <a:moveTo>
                  <a:pt x="0" y="3008376"/>
                </a:moveTo>
                <a:lnTo>
                  <a:pt x="283465" y="3008376"/>
                </a:lnTo>
                <a:lnTo>
                  <a:pt x="283465" y="0"/>
                </a:lnTo>
                <a:lnTo>
                  <a:pt x="18289" y="0"/>
                </a:lnTo>
              </a:path>
            </a:pathLst>
          </a:custGeom>
          <a:noFill/>
          <a:ln w="22225">
            <a:solidFill>
              <a:srgbClr val="C241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6254496"/>
            <a:ext cx="82597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命令：sglang-maestro deploy --model &lt;模型&gt; --hardware &lt;芯片&gt; --workload &lt;业务场景&gt; --no-pd [--calibration &lt;校准文件&gt;]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8541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01607" y="6254496"/>
            <a:ext cx="25786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虚线框：规划中，目前由人按输出的命令执行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场景 2 深入：Agent 算子性能优化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每轮自动抓 trace、排热点、判瓶颈，结合芯片特性选择优化手段并预估收益；精度和收益都验证通过才保留，然后进入下一轮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448055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Agent 怎么做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六个环节，循环推进</a:t>
            </a:r>
          </a:p>
        </p:txBody>
      </p:sp>
      <p:sp>
        <p:nvSpPr>
          <p:cNvPr id="6" name="Oval 5"/>
          <p:cNvSpPr/>
          <p:nvPr/>
        </p:nvSpPr>
        <p:spPr>
          <a:xfrm>
            <a:off x="1051560" y="2139696"/>
            <a:ext cx="3200400" cy="3255264"/>
          </a:xfrm>
          <a:prstGeom prst="ellipse">
            <a:avLst/>
          </a:prstGeom>
          <a:noFill/>
          <a:ln w="25400">
            <a:solidFill>
              <a:srgbClr val="C7D7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3127248"/>
            <a:ext cx="1280160" cy="1280160"/>
          </a:xfrm>
          <a:prstGeom prst="ellipse">
            <a:avLst/>
          </a:prstGeom>
          <a:solidFill>
            <a:srgbClr val="F5F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127248"/>
            <a:ext cx="1280160" cy="12801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算子优化闭环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每轮只攻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当前最大瓶颈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39" y="1847088"/>
            <a:ext cx="146304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1</a:t>
            </a: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 采集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抓 kernel 级 trace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6053" y="2660904"/>
            <a:ext cx="146304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2</a:t>
            </a: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 定位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按耗时排出热点算子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6053" y="4288536"/>
            <a:ext cx="146304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3</a:t>
            </a: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 诊断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判瓶颈、找异常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39" y="5102352"/>
            <a:ext cx="146304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4</a:t>
            </a: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 优化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对症选手段、估收益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426" y="4288536"/>
            <a:ext cx="146304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5</a:t>
            </a: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 验证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精度和收益双验证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426" y="2660904"/>
            <a:ext cx="146304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6</a:t>
            </a: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 沉淀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写回配置和规则库</a:t>
            </a:r>
          </a:p>
        </p:txBody>
      </p:sp>
      <p:sp>
        <p:nvSpPr>
          <p:cNvPr id="15" name="Isosceles Triangle 14"/>
          <p:cNvSpPr/>
          <p:nvPr/>
        </p:nvSpPr>
        <p:spPr>
          <a:xfrm rot="7660204">
            <a:off x="3550659" y="2402290"/>
            <a:ext cx="137160" cy="137160"/>
          </a:xfrm>
          <a:prstGeom prst="triangle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10800000">
            <a:off x="4183380" y="3698748"/>
            <a:ext cx="137160" cy="137160"/>
          </a:xfrm>
          <a:prstGeom prst="triangle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3975963">
            <a:off x="3537259" y="5005439"/>
            <a:ext cx="137160" cy="137160"/>
          </a:xfrm>
          <a:prstGeom prst="triangle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18460204">
            <a:off x="1615700" y="4995205"/>
            <a:ext cx="137160" cy="137160"/>
          </a:xfrm>
          <a:prstGeom prst="triangle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0">
            <a:off x="982980" y="3698748"/>
            <a:ext cx="137160" cy="137160"/>
          </a:xfrm>
          <a:prstGeom prst="triangle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3175963">
            <a:off x="1629100" y="2392056"/>
            <a:ext cx="137160" cy="137160"/>
          </a:xfrm>
          <a:prstGeom prst="triangle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325880"/>
            <a:ext cx="32918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优化手段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看瓶颈类型和芯片特性选择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7439" y="1325880"/>
            <a:ext cx="14173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示意图，横轴为时间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74759" y="1403604"/>
            <a:ext cx="146304" cy="118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75927" y="1325880"/>
            <a:ext cx="32918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计算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05111" y="1403604"/>
            <a:ext cx="146304" cy="1188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06279" y="1325880"/>
            <a:ext cx="32918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访存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5463" y="1403604"/>
            <a:ext cx="146304" cy="118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36631" y="1325880"/>
            <a:ext cx="32918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865815" y="1403604"/>
            <a:ext cx="146304" cy="118872"/>
          </a:xfrm>
          <a:prstGeom prst="rect">
            <a:avLst/>
          </a:prstGeom>
          <a:solidFill>
            <a:srgbClr val="F0FDF4"/>
          </a:solidFill>
          <a:ln w="12700">
            <a:solidFill>
              <a:srgbClr val="15803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6983" y="1325880"/>
            <a:ext cx="7132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节省的时间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6360" y="1691640"/>
            <a:ext cx="3224631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2664" y="1764792"/>
            <a:ext cx="295031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融合算子</a:t>
            </a: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适用：相邻的带宽受限小算子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43016" y="2148840"/>
            <a:ext cx="600417" cy="1737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3573" y="2148840"/>
            <a:ext cx="800557" cy="1737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RMSNorm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44269" y="2148840"/>
            <a:ext cx="600417" cy="1737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Quant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43016" y="2414016"/>
            <a:ext cx="1200835" cy="1737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Add+RMSNorm+Quant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12664" y="2148840"/>
            <a:ext cx="502920" cy="1737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12664" y="2414016"/>
            <a:ext cx="502920" cy="1737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3851" y="2414016"/>
            <a:ext cx="1200835" cy="173736"/>
          </a:xfrm>
          <a:prstGeom prst="rect">
            <a:avLst/>
          </a:prstGeom>
          <a:solidFill>
            <a:srgbClr val="F0FDF4"/>
          </a:solidFill>
          <a:ln w="12700">
            <a:solidFill>
              <a:srgbClr val="15803D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节省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2664" y="2898648"/>
            <a:ext cx="295031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芯片特性　</a:t>
            </a: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中间结果留在片上，少读写显存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55583" y="1691640"/>
            <a:ext cx="3224631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01887" y="1764792"/>
            <a:ext cx="295031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通算融合</a:t>
            </a: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适用：TP / EP 通信占比高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32239" y="2148840"/>
            <a:ext cx="1412748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44987" y="2148840"/>
            <a:ext cx="988923" cy="1737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AllReduce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2239" y="2414016"/>
            <a:ext cx="452079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12573" y="2414016"/>
            <a:ext cx="452079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92908" y="2414016"/>
            <a:ext cx="452079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12573" y="2624328"/>
            <a:ext cx="324932" cy="1737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AR 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92908" y="2624328"/>
            <a:ext cx="324932" cy="1737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AR 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73242" y="2624328"/>
            <a:ext cx="324932" cy="1737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AR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01887" y="2148840"/>
            <a:ext cx="502920" cy="1737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01887" y="2414016"/>
            <a:ext cx="50292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98174" y="2414016"/>
            <a:ext cx="635736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15803D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节省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01887" y="2898648"/>
            <a:ext cx="295031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芯片特性　</a:t>
            </a: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通信能和计算同时跑；互联越慢越值得做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66360" y="3374136"/>
            <a:ext cx="3224631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12664" y="3447288"/>
            <a:ext cx="295031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多流并行</a:t>
            </a: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适用：单个算子吃不满计算单元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43016" y="3831335"/>
            <a:ext cx="1569092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路由专家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44130" y="3831335"/>
            <a:ext cx="800557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共享专家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43016" y="4096511"/>
            <a:ext cx="1569092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路由专家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43016" y="4306824"/>
            <a:ext cx="800557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共享专家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12664" y="3831335"/>
            <a:ext cx="502920" cy="1737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优化前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12664" y="4096511"/>
            <a:ext cx="50292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优化后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12108" y="4096511"/>
            <a:ext cx="832579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15803D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节省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2664" y="4581144"/>
            <a:ext cx="295031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芯片特性　</a:t>
            </a: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支持多流并发；小 batch 时计算单元有空闲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55583" y="3374136"/>
            <a:ext cx="3224631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01887" y="3447288"/>
            <a:ext cx="295031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权重预取</a:t>
            </a: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适用：前一个算子没用满带宽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2239" y="3831335"/>
            <a:ext cx="1130198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 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62438" y="3831335"/>
            <a:ext cx="635736" cy="1737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 B 权重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998174" y="3831335"/>
            <a:ext cx="635736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 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32239" y="4096511"/>
            <a:ext cx="1130198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 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390692" y="4096511"/>
            <a:ext cx="607481" cy="173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 B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14789" y="4306824"/>
            <a:ext cx="635736" cy="1737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预取 B 权重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01887" y="3831335"/>
            <a:ext cx="502920" cy="1737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01887" y="4096511"/>
            <a:ext cx="50292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优化后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98174" y="4096511"/>
            <a:ext cx="635736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15803D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节省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01887" y="4581144"/>
            <a:ext cx="295031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芯片特性　</a:t>
            </a:r>
            <a:r>
              <a:rPr sz="9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片上缓存够大，放得下预取的权重块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66360" y="5020055"/>
            <a:ext cx="66138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算子异常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诊断环节自动标出，优先排查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66360" y="5349240"/>
            <a:ext cx="123498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166360" y="5349240"/>
            <a:ext cx="54864" cy="6583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21224" y="5349240"/>
            <a:ext cx="1180124" cy="65836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远低于屋顶线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效率异常低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11076" y="5349240"/>
            <a:ext cx="123498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511076" y="5349240"/>
            <a:ext cx="54864" cy="6583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65940" y="5349240"/>
            <a:ext cx="1180124" cy="65836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kernel 间空隙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主机同步、调度慢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855793" y="5349240"/>
            <a:ext cx="123498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855793" y="5349240"/>
            <a:ext cx="54864" cy="6583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10657" y="5349240"/>
            <a:ext cx="1180124" cy="65836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launch 密集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没走图、小算子多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00509" y="5349240"/>
            <a:ext cx="123498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200509" y="5349240"/>
            <a:ext cx="54864" cy="6583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255373" y="5349240"/>
            <a:ext cx="1180124" cy="65836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耗时离群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同类算子差异大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45226" y="5349240"/>
            <a:ext cx="123498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45226" y="5349240"/>
            <a:ext cx="54864" cy="6583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600090" y="5349240"/>
            <a:ext cx="1180124" cy="65836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走了慢路径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回退到参考实现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6254496"/>
            <a:ext cx="113687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原则：每条建议都附 trace 证据和预估收益 · 先估算、再上真机验证 · 精度和收益都达标才保留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