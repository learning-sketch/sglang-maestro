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64008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sglang-maestro 工作流程：适配、分析与调优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3687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输入模型、芯片和业务负载，自动完成适配分析、性能诊断和特性调优；下一步由执行器把方案自动落地到真机，实测数据回流形成闭环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2011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5768" y="1280160"/>
            <a:ext cx="7125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自动分析与决策</a:t>
            </a: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　一条命令 sglang-maestro run 串起全流程，各环节也可单独调用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295" y="1280160"/>
            <a:ext cx="1645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2011680" cy="53492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09728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HF config.json 或权重目录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72284"/>
            <a:ext cx="2011680" cy="53492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09728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芯片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H20 或自定义设备（YAML 规格）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16936"/>
            <a:ext cx="2011680" cy="53492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09728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业务负载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输入输出长度、到达率、SLO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1588"/>
            <a:ext cx="2011680" cy="534924"/>
          </a:xfrm>
          <a:prstGeom prst="rect">
            <a:avLst/>
          </a:prstGeom>
          <a:solidFill>
            <a:srgbClr val="FFF4EC"/>
          </a:solidFill>
          <a:ln w="9525">
            <a:solidFill>
              <a:srgbClr val="F3B58F"/>
            </a:solidFill>
          </a:ln>
        </p:spPr>
        <p:txBody>
          <a:bodyPr rtlCol="0" anchor="ctr" wrap="square" lIns="109728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实测数据（可选）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trace、server 日志、压测结果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627632"/>
            <a:ext cx="2180234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128016" tIns="27432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7D7FE"/>
                </a:solidFill>
                <a:latin typeface="Microsoft YaHei"/>
                <a:ea typeface="Microsoft YaHei"/>
                <a:cs typeface="Microsoft YaHei"/>
              </a:rPr>
              <a:t>场景 1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模型适配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5768" y="2249424"/>
            <a:ext cx="2180234" cy="1847088"/>
          </a:xfrm>
          <a:prstGeom prst="rect">
            <a:avLst/>
          </a:prstGeom>
          <a:solidFill>
            <a:srgbClr val="F5F8FF"/>
          </a:solidFill>
          <a:ln w="9525">
            <a:solidFill>
              <a:srgbClr val="C9D6F0"/>
            </a:solidFill>
          </a:ln>
        </p:spPr>
        <p:txBody>
          <a:bodyPr rtlCol="0" anchor="t" wrap="square" lIns="109728" tIns="128016" bIns="73152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判断架构是否已被 SGLang 支持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平台插件需实现的接口清单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算子缺口、精度路线与最少卡数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改动原则与分步适配计划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41722" y="2862072"/>
            <a:ext cx="2011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5188610" y="1627632"/>
            <a:ext cx="2180234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128016" tIns="27432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7D7FE"/>
                </a:solidFill>
                <a:latin typeface="Microsoft YaHei"/>
                <a:ea typeface="Microsoft YaHei"/>
                <a:cs typeface="Microsoft YaHei"/>
              </a:rPr>
              <a:t>场景 2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88610" y="2249424"/>
            <a:ext cx="2180234" cy="1847088"/>
          </a:xfrm>
          <a:prstGeom prst="rect">
            <a:avLst/>
          </a:prstGeom>
          <a:solidFill>
            <a:srgbClr val="F5F8FF"/>
          </a:solidFill>
          <a:ln w="9525">
            <a:solidFill>
              <a:srgbClr val="C9D6F0"/>
            </a:solidFill>
          </a:ln>
        </p:spPr>
        <p:txBody>
          <a:bodyPr rtlCol="0" anchor="t" wrap="square" lIns="109728" tIns="128016" bIns="73152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Roofline 定位算力 / 带宽 / 通信瓶颈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Trace 诊断：融合算子、通算重叠、多流并行、权重预取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算子性能异常：未走图、主机同步、耗时离群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14564" y="2862072"/>
            <a:ext cx="2011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7661452" y="1627632"/>
            <a:ext cx="2180234" cy="6217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128016" tIns="27432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7D7FE"/>
                </a:solidFill>
                <a:latin typeface="Microsoft YaHei"/>
                <a:ea typeface="Microsoft YaHei"/>
                <a:cs typeface="Microsoft YaHei"/>
              </a:rPr>
              <a:t>场景 3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特性调优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61452" y="2249424"/>
            <a:ext cx="2180234" cy="1847088"/>
          </a:xfrm>
          <a:prstGeom prst="rect">
            <a:avLst/>
          </a:prstGeom>
          <a:solidFill>
            <a:srgbClr val="F5F8FF"/>
          </a:solidFill>
          <a:ln w="9525">
            <a:solidFill>
              <a:srgbClr val="C9D6F0"/>
            </a:solidFill>
          </a:ln>
        </p:spPr>
        <p:txBody>
          <a:bodyPr rtlCol="0" anchor="t" wrap="square" lIns="109728" tIns="128016" bIns="73152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逐项评估 DP attention / CP / SP / HiCache / EP / TBO / EPLB / 投机解码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给出适配要求、调优参数与预估收益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1D4ED8"/>
              </a:buClr>
              <a:buFont typeface="Arial"/>
              <a:buChar char="•"/>
            </a:pPr>
            <a:r>
              <a:rPr sz="11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合并为组合启动配置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2862072"/>
            <a:ext cx="2011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>
            <a:off x="9887407" y="2862072"/>
            <a:ext cx="2011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10134295" y="1627632"/>
            <a:ext cx="1645920" cy="24688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t" wrap="square" lIns="128016" tIns="146304" bIns="7315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方案与配置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适配清单与分步计划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性能诊断与优化建议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调优后的启动配置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结论附源码出处</a:t>
            </a:r>
          </a:p>
          <a:p>
            <a:pPr algn="l" latinLnBrk="0">
              <a:lnSpc>
                <a:spcPct val="100000"/>
              </a:lnSpc>
              <a:spcBef>
                <a:spcPts val="800"/>
              </a:spcBef>
              <a:spcAft>
                <a:spcPts val="1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场景 5 自动性能测评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4224528"/>
            <a:ext cx="7125919" cy="566928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4224528"/>
            <a:ext cx="1051560" cy="566928"/>
          </a:xfrm>
          <a:prstGeom prst="rect">
            <a:avLst/>
          </a:prstGeom>
          <a:noFill/>
        </p:spPr>
        <p:txBody>
          <a:bodyPr wrap="square" anchor="ctr" lIns="128016" tIns="0" rIns="4572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知识底座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各环节共用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67328" y="4334256"/>
            <a:ext cx="0" cy="347472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767328" y="4224528"/>
            <a:ext cx="2024786" cy="566928"/>
          </a:xfrm>
          <a:prstGeom prst="rect">
            <a:avLst/>
          </a:prstGeom>
          <a:noFill/>
        </p:spPr>
        <p:txBody>
          <a:bodyPr wrap="square" anchor="ctr" lIns="128016" tIns="18288" rIns="73152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SGLang 源码知识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按固定 commit 自动抽取：参数、模型、平台接口、融合算子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92114" y="4334256"/>
            <a:ext cx="0" cy="347472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792114" y="4224528"/>
            <a:ext cx="2024786" cy="566928"/>
          </a:xfrm>
          <a:prstGeom prst="rect">
            <a:avLst/>
          </a:prstGeom>
          <a:noFill/>
        </p:spPr>
        <p:txBody>
          <a:bodyPr wrap="square" anchor="ctr" lIns="128016" tIns="18288" rIns="73152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规则库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每条规则附 SGLang 源码出处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6900" y="4334256"/>
            <a:ext cx="0" cy="347472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816900" y="4224528"/>
            <a:ext cx="2024786" cy="566928"/>
          </a:xfrm>
          <a:prstGeom prst="rect">
            <a:avLst/>
          </a:prstGeom>
          <a:noFill/>
        </p:spPr>
        <p:txBody>
          <a:bodyPr wrap="square" anchor="ctr" lIns="128016" tIns="18288" rIns="73152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成本模型 + 离散事件仿真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预测单步耗时、吞吐与 SLO 达成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4882896"/>
            <a:ext cx="7125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自动落地闭环</a:t>
            </a: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　执行器（规划中）在真机上自动执行：默认只打印命令（dry-run），显式加 --allow-exec 才真正执行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212080"/>
            <a:ext cx="3545738" cy="786384"/>
          </a:xfrm>
          <a:prstGeom prst="rect">
            <a:avLst/>
          </a:prstGeom>
          <a:solidFill>
            <a:srgbClr val="FFF4EC"/>
          </a:solidFill>
          <a:ln w="12700">
            <a:solidFill>
              <a:srgbClr val="F3B58F"/>
            </a:solidFill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实测回流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trace、日志、压测结果回到输入：诊断真实瓶颈、校准成本模型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2978" y="5212080"/>
            <a:ext cx="354573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dash"/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自动调优</a:t>
            </a:r>
            <a:r>
              <a:rPr sz="900" b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　规划中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候选配置在真机上自动 A/B，按实测选优并回写配置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012082" y="5605272"/>
            <a:ext cx="256032" cy="0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8234476" y="5212080"/>
            <a:ext cx="354573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dash"/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自动适配</a:t>
            </a:r>
            <a:r>
              <a:rPr sz="900" b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　规划中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按适配清单生成平台插件骨架、算子注册和 torch 参考实现，自动跑冒烟与精度对比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23580" y="5605272"/>
            <a:ext cx="256032" cy="0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>
            <a:off x="10957255" y="4142232"/>
            <a:ext cx="0" cy="1024128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 flipV="1">
            <a:off x="1417320" y="4142232"/>
            <a:ext cx="0" cy="1024128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411480" y="6254496"/>
            <a:ext cx="825977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原则：确定性、离线、可复现 · 数值来自成本模型与仿真，不依赖大模型估算 · 每条结论附证据与源码出处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54135" y="6327648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1607" y="6254496"/>
            <a:ext cx="25786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虚线框：规划中，目前由人按输出的命令执行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64008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场景 5：自动性能测评与最优部署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113687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给定业务场景和 SLO，自动生成候选方案、仿真测评、选出最省卡的方案并生成压测脚本；实测结果回来后自动比对、校准并重新选优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40233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620441" cy="530352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64592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模型与调优配置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来自场景 1–3 的结论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62857" y="1325880"/>
            <a:ext cx="2620441" cy="530352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64592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芯片与卡数预算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芯片规格 YAML、最多可用卡数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1315" y="1325880"/>
            <a:ext cx="2620441" cy="530352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rtlCol="0" anchor="ctr" wrap="square" lIns="164592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长度分布、到达率与 SLO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9773" y="1325880"/>
            <a:ext cx="2620441" cy="530352"/>
          </a:xfrm>
          <a:prstGeom prst="roundRect">
            <a:avLst>
              <a:gd name="adj" fmla="val 20000"/>
            </a:avLst>
          </a:prstGeom>
          <a:solidFill>
            <a:srgbClr val="FFF4EC"/>
          </a:solidFill>
          <a:ln w="9525">
            <a:solidFill>
              <a:srgbClr val="F3B58F"/>
            </a:solidFill>
          </a:ln>
        </p:spPr>
        <p:txBody>
          <a:bodyPr rtlCol="0" anchor="ctr" wrap="square" lIns="164592" tIns="18288" bIns="18288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实测结果（可选）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server 日志、压测结果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6858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自动测评与选优</a:t>
            </a: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　对应 sglang-maestro deploy，run 会在场景 3 之后自动执行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75104"/>
            <a:ext cx="33677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892807"/>
            <a:ext cx="0" cy="466345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612648" y="2587752"/>
            <a:ext cx="0" cy="1892807"/>
          </a:xfrm>
          <a:prstGeom prst="line">
            <a:avLst/>
          </a:prstGeom>
          <a:ln w="25400">
            <a:solidFill>
              <a:srgbClr val="C7D7FE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914400" y="2304288"/>
            <a:ext cx="6858000" cy="566928"/>
          </a:xfrm>
          <a:prstGeom prst="roundRect">
            <a:avLst>
              <a:gd name="adj" fmla="val 14000"/>
            </a:avLst>
          </a:prstGeom>
          <a:solidFill>
            <a:srgbClr val="F5F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" y="2386584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04288"/>
            <a:ext cx="96012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候选方案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2432304"/>
            <a:ext cx="0" cy="310896"/>
          </a:xfrm>
          <a:prstGeom prst="line">
            <a:avLst/>
          </a:prstGeom>
          <a:ln w="12700">
            <a:solidFill>
              <a:srgbClr val="C9D6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276856" y="2304288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基于场景 3 的调优配置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6992" y="2304288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枚举实例规格：并行布局与特性组合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7128" y="2304288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TPOT 超标时自动试更小的 chunk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935224"/>
            <a:ext cx="6858000" cy="566928"/>
          </a:xfrm>
          <a:prstGeom prst="roundRect">
            <a:avLst>
              <a:gd name="adj" fmla="val 14000"/>
            </a:avLst>
          </a:prstGeom>
          <a:solidFill>
            <a:srgbClr val="F5F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480" y="3017520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935224"/>
            <a:ext cx="96012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仿真测评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48840" y="3063240"/>
            <a:ext cx="0" cy="310896"/>
          </a:xfrm>
          <a:prstGeom prst="line">
            <a:avLst/>
          </a:prstGeom>
          <a:ln w="12700">
            <a:solidFill>
              <a:srgbClr val="C9D6F0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276856" y="2935224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成本模型算 prefill / decode 单步耗时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6992" y="2935224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离散事件仿真请求排队、批处理与路由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7128" y="2935224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二分求单实例达标的最高到达率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566160"/>
            <a:ext cx="6858000" cy="566928"/>
          </a:xfrm>
          <a:prstGeom prst="roundRect">
            <a:avLst>
              <a:gd name="adj" fmla="val 14000"/>
            </a:avLst>
          </a:prstGeom>
          <a:solidFill>
            <a:srgbClr val="F5F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80" y="3648456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66160"/>
            <a:ext cx="96012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48840" y="3694176"/>
            <a:ext cx="0" cy="310896"/>
          </a:xfrm>
          <a:prstGeom prst="line">
            <a:avLst/>
          </a:prstGeom>
          <a:ln w="12700">
            <a:solidFill>
              <a:srgbClr val="C9D6F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2276856" y="3566160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给定到达率：满足 SLO 且卡数最少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26992" y="3566160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不给到达率：预算内每卡吞吐最高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7128" y="3566160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整集群带路由仿真，不达标加实例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197096"/>
            <a:ext cx="6858000" cy="566928"/>
          </a:xfrm>
          <a:prstGeom prst="roundRect">
            <a:avLst>
              <a:gd name="adj" fmla="val 14000"/>
            </a:avLst>
          </a:prstGeom>
          <a:solidFill>
            <a:srgbClr val="F5F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480" y="4279392"/>
            <a:ext cx="402336" cy="40233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97096"/>
            <a:ext cx="96012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测评脚本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148840" y="4325112"/>
            <a:ext cx="0" cy="310896"/>
          </a:xfrm>
          <a:prstGeom prst="line">
            <a:avLst/>
          </a:prstGeom>
          <a:ln w="12700">
            <a:solidFill>
              <a:srgbClr val="C9D6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2276856" y="4197096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把实例放置到各台机器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26992" y="4197096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生成启动、路由、健康检查命令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7128" y="4197096"/>
            <a:ext cx="1740407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Font typeface="Arial"/>
              <a:buChar char="•"/>
            </a:pPr>
            <a:r>
              <a:rPr sz="11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压测命令按业务场景重放请求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2304288"/>
            <a:ext cx="3367735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2304288"/>
            <a:ext cx="336773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359152"/>
            <a:ext cx="3367735" cy="1389888"/>
          </a:xfrm>
          <a:prstGeom prst="rect">
            <a:avLst/>
          </a:prstGeom>
          <a:noFill/>
        </p:spPr>
        <p:txBody>
          <a:bodyPr wrap="square" anchor="t" lIns="164592" tIns="128016" rIns="109728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测评报告与方案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6B7280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各项指标的预测值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6B7280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候选方案对比与选择理由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6B7280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部署命令与上线步骤</a:t>
            </a:r>
          </a:p>
          <a:p>
            <a:pPr algn="l" latinLnBrk="0" marL="128016" indent="-128016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6B7280"/>
              </a:buClr>
              <a:buFont typeface="Arial"/>
              <a:buChar char="•"/>
            </a:pPr>
            <a:r>
              <a:rPr sz="10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有实测时：实测与预测偏差表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3877055"/>
            <a:ext cx="3367735" cy="210312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877055"/>
            <a:ext cx="3367735" cy="402336"/>
          </a:xfrm>
          <a:prstGeom prst="rect">
            <a:avLst/>
          </a:prstGeom>
          <a:noFill/>
        </p:spPr>
        <p:txBody>
          <a:bodyPr wrap="square" anchor="ctr" lIns="164592" tIns="54864" rIns="109728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测评指标</a:t>
            </a: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　预测值与实测值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77072" y="4279392"/>
            <a:ext cx="3038551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8412480" y="4279392"/>
            <a:ext cx="1325880" cy="325526"/>
          </a:xfrm>
          <a:prstGeom prst="rect">
            <a:avLst/>
          </a:prstGeom>
          <a:noFill/>
        </p:spPr>
        <p:txBody>
          <a:bodyPr wrap="square" anchor="ctr" lIns="164592" tIns="0" rIns="36576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59" y="4279392"/>
            <a:ext cx="2041855" cy="325526"/>
          </a:xfrm>
          <a:prstGeom prst="rect">
            <a:avLst/>
          </a:prstGeom>
          <a:noFill/>
        </p:spPr>
        <p:txBody>
          <a:bodyPr wrap="square" anchor="ctr" lIns="36576" tIns="0" rIns="164592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P50 / P90 / P99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77072" y="4604918"/>
            <a:ext cx="3038551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8412480" y="4604918"/>
            <a:ext cx="1325880" cy="325526"/>
          </a:xfrm>
          <a:prstGeom prst="rect">
            <a:avLst/>
          </a:prstGeom>
          <a:noFill/>
        </p:spPr>
        <p:txBody>
          <a:bodyPr wrap="square" anchor="ctr" lIns="164592" tIns="0" rIns="36576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59" y="4604918"/>
            <a:ext cx="2041855" cy="325526"/>
          </a:xfrm>
          <a:prstGeom prst="rect">
            <a:avLst/>
          </a:prstGeom>
          <a:noFill/>
        </p:spPr>
        <p:txBody>
          <a:bodyPr wrap="square" anchor="ctr" lIns="36576" tIns="0" rIns="164592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P50 / P90 / P99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577072" y="4930444"/>
            <a:ext cx="3038551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8412480" y="4930444"/>
            <a:ext cx="1325880" cy="325526"/>
          </a:xfrm>
          <a:prstGeom prst="rect">
            <a:avLst/>
          </a:prstGeom>
          <a:noFill/>
        </p:spPr>
        <p:txBody>
          <a:bodyPr wrap="square" anchor="ctr" lIns="164592" tIns="0" rIns="36576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输出吞吐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4930444"/>
            <a:ext cx="2041855" cy="325526"/>
          </a:xfrm>
          <a:prstGeom prst="rect">
            <a:avLst/>
          </a:prstGeom>
          <a:noFill/>
        </p:spPr>
        <p:txBody>
          <a:bodyPr wrap="square" anchor="ctr" lIns="36576" tIns="0" rIns="164592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总量与每卡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577072" y="5255971"/>
            <a:ext cx="3038551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8412480" y="5255971"/>
            <a:ext cx="1325880" cy="325526"/>
          </a:xfrm>
          <a:prstGeom prst="rect">
            <a:avLst/>
          </a:prstGeom>
          <a:noFill/>
        </p:spPr>
        <p:txBody>
          <a:bodyPr wrap="square" anchor="ctr" lIns="164592" tIns="0" rIns="36576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SLO 达成率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8359" y="5255971"/>
            <a:ext cx="2041855" cy="325526"/>
          </a:xfrm>
          <a:prstGeom prst="rect">
            <a:avLst/>
          </a:prstGeom>
          <a:noFill/>
        </p:spPr>
        <p:txBody>
          <a:bodyPr wrap="square" anchor="ctr" lIns="36576" tIns="0" rIns="164592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达标请求占比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77072" y="5581497"/>
            <a:ext cx="3038551" cy="0"/>
          </a:xfrm>
          <a:prstGeom prst="line">
            <a:avLst/>
          </a:prstGeom>
          <a:ln w="9525">
            <a:solidFill>
              <a:srgbClr val="D1D5DB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8412480" y="5581497"/>
            <a:ext cx="1325880" cy="325526"/>
          </a:xfrm>
          <a:prstGeom prst="rect">
            <a:avLst/>
          </a:prstGeom>
          <a:noFill/>
        </p:spPr>
        <p:txBody>
          <a:bodyPr wrap="square" anchor="ctr" lIns="164592" tIns="0" rIns="36576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59" y="5581497"/>
            <a:ext cx="2041855" cy="325526"/>
          </a:xfrm>
          <a:prstGeom prst="rect">
            <a:avLst/>
          </a:prstGeom>
          <a:noFill/>
        </p:spPr>
        <p:txBody>
          <a:bodyPr wrap="square" anchor="ctr" lIns="36576" tIns="0" rIns="164592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卡数与实例数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873752"/>
            <a:ext cx="68580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实测闭环</a:t>
            </a: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　预测与实测对不上时，自动校准成本模型并重新选优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5212080"/>
            <a:ext cx="2650292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dash"/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真机压测</a:t>
            </a:r>
            <a:r>
              <a:rPr sz="900" b="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　规划中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执行器自动启动服务、跑压测、收集日志；目前由人按生成的命令执行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116636" y="5596128"/>
            <a:ext cx="219456" cy="0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sp>
        <p:nvSpPr>
          <p:cNvPr id="65" name="Rounded Rectangle 64"/>
          <p:cNvSpPr/>
          <p:nvPr/>
        </p:nvSpPr>
        <p:spPr>
          <a:xfrm>
            <a:off x="3390956" y="5212080"/>
            <a:ext cx="1920502" cy="768096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F3B58F"/>
            </a:solidFill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自动比对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实测与预测逐项比对，超出 ±20% 判为偏差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66322" y="5596128"/>
            <a:ext cx="219456" cy="0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sp>
        <p:nvSpPr>
          <p:cNvPr id="67" name="Rounded Rectangle 66"/>
          <p:cNvSpPr/>
          <p:nvPr/>
        </p:nvSpPr>
        <p:spPr>
          <a:xfrm>
            <a:off x="5640642" y="5212080"/>
            <a:ext cx="2131757" cy="768096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12700">
            <a:solidFill>
              <a:srgbClr val="F3B58F"/>
            </a:solidFill>
          </a:ln>
        </p:spPr>
        <p:txBody>
          <a:bodyPr rtlCol="0" anchor="ctr" wrap="square" lIns="146304" tIns="27432" rIns="109728" bIns="27432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校准并重新选优</a:t>
            </a:r>
          </a:p>
          <a:p>
            <a:pPr algn="l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拟合 prefill / decode 系数，带校准重新规划部署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12648" y="4709159"/>
            <a:ext cx="0" cy="466345"/>
          </a:xfrm>
          <a:prstGeom prst="line">
            <a:avLst/>
          </a:prstGeom>
          <a:ln w="22225">
            <a:solidFill>
              <a:srgbClr val="C2410C"/>
            </a:solidFill>
            <a:tailEnd type="triangle" w="med" len="med"/>
          </a:ln>
        </p:spPr>
      </p:cxnSp>
      <p:sp>
        <p:nvSpPr>
          <p:cNvPr id="69" name="Freeform 68"/>
          <p:cNvSpPr/>
          <p:nvPr/>
        </p:nvSpPr>
        <p:spPr>
          <a:xfrm>
            <a:off x="7808975" y="2587752"/>
            <a:ext cx="283465" cy="3008376"/>
          </a:xfrm>
          <a:custGeom>
            <a:avLst/>
            <a:gdLst/>
            <a:ahLst/>
            <a:cxnLst/>
            <a:rect l="l" t="t" r="r" b="b"/>
            <a:pathLst>
              <a:path w="283465" h="3008376">
                <a:moveTo>
                  <a:pt x="0" y="3008376"/>
                </a:moveTo>
                <a:lnTo>
                  <a:pt x="283465" y="3008376"/>
                </a:lnTo>
                <a:lnTo>
                  <a:pt x="283465" y="0"/>
                </a:lnTo>
                <a:lnTo>
                  <a:pt x="18289" y="0"/>
                </a:lnTo>
              </a:path>
            </a:pathLst>
          </a:custGeom>
          <a:noFill/>
          <a:ln w="22225">
            <a:solidFill>
              <a:srgbClr val="C2410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254496"/>
            <a:ext cx="825977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命令：sglang-maestro deploy --model &lt;模型&gt; --hardware &lt;芯片&gt; --workload &lt;业务场景&gt; --no-pd [--calibration &lt;校准文件&gt;]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54135" y="6327648"/>
            <a:ext cx="27432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01607" y="6254496"/>
            <a:ext cx="25786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虚线框：规划中，目前由人按输出的命令执行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