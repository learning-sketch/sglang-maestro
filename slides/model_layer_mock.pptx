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一次完整的候选迭代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30B-A3B 单卡：10 个候选，5 个过三道门，峰值吞吐 +37%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先用 Trace 量出每类算子离上界多远、占多少，再决定对谁下手——判定全部来自 M100 真机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冻结口径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128 专家 / top-8 · 48 层 · M100 单卡 TP1 · qsx8_lever2 env · 1K/1K · CG-on + overlap-on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主指标 持续输出 tok/s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566928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526694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上界耗时 ÷ 实测耗时</a:t>
            </a: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上界按峰值 __ TFLOPS、带宽 __ GB/s 逐类计算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22576"/>
            <a:ext cx="1783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322576"/>
            <a:ext cx="1920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每步耗时　</a:t>
            </a: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 上界内　</a:t>
            </a:r>
            <a:r>
              <a:rPr sz="90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 超出上界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22576"/>
            <a:ext cx="43891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占比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22576"/>
            <a:ext cx="58521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7568" y="2322576"/>
            <a:ext cx="3291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2560320"/>
            <a:ext cx="5266944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49808" y="2615184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专家 GEMM（闭源核）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660904"/>
            <a:ext cx="1766620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2660904"/>
            <a:ext cx="1075334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615184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615184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2615184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875788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专家重排与合并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2921508"/>
            <a:ext cx="883310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2921508"/>
            <a:ext cx="288036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875788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5776" y="2875788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7568" y="2875788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2 ·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136392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逐元素 + 量化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06040" y="3182112"/>
            <a:ext cx="1056132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06040" y="3182112"/>
            <a:ext cx="211226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136392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5776" y="3136392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87568" y="3136392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3396996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06040" y="3442716"/>
            <a:ext cx="844905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06040" y="3442716"/>
            <a:ext cx="556869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39699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65776" y="3396996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396996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3657600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稠密 GEMM（QKV / O 等）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3703320"/>
            <a:ext cx="691286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06040" y="3703320"/>
            <a:ext cx="499262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3657600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65776" y="3657600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7568" y="3657600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3918204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路由 softmax / topk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06040" y="3963924"/>
            <a:ext cx="172821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06040" y="3963924"/>
            <a:ext cx="57607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0" y="3918204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65776" y="3918204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87568" y="3918204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4178808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Norm 与其他小核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40" y="4224528"/>
            <a:ext cx="422452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06040" y="4224528"/>
            <a:ext cx="134416" cy="13716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0" y="4178808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5776" y="4178808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178808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" y="4439412"/>
            <a:ext cx="178308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device 空闲（host / 调度）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06040" y="4485132"/>
            <a:ext cx="1190548" cy="137160"/>
          </a:xfrm>
          <a:prstGeom prst="rect">
            <a:avLst/>
          </a:prstGeom>
          <a:solidFill>
            <a:srgbClr val="DDE2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4439412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5776" y="4439412"/>
            <a:ext cx="585216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439412"/>
            <a:ext cx="329184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4700016"/>
            <a:ext cx="411480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整步　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Σ 上界 __ ms ÷ 实测 __ ms = achieved __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37760" y="4681728"/>
            <a:ext cx="1078992" cy="21945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0" y="4681728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1975104"/>
            <a:ext cx="524225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2048256"/>
            <a:ext cx="48399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候选明细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五组，全部为单卡 TP1 口径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28816" y="2395728"/>
            <a:ext cx="4986223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01968" y="2423160"/>
            <a:ext cx="27432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2864" y="2423160"/>
            <a:ext cx="304769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0559" y="2423160"/>
            <a:ext cx="14813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交付，全矩阵 +22~38%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642616"/>
            <a:ext cx="452902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单核 1.75 ms/步（原 3.08 + 0.43 ms）· D device 24.7 → 22.2 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28816" y="2907792"/>
            <a:ext cx="4986223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1968" y="2935224"/>
            <a:ext cx="27432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2864" y="2935224"/>
            <a:ext cx="304769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量化 + shuffle 换 SDNN 恒定核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0559" y="2935224"/>
            <a:ext cx="14813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12864" y="3154680"/>
            <a:ext cx="452902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微基准 c128 5.43×，cos = 1.0 · D E2E 吞吐 +3%，TPOT −3.4%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01968" y="3447288"/>
            <a:ext cx="27432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12864" y="3447288"/>
            <a:ext cx="304769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grouped-GEMM group-mode 四个旋钮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60559" y="3447288"/>
            <a:ext cx="14813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① 挡 1，③ 挡其余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864" y="3666744"/>
            <a:ext cx="452902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四模式同速；force_nogroup −20%；no_group cos 0.000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3959352"/>
            <a:ext cx="27432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12864" y="3959352"/>
            <a:ext cx="304769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60559" y="3959352"/>
            <a:ext cx="14813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12864" y="4178808"/>
            <a:ext cx="452902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0.61×，更慢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1968" y="4471416"/>
            <a:ext cx="27432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12864" y="4471416"/>
            <a:ext cx="304769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60559" y="4471416"/>
            <a:ext cx="14813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③ 过但不值当，未接线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12864" y="4690872"/>
            <a:ext cx="452902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内核 2×，Δ 3e-8 · D 只占 ~0.9% TPOT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同一交付，换个并发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每格是基线 → 交付的持续输出，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峰值点在 c128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38144" y="5120640"/>
            <a:ext cx="1685467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c__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38144" y="5312664"/>
            <a:ext cx="16854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+__%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38144" y="5541264"/>
            <a:ext cx="1685467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 → __ tok/s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562523" y="5120640"/>
            <a:ext cx="1685467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c__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62523" y="5312664"/>
            <a:ext cx="16854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+__%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62523" y="5541264"/>
            <a:ext cx="1685467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 → __ tok/s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86903" y="5120640"/>
            <a:ext cx="1685467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c__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86903" y="5312664"/>
            <a:ext cx="16854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+__%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86903" y="5541264"/>
            <a:ext cx="1685467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 → __ tok/s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11283" y="5120640"/>
            <a:ext cx="1685467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c128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11283" y="5312664"/>
            <a:ext cx="16854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+37%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11283" y="5541264"/>
            <a:ext cx="1685467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1370 → 1883 tok/s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待填：离上界最远、占比又大的是谁——五组候选是不是都打在它上面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合并版　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左图要一次 c128 decode 的 Trace 加每类 FLOP 与访存字节；右表沿用上一版；下排要吞吐全矩阵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一次完整的候选迭代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30B-A3B 单卡：10 个候选，5 个过三道门，峰值吞吐 +37%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 M100 真机——数值不对、更慢的当场挡掉，占比太小的不接线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冻结口径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128 专家 / top-8 · 48 层 · M100 单卡 TP1 · qsx8_lever2 env · 1K/1K · CG-on + overlap-on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主指标 持续输出 tok/s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274320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48256"/>
            <a:ext cx="234086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峰值吞吐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持续输出 tok/s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40864"/>
            <a:ext cx="2340864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+37%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416165"/>
            <a:ext cx="640080" cy="91809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0133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1370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3072384"/>
            <a:ext cx="640080" cy="126187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816352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1883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59" y="4334256"/>
            <a:ext cx="2194561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49808" y="4681728"/>
            <a:ext cx="234086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基线峰值在 c128，1K/1K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1975104"/>
            <a:ext cx="816833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2048256"/>
            <a:ext cx="7765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候选明细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五组，全部为单卡 TP1 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340864"/>
            <a:ext cx="26517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340864"/>
            <a:ext cx="2002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C 筛选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2340864"/>
            <a:ext cx="12801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D 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4664" y="2340864"/>
            <a:ext cx="15544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5888" y="2578608"/>
            <a:ext cx="7765999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3602736" y="2633472"/>
            <a:ext cx="7912303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5888" y="2633472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替掉散点 elementwise 3.08 ms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+ per-token quant 0.43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633472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单核 1.75 ms/步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4" y="2633472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device 单步时间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24.7 → 22.2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4664" y="2633472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交付，全矩阵 +22~38%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2736" y="3236976"/>
            <a:ext cx="7912303" cy="420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5888" y="3236976"/>
            <a:ext cx="26517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量化 + shuffle 换 SDNN 恒定核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现用核随 rows×hidden 从 20 涨到 141 µs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3236976"/>
            <a:ext cx="200253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微基准 c128 5.43×，cos = 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13064" y="3236976"/>
            <a:ext cx="12801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E2E 吞吐 +3%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TPOT −3.4%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4664" y="3236976"/>
            <a:ext cx="15544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5888" y="3694176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grouped-GEMM group-mode 四个旋钮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3694176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四模式完全同速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force_nogroup −20%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no_group cos 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3064" y="369417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4664" y="3694176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① 挡掉一个，③ 挡掉其余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判定为闭源核内在开销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75888" y="4297680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297680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0.61×，更慢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13064" y="4297680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84664" y="4297680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4608576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608576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内核 2×，数值对（Δ 3e-8）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3064" y="4608576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只占 ~0.9% TPOT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4664" y="4608576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③ 过但不值当，未接线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三道门的漏斗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由便宜到贵，任一道不过即停，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数值不对、更慢的当场挡掉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0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5786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98666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过三道门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98666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86602" y="5394959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55" name="Rectangle 54"/>
          <p:cNvSpPr/>
          <p:nvPr/>
        </p:nvSpPr>
        <p:spPr>
          <a:xfrm>
            <a:off x="9139732" y="5084064"/>
            <a:ext cx="2503322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2612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2612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810548" y="5394959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两个交付都在替换小核；闭源 grouped-GEMM 的旋钮调不动，占比不到 1% 的核再快也不接线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列是内核或微基准读数，D 列是整步或端到端读数，两列口径不同、不能互相换算；表中全部为 M100 单卡 TP1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roofline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整步耗时里，谁贴着上界，谁还有空间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用 B 阶段的 Trace 把各类算子放上同一张 roofline——只用来选下一轮的方向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卡常数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峰值算力 __ TFLOPS（__ 精度）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实测带宽 __ GB/s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拐点 __ FLOP/Byte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工作点 并发 __ · 输入 __ / 输出 __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常数用探针实测值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7315200" cy="36027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5661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可达性能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min(峰值算力, 实测带宽 × 算术强度)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07407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4700016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访存受限段（斜线）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16752" y="2148840"/>
            <a:ext cx="237744" cy="0"/>
          </a:xfrm>
          <a:prstGeom prst="line">
            <a:avLst/>
          </a:prstGeom>
          <a:ln w="15875">
            <a:solidFill>
              <a:srgbClr val="3F63A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309360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算力受限段（平台）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89888" y="4499810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86384" y="439922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9888" y="4037797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86384" y="3937213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9888" y="3575785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6384" y="3475201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9888" y="3113772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86384" y="3013188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89888" y="2651760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86384" y="255117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89888" y="4846320"/>
            <a:ext cx="5879592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389888" y="2651760"/>
            <a:ext cx="0" cy="219456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111556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550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5451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5393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34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15276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521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389888" y="2651760"/>
            <a:ext cx="3569752" cy="1963553"/>
          </a:xfrm>
          <a:prstGeom prst="line">
            <a:avLst/>
          </a:prstGeom>
          <a:ln w="25400">
            <a:solidFill>
              <a:srgbClr val="C0612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4959640" y="2651760"/>
            <a:ext cx="230984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4895632" y="2587752"/>
            <a:ext cx="128016" cy="128016"/>
          </a:xfrm>
          <a:prstGeom prst="ellipse">
            <a:avLst/>
          </a:prstGeom>
          <a:solidFill>
            <a:srgbClr val="16202A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36680" y="2340864"/>
            <a:ext cx="16459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拐点 __ FLOP/Byte</a:t>
            </a:r>
          </a:p>
        </p:txBody>
      </p:sp>
      <p:sp>
        <p:nvSpPr>
          <p:cNvPr id="37" name="Oval 36"/>
          <p:cNvSpPr/>
          <p:nvPr/>
        </p:nvSpPr>
        <p:spPr>
          <a:xfrm>
            <a:off x="2021542" y="4445680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31854" y="4427392"/>
            <a:ext cx="106984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Norm / 逐元素</a:t>
            </a:r>
          </a:p>
        </p:txBody>
      </p:sp>
      <p:sp>
        <p:nvSpPr>
          <p:cNvPr id="39" name="Oval 38"/>
          <p:cNvSpPr/>
          <p:nvPr/>
        </p:nvSpPr>
        <p:spPr>
          <a:xfrm>
            <a:off x="3407446" y="3608992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89108" y="3801016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1" name="Oval 40"/>
          <p:cNvSpPr/>
          <p:nvPr/>
        </p:nvSpPr>
        <p:spPr>
          <a:xfrm>
            <a:off x="3827417" y="3265849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80529" y="3457873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4056017" y="2992615"/>
            <a:ext cx="496740" cy="273234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4385201" y="3247561"/>
            <a:ext cx="13533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并发 ↑ 至 __ 越过拐点</a:t>
            </a:r>
          </a:p>
        </p:txBody>
      </p:sp>
      <p:sp>
        <p:nvSpPr>
          <p:cNvPr id="45" name="Oval 44"/>
          <p:cNvSpPr/>
          <p:nvPr/>
        </p:nvSpPr>
        <p:spPr>
          <a:xfrm>
            <a:off x="6179253" y="2919339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915" y="3111363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1207" y="2739707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61519" y="2721419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285231"/>
            <a:ext cx="5669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○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prefill　</a:t>
            </a: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decode　　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横轴 算术强度 FLOP/Byte　纵轴 可达性能 TFLOPS　两轴均为对数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19" y="1975104"/>
            <a:ext cx="3596335" cy="36027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7888" y="2048256"/>
            <a:ext cx="3193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每类算子的读数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时间与占比来自 Trace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1" y="2395728"/>
            <a:ext cx="142646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83495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强度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13263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实测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43032" y="2395728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距上界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64240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占比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47888" y="2651760"/>
            <a:ext cx="3193999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211311" y="270662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· GEMM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3495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13263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43032" y="270662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11311" y="3044952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· Attention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83495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13263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43032" y="3044952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64240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74736" y="3383280"/>
            <a:ext cx="3340303" cy="31089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11311" y="3383280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decode · GEMM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83495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13263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43032" y="3383280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11311" y="372160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· Attention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83495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13263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43032" y="3721608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64240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1" y="4059935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· Norm/逐元素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83495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13263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43032" y="4059935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64240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1311" y="439826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83495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13263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43032" y="439826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64240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47888" y="4809744"/>
            <a:ext cx="3193999" cy="71323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距上界 = 实测 ÷ 该强度的上界；占比按所在阶段算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贴斜线的只能少搬字节，贴平台的只能少算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通信受互联带宽限制，只列占比，不上图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待填：按点落在哪一段，写一句下一轮该优化谁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方案 B　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只需一次 Trace 加 FLOP/Byte 计数，今天就能填；它回答「下一轮该优化谁」，不回答「优化到哪了」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