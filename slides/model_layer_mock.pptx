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一次完整的候选迭代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__ 模型：__ 个候选，__ 个过三道门，交付收益 +__%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候选都从基线分叉、收益不叠加——交付的是 D 阶段独立复验后最好的那一个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__ · __ 精度 · TP__ · 并发 __ · 输入 __ / 输出 __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主指标 </a:t>
            </a: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__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基线 </a:t>
            </a: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A 阶段 __ → D 阶段重测 __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两者之差即设备漂移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75104"/>
            <a:ext cx="6537960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26060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收益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 = 候选 ÷ 基线 − 1　重复压测取中位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47288" y="2148840"/>
            <a:ext cx="237744" cy="0"/>
          </a:xfrm>
          <a:prstGeom prst="line">
            <a:avLst/>
          </a:prstGeom>
          <a:ln w="15875">
            <a:solidFill>
              <a:srgbClr val="8C96A1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3739896" y="2011680"/>
            <a:ext cx="107899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性能门 +3%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59" y="2148840"/>
            <a:ext cx="237744" cy="0"/>
          </a:xfrm>
          <a:prstGeom prst="line">
            <a:avLst/>
          </a:prstGeom>
          <a:ln w="15875">
            <a:solidFill>
              <a:srgbClr val="C0612C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5230368" y="2011680"/>
            <a:ext cx="13533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噪声极差 __%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4197577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1792" y="4096993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3797166"/>
            <a:ext cx="5349240" cy="0"/>
          </a:xfrm>
          <a:prstGeom prst="line">
            <a:avLst/>
          </a:prstGeom>
          <a:ln w="12700">
            <a:solidFill>
              <a:srgbClr val="8C96A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1792" y="369658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3396755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21792" y="3296171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2996344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1792" y="289576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2595933"/>
            <a:ext cx="5349240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" y="2495349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20" y="3496858"/>
            <a:ext cx="5349240" cy="0"/>
          </a:xfrm>
          <a:prstGeom prst="line">
            <a:avLst/>
          </a:prstGeom>
          <a:ln w="12700">
            <a:solidFill>
              <a:srgbClr val="8C96A1"/>
            </a:solidFill>
            <a:prstDash val="dash"/>
          </a:ln>
        </p:spPr>
      </p:cxnSp>
      <p:cxnSp>
        <p:nvCxnSpPr>
          <p:cNvPr id="24" name="Connector 23"/>
          <p:cNvCxnSpPr/>
          <p:nvPr/>
        </p:nvCxnSpPr>
        <p:spPr>
          <a:xfrm>
            <a:off x="1188720" y="3616981"/>
            <a:ext cx="5349240" cy="0"/>
          </a:xfrm>
          <a:prstGeom prst="line">
            <a:avLst/>
          </a:prstGeom>
          <a:ln w="12700">
            <a:solidFill>
              <a:srgbClr val="C0612C"/>
            </a:solidFill>
            <a:prstDash val="dash"/>
          </a:ln>
        </p:spPr>
      </p:cxnSp>
      <p:cxnSp>
        <p:nvCxnSpPr>
          <p:cNvPr id="25" name="Connector 24"/>
          <p:cNvCxnSpPr/>
          <p:nvPr/>
        </p:nvCxnSpPr>
        <p:spPr>
          <a:xfrm>
            <a:off x="1188720" y="4297680"/>
            <a:ext cx="5349240" cy="0"/>
          </a:xfrm>
          <a:prstGeom prst="line">
            <a:avLst/>
          </a:prstGeom>
          <a:ln w="12700">
            <a:solidFill>
              <a:srgbClr val="C5CCD4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1389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27" name="Oval 26"/>
          <p:cNvSpPr/>
          <p:nvPr/>
        </p:nvSpPr>
        <p:spPr>
          <a:xfrm>
            <a:off x="1627632" y="3653076"/>
            <a:ext cx="128016" cy="128016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1368" y="361650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002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02052" y="3146498"/>
            <a:ext cx="219456" cy="150154"/>
          </a:xfrm>
          <a:prstGeom prst="line">
            <a:avLst/>
          </a:prstGeom>
          <a:ln w="15875">
            <a:solidFill>
              <a:srgbClr val="C5CCD4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2638044" y="3082490"/>
            <a:ext cx="128016" cy="128016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48356" y="3223500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8860" y="2844746"/>
            <a:ext cx="10058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 → 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77056" y="4242816"/>
            <a:ext cx="109728" cy="109728"/>
          </a:xfrm>
          <a:prstGeom prst="line">
            <a:avLst/>
          </a:prstGeom>
          <a:ln w="19050">
            <a:solidFill>
              <a:srgbClr val="8C96A1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3877056" y="4242816"/>
            <a:ext cx="109728" cy="109728"/>
          </a:xfrm>
          <a:prstGeom prst="line">
            <a:avLst/>
          </a:prstGeom>
          <a:ln w="19050">
            <a:solidFill>
              <a:srgbClr val="8C96A1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3520440" y="3986784"/>
            <a:ext cx="8229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停在 __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030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42332" y="2746087"/>
            <a:ext cx="219456" cy="190195"/>
          </a:xfrm>
          <a:prstGeom prst="line">
            <a:avLst/>
          </a:prstGeom>
          <a:ln w="15875">
            <a:solidFill>
              <a:srgbClr val="C5CCD4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4878324" y="2682079"/>
            <a:ext cx="128016" cy="128016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0348" y="2844842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672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9140" y="2444335"/>
            <a:ext cx="10058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 → 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7468" y="3055154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5" name="Oval 44"/>
          <p:cNvSpPr/>
          <p:nvPr/>
        </p:nvSpPr>
        <p:spPr>
          <a:xfrm>
            <a:off x="6108192" y="3983415"/>
            <a:ext cx="128016" cy="128016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3946839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4681728"/>
            <a:ext cx="1078992" cy="21945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4681728"/>
            <a:ext cx="107899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示意　非数据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681728"/>
            <a:ext cx="49834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C 阶段筛选　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○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D 阶段独立复验　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×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停在 ① 或 ②，未测性能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1975104"/>
            <a:ext cx="4373575" cy="30175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70648" y="2048256"/>
            <a:ext cx="397123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__ 个候选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__ 个过三道门，复验后交付 1 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2983" y="2377440"/>
            <a:ext cx="18288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2377440"/>
            <a:ext cx="5669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C 筛选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0152" y="2377440"/>
            <a:ext cx="5669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D 复验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18520" y="2377440"/>
            <a:ext cx="51206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70648" y="2615184"/>
            <a:ext cx="3971239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7397496" y="2670048"/>
            <a:ext cx="4117543" cy="32918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70648" y="2670048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3" y="2670048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 阶段建立，D 阶段重测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267004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267004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8520" y="2670048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0648" y="3035808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72983" y="3035808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例：调大 batch 上限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38360" y="303580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03580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18520" y="3035808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0648" y="3401568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72983" y="3401568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例：换 attention 后端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340156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340156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18520" y="3401568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70648" y="3767328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72983" y="3767328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例：接入算子层新内核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38360" y="376732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376732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18520" y="3767328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① 未过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97496" y="4133087"/>
            <a:ext cx="4117543" cy="32918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70648" y="4133087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72983" y="4133087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例：KV 缓存与复用策略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38360" y="4133087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60152" y="4133087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18520" y="4133087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0648" y="4498848"/>
            <a:ext cx="40233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72983" y="4498848"/>
            <a:ext cx="18288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例：通信与计算重叠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38360" y="449884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60152" y="4498848"/>
            <a:ext cx="56692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18520" y="4498848"/>
            <a:ext cx="51206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三道门的漏斗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由便宜到贵，任一道不过即停，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越靠前的门越省设备时间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91840" y="5084064"/>
            <a:ext cx="155319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38144" y="5120640"/>
            <a:ext cx="12605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38144" y="5321807"/>
            <a:ext cx="12605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38144" y="5541264"/>
            <a:ext cx="126059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设备时间 __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91343" y="5084064"/>
            <a:ext cx="155319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37647" y="5120640"/>
            <a:ext cx="12605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过 ① 输出未变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37647" y="5321807"/>
            <a:ext cx="12605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37647" y="5541264"/>
            <a:ext cx="126059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设备时间 __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90847" y="5084064"/>
            <a:ext cx="155319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7151" y="5120640"/>
            <a:ext cx="12605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过 ② 质量达标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7151" y="5321807"/>
            <a:ext cx="12605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37151" y="5541264"/>
            <a:ext cx="126059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设备时间 __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90351" y="5084064"/>
            <a:ext cx="155319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36655" y="5120640"/>
            <a:ext cx="12605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过 ③ 确实更快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36655" y="5321807"/>
            <a:ext cx="12605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36655" y="5541264"/>
            <a:ext cx="126059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设备时间 __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89855" y="5084064"/>
            <a:ext cx="1553199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36159" y="5120640"/>
            <a:ext cx="12605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过 D 独立复验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36159" y="5321807"/>
            <a:ext cx="12605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36159" y="5541264"/>
            <a:ext cx="126059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设备时间 __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待填：交付了哪个候选、复验收益多少、哪道门挡掉的最多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方案 A　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与第 7 页同骨架，但候选都从基线分叉、收益不叠加，所以画逐个候选而不画爬升曲线；要一次跑完 A–D 的任务才能填满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模型层 · roofline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整步耗时里，谁贴着上界，谁还有空间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用 B 阶段的 Trace 把各类算子放上同一张 roofline——只用来选下一轮的方向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卡常数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峰值算力 __ TFLOPS（__ 精度）</a:t>
            </a:r>
            <a:r>
              <a:rPr sz="100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实测带宽 __ GB/s</a:t>
            </a:r>
            <a:r>
              <a:rPr sz="100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拐点 __ FLOP/Byte</a:t>
            </a:r>
            <a:r>
              <a:rPr sz="100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工作点 并发 __ · 输入 __ / 输出 __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常数用探针实测值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75104"/>
            <a:ext cx="7315200" cy="360273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356616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可达性能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 = min(峰值算力, 实测带宽 × 算术强度)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7407" y="2148840"/>
            <a:ext cx="237744" cy="0"/>
          </a:xfrm>
          <a:prstGeom prst="line">
            <a:avLst/>
          </a:prstGeom>
          <a:ln w="15875">
            <a:solidFill>
              <a:srgbClr val="C0612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700016" y="2011680"/>
            <a:ext cx="126187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访存受限段（斜线）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6752" y="2148840"/>
            <a:ext cx="237744" cy="0"/>
          </a:xfrm>
          <a:prstGeom prst="line">
            <a:avLst/>
          </a:prstGeom>
          <a:ln w="15875">
            <a:solidFill>
              <a:srgbClr val="3F63A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309360" y="2011680"/>
            <a:ext cx="126187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算力受限段（平台）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89888" y="4499810"/>
            <a:ext cx="587959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86384" y="4399226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89888" y="4037797"/>
            <a:ext cx="587959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86384" y="3937213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9888" y="3575785"/>
            <a:ext cx="587959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86384" y="3475201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89888" y="3113772"/>
            <a:ext cx="587959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86384" y="3013188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89888" y="2651760"/>
            <a:ext cx="587959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86384" y="2551176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89888" y="4846320"/>
            <a:ext cx="5879592" cy="0"/>
          </a:xfrm>
          <a:prstGeom prst="line">
            <a:avLst/>
          </a:prstGeom>
          <a:ln w="12700">
            <a:solidFill>
              <a:srgbClr val="C5CCD4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389888" y="2651760"/>
            <a:ext cx="0" cy="2194560"/>
          </a:xfrm>
          <a:prstGeom prst="line">
            <a:avLst/>
          </a:prstGeom>
          <a:ln w="12700">
            <a:solidFill>
              <a:srgbClr val="C5CCD4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1115568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509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5451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5393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34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5276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5218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389888" y="2651760"/>
            <a:ext cx="3569752" cy="1963553"/>
          </a:xfrm>
          <a:prstGeom prst="line">
            <a:avLst/>
          </a:prstGeom>
          <a:ln w="25400">
            <a:solidFill>
              <a:srgbClr val="C0612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4959640" y="2651760"/>
            <a:ext cx="2309840" cy="0"/>
          </a:xfrm>
          <a:prstGeom prst="line">
            <a:avLst/>
          </a:prstGeom>
          <a:ln w="25400">
            <a:solidFill>
              <a:srgbClr val="3F63A8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895632" y="2587752"/>
            <a:ext cx="128016" cy="128016"/>
          </a:xfrm>
          <a:prstGeom prst="ellipse">
            <a:avLst/>
          </a:prstGeom>
          <a:solidFill>
            <a:srgbClr val="16202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6680" y="2340864"/>
            <a:ext cx="16459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拐点 __ FLOP/Byte</a:t>
            </a:r>
          </a:p>
        </p:txBody>
      </p:sp>
      <p:sp>
        <p:nvSpPr>
          <p:cNvPr id="37" name="Oval 36"/>
          <p:cNvSpPr/>
          <p:nvPr/>
        </p:nvSpPr>
        <p:spPr>
          <a:xfrm>
            <a:off x="2021542" y="4445680"/>
            <a:ext cx="164592" cy="164592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31854" y="4427392"/>
            <a:ext cx="106984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Norm / 逐元素</a:t>
            </a:r>
          </a:p>
        </p:txBody>
      </p:sp>
      <p:sp>
        <p:nvSpPr>
          <p:cNvPr id="39" name="Oval 38"/>
          <p:cNvSpPr/>
          <p:nvPr/>
        </p:nvSpPr>
        <p:spPr>
          <a:xfrm>
            <a:off x="3407446" y="3608992"/>
            <a:ext cx="164592" cy="164592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89108" y="3801016"/>
            <a:ext cx="10012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41" name="Oval 40"/>
          <p:cNvSpPr/>
          <p:nvPr/>
        </p:nvSpPr>
        <p:spPr>
          <a:xfrm>
            <a:off x="3827417" y="3265849"/>
            <a:ext cx="164592" cy="164592"/>
          </a:xfrm>
          <a:prstGeom prst="ellipse">
            <a:avLst/>
          </a:prstGeom>
          <a:solidFill>
            <a:srgbClr val="C5CCD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80529" y="3457873"/>
            <a:ext cx="6583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4056017" y="2992615"/>
            <a:ext cx="496740" cy="273234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4385201" y="3247561"/>
            <a:ext cx="13533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并发 ↑ 至 __ 越过拐点</a:t>
            </a:r>
          </a:p>
        </p:txBody>
      </p:sp>
      <p:sp>
        <p:nvSpPr>
          <p:cNvPr id="45" name="Oval 44"/>
          <p:cNvSpPr/>
          <p:nvPr/>
        </p:nvSpPr>
        <p:spPr>
          <a:xfrm>
            <a:off x="6179253" y="2919339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915" y="3111363"/>
            <a:ext cx="10012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47" name="Oval 46"/>
          <p:cNvSpPr/>
          <p:nvPr/>
        </p:nvSpPr>
        <p:spPr>
          <a:xfrm>
            <a:off x="6851207" y="2739707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61519" y="2721419"/>
            <a:ext cx="6583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285231"/>
            <a:ext cx="5669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○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prefill　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decode　　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横轴 算术强度 FLOP/Byte　纵轴 可达性能 TFLOPS　两轴均为对数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79" y="5266944"/>
            <a:ext cx="1078992" cy="21945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79" y="5266944"/>
            <a:ext cx="107899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示意　非数据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19" y="1975104"/>
            <a:ext cx="3596335" cy="360273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2048256"/>
            <a:ext cx="31939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每类算子的读数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时间与占比来自 Trace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1311" y="2395728"/>
            <a:ext cx="142646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3495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强度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13263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实测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43032" y="2395728"/>
            <a:ext cx="4754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距上界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占比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47888" y="2651760"/>
            <a:ext cx="3193999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8211311" y="2706624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prefill · GEMM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3495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13263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43032" y="2706624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1311" y="3044952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prefill · Attention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3495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13263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43032" y="3044952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74736" y="3383280"/>
            <a:ext cx="3340303" cy="31089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11311" y="3383280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decode · GEMM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83495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13263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3032" y="3383280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1311" y="3721608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decode · Attention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83495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13263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43032" y="3721608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40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1" y="4059935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decode · Norm/逐元素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83495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13263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3032" y="4059935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64240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11311" y="4398264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83495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13263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43032" y="4398264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64240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47888" y="4809744"/>
            <a:ext cx="3193999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距上界 = 实测 ÷ 该强度的上界；占比按所在阶段算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贴斜线的只能少搬字节，贴平台的只能少算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通信受互联带宽限制，只列占比，不上图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待填：按点落在哪一段，写一句下一轮该优化谁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方案 B　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只需一次 Trace 加 FLOP/Byte 计数，今天就能填；它回答「下一轮该优化谁」，不回答「优化到哪了」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