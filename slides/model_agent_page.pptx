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模型层 Agent 设计方案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全链路只有规划器用大模型；提案先过守门员，变更只走唯一闸口，判决由四道门实测给出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4768" y="1060704"/>
            <a:ext cx="5333695" cy="38404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0F62CE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算子层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1554480"/>
            <a:ext cx="9859975" cy="4800600"/>
          </a:xfrm>
          <a:prstGeom prst="roundRect">
            <a:avLst>
              <a:gd name="adj" fmla="val 463"/>
            </a:avLst>
          </a:prstGeom>
          <a:solidFill>
            <a:srgbClr val="F7FBFE"/>
          </a:solidFill>
          <a:ln w="15875">
            <a:solidFill>
              <a:srgbClr val="0F62C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47672" y="1572768"/>
            <a:ext cx="237744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确定性 Python 调度（非 Agent）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9663" y="1572768"/>
            <a:ext cx="182880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大模型 Agent 范畴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47672" y="1883664"/>
            <a:ext cx="1920240" cy="731520"/>
          </a:xfrm>
          <a:prstGeom prst="roundRect">
            <a:avLst>
              <a:gd name="adj" fmla="val 8750"/>
            </a:avLst>
          </a:prstGeom>
          <a:solidFill>
            <a:srgbClr val="E6F0FC"/>
          </a:solidFill>
          <a:ln w="12700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93391" y="2130552"/>
            <a:ext cx="1828800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39112" y="1883664"/>
            <a:ext cx="1737360" cy="246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输入检查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130552"/>
            <a:ext cx="1700784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任务确认与硬件预检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95928" y="1883664"/>
            <a:ext cx="1746504" cy="731520"/>
          </a:xfrm>
          <a:prstGeom prst="roundRect">
            <a:avLst>
              <a:gd name="adj" fmla="val 8750"/>
            </a:avLst>
          </a:prstGeom>
          <a:solidFill>
            <a:srgbClr val="0F62CE"/>
          </a:solidFill>
          <a:ln w="12700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41648" y="2130552"/>
            <a:ext cx="1655064" cy="43891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1883664"/>
            <a:ext cx="1563624" cy="246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5656" y="2130552"/>
            <a:ext cx="1527048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主循环与状态机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68296" y="2944368"/>
            <a:ext cx="3374136" cy="914400"/>
          </a:xfrm>
          <a:prstGeom prst="roundRect">
            <a:avLst>
              <a:gd name="adj" fmla="val 7000"/>
            </a:avLst>
          </a:prstGeom>
          <a:solidFill>
            <a:srgbClr val="E6F0FC"/>
          </a:solidFill>
          <a:ln w="12700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14015" y="3191256"/>
            <a:ext cx="3282696" cy="621792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9736" y="2944368"/>
            <a:ext cx="3191256" cy="246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瓶颈诊断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78024" y="3191256"/>
            <a:ext cx="315468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Trace 归因 → 理论下界与差距对比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产出待优化目标队列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异常算子隔离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47672" y="4242816"/>
            <a:ext cx="3794760" cy="841248"/>
          </a:xfrm>
          <a:prstGeom prst="roundRect">
            <a:avLst>
              <a:gd name="adj" fmla="val 7608"/>
            </a:avLst>
          </a:prstGeom>
          <a:solidFill>
            <a:srgbClr val="DCEFE7"/>
          </a:solidFill>
          <a:ln w="12700">
            <a:solidFill>
              <a:srgbClr val="1779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93391" y="4489704"/>
            <a:ext cx="37033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39112" y="4242816"/>
            <a:ext cx="3611880" cy="246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判决器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489704"/>
            <a:ext cx="3575304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性能提升：更新基线</a:t>
            </a:r>
            <a:r>
              <a:rPr sz="9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　　</a:t>
            </a:r>
            <a:r>
              <a:rPr sz="9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淘汰：记入记忆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重测：签名漂移回退</a:t>
            </a:r>
            <a:r>
              <a:rPr sz="8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　　</a:t>
            </a: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决定下一轮循环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47672" y="5486400"/>
            <a:ext cx="3794760" cy="621792"/>
          </a:xfrm>
          <a:prstGeom prst="roundRect">
            <a:avLst>
              <a:gd name="adj" fmla="val 10294"/>
            </a:avLst>
          </a:prstGeom>
          <a:solidFill>
            <a:srgbClr val="12314B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记录保存（强制执行 · 不可绕过）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E1FC"/>
                </a:solidFill>
                <a:latin typeface="Microsoft YaHei"/>
                <a:ea typeface="Microsoft YaHei"/>
                <a:cs typeface="Microsoft YaHei"/>
              </a:rPr>
              <a:t>事件流 · 每次实验独立目录 · 全局状态与自动报告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1883664"/>
            <a:ext cx="3907231" cy="914400"/>
          </a:xfrm>
          <a:prstGeom prst="roundRect">
            <a:avLst>
              <a:gd name="adj" fmla="val 7000"/>
            </a:avLst>
          </a:prstGeom>
          <a:solidFill>
            <a:srgbClr val="D2690C"/>
          </a:solidFill>
          <a:ln w="12700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90488" y="2130552"/>
            <a:ext cx="3815791" cy="621792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7" y="1883664"/>
            <a:ext cx="3724351" cy="246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规划器（Agent）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2130552"/>
            <a:ext cx="3687775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查技能库 · 优化假设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读码 · 搜索 · 轻量级诊断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98303" y="1883664"/>
            <a:ext cx="1280160" cy="914400"/>
          </a:xfrm>
          <a:prstGeom prst="roundRect">
            <a:avLst>
              <a:gd name="adj" fmla="val 7000"/>
            </a:avLst>
          </a:prstGeom>
          <a:solidFill>
            <a:srgbClr val="FBE6D4"/>
          </a:solidFill>
          <a:ln w="12700">
            <a:solidFill>
              <a:srgbClr val="D2690C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人 · 按需介入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3182112"/>
            <a:ext cx="5333695" cy="713232"/>
          </a:xfrm>
          <a:prstGeom prst="roundRect">
            <a:avLst>
              <a:gd name="adj" fmla="val 8974"/>
            </a:avLst>
          </a:prstGeom>
          <a:solidFill>
            <a:srgbClr val="FBECEA"/>
          </a:solidFill>
          <a:ln w="12700">
            <a:solidFill>
              <a:srgbClr val="B438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90488" y="3429000"/>
            <a:ext cx="5242255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7" y="3182112"/>
            <a:ext cx="5150815" cy="246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修改检查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4496" y="3429000"/>
            <a:ext cx="5114239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拒绝重复动作 · 大范围跨文件修改人工介入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4187952"/>
            <a:ext cx="5333695" cy="786384"/>
          </a:xfrm>
          <a:prstGeom prst="roundRect">
            <a:avLst>
              <a:gd name="adj" fmla="val 8139"/>
            </a:avLst>
          </a:prstGeom>
          <a:solidFill>
            <a:srgbClr val="E6F0FC"/>
          </a:solidFill>
          <a:ln w="12700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90488" y="4434840"/>
            <a:ext cx="5242255" cy="49377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7" y="4187952"/>
            <a:ext cx="5150815" cy="246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构建器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54496" y="4434840"/>
            <a:ext cx="5114239" cy="493775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暂存校验后统一写入 · 原仓原位构建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增量编译算子组件 · 校验实际加载库签名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44768" y="5248656"/>
            <a:ext cx="5333695" cy="859536"/>
          </a:xfrm>
          <a:prstGeom prst="roundRect">
            <a:avLst>
              <a:gd name="adj" fmla="val 7446"/>
            </a:avLst>
          </a:prstGeom>
          <a:solidFill>
            <a:srgbClr val="0F62CE"/>
          </a:solidFill>
          <a:ln w="12700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90488" y="5495544"/>
            <a:ext cx="5242255" cy="566927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6207" y="5248656"/>
            <a:ext cx="5150815" cy="246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服务与评测器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54496" y="5495544"/>
            <a:ext cx="5114239" cy="566927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拉起推理服务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算子单测 → 精度验证 → 性能测试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1792224"/>
            <a:ext cx="107899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0412" y="1892807"/>
            <a:ext cx="155448" cy="155448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32688" y="2066543"/>
            <a:ext cx="310896" cy="137160"/>
          </a:xfrm>
          <a:prstGeom prst="roundRect">
            <a:avLst>
              <a:gd name="adj" fmla="val 50000"/>
            </a:avLst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3" y="2066543"/>
            <a:ext cx="969264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任务负责人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命令行启动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334255"/>
            <a:ext cx="10789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1779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3" y="4334255"/>
            <a:ext cx="969264" cy="658367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最终交付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最优版本与报告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655063" y="2249424"/>
            <a:ext cx="265177" cy="0"/>
          </a:xfrm>
          <a:prstGeom prst="line">
            <a:avLst/>
          </a:prstGeom>
          <a:ln w="19050">
            <a:solidFill>
              <a:srgbClr val="0F62CE"/>
            </a:solidFill>
            <a:tailEnd type="triangle" w="med" len="med"/>
          </a:ln>
        </p:spPr>
      </p:cxnSp>
      <p:cxnSp>
        <p:nvCxnSpPr>
          <p:cNvPr id="51" name="Connector 50"/>
          <p:cNvCxnSpPr/>
          <p:nvPr/>
        </p:nvCxnSpPr>
        <p:spPr>
          <a:xfrm>
            <a:off x="3877056" y="2249424"/>
            <a:ext cx="109728" cy="0"/>
          </a:xfrm>
          <a:prstGeom prst="line">
            <a:avLst/>
          </a:prstGeom>
          <a:ln w="19050">
            <a:solidFill>
              <a:srgbClr val="0F62CE"/>
            </a:solidFill>
            <a:tailEnd type="triangle" w="med" len="med"/>
          </a:ln>
        </p:spPr>
      </p:cxnSp>
      <p:cxnSp>
        <p:nvCxnSpPr>
          <p:cNvPr id="52" name="Connector 51"/>
          <p:cNvCxnSpPr/>
          <p:nvPr/>
        </p:nvCxnSpPr>
        <p:spPr>
          <a:xfrm>
            <a:off x="5239512" y="2642616"/>
            <a:ext cx="0" cy="274320"/>
          </a:xfrm>
          <a:prstGeom prst="line">
            <a:avLst/>
          </a:prstGeom>
          <a:ln w="19050">
            <a:solidFill>
              <a:srgbClr val="0F62CE"/>
            </a:solidFill>
            <a:tailEnd type="triangle" w="med" len="med"/>
          </a:ln>
        </p:spPr>
      </p:cxnSp>
      <p:cxnSp>
        <p:nvCxnSpPr>
          <p:cNvPr id="53" name="Connector 52"/>
          <p:cNvCxnSpPr/>
          <p:nvPr/>
        </p:nvCxnSpPr>
        <p:spPr>
          <a:xfrm flipH="1">
            <a:off x="1655063" y="4663440"/>
            <a:ext cx="265177" cy="0"/>
          </a:xfrm>
          <a:prstGeom prst="line">
            <a:avLst/>
          </a:prstGeom>
          <a:ln w="19050">
            <a:solidFill>
              <a:srgbClr val="17795F"/>
            </a:solidFill>
            <a:tailEnd type="triangle" w="med" len="med"/>
          </a:ln>
        </p:spPr>
      </p:cxnSp>
      <p:cxnSp>
        <p:nvCxnSpPr>
          <p:cNvPr id="54" name="Connector 53"/>
          <p:cNvCxnSpPr/>
          <p:nvPr/>
        </p:nvCxnSpPr>
        <p:spPr>
          <a:xfrm>
            <a:off x="4576572" y="5111496"/>
            <a:ext cx="0" cy="347472"/>
          </a:xfrm>
          <a:prstGeom prst="line">
            <a:avLst/>
          </a:prstGeom>
          <a:ln w="19050">
            <a:solidFill>
              <a:srgbClr val="40708B"/>
            </a:solidFill>
            <a:tailEnd type="triangle" w="med" len="med"/>
          </a:ln>
        </p:spPr>
      </p:cxnSp>
      <p:sp>
        <p:nvSpPr>
          <p:cNvPr id="55" name="Freeform 54"/>
          <p:cNvSpPr/>
          <p:nvPr/>
        </p:nvSpPr>
        <p:spPr>
          <a:xfrm>
            <a:off x="5760720" y="1252728"/>
            <a:ext cx="356616" cy="850392"/>
          </a:xfrm>
          <a:custGeom>
            <a:avLst/>
            <a:gdLst/>
            <a:ahLst/>
            <a:cxnLst/>
            <a:rect l="l" t="t" r="r" b="b"/>
            <a:pathLst>
              <a:path w="356616" h="850392">
                <a:moveTo>
                  <a:pt x="0" y="850392"/>
                </a:moveTo>
                <a:lnTo>
                  <a:pt x="182880" y="850392"/>
                </a:lnTo>
                <a:lnTo>
                  <a:pt x="182880" y="0"/>
                </a:lnTo>
                <a:lnTo>
                  <a:pt x="356616" y="0"/>
                </a:lnTo>
              </a:path>
            </a:pathLst>
          </a:custGeom>
          <a:noFill/>
          <a:ln w="15875">
            <a:solidFill>
              <a:srgbClr val="0F62C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550408" y="1426463"/>
            <a:ext cx="78638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2CE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取 roofline</a:t>
            </a:r>
          </a:p>
        </p:txBody>
      </p:sp>
      <p:sp>
        <p:nvSpPr>
          <p:cNvPr id="57" name="Freeform 56"/>
          <p:cNvSpPr/>
          <p:nvPr/>
        </p:nvSpPr>
        <p:spPr>
          <a:xfrm>
            <a:off x="5760720" y="2157984"/>
            <a:ext cx="356616" cy="1024128"/>
          </a:xfrm>
          <a:custGeom>
            <a:avLst/>
            <a:gdLst/>
            <a:ahLst/>
            <a:cxnLst/>
            <a:rect l="l" t="t" r="r" b="b"/>
            <a:pathLst>
              <a:path w="356616" h="1024128">
                <a:moveTo>
                  <a:pt x="0" y="1024128"/>
                </a:moveTo>
                <a:lnTo>
                  <a:pt x="182880" y="1024128"/>
                </a:lnTo>
                <a:lnTo>
                  <a:pt x="182880" y="0"/>
                </a:lnTo>
                <a:lnTo>
                  <a:pt x="356616" y="0"/>
                </a:lnTo>
              </a:path>
            </a:pathLst>
          </a:custGeom>
          <a:noFill/>
          <a:ln w="15875">
            <a:solidFill>
              <a:srgbClr val="0F62C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596128" y="2569464"/>
            <a:ext cx="69494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2CE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提交目标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7595463" y="1472184"/>
            <a:ext cx="0" cy="384048"/>
          </a:xfrm>
          <a:prstGeom prst="line">
            <a:avLst/>
          </a:prstGeom>
          <a:ln w="15875">
            <a:solidFill>
              <a:srgbClr val="D2690C"/>
            </a:solidFill>
            <a:tailEnd type="triangle" w="med" len="med"/>
          </a:ln>
        </p:spPr>
      </p:cxnSp>
      <p:cxnSp>
        <p:nvCxnSpPr>
          <p:cNvPr id="60" name="Connector 59"/>
          <p:cNvCxnSpPr/>
          <p:nvPr/>
        </p:nvCxnSpPr>
        <p:spPr>
          <a:xfrm>
            <a:off x="8601303" y="1472184"/>
            <a:ext cx="0" cy="384048"/>
          </a:xfrm>
          <a:prstGeom prst="line">
            <a:avLst/>
          </a:prstGeom>
          <a:ln w="15875">
            <a:solidFill>
              <a:srgbClr val="D2690C"/>
            </a:solidFill>
            <a:tailEnd type="triangle" w="med" len="med"/>
          </a:ln>
        </p:spPr>
      </p:cxnSp>
      <p:sp>
        <p:nvSpPr>
          <p:cNvPr id="61" name="Rounded Rectangle 60"/>
          <p:cNvSpPr/>
          <p:nvPr/>
        </p:nvSpPr>
        <p:spPr>
          <a:xfrm>
            <a:off x="7183983" y="1563623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2570A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算子优化请求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53831" y="1563623"/>
            <a:ext cx="69494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2570A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优化结果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811615" y="2825496"/>
            <a:ext cx="0" cy="329184"/>
          </a:xfrm>
          <a:prstGeom prst="line">
            <a:avLst/>
          </a:prstGeom>
          <a:ln w="19050">
            <a:solidFill>
              <a:srgbClr val="D2690C"/>
            </a:solidFill>
            <a:tailEnd type="triangle" w="med" len="med"/>
          </a:ln>
        </p:spPr>
      </p:cxnSp>
      <p:sp>
        <p:nvSpPr>
          <p:cNvPr id="64" name="Rounded Rectangle 63"/>
          <p:cNvSpPr/>
          <p:nvPr/>
        </p:nvSpPr>
        <p:spPr>
          <a:xfrm>
            <a:off x="8354415" y="2889504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2570A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修改代码片段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811615" y="3922776"/>
            <a:ext cx="0" cy="237744"/>
          </a:xfrm>
          <a:prstGeom prst="line">
            <a:avLst/>
          </a:prstGeom>
          <a:ln w="19050">
            <a:solidFill>
              <a:srgbClr val="0F62CE"/>
            </a:solidFill>
            <a:tailEnd type="triangle" w="med" len="med"/>
          </a:ln>
        </p:spPr>
      </p:cxnSp>
      <p:cxnSp>
        <p:nvCxnSpPr>
          <p:cNvPr id="66" name="Connector 65"/>
          <p:cNvCxnSpPr/>
          <p:nvPr/>
        </p:nvCxnSpPr>
        <p:spPr>
          <a:xfrm>
            <a:off x="8811615" y="5001768"/>
            <a:ext cx="0" cy="219456"/>
          </a:xfrm>
          <a:prstGeom prst="line">
            <a:avLst/>
          </a:prstGeom>
          <a:ln w="19050">
            <a:solidFill>
              <a:srgbClr val="0F62CE"/>
            </a:solidFill>
            <a:tailEnd type="triangle" w="med" len="med"/>
          </a:ln>
        </p:spPr>
      </p:cxnSp>
      <p:sp>
        <p:nvSpPr>
          <p:cNvPr id="67" name="Freeform 66"/>
          <p:cNvSpPr/>
          <p:nvPr/>
        </p:nvSpPr>
        <p:spPr>
          <a:xfrm>
            <a:off x="5769864" y="4663440"/>
            <a:ext cx="347472" cy="1014984"/>
          </a:xfrm>
          <a:custGeom>
            <a:avLst/>
            <a:gdLst/>
            <a:ahLst/>
            <a:cxnLst/>
            <a:rect l="l" t="t" r="r" b="b"/>
            <a:pathLst>
              <a:path w="347472" h="1014984">
                <a:moveTo>
                  <a:pt x="347472" y="1014984"/>
                </a:moveTo>
                <a:lnTo>
                  <a:pt x="173736" y="1014984"/>
                </a:lnTo>
                <a:lnTo>
                  <a:pt x="173736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40708B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687568" y="5070347"/>
            <a:ext cx="5120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0708B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判决</a:t>
            </a:r>
          </a:p>
        </p:txBody>
      </p:sp>
      <p:sp>
        <p:nvSpPr>
          <p:cNvPr id="69" name="Freeform 68"/>
          <p:cNvSpPr/>
          <p:nvPr/>
        </p:nvSpPr>
        <p:spPr>
          <a:xfrm>
            <a:off x="2157984" y="2642616"/>
            <a:ext cx="2249424" cy="1609343"/>
          </a:xfrm>
          <a:custGeom>
            <a:avLst/>
            <a:gdLst/>
            <a:ahLst/>
            <a:cxnLst/>
            <a:rect l="l" t="t" r="r" b="b"/>
            <a:pathLst>
              <a:path w="2249424" h="1609343">
                <a:moveTo>
                  <a:pt x="0" y="1609343"/>
                </a:moveTo>
                <a:lnTo>
                  <a:pt x="0" y="137160"/>
                </a:lnTo>
                <a:lnTo>
                  <a:pt x="2249424" y="137160"/>
                </a:lnTo>
                <a:lnTo>
                  <a:pt x="2249424" y="0"/>
                </a:lnTo>
              </a:path>
            </a:pathLst>
          </a:custGeom>
          <a:noFill/>
          <a:ln w="19050">
            <a:solidFill>
              <a:srgbClr val="17795F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953512" y="2679192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795F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迭代循环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