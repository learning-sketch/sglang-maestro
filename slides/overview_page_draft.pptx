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64008" cy="3474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173736"/>
            <a:ext cx="73152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Agent：总体方案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786384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两个 Agent，同一套骨架：模型负责生成方案，判决交给不含模型的固定规则与真机实测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2023" y="804672"/>
            <a:ext cx="109728" cy="109728"/>
          </a:xfrm>
          <a:prstGeom prst="rect">
            <a:avLst/>
          </a:prstGeom>
          <a:solidFill>
            <a:srgbClr val="354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34903" y="731520"/>
            <a:ext cx="72644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纯规则判决</a:t>
            </a:r>
          </a:p>
        </p:txBody>
      </p:sp>
      <p:sp>
        <p:nvSpPr>
          <p:cNvPr id="7" name="Rectangle 6"/>
          <p:cNvSpPr/>
          <p:nvPr/>
        </p:nvSpPr>
        <p:spPr>
          <a:xfrm>
            <a:off x="9659823" y="804672"/>
            <a:ext cx="109728" cy="10972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42703" y="731520"/>
            <a:ext cx="72644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有模型参与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33856"/>
            <a:ext cx="11094415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33856"/>
            <a:ext cx="11094415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07008"/>
            <a:ext cx="1072865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model-agent</a:t>
            </a: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模型层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已接入模型在真实服务下的端到端吞吐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10512"/>
            <a:ext cx="1417320" cy="841248"/>
          </a:xfrm>
          <a:prstGeom prst="rect">
            <a:avLst/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47088"/>
            <a:ext cx="1161288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定目标与边界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810512"/>
            <a:ext cx="3154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1810512"/>
            <a:ext cx="54864" cy="84124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847088"/>
            <a:ext cx="2862072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 生成方案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提假设、改代码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810512"/>
            <a:ext cx="37033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810512"/>
            <a:ext cx="54864" cy="841248"/>
          </a:xfrm>
          <a:prstGeom prst="rect">
            <a:avLst/>
          </a:prstGeom>
          <a:solidFill>
            <a:srgbClr val="354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47088"/>
            <a:ext cx="3410712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规则验收 + 真机实测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整模型端到端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真实服务 + 固定评测集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810512"/>
            <a:ext cx="1371600" cy="841248"/>
          </a:xfrm>
          <a:prstGeom prst="rect">
            <a:avLst/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32136" y="1847088"/>
            <a:ext cx="1115568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判断交付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48840" y="2231136"/>
            <a:ext cx="36576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>
            <a:off x="5669280" y="2231136"/>
            <a:ext cx="36576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9738359" y="2231136"/>
            <a:ext cx="365761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sp>
        <p:nvSpPr>
          <p:cNvPr id="25" name="Freeform 24"/>
          <p:cNvSpPr/>
          <p:nvPr/>
        </p:nvSpPr>
        <p:spPr>
          <a:xfrm>
            <a:off x="4091939" y="1627632"/>
            <a:ext cx="3794761" cy="182880"/>
          </a:xfrm>
          <a:custGeom>
            <a:avLst/>
            <a:gdLst/>
            <a:ahLst/>
            <a:cxnLst/>
            <a:rect l="l" t="t" r="r" b="b"/>
            <a:pathLst>
              <a:path w="3794761" h="182880">
                <a:moveTo>
                  <a:pt x="3794761" y="182880"/>
                </a:moveTo>
                <a:lnTo>
                  <a:pt x="3794761" y="0"/>
                </a:lnTo>
                <a:lnTo>
                  <a:pt x="0" y="0"/>
                </a:lnTo>
                <a:lnTo>
                  <a:pt x="0" y="182880"/>
                </a:lnTo>
              </a:path>
            </a:pathLst>
          </a:custGeom>
          <a:noFill/>
          <a:ln w="15875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1499616"/>
            <a:ext cx="2743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1499616"/>
            <a:ext cx="27432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不过即淘汰，带着原因退回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9464" y="2706624"/>
            <a:ext cx="4572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后面展开　</a:t>
            </a: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人与 Agent 的分工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3" y="2706624"/>
            <a:ext cx="4572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后面展开　</a:t>
            </a: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八步运行机制与三道门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06624"/>
            <a:ext cx="3200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案例　</a:t>
            </a:r>
            <a:r>
              <a:rPr sz="9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Qwen3-VL-30B-A3B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1094415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931920"/>
            <a:ext cx="11094415" cy="45720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05072"/>
            <a:ext cx="1072865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xpugen</a:t>
            </a: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算子层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面向 M100 自动生成算子实现并调优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608576"/>
            <a:ext cx="1417320" cy="841248"/>
          </a:xfrm>
          <a:prstGeom prst="rect">
            <a:avLst/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4645152"/>
            <a:ext cx="1161288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输入规格与约束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4608576"/>
            <a:ext cx="3154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600" y="4608576"/>
            <a:ext cx="54864" cy="84124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645152"/>
            <a:ext cx="2862072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 写算子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全流程唯一的模型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608576"/>
            <a:ext cx="37033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4608576"/>
            <a:ext cx="54864" cy="841248"/>
          </a:xfrm>
          <a:prstGeom prst="rect">
            <a:avLst/>
          </a:prstGeom>
          <a:solidFill>
            <a:srgbClr val="354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645152"/>
            <a:ext cx="3410712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Harness 判算子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规则驱动、无模型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单算子、多 Shape，与 Golden 对齐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4608576"/>
            <a:ext cx="1371600" cy="841248"/>
          </a:xfrm>
          <a:prstGeom prst="rect">
            <a:avLst/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32136" y="4645152"/>
            <a:ext cx="1115568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交付实现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48840" y="5029200"/>
            <a:ext cx="36576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cxnSp>
        <p:nvCxnSpPr>
          <p:cNvPr id="45" name="Connector 44"/>
          <p:cNvCxnSpPr/>
          <p:nvPr/>
        </p:nvCxnSpPr>
        <p:spPr>
          <a:xfrm>
            <a:off x="5669280" y="5029200"/>
            <a:ext cx="36576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>
            <a:off x="9738359" y="5029200"/>
            <a:ext cx="365761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sp>
        <p:nvSpPr>
          <p:cNvPr id="47" name="Freeform 46"/>
          <p:cNvSpPr/>
          <p:nvPr/>
        </p:nvSpPr>
        <p:spPr>
          <a:xfrm>
            <a:off x="4091939" y="4425696"/>
            <a:ext cx="3794761" cy="182880"/>
          </a:xfrm>
          <a:custGeom>
            <a:avLst/>
            <a:gdLst/>
            <a:ahLst/>
            <a:cxnLst/>
            <a:rect l="l" t="t" r="r" b="b"/>
            <a:pathLst>
              <a:path w="3794761" h="182880">
                <a:moveTo>
                  <a:pt x="3794761" y="182880"/>
                </a:moveTo>
                <a:lnTo>
                  <a:pt x="3794761" y="0"/>
                </a:lnTo>
                <a:lnTo>
                  <a:pt x="0" y="0"/>
                </a:lnTo>
                <a:lnTo>
                  <a:pt x="0" y="182880"/>
                </a:lnTo>
              </a:path>
            </a:pathLst>
          </a:custGeom>
          <a:noFill/>
          <a:ln w="15875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17720" y="4297680"/>
            <a:ext cx="2743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297680"/>
            <a:ext cx="27432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不过即淘汰，带着证据退回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9903" y="5504688"/>
            <a:ext cx="4572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后面展开　</a:t>
            </a:r>
            <a:r>
              <a:rPr sz="9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L0 编译运行 · L1 与 Golden 对齐 · Bench 真机计时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5504688"/>
            <a:ext cx="3200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案例　</a:t>
            </a:r>
            <a:r>
              <a:rPr sz="9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batch_norm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236976"/>
            <a:ext cx="11094415" cy="585216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60120" y="3364992"/>
            <a:ext cx="0" cy="329184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1161288" y="3236976"/>
            <a:ext cx="4846320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模型层 → 算子层　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Trace 定位的瓶颈算子，转成带输入规格的算子请求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6355080" y="3364992"/>
            <a:ext cx="0" cy="329184"/>
          </a:xfrm>
          <a:prstGeom prst="line">
            <a:avLst/>
          </a:prstGeom>
          <a:ln w="19050">
            <a:solidFill>
              <a:srgbClr val="C0612C"/>
            </a:solidFill>
            <a:tailEnd type="triangle" w="med" len="med"/>
          </a:ln>
        </p:spPr>
      </p:cxnSp>
      <p:sp>
        <p:nvSpPr>
          <p:cNvPr id="56" name="TextBox 55"/>
          <p:cNvSpPr txBox="1"/>
          <p:nvPr/>
        </p:nvSpPr>
        <p:spPr>
          <a:xfrm>
            <a:off x="6556248" y="3236976"/>
            <a:ext cx="4846320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算子层 → 模型层　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新内核合入候选分支，重新走一遍模型层的判决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053328"/>
            <a:ext cx="11094415" cy="53035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6053328"/>
            <a:ext cx="64008" cy="53035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" y="6089904"/>
            <a:ext cx="10454335" cy="45719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关键　</a:t>
            </a: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两层唯一的区别，是判决在什么粒度上做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 bench 只证明局部更快；能不能交付，由整模型复验决定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