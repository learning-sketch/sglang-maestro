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【附页 · xpugen · 约 70 秒（1:10）】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这一页是另一个仓库 xpugen：给国产 GPU 写算子的 Agent。它生成的是 M100 的 SDNN4 内核，不是 CUDA；CUDA、Triton、torch 只当算法参考和基线。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左边这个圈就是它一轮迭代。入口有两条：从一句需求开始，或者从现有实现反推出规格，第 0 轮直接拿现有实现当基线，后面在它上面改。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转一圈是这样：LLM 照硬件说明卡写内核，编译跑起来，多种形状和精度逐一和 golden 对数值，再测延迟、跟理论上限比，最后把打分和慢在哪带进下一轮。最多八轮。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右边是效果。（按实测数字讲：已经有多少个算子达标、平均几轮、相对原来的实现快多少、离理论上限还差多少。口径都是真机、生产形状上的实测。）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被问到再说 ——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换芯片要改什么：生成和评测这套流程完全不碰硬件，只认四个接口——编译、运行、采性能、算理论上限。每款芯片照这四个接口写一个后端、再填一张硬件说明卡，主流程一行不改。现在没有硬件也能在 CPU 上跑通整条闭环，M100 真机已接，P800 还没接。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数字凭什么信：精度参考只用 CPU 实现，绝不拿 CUDA 当标准，精度不过关就不看性能；模拟器只用来看清改动动了哪一块，收益一律以真机实测为准，两边对不上听真机的。而且每轮改了什么、前后数据、结论都必须落盘，写不进去这一轮就算失败。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8229600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C0612C"/>
                </a:solidFill>
                <a:latin typeface="Consolas"/>
                <a:ea typeface="Microsoft YaHei"/>
                <a:cs typeface="Microsoft YaHei"/>
              </a:rPr>
              <a:t>XPUGEN · 国产 GPU 算子生成 AGENT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31520"/>
            <a:ext cx="11094415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xpugen：给国产 GPU 写算子的 Agent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61872"/>
            <a:ext cx="11094415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生成的是 M100 的 SDNN4 .xpu 内核，不是 CUDA；CUDA / Triton / torch 只作算法参考与基线对照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82496"/>
            <a:ext cx="7406640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C0612C"/>
                </a:solidFill>
                <a:latin typeface="Consolas"/>
                <a:ea typeface="Microsoft YaHei"/>
                <a:cs typeface="Microsoft YaHei"/>
              </a:rPr>
              <a:t>入口　</a:t>
            </a:r>
            <a:r>
              <a:rPr sz="10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一句需求，或现有实现当基线</a:t>
            </a:r>
          </a:p>
        </p:txBody>
      </p:sp>
      <p:sp>
        <p:nvSpPr>
          <p:cNvPr id="6" name="Oval 5"/>
          <p:cNvSpPr/>
          <p:nvPr/>
        </p:nvSpPr>
        <p:spPr>
          <a:xfrm>
            <a:off x="3419856" y="3374136"/>
            <a:ext cx="1572768" cy="1572768"/>
          </a:xfrm>
          <a:prstGeom prst="ellipse">
            <a:avLst/>
          </a:prstGeom>
          <a:solidFill>
            <a:srgbClr val="F8EA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419856" y="3374136"/>
            <a:ext cx="1572768" cy="15727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C0612C"/>
                </a:solidFill>
                <a:latin typeface="Microsoft YaHei"/>
                <a:ea typeface="Microsoft YaHei"/>
                <a:cs typeface="Microsoft YaHei"/>
              </a:rPr>
              <a:t>算子级闭环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一个算子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最多 8 轮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37559" y="2066543"/>
            <a:ext cx="1737360" cy="676656"/>
          </a:xfrm>
          <a:prstGeom prst="roundRect">
            <a:avLst>
              <a:gd name="adj" fmla="val 35000"/>
            </a:avLst>
          </a:prstGeom>
          <a:solidFill>
            <a:srgbClr val="FFFFFF"/>
          </a:solidFill>
          <a:ln w="15875">
            <a:solidFill>
              <a:srgbClr val="C0612C"/>
            </a:solidFill>
          </a:ln>
        </p:spPr>
        <p:txBody>
          <a:bodyPr rtlCol="0" anchor="ctr" wrap="square" lIns="45720" tIns="18288" rIns="45720" bIns="18288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C0612C"/>
                </a:solidFill>
                <a:latin typeface="Arial"/>
                <a:ea typeface="Microsoft YaHei"/>
                <a:cs typeface="Microsoft YaHei"/>
              </a:rPr>
              <a:t>1 </a:t>
            </a:r>
            <a:r>
              <a:rPr sz="12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生成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照硬件说明卡写内核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33462" y="3279666"/>
            <a:ext cx="1737360" cy="676656"/>
          </a:xfrm>
          <a:prstGeom prst="roundRect">
            <a:avLst>
              <a:gd name="adj" fmla="val 35000"/>
            </a:avLst>
          </a:prstGeom>
          <a:solidFill>
            <a:srgbClr val="FFFFFF"/>
          </a:solidFill>
          <a:ln w="15875">
            <a:solidFill>
              <a:srgbClr val="C0612C"/>
            </a:solidFill>
          </a:ln>
        </p:spPr>
        <p:txBody>
          <a:bodyPr rtlCol="0" anchor="ctr" wrap="square" lIns="45720" tIns="18288" rIns="45720" bIns="18288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C0612C"/>
                </a:solidFill>
                <a:latin typeface="Arial"/>
                <a:ea typeface="Microsoft YaHei"/>
                <a:cs typeface="Microsoft YaHei"/>
              </a:rPr>
              <a:t>2 </a:t>
            </a:r>
            <a:r>
              <a:rPr sz="12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编译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编译并拉起程序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03719" y="5242541"/>
            <a:ext cx="1737360" cy="676656"/>
          </a:xfrm>
          <a:prstGeom prst="roundRect">
            <a:avLst>
              <a:gd name="adj" fmla="val 35000"/>
            </a:avLst>
          </a:prstGeom>
          <a:solidFill>
            <a:srgbClr val="FFFFFF"/>
          </a:solidFill>
          <a:ln w="15875">
            <a:solidFill>
              <a:srgbClr val="C0612C"/>
            </a:solidFill>
          </a:ln>
        </p:spPr>
        <p:txBody>
          <a:bodyPr rtlCol="0" anchor="ctr" wrap="square" lIns="45720" tIns="18288" rIns="45720" bIns="18288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C0612C"/>
                </a:solidFill>
                <a:latin typeface="Arial"/>
                <a:ea typeface="Microsoft YaHei"/>
                <a:cs typeface="Microsoft YaHei"/>
              </a:rPr>
              <a:t>3 </a:t>
            </a:r>
            <a:r>
              <a:rPr sz="12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对数值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多形状多精度对 golden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71400" y="5242541"/>
            <a:ext cx="1737360" cy="676656"/>
          </a:xfrm>
          <a:prstGeom prst="roundRect">
            <a:avLst>
              <a:gd name="adj" fmla="val 35000"/>
            </a:avLst>
          </a:prstGeom>
          <a:solidFill>
            <a:srgbClr val="FFFFFF"/>
          </a:solidFill>
          <a:ln w="15875">
            <a:solidFill>
              <a:srgbClr val="C0612C"/>
            </a:solidFill>
          </a:ln>
        </p:spPr>
        <p:txBody>
          <a:bodyPr rtlCol="0" anchor="ctr" wrap="square" lIns="45720" tIns="18288" rIns="45720" bIns="18288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C0612C"/>
                </a:solidFill>
                <a:latin typeface="Arial"/>
                <a:ea typeface="Microsoft YaHei"/>
                <a:cs typeface="Microsoft YaHei"/>
              </a:rPr>
              <a:t>4 </a:t>
            </a:r>
            <a:r>
              <a:rPr sz="12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测性能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中位延迟 · 比理论上限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1657" y="3279666"/>
            <a:ext cx="1737360" cy="676656"/>
          </a:xfrm>
          <a:prstGeom prst="roundRect">
            <a:avLst>
              <a:gd name="adj" fmla="val 35000"/>
            </a:avLst>
          </a:prstGeom>
          <a:solidFill>
            <a:srgbClr val="FFFFFF"/>
          </a:solidFill>
          <a:ln w="15875">
            <a:solidFill>
              <a:srgbClr val="C0612C"/>
            </a:solidFill>
          </a:ln>
        </p:spPr>
        <p:txBody>
          <a:bodyPr rtlCol="0" anchor="ctr" wrap="square" lIns="45720" tIns="18288" rIns="45720" bIns="18288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C0612C"/>
                </a:solidFill>
                <a:latin typeface="Arial"/>
                <a:ea typeface="Microsoft YaHei"/>
                <a:cs typeface="Microsoft YaHei"/>
              </a:rPr>
              <a:t>5 </a:t>
            </a:r>
            <a:r>
              <a:rPr sz="12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给反馈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打分 · 指出慢在哪</a:t>
            </a:r>
          </a:p>
        </p:txBody>
      </p:sp>
      <p:sp>
        <p:nvSpPr>
          <p:cNvPr id="13" name="Arc 12"/>
          <p:cNvSpPr/>
          <p:nvPr/>
        </p:nvSpPr>
        <p:spPr>
          <a:xfrm>
            <a:off x="1371599" y="2404872"/>
            <a:ext cx="5669280" cy="3511296"/>
          </a:xfrm>
          <a:prstGeom prst="arc">
            <a:avLst>
              <a:gd name="adj1" fmla="val 18010129"/>
              <a:gd name="adj2" fmla="val 20263467"/>
            </a:avLst>
          </a:prstGeom>
          <a:noFill/>
          <a:ln w="19050">
            <a:solidFill>
              <a:srgbClr val="C0612C"/>
            </a:solidFill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Arc 13"/>
          <p:cNvSpPr/>
          <p:nvPr/>
        </p:nvSpPr>
        <p:spPr>
          <a:xfrm>
            <a:off x="1371599" y="2404872"/>
            <a:ext cx="5669280" cy="3511296"/>
          </a:xfrm>
          <a:prstGeom prst="arc">
            <a:avLst>
              <a:gd name="adj1" fmla="val 21452696"/>
              <a:gd name="adj2" fmla="val 1386262"/>
            </a:avLst>
          </a:prstGeom>
          <a:noFill/>
          <a:ln w="19050">
            <a:solidFill>
              <a:srgbClr val="C0612C"/>
            </a:solidFill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Arc 14"/>
          <p:cNvSpPr/>
          <p:nvPr/>
        </p:nvSpPr>
        <p:spPr>
          <a:xfrm>
            <a:off x="1371599" y="2404872"/>
            <a:ext cx="5669280" cy="3511296"/>
          </a:xfrm>
          <a:prstGeom prst="arc">
            <a:avLst>
              <a:gd name="adj1" fmla="val 4048999"/>
              <a:gd name="adj2" fmla="val 6751000"/>
            </a:avLst>
          </a:prstGeom>
          <a:noFill/>
          <a:ln w="19050">
            <a:solidFill>
              <a:srgbClr val="C0612C"/>
            </a:solidFill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Arc 15"/>
          <p:cNvSpPr/>
          <p:nvPr/>
        </p:nvSpPr>
        <p:spPr>
          <a:xfrm>
            <a:off x="1371599" y="2404872"/>
            <a:ext cx="5669280" cy="3511296"/>
          </a:xfrm>
          <a:prstGeom prst="arc">
            <a:avLst>
              <a:gd name="adj1" fmla="val 9413737"/>
              <a:gd name="adj2" fmla="val 10947303"/>
            </a:avLst>
          </a:prstGeom>
          <a:noFill/>
          <a:ln w="19050">
            <a:solidFill>
              <a:srgbClr val="C0612C"/>
            </a:solidFill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Arc 16"/>
          <p:cNvSpPr/>
          <p:nvPr/>
        </p:nvSpPr>
        <p:spPr>
          <a:xfrm>
            <a:off x="1371599" y="2404872"/>
            <a:ext cx="5669280" cy="3511296"/>
          </a:xfrm>
          <a:prstGeom prst="arc">
            <a:avLst>
              <a:gd name="adj1" fmla="val 12136532"/>
              <a:gd name="adj2" fmla="val 14389870"/>
            </a:avLst>
          </a:prstGeom>
          <a:noFill/>
          <a:ln w="19050">
            <a:solidFill>
              <a:srgbClr val="C0612C"/>
            </a:solidFill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321040" y="2066543"/>
            <a:ext cx="3322015" cy="3849624"/>
          </a:xfrm>
          <a:prstGeom prst="rect">
            <a:avLst/>
          </a:prstGeom>
          <a:solidFill>
            <a:srgbClr val="F8EA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58784" y="2212848"/>
            <a:ext cx="2864815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效果</a:t>
            </a:r>
            <a:r>
              <a:rPr sz="1050" b="0">
                <a:solidFill>
                  <a:srgbClr val="8C96A1"/>
                </a:solidFill>
                <a:latin typeface="Microsoft YaHei"/>
                <a:ea typeface="Microsoft YaHei"/>
                <a:cs typeface="Microsoft YaHei"/>
              </a:rPr>
              <a:t>　数字待补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558784" y="2743200"/>
            <a:ext cx="2846527" cy="582930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23376" y="2743200"/>
            <a:ext cx="1913839" cy="58293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已达标算子数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472623" y="2852928"/>
            <a:ext cx="768096" cy="363474"/>
          </a:xfrm>
          <a:prstGeom prst="roundRect">
            <a:avLst>
              <a:gd name="adj" fmla="val 30000"/>
            </a:avLst>
          </a:prstGeom>
          <a:solidFill>
            <a:srgbClr val="EEF1F4"/>
          </a:solidFill>
          <a:ln>
            <a:noFill/>
          </a:ln>
        </p:spPr>
        <p:txBody>
          <a:bodyPr rtlCol="0" anchor="ctr" wrap="square" tIns="36576" bIns="36576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8C96A1"/>
                </a:solidFill>
                <a:latin typeface="Arial"/>
                <a:ea typeface="Microsoft YaHei"/>
                <a:cs typeface="Microsoft YaHei"/>
              </a:rPr>
              <a:t>—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558784" y="3435858"/>
            <a:ext cx="2846527" cy="582930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723376" y="3435858"/>
            <a:ext cx="1913839" cy="58293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平均达标轮数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472623" y="3545586"/>
            <a:ext cx="768096" cy="363474"/>
          </a:xfrm>
          <a:prstGeom prst="roundRect">
            <a:avLst>
              <a:gd name="adj" fmla="val 30000"/>
            </a:avLst>
          </a:prstGeom>
          <a:solidFill>
            <a:srgbClr val="EEF1F4"/>
          </a:solidFill>
          <a:ln>
            <a:noFill/>
          </a:ln>
        </p:spPr>
        <p:txBody>
          <a:bodyPr rtlCol="0" anchor="ctr" wrap="square" tIns="36576" bIns="36576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8C96A1"/>
                </a:solidFill>
                <a:latin typeface="Arial"/>
                <a:ea typeface="Microsoft YaHei"/>
                <a:cs typeface="Microsoft YaHei"/>
              </a:rPr>
              <a:t>—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558784" y="4128516"/>
            <a:ext cx="2846527" cy="582930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723376" y="4128516"/>
            <a:ext cx="1913839" cy="58293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相对基线加速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472623" y="4238244"/>
            <a:ext cx="768096" cy="363474"/>
          </a:xfrm>
          <a:prstGeom prst="roundRect">
            <a:avLst>
              <a:gd name="adj" fmla="val 30000"/>
            </a:avLst>
          </a:prstGeom>
          <a:solidFill>
            <a:srgbClr val="EEF1F4"/>
          </a:solidFill>
          <a:ln>
            <a:noFill/>
          </a:ln>
        </p:spPr>
        <p:txBody>
          <a:bodyPr rtlCol="0" anchor="ctr" wrap="square" tIns="36576" bIns="36576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8C96A1"/>
                </a:solidFill>
                <a:latin typeface="Arial"/>
                <a:ea typeface="Microsoft YaHei"/>
                <a:cs typeface="Microsoft YaHei"/>
              </a:rPr>
              <a:t>—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558784" y="4821174"/>
            <a:ext cx="2846527" cy="582930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723376" y="4821174"/>
            <a:ext cx="1913839" cy="58293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理论上限达成率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472623" y="4930902"/>
            <a:ext cx="768096" cy="363474"/>
          </a:xfrm>
          <a:prstGeom prst="roundRect">
            <a:avLst>
              <a:gd name="adj" fmla="val 30000"/>
            </a:avLst>
          </a:prstGeom>
          <a:solidFill>
            <a:srgbClr val="EEF1F4"/>
          </a:solidFill>
          <a:ln>
            <a:noFill/>
          </a:ln>
        </p:spPr>
        <p:txBody>
          <a:bodyPr rtlCol="0" anchor="ctr" wrap="square" tIns="36576" bIns="36576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8C96A1"/>
                </a:solidFill>
                <a:latin typeface="Arial"/>
                <a:ea typeface="Microsoft YaHei"/>
                <a:cs typeface="Microsoft YaHei"/>
              </a:rPr>
              <a:t>—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558784" y="5532120"/>
            <a:ext cx="2846527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口径：真机、生产形状上的实测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6382512"/>
            <a:ext cx="9905695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依据 xpugen 仓库整理：README · CONTEXT.md · docs/architecture.md · backend/base.py · agent/loop.py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728655" y="6382512"/>
            <a:ext cx="91440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Consolas"/>
                <a:ea typeface="Microsoft YaHei"/>
                <a:cs typeface="Microsoft YaHei"/>
              </a:rPr>
              <a:t>附页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