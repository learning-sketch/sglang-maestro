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384048"/>
            <a:ext cx="68580" cy="38404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10896"/>
            <a:ext cx="9372600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Coding Agent 框架的改进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9592056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从一个能跑通的 workflow 原型，走向能自己量化、自己迭代的 Agent Harness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4334256" cy="4133087"/>
          </a:xfrm>
          <a:prstGeom prst="rect">
            <a:avLst/>
          </a:prstGeom>
          <a:solidFill>
            <a:srgbClr val="FFFFFF"/>
          </a:solidFill>
          <a:ln w="9525">
            <a:solidFill>
              <a:srgbClr val="AFCE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54864" cy="237744"/>
          </a:xfrm>
          <a:prstGeom prst="rect">
            <a:avLst/>
          </a:prstGeom>
          <a:solidFill>
            <a:srgbClr val="B438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280160"/>
            <a:ext cx="3913632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554480"/>
            <a:ext cx="3913632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·　</a:t>
            </a: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代码改得好不好，现在只能人来判断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·　</a:t>
            </a: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人不在场就停住，Agent 无从自我进化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33472"/>
            <a:ext cx="54864" cy="237744"/>
          </a:xfrm>
          <a:prstGeom prst="rect">
            <a:avLst/>
          </a:prstGeom>
          <a:solidFill>
            <a:srgbClr val="4070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615184"/>
            <a:ext cx="3913632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判准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889503"/>
            <a:ext cx="3913632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·　</a:t>
            </a: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先把「好」写成可判定的：明确输入 + 成功标准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·　</a:t>
            </a: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长程任务看过程：多步拆解、调工具、改策略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005072"/>
            <a:ext cx="54864" cy="23774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986784"/>
            <a:ext cx="3913632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解法：以 Task 为单位的测评体系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" y="4334256"/>
            <a:ext cx="1389888" cy="402336"/>
          </a:xfrm>
          <a:prstGeom prst="roundRect">
            <a:avLst>
              <a:gd name="adj" fmla="val 8000"/>
            </a:avLst>
          </a:prstGeom>
          <a:solidFill>
            <a:srgbClr val="F2F8FD"/>
          </a:solidFill>
          <a:ln w="9525">
            <a:solidFill>
              <a:srgbClr val="AFCEE1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Query → Answer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79" y="4334256"/>
            <a:ext cx="2212848" cy="402336"/>
          </a:xfrm>
          <a:prstGeom prst="roundRect">
            <a:avLst>
              <a:gd name="adj" fmla="val 8000"/>
            </a:avLst>
          </a:prstGeom>
          <a:solidFill>
            <a:srgbClr val="0F62CE"/>
          </a:solidFill>
          <a:ln>
            <a:noFill/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Prompt → Expected Behavior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4560" y="4535424"/>
            <a:ext cx="237743" cy="0"/>
          </a:xfrm>
          <a:prstGeom prst="line">
            <a:avLst/>
          </a:prstGeom>
          <a:ln w="22225">
            <a:solidFill>
              <a:srgbClr val="0F62CE"/>
            </a:solidFill>
            <a:tailEnd type="triangle" w="med" len="med"/>
          </a:ln>
        </p:spPr>
      </p:cxnSp>
      <p:sp>
        <p:nvSpPr>
          <p:cNvPr id="18" name="TextBox 17"/>
          <p:cNvSpPr txBox="1"/>
          <p:nvPr/>
        </p:nvSpPr>
        <p:spPr>
          <a:xfrm>
            <a:off x="768096" y="4846320"/>
            <a:ext cx="3913632" cy="51206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·　</a:t>
            </a: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一个 Task = 一个有明确输入与成功标准的单测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·　</a:t>
            </a: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统一 case / 环境 / 策略，全链路可回放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1115568"/>
            <a:ext cx="6522415" cy="4133087"/>
          </a:xfrm>
          <a:prstGeom prst="rect">
            <a:avLst/>
          </a:prstGeom>
          <a:solidFill>
            <a:srgbClr val="FFFFFF"/>
          </a:solidFill>
          <a:ln w="9525">
            <a:solidFill>
              <a:srgbClr val="AFCE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03520" y="1298448"/>
            <a:ext cx="2651760" cy="512064"/>
          </a:xfrm>
          <a:prstGeom prst="roundRect">
            <a:avLst>
              <a:gd name="adj" fmla="val 14285"/>
            </a:avLst>
          </a:prstGeom>
          <a:solidFill>
            <a:srgbClr val="0F62CE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模型层 Agent Harness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08415" y="1298448"/>
            <a:ext cx="2651760" cy="512064"/>
          </a:xfrm>
          <a:prstGeom prst="roundRect">
            <a:avLst>
              <a:gd name="adj" fmla="val 14285"/>
            </a:avLst>
          </a:prstGeom>
          <a:solidFill>
            <a:srgbClr val="0F62CE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算子层 Agent Harness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6629400" y="1837943"/>
            <a:ext cx="0" cy="420625"/>
          </a:xfrm>
          <a:prstGeom prst="line">
            <a:avLst/>
          </a:prstGeom>
          <a:ln w="19050">
            <a:solidFill>
              <a:srgbClr val="0F62CE"/>
            </a:solidFill>
            <a:tailEnd type="triangle" w="med" len="med"/>
          </a:ln>
        </p:spPr>
      </p:cxnSp>
      <p:cxnSp>
        <p:nvCxnSpPr>
          <p:cNvPr id="23" name="Connector 22"/>
          <p:cNvCxnSpPr/>
          <p:nvPr/>
        </p:nvCxnSpPr>
        <p:spPr>
          <a:xfrm flipV="1">
            <a:off x="10134295" y="1837943"/>
            <a:ext cx="0" cy="420625"/>
          </a:xfrm>
          <a:prstGeom prst="line">
            <a:avLst/>
          </a:prstGeom>
          <a:ln w="19050">
            <a:solidFill>
              <a:srgbClr val="0F62CE"/>
            </a:solidFill>
            <a:tailEnd type="triangle" w="med" len="med"/>
          </a:ln>
        </p:spPr>
      </p:cxnSp>
      <p:sp>
        <p:nvSpPr>
          <p:cNvPr id="24" name="TextBox 23"/>
          <p:cNvSpPr txBox="1"/>
          <p:nvPr/>
        </p:nvSpPr>
        <p:spPr>
          <a:xfrm>
            <a:off x="5303520" y="1975104"/>
            <a:ext cx="219456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Evaluation harness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2286000"/>
            <a:ext cx="6156655" cy="1920240"/>
          </a:xfrm>
          <a:prstGeom prst="roundRect">
            <a:avLst>
              <a:gd name="adj" fmla="val 742"/>
            </a:avLst>
          </a:prstGeom>
          <a:solidFill>
            <a:srgbClr val="F2F8FD"/>
          </a:solidFill>
          <a:ln w="12700">
            <a:solidFill>
              <a:srgbClr val="AFCE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31536" y="2313432"/>
            <a:ext cx="18288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Evaluation suite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31536" y="2542032"/>
            <a:ext cx="4547311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0F62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0" y="2578608"/>
            <a:ext cx="4254703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Task</a:t>
            </a:r>
            <a:r>
              <a:rPr sz="9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　明确输入 + 成功标准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2907792"/>
            <a:ext cx="713232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判分器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27648" y="2907792"/>
            <a:ext cx="816787" cy="237744"/>
          </a:xfrm>
          <a:prstGeom prst="roundRect">
            <a:avLst>
              <a:gd name="adj" fmla="val 50000"/>
            </a:avLst>
          </a:prstGeom>
          <a:solidFill>
            <a:srgbClr val="E6F0FC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确定性测试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17587" y="2907792"/>
            <a:ext cx="816787" cy="237744"/>
          </a:xfrm>
          <a:prstGeom prst="roundRect">
            <a:avLst>
              <a:gd name="adj" fmla="val 50000"/>
            </a:avLst>
          </a:prstGeom>
          <a:solidFill>
            <a:srgbClr val="E6F0FC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规则打分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7527" y="2907792"/>
            <a:ext cx="816787" cy="237744"/>
          </a:xfrm>
          <a:prstGeom prst="roundRect">
            <a:avLst>
              <a:gd name="adj" fmla="val 50000"/>
            </a:avLst>
          </a:prstGeom>
          <a:solidFill>
            <a:srgbClr val="E6F0FC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状态校验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97467" y="2907792"/>
            <a:ext cx="816787" cy="237744"/>
          </a:xfrm>
          <a:prstGeom prst="roundRect">
            <a:avLst>
              <a:gd name="adj" fmla="val 50000"/>
            </a:avLst>
          </a:prstGeom>
          <a:solidFill>
            <a:srgbClr val="E6F0FC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3273552"/>
            <a:ext cx="713232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过程指标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27648" y="3273552"/>
            <a:ext cx="816787" cy="237744"/>
          </a:xfrm>
          <a:prstGeom prst="roundRect">
            <a:avLst>
              <a:gd name="adj" fmla="val 50000"/>
            </a:avLst>
          </a:prstGeom>
          <a:solidFill>
            <a:srgbClr val="DEEDF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轮数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17587" y="3273552"/>
            <a:ext cx="816787" cy="237744"/>
          </a:xfrm>
          <a:prstGeom prst="roundRect">
            <a:avLst>
              <a:gd name="adj" fmla="val 50000"/>
            </a:avLst>
          </a:prstGeom>
          <a:solidFill>
            <a:srgbClr val="DEEDF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工具调用数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07527" y="3273552"/>
            <a:ext cx="816787" cy="237744"/>
          </a:xfrm>
          <a:prstGeom prst="roundRect">
            <a:avLst>
              <a:gd name="adj" fmla="val 50000"/>
            </a:avLst>
          </a:prstGeom>
          <a:solidFill>
            <a:srgbClr val="DEEDF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tokens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7467" y="3273552"/>
            <a:ext cx="816787" cy="237744"/>
          </a:xfrm>
          <a:prstGeom prst="roundRect">
            <a:avLst>
              <a:gd name="adj" fmla="val 50000"/>
            </a:avLst>
          </a:prstGeom>
          <a:solidFill>
            <a:srgbClr val="DEEDF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时延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3639312"/>
            <a:ext cx="713232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7795F"/>
                </a:solidFill>
                <a:latin typeface="Microsoft YaHei"/>
                <a:ea typeface="Microsoft YaHei"/>
                <a:cs typeface="Microsoft YaHei"/>
              </a:rPr>
              <a:t>试验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27648" y="3621024"/>
            <a:ext cx="3486607" cy="310896"/>
          </a:xfrm>
          <a:prstGeom prst="roundRect">
            <a:avLst>
              <a:gd name="adj" fmla="val 6000"/>
            </a:avLst>
          </a:prstGeom>
          <a:solidFill>
            <a:srgbClr val="ECF7F2"/>
          </a:solidFill>
          <a:ln w="9525">
            <a:solidFill>
              <a:srgbClr val="17795F"/>
            </a:solidFill>
          </a:ln>
        </p:spPr>
        <p:txBody>
          <a:bodyPr rtlCol="0" anchor="ctr" wrap="square" tIns="0" rIns="54864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7795F"/>
                </a:solidFill>
                <a:latin typeface="Consolas"/>
                <a:ea typeface="Microsoft YaHei"/>
                <a:cs typeface="Microsoft YaHei"/>
              </a:rPr>
              <a:t>Trial #4</a:t>
            </a: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　轨迹：消息 · 工具调用 · 推理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88575" y="2542032"/>
            <a:ext cx="566928" cy="1536192"/>
          </a:xfrm>
          <a:prstGeom prst="roundRect">
            <a:avLst>
              <a:gd name="adj" fmla="val 9677"/>
            </a:avLst>
          </a:prstGeom>
          <a:solidFill>
            <a:srgbClr val="DEEDFA"/>
          </a:solidFill>
          <a:ln w="9525">
            <a:solidFill>
              <a:srgbClr val="AFCEE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88575" y="2596896"/>
            <a:ext cx="566928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Task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65231" y="2542032"/>
            <a:ext cx="566928" cy="1536192"/>
          </a:xfrm>
          <a:prstGeom prst="roundRect">
            <a:avLst>
              <a:gd name="adj" fmla="val 9677"/>
            </a:avLst>
          </a:prstGeom>
          <a:solidFill>
            <a:srgbClr val="DEEDFA"/>
          </a:solidFill>
          <a:ln w="9525">
            <a:solidFill>
              <a:srgbClr val="AFCEE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765231" y="2596896"/>
            <a:ext cx="566928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Task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381847" y="4233672"/>
            <a:ext cx="0" cy="274320"/>
          </a:xfrm>
          <a:prstGeom prst="line">
            <a:avLst/>
          </a:prstGeom>
          <a:ln w="19050">
            <a:solidFill>
              <a:srgbClr val="40708B"/>
            </a:solidFill>
            <a:tailEnd type="triangle" w="med" len="med"/>
          </a:ln>
        </p:spPr>
      </p:cxnSp>
      <p:sp>
        <p:nvSpPr>
          <p:cNvPr id="46" name="Rounded Rectangle 45"/>
          <p:cNvSpPr/>
          <p:nvPr/>
        </p:nvSpPr>
        <p:spPr>
          <a:xfrm>
            <a:off x="5303520" y="4535424"/>
            <a:ext cx="2666847" cy="512064"/>
          </a:xfrm>
          <a:prstGeom prst="roundRect">
            <a:avLst>
              <a:gd name="adj" fmla="val 14285"/>
            </a:avLst>
          </a:prstGeom>
          <a:solidFill>
            <a:srgbClr val="F2F8FD"/>
          </a:solidFill>
          <a:ln w="12700">
            <a:solidFill>
              <a:srgbClr val="AFCEE1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终态</a:t>
            </a: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　环境最终状态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93327" y="4535424"/>
            <a:ext cx="2666847" cy="512064"/>
          </a:xfrm>
          <a:prstGeom prst="roundRect">
            <a:avLst>
              <a:gd name="adj" fmla="val 14285"/>
            </a:avLst>
          </a:prstGeom>
          <a:solidFill>
            <a:srgbClr val="E6F0FC"/>
          </a:solidFill>
          <a:ln w="12700">
            <a:solidFill>
              <a:srgbClr val="0F62CE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判分</a:t>
            </a: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　轨迹 + 终态 → 分数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025231" y="4791456"/>
            <a:ext cx="713232" cy="0"/>
          </a:xfrm>
          <a:prstGeom prst="line">
            <a:avLst/>
          </a:prstGeom>
          <a:ln w="19050">
            <a:solidFill>
              <a:srgbClr val="40708B"/>
            </a:solidFill>
            <a:tailEnd type="triangle" w="med" len="med"/>
          </a:ln>
        </p:spPr>
      </p:cxnSp>
      <p:sp>
        <p:nvSpPr>
          <p:cNvPr id="49" name="Rectangle 48"/>
          <p:cNvSpPr/>
          <p:nvPr/>
        </p:nvSpPr>
        <p:spPr>
          <a:xfrm>
            <a:off x="548640" y="5413248"/>
            <a:ext cx="11094415" cy="969264"/>
          </a:xfrm>
          <a:prstGeom prst="rect">
            <a:avLst/>
          </a:prstGeom>
          <a:solidFill>
            <a:srgbClr val="F7FBFE"/>
          </a:solidFill>
          <a:ln w="9525">
            <a:solidFill>
              <a:srgbClr val="0F62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0" y="5413248"/>
            <a:ext cx="64008" cy="969264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" y="5413248"/>
            <a:ext cx="1417320" cy="96926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自我进化闭环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回看迭代效果 · 审计每次改动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5559552"/>
            <a:ext cx="1737360" cy="676656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 w="12700">
            <a:solidFill>
              <a:srgbClr val="AFCE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04288" y="5596128"/>
            <a:ext cx="1517904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case 管理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304288" y="5870448"/>
            <a:ext cx="713231" cy="237744"/>
          </a:xfrm>
          <a:prstGeom prst="roundRect">
            <a:avLst>
              <a:gd name="adj" fmla="val 50000"/>
            </a:avLst>
          </a:prstGeom>
          <a:solidFill>
            <a:srgbClr val="ECF7F2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795F"/>
                </a:solidFill>
                <a:latin typeface="Microsoft YaHei"/>
                <a:ea typeface="Microsoft YaHei"/>
                <a:cs typeface="Microsoft YaHei"/>
              </a:rPr>
              <a:t>Good Cases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108960" y="5870448"/>
            <a:ext cx="713231" cy="237744"/>
          </a:xfrm>
          <a:prstGeom prst="roundRect">
            <a:avLst>
              <a:gd name="adj" fmla="val 50000"/>
            </a:avLst>
          </a:prstGeom>
          <a:solidFill>
            <a:srgbClr val="FBECEA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Bad Cases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0" y="5559552"/>
            <a:ext cx="1463040" cy="676656"/>
          </a:xfrm>
          <a:prstGeom prst="roundRect">
            <a:avLst>
              <a:gd name="adj" fmla="val 10810"/>
            </a:avLst>
          </a:prstGeom>
          <a:solidFill>
            <a:srgbClr val="D2690C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反思 Agent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986783" y="5897880"/>
            <a:ext cx="530353" cy="0"/>
          </a:xfrm>
          <a:prstGeom prst="line">
            <a:avLst/>
          </a:prstGeom>
          <a:ln w="19050">
            <a:solidFill>
              <a:srgbClr val="D2690C"/>
            </a:solidFill>
            <a:tailEnd type="triangle" w="med" len="med"/>
          </a:ln>
        </p:spPr>
      </p:cxnSp>
      <p:sp>
        <p:nvSpPr>
          <p:cNvPr id="58" name="TextBox 57"/>
          <p:cNvSpPr txBox="1"/>
          <p:nvPr/>
        </p:nvSpPr>
        <p:spPr>
          <a:xfrm>
            <a:off x="3931920" y="5623560"/>
            <a:ext cx="64008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回溯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089903" y="5897880"/>
            <a:ext cx="530353" cy="0"/>
          </a:xfrm>
          <a:prstGeom prst="line">
            <a:avLst/>
          </a:prstGeom>
          <a:ln w="19050">
            <a:solidFill>
              <a:srgbClr val="D2690C"/>
            </a:solidFill>
            <a:tailEnd type="triangle" w="med" len="med"/>
          </a:ln>
        </p:spPr>
      </p:cxnSp>
      <p:sp>
        <p:nvSpPr>
          <p:cNvPr id="60" name="TextBox 59"/>
          <p:cNvSpPr txBox="1"/>
          <p:nvPr/>
        </p:nvSpPr>
        <p:spPr>
          <a:xfrm>
            <a:off x="6035040" y="5623560"/>
            <a:ext cx="64008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改进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675120" y="5632704"/>
            <a:ext cx="1052474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0F62CE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Skill 管理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19034" y="5632704"/>
            <a:ext cx="1052474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0F62CE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环境管理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62948" y="5632704"/>
            <a:ext cx="1052474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0F62CE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策略管理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960559" y="5897880"/>
            <a:ext cx="274320" cy="0"/>
          </a:xfrm>
          <a:prstGeom prst="line">
            <a:avLst/>
          </a:prstGeom>
          <a:ln w="19050">
            <a:solidFill>
              <a:srgbClr val="0F62CE"/>
            </a:solidFill>
            <a:tailEnd type="triangle" w="med" len="med"/>
          </a:ln>
        </p:spPr>
      </p:cxnSp>
      <p:sp>
        <p:nvSpPr>
          <p:cNvPr id="65" name="TextBox 64"/>
          <p:cNvSpPr txBox="1"/>
          <p:nvPr/>
        </p:nvSpPr>
        <p:spPr>
          <a:xfrm>
            <a:off x="10289743" y="5559552"/>
            <a:ext cx="1353312" cy="6766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回灌两层 Harness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62895" y="647395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