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【封面】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封面停留十秒左右。一句话开场：今天讲的是怎么把模型适配里那些重复做的判断，组织成两个能自动跑、而且结果可验收的 Agent。右边四格是接下来的顺序。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【1 / 10 · 适配成本 · 约 85 秒（1:25）】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先把成本摆清楚。左边是模型侧的节奏：主流模型持续更新，结构与精度不断变化，社区从发布到跑通是按天算的。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右边是我们这一侧的工作，三件事都要反复做：接入，把模型从启动带到精度、性能达标；补齐，框架与算子的缺口逐项补上；复验，每改一次就要重新验证一遍。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这三件里最贵的不是算力，是第三件——重复判断。同样的问题换个模型再判一遍，经验沉不下来。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中间这句是要害：芯片竞争力取决于硬件能力、软件成熟度与模型覆盖度。硬件能力在流片那天就定型了，模型覆盖度每天都在被社区改写，所以适配效率直接决定硬件能力能不能及时发挥出来。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命题因此只有一个：要扩大模型覆盖，只能把单个模型的适配成本降下来，把重复的排查、评测与调优组织成可复用的 Agent 流程。后面七页回答这件事怎么做。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三个待填的数，口径是：人周按 bring-up 到精度与性能双达标统计；算子缺口按该模型新增或需要重写的算子实现计；复验轮次按一次完整的改—测—判算一轮。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未调优内核与最优实现相差一个数量级，这是适配不能跳过的原因，也是算子层那条线要解决的问题。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【2 / 10 · 软件栈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这一页说清楚 Agent 站在软件栈的哪一层。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从下往上，芯片、运行时与驱动、编译器，这几层昆仑芯已经做好了，我们按原样使用、一行不改，所以合并成一条。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往上两层才是动手的地方，页面上框出来了。上面一框是框架层：SGLang 是主线，XInfer 是昆仑芯自己的推理框架，这一层做模型接入、服务验证和按实测调优，第 4、5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下面一框是算子层：XCN_ATEN_OPS。这一层补齐算子缺口、生成与调优实现、再用真机验证收益，第 6、7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实心的三个模块是 Agent 直接参与的，其余由昆仑芯或社区提供，我们只做对接。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为什么不动下面几层：编译器、运行时、驱动是昆仑芯的交付物，改了既不好升级也不好交接；Agent 只通过它们暴露的接口拿编译、运行、性能和理论上限。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vLLM 与 FlashInfer 画在图上只是标清楚位置，当前投入都在 SGLang 这条线上。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【3 / 10 · 两个 Agent 纵览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 Agent 先给一个全貌。左边 model-agent 工作在模型层，做模型接入、服务验证与性能调优；右边 xpugen 工作在算子层，面向 M100 生成算子实现并调优。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边的结构是一样的：都是先确认精度正确，再确认收益，中间那三个方块就是各自的验收链路，写的都是通过条件。模型只负责提出方案，是否合格由固定验收与真机测量决定，不由模型自己解释。两边也都有一个不作判据的诊断步骤——model-agent 独立采 Trace，xpugen 用模拟器定位瓶颈。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测的是整个模型、真实服务与固定评测集；xpugen 测的是单算子，多形状、对照独立参考。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中间两条箭头是交接。向右：由 Trace 定位到的瓶颈算子，转成算子层的输入规格与请求。向左：新内核回来，进入模型层的候选迭代，重新判一次。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最下面这句是整页的要点：同一个算子内核，既要通过算子验收，也要通过整模型复验。算子 bench 衡量的是局部收益，能不能交付由真实模型上的复测决定。第 8 页会用一个算例说明这两者能差多少。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分属不同仓库，本页画的是职责与交接关系；交接目前走到哪一步——人工传递需求与内核，还是已有接口——按实际情况回答。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机制上算子层的产出可以直接作为模型层的候选：候选补丁允许的后缀里包含 .xpu，不需要额外的集成改造。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两层提速之间的落差取决于该算子在端到端耗时中的占比，第 8 页有算例。没有占比数据时，单算子的倍数不能外推为模型加速比。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【4 / 10 · 模型层 · 一次任务怎么跑完 · 约 140 秒（2:20）】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这一页讲模型层的一次任务是怎么跑完的：人定目标，Agent 跑完四个阶段，结果交回人验收。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顶上这一行先交代范围。三条命令线共用同一套契约——架构接入、性能调优、持续优化；今天讲中间这条。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左边是人的第一段工作：确定模型、负载与并发，精度阈值与预算，已知缺陷对应的修复方案，以及输入与任务约定。这一步定完就冻结——契约改动之后，已有结果不再沿用。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中间整段无人值守，四个阶段，每个阶段都有明确产出，这是看懂这条链的关键。A 先完成预检再跑全量评测，产出基线指标和一套可复现的启动方式；B 用独立进程采 Trace，不参与计时，产出热点清单，只用来选方向，不计入任何收益；C 是候选迭代，小步改动、逐个按三道条件验收，产出通过筛选的候选和各自收益，下一页整页展开；D 最终复验，重测基线再独立复验每个候选，产出可交付的那一个。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D 为什么不能省：C 阶段的收益是在筛选过程中测出来的，基线和候选分处不同时间段。重新测一遍基线、再独立复验一次，数才算数。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右边是人的第二段工作：核对精度、性能与失败记录，通过就导出启动方案，失败或没有收益转人工诊断。每一轮都能追溯，必要时回退。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最下面这条回环是外循环：把验证过的规则、补丁与失败记录沉淀下来，供下一次任务复用。这正是第 1 页那个命题——让重复判断逐次减少。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预算与预留：总预算和最终复验预留都写在任务契约里。最终复验要对每个候选重跑一遍完整评测，预留偏小会导致 D 阶段做不完，建议按候选数量与实测单轮耗时自适应，而不是写死一个常数。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恢复运行不重置截止时间，所以临近结束被中断再恢复，D 阶段可能拿不到足额预留，必要时应显式延长并记入状态。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【5 / 10 · 模型层 · 候选验收与可信度 · 约 185 秒（3:05）】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 C 阶段里的每一个候选，都要走完这一页。但这一页真正回答的是另一个问题：Agent 报出来的收益，凭什么可信。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先准备：在隔离副本上应用改动，构建并记录产物信息。服务启动时核对端口、设备与模型路径，确认被测的确实是这个候选。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然后三道条件，顺序按成本由低到高。第一道看输出有没有变，判据是贪心 token 完全一致；第二道看质量，正确率与解析率都不许降；第三道看是不是确实更快，收益要大于 3%、回归不超过 5%，重复压测取中位，还要大于噪声极差。任一道不过就停止后续测试，不再占用设备时间，但失败证据保留。为什么按这个顺序——越靠前的越便宜，先用几秒钟的对比挡掉大部分不合格的候选。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三条是这一页的落点，三条防止自欺的约束。第一，口径先冻结：模型、负载、阈值与预算随任务写定，改了之后已有结果不再沿用。第二，测的是同一个候选：隔离副本、记录产物身份、启动时核对，不会出现测 A 报 B。第三，不能靠少干活变快：输入、精度、上下文与缓存全部冻结，prompt 的 token 数必须等于冻结值，诊断和正式压测分开跑。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右边是这条流水线在 30B-A3B 上判出来的实际结果。五组候选送进去：第一道挡掉一个模式——分组关掉之后 cos 直接是 0，算出来就是错的；第二道这一轮没拦下任何一个，因为过了第一道的候选输出逐位一致，不必再看质量；第三道挡掉三组——强制不分组慢 20%，换现成核只有 0.61 倍更慢，路由融合算到头也只值 0.9%，够不着 3% 的门槛。三道全过的两组交付，峰值吞吐从 1370 涨到 1883。最后一条口径：只有独立复验通过的收益才进入最终交付，筛选阶段看起来有收益、复验没过的，一个都不算。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质量这一道如果取零容差，在小筛选集上一道题就是几个百分点，而且与容许一定的数值漂移自相矛盾：漂移唯一的表现形式就是临界题翻转。更稳妥的做法是同一批题目上的配对检验。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重复三次取极差只能作为粗略估计，而且基线与候选分处不同时间段，设备漂移会直接进入对比。要让数字经得起追问，需要在同一窗口内交错测量 A / B / 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基线，而不是参考实现，因此基线自身的数值错误发现不了。架构接入阶段已有冻结的独立参考，性能调优阶段应该在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【6 / 10 · 算子层 · 生成与迭代 · 约 100 秒（1:40）】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这一页是算子层：xpugen 怎么写算子、怎么判算子。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左边写算子，是全流程唯一的模型。生成之前先澄清需求与约束、比较方案、固定输入语义，然后依据硬件说明卡生成实现，明确数据搬运、计算与同步。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右边判算子，是固定规则，这一侧没有模型。L0 编译与运行，L1 多形状多精度对照独立参考，Bench 在固定负载上真机计时，Profile 用模拟器定位瓶颈——注意 Profile 不作判据。评测结果与瓶颈证据原样回传，进入下一轮。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下面一行是架构要点：写与判都不碰硬件，与硬件耦合的只有后端这一层，编译、运行、性能采集。换新芯片只需补齐这一层。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右边是目前的实测样例，batch_norm：固定 256 乘 4096 的负载，fp32，相对 batch_norm_v4 基线加速 1.37 倍，13.24 微秒降到 9.66。这是单算子样例，还没有规模化统计，所以这里不报聚合指标。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下一页用 batch_norm 给一次完整的迭代记录，包括被丢弃的那两轮。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1.37 倍的基线是 batch_norm_v4 的 13.24 微秒，不是现有库实现，也不是未调优的草稿，被问到时按这个口径回答。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9.66 微秒是在空闲卡上复测 200 次的结果。这能说明没有明显抖动，但不同卡况之间仍有差异，被追问时按实际测量条件回答，不要说成已验证稳定。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轮数口径：精度收敛默认八轮；性能调优不设轮数上限，铁律是连续若干轮没有进展才允许下停滞结论。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【7 / 10 · 算子层 · batch_norm 迭代记录 · 约 195 秒（3:15）】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上一页讲 xpugen 怎么写、怎么判，这一页给一次完整的记录：batch_norm，从基线到交付。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工作负载先说清楚：N=1、C=256、HW=4096，fp32，一百零四万八千个元素，读写各 4 MB，总流量 8.39 MB。按带宽上限算，roofline 是 7.05 微秒。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先看第 1 轮，它是这一页的关键。这一轮没有改任何实现，只做了一件事：测一个纯拷贝 kernel 搬同样多的字节要多久。答案是 9.83 微秒，achieved 0.717。也就是说，roofline 算出来 7.05，但这张卡上光把数据搬一遍就要 9.83——真实的天花板是 0.717，不是 1.0。先把天花板标出来，后面每一轮才知道还剩多少空间。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右边是五轮改动，表上都有，我只点两处。第 3 轮想用 shared 广播系数，加了同步之后反而更慢，15.06 微秒、0.468，当场丢弃；第 4 轮想把系数挪到 host 侧折好，但每次调用都要把系数 H2D 上传一遍，连上传一起算 17.60 微秒、0.401，是八轮里最差的一个，也丢弃。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真正有效的是第 2、5、6 轮：换原生 rsqrt 指令到 0.601，修 copy 路径的寄存器 spill 到 0.719，再把折叠做成 scale 乘 x 加 shift 持平交付。第 7、8 轮是补脚手架和修 ABI，没有性能变化。交付前在空闲卡上复测两百次，9.66 微秒，achieved 0.730。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两件事值得强调。第一，八轮里只有三轮带来收益，两轮被真机测量当场否掉——这和第 5 页模型层是同一套做法：判定不听模型解释，只看测量。第二，现在已经打在拷贝地板上，再怎么优化计算都不会有收益，要再快只能换访存方式。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最下面一条是同一个实现换 shape 的结果。256 乘 4096 能到 0.724，但 2 乘 1600 只有 0.143——固定 launch 开销大约 1.95 微秒，小 shape 整个被它吃掉。所以算子的 achieved 必须连着 shape 一起报，单拎一个数没有意义。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roofline 的口径：按带宽上限算，不含发射槽约束，也不含约 1.95 微秒的固定开销。所以它是上界，不是可达目标——这正是第 1 轮要去标定纯拷贝地板的原因。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交付复测的 9.66 微秒，略快于第 1 轮地板探针测到的 9.79 到 9.88。两者不是同一次测量，卡的状态不同，应当理解为交付已经打在拷贝地板上，不要解读成超过了地板。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4 轮的 0.401 是按 17.60 微秒的整体耗时算的，里面含每次调用的 H2D 上传。kernel 本身没有变慢，是这次上传把整体拖垮了，所以丢弃的理由是整体变慢。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这是单算子的记录。它能说明迭代机制有效，不能说明模型级收益——0.532 到 0.730 换到整模型值多少，取决于 batch_norm 在端到端耗时里的占比，下一页展开。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【8 / 10 · 回到模型层看收益 · 约 120 秒（2:00）】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刚才那条 batch_norm 曲线最后停在 0.730。但那是算子自己的口径——放到整个模型里值多少，这一页用一个算例说明。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先说清楚这是假设算例：固定总耗时 100 毫秒，其他部分不变，既不是模型实测，也不是 SLO 容量预测。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两个场景，区别只在算子占比，而占比是由输入形状决定的。场景 A 是短输入，GEMM 占 80%、Attention 占 10%；场景 B 是长上下文，Attention 涨到 40%，GEMM 降到 50%。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现在同样把一类算子的耗时降低 30%。场景 A 里优化 Attention，整步只降 3%；优化 GEMM 降 24%——同样的算子提速幅度，对整步的贡献差了八倍。换到场景 B，两者变成 12% 和 15%，差距几乎没有了。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三条是为什么要回到模型看收益。第一，占比决定直接收益，占比小的算子再快也带不动整步。第二，整步耗时还不是服务容量，排队、批次、缓存和时延目标都会改变最终结果——下一页给出完整的换算办法。第三，每轮优化之后瓶颈可能转移，下一轮要按新的 Trace 重排优先级。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结论就是最下面这句：先按负载判断优化优先级，再用整模型压测确认最终收益。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四个数都是按占比直接换算：整步降幅等于该算子占比乘以提速幅度。场景 A 的 GEMM 是 80% × 30% = 24%，Attention 是 10% × 30% = 3%。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这里只算了单步耗时。真实服务里 TTFT 包含排队，提速会被放大；而 decode 阶段受显存带宽约束，提速可能被吃掉。所以最终仍要压测。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占比本身随输入形状变化：长上下文下 attention 的占比会显著上升，所以优先级要按目标负载重新算，不能套用别的场景的结论。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【9 / 10 · 算子耗时到服务容量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上一页留了个问题：怎么系统地判断该先优化哪个算子。这一页就是那个办法——从算子耗时一路算到单机容量。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五层从左到右，越往右越接近业务指标，也越依赖实测校准。算子耗时取计算时间和访存时间的较大者，再加启动与通信开销；单步耗时按真实 batch 形状汇总，区分 prefill 和 decode；请求时延要模拟请求与批次、考虑缓存准入；再按业务目标判断 TTFT、TPOT 的达标率，看哪个环节先超标；最后搜索满足 SLO 的最大请求到达率，也就是单机容量。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下面这条回环是关键：用服务日志与压测校准预测偏差，再重新选择优化方向。没有校准，这条链只能排序，不能报数。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目前怎么用它，三件事进度不同，页面上如实标注了。定位热点已经接入，按真实 Trace 找热点、在固定负载上验证候选。What-if 推演等 M100 校准，校准之后用来筛选优化方向。向算子层提需求这条还待补齐，要形成 shape 与实现需求，新内核回接后再做模型复验。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一句话过渡：这条链只用于排优先级；任何进入交付的收益，都以整模型实测为准。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这条链目前的预测偏差还没有在 M100 上标定，所以 What-if 那一格标的是待校准。在标定之前，它只用来比较候选的相对优劣，不对外报绝对数字。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容量定义是满足 SLO 的最大请求到达率，依赖具体的 TTFT / TPOT 目标；换一组业务目标，排序可能变化。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这条链按单实例算容量。多机与 PD 分离下还要叠加跨机通信与路由，不在本页范围内。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【10 / 10 · 现状与下一步 · 约 75 秒（1:15）】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最后回到第 1 页的命题，如实对一次账。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左边这列已经能自动跑：基线建立与全量评测、候选迭代与三道条件验收、Trace 采集与热点定位、失败证据与逐轮回放。这几件人不在回路里，跑完才看结果。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中间这列仍然靠人：定目标和冻结验收口径、新架构的接入判断、未知缺陷的根因定位，以及交付与否的最终决定。这几项短期内不打算交出去。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右边这列还没做：换算链在 M100 上校准、模型层与算子层的自动交接、规则与补丁沉淀为可复用知识，以及适配成本本身的量化对账。顺序是定的——先校准再谈预测，没有校准的预测只能排序，不能报数。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命题没有变：把重复判断交给 Agent，一个模型一个模型往下压。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左列那四项已经在 M100 上跑通，但样本是单模型；规模化之后哪些规则需要调整，现在没有数据，不要说成已经验证。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适配成本的量化对账还没做。第 1 页那三个待填的数就是对账口径——人周、算子缺口数、复验轮次。被问到省了多少成本时，如实说这个数还没有。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2066543"/>
            <a:ext cx="50292" cy="256032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029968"/>
            <a:ext cx="54864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2026 KUNLUNXIN · 1024</a:t>
            </a:r>
            <a:r>
              <a:rPr sz="1150" b="1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 程序员节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32304"/>
            <a:ext cx="9592056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把模型适配里的重复判断，交给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959205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M100 Model-Agent 与 XPUGen 算子 Agent：两层自动迭代，一套固定验收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858768"/>
            <a:ext cx="2194560" cy="0"/>
          </a:xfrm>
          <a:prstGeom prst="line">
            <a:avLst/>
          </a:prstGeom>
          <a:ln w="31750">
            <a:solidFill>
              <a:srgbClr val="0F62CE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548640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P1 - 2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痛点与位置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成本花在哪，Agent 在哪一层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2535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72535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3703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P3 - 5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3703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怎么跑完，收益凭什么可信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P6 - 7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7599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写与判分开，一次实测迭代记录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0327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20327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1495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P8 - 10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1495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收益与现状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算子快了值多少，哪些已跑通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984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SGLang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后端　·　昆仑芯 </a:t>
            </a:r>
            <a:r>
              <a:rPr sz="11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M100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·　技术评审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痛点 · 适配成本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模型按天迭代，适配按月交付；这一页先说清楚这笔成本花在哪里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92224"/>
            <a:ext cx="4846320" cy="2706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：持续上新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3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3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结构与精度不断变化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6543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社区实现快速演进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6543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框架与算子需要同步跟进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96735" y="1792224"/>
            <a:ext cx="4846320" cy="270662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34479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：反复验证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34479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接入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4639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639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4479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639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框架与算子缺口逐项补齐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639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缺少实现或路径不匹配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34479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639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每次改动都要重新验证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4639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判断重复，经验难以沉淀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55767" y="2971800"/>
            <a:ext cx="1280160" cy="34747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90288"/>
            <a:ext cx="11094415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608576"/>
            <a:ext cx="1069207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882896"/>
            <a:ext cx="1069207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硬件能力在流片那天就定型，模型覆盖度每天被社区改写——适配效率决定硬件能力能否及时发挥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266944"/>
            <a:ext cx="64008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" y="5376672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降低单个模型的适配成本，才能持续扩大模型覆盖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" y="572414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把重复的排查、评测与调优组织成可复用的 Agent 流程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本页为定性描述；人周、算子缺口数与复验轮次三个数待实测后填入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软件栈 · AGENT 介入的位置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软件栈：Agent 只动上面两层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两类工作——框架层做模型接入调优，算子层做算子补齐提速；底层按原样使用，不改一行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459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Agent 直接参与　　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昆仑芯 / 社区提供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38528"/>
            <a:ext cx="9722815" cy="1389888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21408" y="1810512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4" y="2944368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→　第 4、5 页展开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66544" y="2084831"/>
            <a:ext cx="2247823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60671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4799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48927" y="2084831"/>
            <a:ext cx="2247823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66544" y="3438144"/>
            <a:ext cx="94302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114800"/>
            <a:ext cx="9722815" cy="1170432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21408" y="3986784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6544" y="4901184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→　第 6、7 页展开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66544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60671" y="4261104"/>
            <a:ext cx="2247823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4799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48927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431536"/>
            <a:ext cx="9722815" cy="566928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依据昆仑芯 M100 软件栈示意图整理；模块名称与分层沿用原图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纵览 · 模型层与算子层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 Agent：model-agent 调模型，xpugen 写算子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两层结构相同——模型只负责提出，判定交给固定验收与真机测量；区别在于测量范围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|　模型层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模型接入、服务验证与性能调优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702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14144" y="3099816"/>
            <a:ext cx="12801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344423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61359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独立采 Trace；正式压测关闭 profiler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整个模型、真实服务与固定评测集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轮次、预算与验收条件按任务冻结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|　算子层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生成算子实现并调优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CFE3F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798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能编译运行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519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数值对齐参考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802319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10332415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真机更快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149535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真机采样与模拟分析用于定位瓶颈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单算子，多形状与独立参考对齐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数值先过门，性能按预算持续迭代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输入规格 → 算子请求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5" name="TextBox 44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由 Trace 定位到的瓶颈算子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新内核 → 模型复验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回到候选迭代，重新判一次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" y="5486400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同一个算子内核，既要通过算子验收，也要通过整模型复验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9536" y="579729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分属不同仓库，本页只说明职责与交接关系，各自机制见后续页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一次任务怎么跑完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 执行迭代，结果交回人验收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人只在两头定目标与判交付；中间四个阶段无人值守，每个阶段都有明确产出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三条命令线共用同一套契约　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 onboard-*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 run / resume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 optimize-*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　本页讲中间这条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2286000" cy="3255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228600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39696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：定义目标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270662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256032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4" name="Oval 13"/>
          <p:cNvSpPr/>
          <p:nvPr/>
        </p:nvSpPr>
        <p:spPr>
          <a:xfrm>
            <a:off x="749808" y="3127248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2980944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354787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0156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396849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82219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791456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契约改动后，已有结果不再沿用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47488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2011680"/>
            <a:ext cx="5760720" cy="325526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18688" y="2139696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：在固定约束内自动迭代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全程无人值守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8688" y="2523744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28416" y="2697480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4176" y="2523744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57860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先完成预检，再跑全量评测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852928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产出：基线指标与可复现的启动方式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18688" y="3182112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28416" y="335584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94176" y="3182112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236976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独立进程采样，不参与计时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511296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产出：热点清单，只用于选方向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18688" y="3840480"/>
            <a:ext cx="5358383" cy="6217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328416" y="4014216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94176" y="3840480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3895344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小步改动，逐个按三道条件验收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169664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产出：通过筛选的候选与各自收益　→ 下一页</a:t>
            </a:r>
          </a:p>
        </p:txBody>
      </p:sp>
      <p:sp>
        <p:nvSpPr>
          <p:cNvPr id="39" name="Freeform 38"/>
          <p:cNvSpPr/>
          <p:nvPr/>
        </p:nvSpPr>
        <p:spPr>
          <a:xfrm>
            <a:off x="8138160" y="3968496"/>
            <a:ext cx="237744" cy="365760"/>
          </a:xfrm>
          <a:custGeom>
            <a:avLst/>
            <a:gdLst/>
            <a:ahLst/>
            <a:cxnLst/>
            <a:rect l="l" t="t" r="r" b="b"/>
            <a:pathLst>
              <a:path w="237744" h="365760">
                <a:moveTo>
                  <a:pt x="0" y="365760"/>
                </a:moveTo>
                <a:lnTo>
                  <a:pt x="237744" y="365760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18688" y="4498848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328416" y="4672584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94176" y="4498848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4553712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重测基线，独立复验每个候选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4828032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产出：可交付的最优候选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61119" y="2011680"/>
            <a:ext cx="2681935" cy="3255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61119" y="2011680"/>
            <a:ext cx="2681935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62288" y="2139696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：判断交付</a:t>
            </a:r>
          </a:p>
        </p:txBody>
      </p:sp>
      <p:sp>
        <p:nvSpPr>
          <p:cNvPr id="48" name="Oval 47"/>
          <p:cNvSpPr/>
          <p:nvPr/>
        </p:nvSpPr>
        <p:spPr>
          <a:xfrm>
            <a:off x="9162288" y="270662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63456" y="256032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核对精度、性能与失败记录</a:t>
            </a:r>
          </a:p>
        </p:txBody>
      </p:sp>
      <p:sp>
        <p:nvSpPr>
          <p:cNvPr id="50" name="Oval 49"/>
          <p:cNvSpPr/>
          <p:nvPr/>
        </p:nvSpPr>
        <p:spPr>
          <a:xfrm>
            <a:off x="9162288" y="3127248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2980944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验证通过：导出启动方案</a:t>
            </a:r>
          </a:p>
        </p:txBody>
      </p:sp>
      <p:sp>
        <p:nvSpPr>
          <p:cNvPr id="52" name="Oval 51"/>
          <p:cNvSpPr/>
          <p:nvPr/>
        </p:nvSpPr>
        <p:spPr>
          <a:xfrm>
            <a:off x="9162288" y="354787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63456" y="340156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失败或无收益：转人工诊断</a:t>
            </a:r>
          </a:p>
        </p:txBody>
      </p:sp>
      <p:sp>
        <p:nvSpPr>
          <p:cNvPr id="54" name="Oval 53"/>
          <p:cNvSpPr/>
          <p:nvPr/>
        </p:nvSpPr>
        <p:spPr>
          <a:xfrm>
            <a:off x="9162288" y="396849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63456" y="382219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逐轮追溯，必要时回退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4791456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19" y="5047488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8" name="Freeform 57"/>
          <p:cNvSpPr/>
          <p:nvPr/>
        </p:nvSpPr>
        <p:spPr>
          <a:xfrm>
            <a:off x="1691640" y="5266944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凭什么相信这些数字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每个候选按三道固定条件验收，未通过即停止后续测试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这一页回答一个问题：Agent 报出来的收益，凭什么可信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19072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隔离副本　→　应用改动　→　构建并记录产物信息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29968"/>
            <a:ext cx="615665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29968"/>
            <a:ext cx="5717743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启动服务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核对端口、设备与模型路径，确认被测对象就是该候选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23744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523744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523744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3" y="2523744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51376" y="2523744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固定文本对照，数值容差按任务设定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35808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035808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035808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3035808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3035808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同一批评测题，指标按任务选择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47872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547872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3547872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547872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收益 &gt; 3%，回归 ≤ 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1376" y="3547872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重复压测取中位，并须大于噪声极差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023360"/>
            <a:ext cx="6156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由便宜到贵排列，任一道不通过即停止后续测试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15968"/>
            <a:ext cx="6156655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315968"/>
            <a:ext cx="45720" cy="1188720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389120"/>
            <a:ext cx="57543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凭什么可信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三条防止自欺的约束</a:t>
            </a:r>
          </a:p>
        </p:txBody>
      </p:sp>
      <p:sp>
        <p:nvSpPr>
          <p:cNvPr id="29" name="Oval 28"/>
          <p:cNvSpPr/>
          <p:nvPr/>
        </p:nvSpPr>
        <p:spPr>
          <a:xfrm>
            <a:off x="749808" y="474573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76" y="4663440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口径先冻结：模型、负载、阈值与预算随任务写定，改了之后已有结果不再沿用</a:t>
            </a:r>
          </a:p>
        </p:txBody>
      </p:sp>
      <p:sp>
        <p:nvSpPr>
          <p:cNvPr id="31" name="Oval 30"/>
          <p:cNvSpPr/>
          <p:nvPr/>
        </p:nvSpPr>
        <p:spPr>
          <a:xfrm>
            <a:off x="749808" y="503834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6" y="4956048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测的是同一个候选：隔离副本、记录产物身份，启动时核对端口与模型路径</a:t>
            </a:r>
          </a:p>
        </p:txBody>
      </p:sp>
      <p:sp>
        <p:nvSpPr>
          <p:cNvPr id="33" name="Oval 32"/>
          <p:cNvSpPr/>
          <p:nvPr/>
        </p:nvSpPr>
        <p:spPr>
          <a:xfrm>
            <a:off x="749808" y="533095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5248655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不能靠少干活变快：输入、精度、上下文与缓存全部冻结，诊断与正式压测分开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1055" y="1719072"/>
            <a:ext cx="4572000" cy="38221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71055" y="1719072"/>
            <a:ext cx="45720" cy="3822191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2223" y="1773936"/>
            <a:ext cx="416966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本轮实际判定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30B-A3B 单卡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72223" y="2066543"/>
            <a:ext cx="4169663" cy="292608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36815" y="2066543"/>
            <a:ext cx="384048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送进验收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五组候选，由便宜到贵逐道验</a:t>
            </a:r>
          </a:p>
        </p:txBody>
      </p:sp>
      <p:sp>
        <p:nvSpPr>
          <p:cNvPr id="40" name="Oval 39"/>
          <p:cNvSpPr/>
          <p:nvPr/>
        </p:nvSpPr>
        <p:spPr>
          <a:xfrm>
            <a:off x="7308799" y="2459736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74559" y="2432304"/>
            <a:ext cx="118872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70287" y="2432304"/>
            <a:ext cx="1371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挡掉 1 个模式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74559" y="2688336"/>
            <a:ext cx="376732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分组关掉后 cos 0.000，算出来直接是错的</a:t>
            </a:r>
          </a:p>
        </p:txBody>
      </p:sp>
      <p:sp>
        <p:nvSpPr>
          <p:cNvPr id="44" name="Oval 43"/>
          <p:cNvSpPr/>
          <p:nvPr/>
        </p:nvSpPr>
        <p:spPr>
          <a:xfrm>
            <a:off x="7308799" y="3118103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74559" y="3090672"/>
            <a:ext cx="118872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70287" y="3090672"/>
            <a:ext cx="1371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本轮没拦下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74559" y="3346704"/>
            <a:ext cx="376732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过了 ① 的候选输出逐位一致，不必再看质量</a:t>
            </a:r>
          </a:p>
        </p:txBody>
      </p:sp>
      <p:sp>
        <p:nvSpPr>
          <p:cNvPr id="48" name="Oval 47"/>
          <p:cNvSpPr/>
          <p:nvPr/>
        </p:nvSpPr>
        <p:spPr>
          <a:xfrm>
            <a:off x="7308799" y="3776472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74559" y="3749039"/>
            <a:ext cx="118872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70287" y="3749039"/>
            <a:ext cx="1371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挡掉 3 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74559" y="4005072"/>
            <a:ext cx="376732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强制不分组 −20%；换现成核 0.61× 更慢；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路由融合最多只值 0.9%，够不着 3% 的门槛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72223" y="4425696"/>
            <a:ext cx="4169663" cy="71323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36815" y="4462272"/>
            <a:ext cx="384048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三道全过</a:t>
            </a: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2 组 · 交付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36815" y="4700016"/>
            <a:ext cx="38404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 激活与量化合成一个核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36815" y="4901183"/>
            <a:ext cx="38404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 换成耗时不随规模涨的核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72223" y="5212079"/>
            <a:ext cx="416966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峰值吞吐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1370 → 1883 tok/s</a:t>
            </a: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+37%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632704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8640" y="5632704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9536" y="5632704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只有独立复验通过的收益，才进入最终交付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代码中三道条件分别为数值门、质量门与性能门；阈值随任务冻结，候选无权修改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算子层 · 生成与性能迭代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Agent：算子生成与性能迭代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从需求或已有实现出发，先确认精度正确，再迭代性能；写与判分开，判的一侧没有模型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40864"/>
            <a:ext cx="3474720" cy="2286000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|　Agent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944368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785616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依据硬件说明卡生成实现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059936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明确数据搬运、计算与同步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2340864"/>
            <a:ext cx="3474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2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|　Harness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固定规则，无模型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2907792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构建并启动，失败即返工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3310128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多形状多精度对照独立参考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6" y="3712464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4114800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19" name="Freeform 18"/>
          <p:cNvSpPr/>
          <p:nvPr/>
        </p:nvSpPr>
        <p:spPr>
          <a:xfrm>
            <a:off x="2286000" y="206654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0" y="274320"/>
                </a:moveTo>
                <a:lnTo>
                  <a:pt x="0" y="0"/>
                </a:lnTo>
                <a:lnTo>
                  <a:pt x="3931919" y="0"/>
                </a:lnTo>
                <a:lnTo>
                  <a:pt x="3931919" y="237744"/>
                </a:lnTo>
              </a:path>
            </a:pathLst>
          </a:custGeom>
          <a:noFill/>
          <a:ln w="19050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1773936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21" name="Freeform 20"/>
          <p:cNvSpPr/>
          <p:nvPr/>
        </p:nvSpPr>
        <p:spPr>
          <a:xfrm>
            <a:off x="2286000" y="462686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3931919" y="0"/>
                </a:moveTo>
                <a:lnTo>
                  <a:pt x="3931919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0" y="4937760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13248"/>
            <a:ext cx="7406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468112"/>
            <a:ext cx="6967727" cy="4937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</a:t>
            </a: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换新芯片只需补齐这一层，写与判的流程无需改动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1737360"/>
            <a:ext cx="3322015" cy="42793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8784" y="1865376"/>
            <a:ext cx="2846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实测样例</a:t>
            </a: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单算子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8784" y="2340864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340864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fp32 · 总流量 8.39 MB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3364992"/>
            <a:ext cx="2846527" cy="9144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364992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1.37×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58784" y="4389120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4389120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最优版本重复测量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9.66 µs · iters=200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空闲卡上复测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5376672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单算子样例，尚无规模化统计；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基线 batch_norm_v4，详见下一页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与算子团队协作，沉淀 Skills 与开发经验；真机实测为准，模拟器只用于定位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算子层 · 一次完整的迭代记录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batch_norm：八轮迭代，achieved 从 0.532 到 0.730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判定全部来自真机测量——更慢的两轮当场丢弃，没有一轮是靠模型自己说好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工作负载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|　roofline </a:t>
            </a: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按带宽上限计算，不含发射槽约束与固定开销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75104"/>
            <a:ext cx="653796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29968"/>
            <a:ext cx="26060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achieved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 = roofline 耗时 ÷ 实测耗时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47288" y="2148840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prstDash val="dash"/>
          </a:ln>
        </p:spPr>
      </p:cxnSp>
      <p:sp>
        <p:nvSpPr>
          <p:cNvPr id="12" name="TextBox 11"/>
          <p:cNvSpPr txBox="1"/>
          <p:nvPr/>
        </p:nvSpPr>
        <p:spPr>
          <a:xfrm>
            <a:off x="3739896" y="2011680"/>
            <a:ext cx="135331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148840"/>
            <a:ext cx="237744" cy="0"/>
          </a:xfrm>
          <a:prstGeom prst="line">
            <a:avLst/>
          </a:prstGeom>
          <a:ln w="15875">
            <a:solidFill>
              <a:srgbClr val="D4147A"/>
            </a:solidFill>
            <a:prstDash val="dash"/>
          </a:ln>
        </p:spPr>
      </p:cxnSp>
      <p:sp>
        <p:nvSpPr>
          <p:cNvPr id="14" name="TextBox 13"/>
          <p:cNvSpPr txBox="1"/>
          <p:nvPr/>
        </p:nvSpPr>
        <p:spPr>
          <a:xfrm>
            <a:off x="5458968" y="2011680"/>
            <a:ext cx="162763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4204498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21792" y="410391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0.40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720" y="397154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21792" y="38709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3738589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1792" y="3638005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8720" y="3505635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21792" y="3405051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3272681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21792" y="3172097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88720" y="3039726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21792" y="2939142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2706188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2573818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621792" y="247323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88720" y="2806772"/>
            <a:ext cx="5349240" cy="0"/>
          </a:xfrm>
          <a:prstGeom prst="line">
            <a:avLst/>
          </a:prstGeom>
          <a:ln w="12700">
            <a:solidFill>
              <a:srgbClr val="0F62CE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1188720" y="2727568"/>
            <a:ext cx="5349240" cy="0"/>
          </a:xfrm>
          <a:prstGeom prst="line">
            <a:avLst/>
          </a:prstGeom>
          <a:ln w="12700">
            <a:solidFill>
              <a:srgbClr val="D4147A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1188720" y="4297680"/>
            <a:ext cx="5349240" cy="0"/>
          </a:xfrm>
          <a:prstGeom prst="line">
            <a:avLst/>
          </a:prstGeom>
          <a:ln w="12700">
            <a:solidFill>
              <a:srgbClr val="AFCEE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691640" y="3589498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4" name="Connector 33"/>
          <p:cNvCxnSpPr/>
          <p:nvPr/>
        </p:nvCxnSpPr>
        <p:spPr>
          <a:xfrm flipV="1">
            <a:off x="2199640" y="3268022"/>
            <a:ext cx="508000" cy="321476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2707640" y="3268022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3215640" y="3268022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7" name="Connector 36"/>
          <p:cNvCxnSpPr/>
          <p:nvPr/>
        </p:nvCxnSpPr>
        <p:spPr>
          <a:xfrm flipV="1">
            <a:off x="3723640" y="2718249"/>
            <a:ext cx="508000" cy="549773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231640" y="2718249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4739640" y="2718249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247640" y="2718249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41" name="Connector 40"/>
          <p:cNvCxnSpPr/>
          <p:nvPr/>
        </p:nvCxnSpPr>
        <p:spPr>
          <a:xfrm flipV="1">
            <a:off x="5755640" y="2667000"/>
            <a:ext cx="508000" cy="51249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sp>
        <p:nvSpPr>
          <p:cNvPr id="42" name="TextBox 41"/>
          <p:cNvSpPr txBox="1"/>
          <p:nvPr/>
        </p:nvSpPr>
        <p:spPr>
          <a:xfrm>
            <a:off x="138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9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0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1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2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2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4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6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52" name="Oval 51"/>
          <p:cNvSpPr/>
          <p:nvPr/>
        </p:nvSpPr>
        <p:spPr>
          <a:xfrm>
            <a:off x="1627632" y="3525490"/>
            <a:ext cx="128016" cy="128016"/>
          </a:xfrm>
          <a:prstGeom prst="ellipse">
            <a:avLst/>
          </a:prstGeom>
          <a:solidFill>
            <a:srgbClr val="40708B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25880" y="3680938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Arial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54" name="Oval 53"/>
          <p:cNvSpPr/>
          <p:nvPr/>
        </p:nvSpPr>
        <p:spPr>
          <a:xfrm>
            <a:off x="2643632" y="3204014"/>
            <a:ext cx="128016" cy="128016"/>
          </a:xfrm>
          <a:prstGeom prst="ellipse">
            <a:avLst/>
          </a:prstGeom>
          <a:solidFill>
            <a:srgbClr val="0E9A7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41880" y="2993702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Arial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56" name="Oval 55"/>
          <p:cNvSpPr/>
          <p:nvPr/>
        </p:nvSpPr>
        <p:spPr>
          <a:xfrm>
            <a:off x="3151632" y="3823672"/>
            <a:ext cx="128016" cy="128016"/>
          </a:xfrm>
          <a:prstGeom prst="ellipse">
            <a:avLst/>
          </a:prstGeom>
          <a:solidFill>
            <a:srgbClr val="D94A3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49880" y="3613360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Arial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58" name="Oval 57"/>
          <p:cNvSpPr/>
          <p:nvPr/>
        </p:nvSpPr>
        <p:spPr>
          <a:xfrm>
            <a:off x="3659632" y="4135831"/>
            <a:ext cx="128016" cy="128016"/>
          </a:xfrm>
          <a:prstGeom prst="ellipse">
            <a:avLst/>
          </a:prstGeom>
          <a:solidFill>
            <a:srgbClr val="D94A3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57880" y="3925519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Arial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60" name="Oval 59"/>
          <p:cNvSpPr/>
          <p:nvPr/>
        </p:nvSpPr>
        <p:spPr>
          <a:xfrm>
            <a:off x="4167632" y="2654241"/>
            <a:ext cx="128016" cy="128016"/>
          </a:xfrm>
          <a:prstGeom prst="ellipse">
            <a:avLst/>
          </a:prstGeom>
          <a:solidFill>
            <a:srgbClr val="0E9A7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65880" y="2443929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Arial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62" name="Oval 61"/>
          <p:cNvSpPr/>
          <p:nvPr/>
        </p:nvSpPr>
        <p:spPr>
          <a:xfrm>
            <a:off x="4675632" y="2658901"/>
            <a:ext cx="128016" cy="128016"/>
          </a:xfrm>
          <a:prstGeom prst="ellipse">
            <a:avLst/>
          </a:prstGeom>
          <a:solidFill>
            <a:srgbClr val="0E9A7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176772" y="2580132"/>
            <a:ext cx="173736" cy="173736"/>
          </a:xfrm>
          <a:prstGeom prst="ellipse">
            <a:avLst/>
          </a:prstGeom>
          <a:solidFill>
            <a:srgbClr val="0F62C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97879" y="2392680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9808" y="4718304"/>
            <a:ext cx="613562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保留　</a:t>
            </a:r>
            <a:r>
              <a:rPr sz="900" b="0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真机测出更慢，当场丢弃　</a:t>
            </a: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交付复测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69480" y="1975104"/>
            <a:ext cx="4373575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70648" y="2048256"/>
            <a:ext cx="397123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三轮保留，两轮丢弃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70648" y="243230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1000" y="243230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batch_norm_v4 基线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04120" y="243230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08792" y="243230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70648" y="2715768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01000" y="2715768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标定纯拷贝地板（探针）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2715768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08792" y="2715768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70648" y="299923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01000" y="299923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换原生 rsqrt 指令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04120" y="299923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08792" y="299923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97496" y="3282696"/>
            <a:ext cx="4117543" cy="265176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70648" y="328269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01000" y="328269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04120" y="328269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08792" y="328269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397496" y="3566160"/>
            <a:ext cx="4117543" cy="265176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470648" y="3566160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01000" y="3566160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host 折系数 + 每次 H2D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04120" y="3566160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08792" y="3566160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70648" y="384962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01000" y="384962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04120" y="384962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08792" y="384962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70648" y="4133087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01000" y="4133087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fold 成 scale*x+shift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04120" y="4133087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08792" y="4133087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70648" y="441655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01000" y="441655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模拟器脚手架 · 修 ABI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104120" y="441655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908792" y="441655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397496" y="4700016"/>
            <a:ext cx="4117543" cy="26517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470648" y="470001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01000" y="470001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104120" y="470001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908792" y="470001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同一实现，换个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小 shape 整个被它吃掉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291840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38144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438144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0.143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38144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1621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56252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56252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0.364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56252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54059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68690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68690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0.449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68690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664979" y="5084064"/>
            <a:ext cx="1978075" cy="6217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81128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81128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0.724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81128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 只是上界，纯拷贝地板 9.83 µs 才是这张卡的天花板——交付已经打在上面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4 轮的 17.60 µs 含每次调用的 H2D 上传，不只是 kernel 本身；交付复测、地板探针、下排 shape 表各为独立批次，0.730 与 0.724 不应互相换算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难点 · 回到模型层看收益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同样把一类算子耗时降低 30%，整步收益取决于它原来的占比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假设算例：固定总耗时 100 ms，其他部分不变；非模型实测，也不是 SLO 容量预测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92224"/>
            <a:ext cx="1682496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单步耗时示意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其他部分不变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592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5344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0096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95728"/>
            <a:ext cx="1828800" cy="13716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场景 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短输入，GEMM 为主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 10%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592" y="2395728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95344" y="2395728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5344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−3%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7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97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100 − 10×30%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40096" y="2395728"/>
            <a:ext cx="1371600" cy="13716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0096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−24%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59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76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100 − 80×30%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77056"/>
            <a:ext cx="1828800" cy="13716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场景 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长上下文，Attention 变重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0592" y="3877056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0592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95344" y="3877056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5344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−12%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7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88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100 − 40×30%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0096" y="3877056"/>
            <a:ext cx="1371600" cy="13716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096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−15%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59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85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100 − 50×30%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0" y="1737360"/>
            <a:ext cx="4876495" cy="3547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31152" y="1792224"/>
            <a:ext cx="4547311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为什么要回到模型看收益</a:t>
            </a:r>
          </a:p>
        </p:txBody>
      </p:sp>
      <p:sp>
        <p:nvSpPr>
          <p:cNvPr id="33" name="Oval 32"/>
          <p:cNvSpPr/>
          <p:nvPr/>
        </p:nvSpPr>
        <p:spPr>
          <a:xfrm>
            <a:off x="6931152" y="2194560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2631" y="2167128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占比决定直接收益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1" y="2505456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占比小的算子再快，也带不动整步</a:t>
            </a:r>
          </a:p>
        </p:txBody>
      </p:sp>
      <p:sp>
        <p:nvSpPr>
          <p:cNvPr id="36" name="Oval 35"/>
          <p:cNvSpPr/>
          <p:nvPr/>
        </p:nvSpPr>
        <p:spPr>
          <a:xfrm>
            <a:off x="6931152" y="3785615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2631" y="3758183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整步耗时还不是服务容量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2631" y="4096511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排队、批次、缓存与时延目标仍会改变结果，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下一页给出完整的换算办法</a:t>
            </a:r>
          </a:p>
        </p:txBody>
      </p:sp>
      <p:sp>
        <p:nvSpPr>
          <p:cNvPr id="39" name="Oval 38"/>
          <p:cNvSpPr/>
          <p:nvPr/>
        </p:nvSpPr>
        <p:spPr>
          <a:xfrm>
            <a:off x="6931152" y="4663440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2631" y="4636007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每轮优化后重新定位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2631" y="4974336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局部提速后瓶颈可能转移，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下一轮应按新的 Trace 重排优先级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42632" y="285292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18120" y="2889504"/>
            <a:ext cx="2928274" cy="219456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746394" y="2889504"/>
            <a:ext cx="366034" cy="219456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112428" y="2889504"/>
            <a:ext cx="366034" cy="219456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2632" y="312724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3163824"/>
            <a:ext cx="1830171" cy="219456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648291" y="3163824"/>
            <a:ext cx="1464137" cy="219456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112428" y="3163824"/>
            <a:ext cx="366034" cy="219456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18120" y="3451860"/>
            <a:ext cx="118872" cy="118872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82712" y="3401568"/>
            <a:ext cx="58521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67928" y="3451860"/>
            <a:ext cx="118872" cy="118872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32520" y="3401568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73768" y="3451860"/>
            <a:ext cx="118872" cy="118872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38360" y="3401568"/>
            <a:ext cx="859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97896" y="3401568"/>
            <a:ext cx="880567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假设占比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468112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8640" y="5468112"/>
            <a:ext cx="64008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9536" y="5468112"/>
            <a:ext cx="1045433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结论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先按负载判断优化优先级，再用整模型压测确认最终收益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表中四个数为按占比直接换算；真实服务还要叠加排队、批次与缓存的影响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方法 · 模型层如何给算子排优先级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Agent：先估算，再实测校准，最后用于优化优先级判断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五层共用同一套参数：算子、特性、布局任何一处变化，都能一路传到 SLO 与单机容量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算子级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　越往右越接近业务指标，也越依赖实测校准　　</a:t>
            </a:r>
            <a:r>
              <a:rPr sz="10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956816"/>
            <a:ext cx="11094415" cy="0"/>
          </a:xfrm>
          <a:prstGeom prst="line">
            <a:avLst/>
          </a:prstGeom>
          <a:ln w="12700">
            <a:solidFill>
              <a:srgbClr val="AFCEE1"/>
            </a:solidFill>
            <a:tailEnd type="triangle" w="med" len="med"/>
          </a:ln>
        </p:spPr>
      </p:cxnSp>
      <p:sp>
        <p:nvSpPr>
          <p:cNvPr id="9" name="Rectangle 8"/>
          <p:cNvSpPr/>
          <p:nvPr/>
        </p:nvSpPr>
        <p:spPr>
          <a:xfrm>
            <a:off x="548640" y="2103120"/>
            <a:ext cx="2087209" cy="16642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max(计算时间, 访存时间)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+ 启动 / 通信开销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00441" y="2103120"/>
            <a:ext cx="2087209" cy="16642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3321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3321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3321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汇总各类算子耗时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区分 prefill / decode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54137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5052242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5122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5122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5122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模拟请求与批次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考虑缓存准入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得到时延与吞吐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05938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7304044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86924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86924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服务目标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6924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按业务目标判断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TTFT / TPOT 达标率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观察先超标的环节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57740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9555845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8725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725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725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搜索满足 SLO 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最大请求到达率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比较候选部署方案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409541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33" name="Freeform 32"/>
          <p:cNvSpPr/>
          <p:nvPr/>
        </p:nvSpPr>
        <p:spPr>
          <a:xfrm>
            <a:off x="1592244" y="3767328"/>
            <a:ext cx="9007206" cy="274320"/>
          </a:xfrm>
          <a:custGeom>
            <a:avLst/>
            <a:gdLst/>
            <a:ahLst/>
            <a:cxnLst/>
            <a:rect l="l" t="t" r="r" b="b"/>
            <a:pathLst>
              <a:path w="9007206" h="274320">
                <a:moveTo>
                  <a:pt x="9007206" y="0"/>
                </a:moveTo>
                <a:lnTo>
                  <a:pt x="9007206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5875">
            <a:solidFill>
              <a:srgbClr val="D4147A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078224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实测校准：用服务日志与压测校准预测偏差，再重新选择优化方向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3542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如何使用这条链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三件事进度不同，页面上如实标注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901184"/>
            <a:ext cx="3551834" cy="10607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定位热点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02026" y="5010912"/>
            <a:ext cx="1097280" cy="237744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已接入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按真实 Trace 定位热点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在固定负载上验证候选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993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109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What-if 推演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73316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7FA4B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 M100 校准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109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算子提速 → 预测变化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校准后用于筛选方向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9122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9238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向算子层提需求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44607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7FA4B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待补齐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238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形成 shape 与实现需求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新内核回接后做模型复验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换算链只用于排优先级；任何进入交付的收益，都以整模型实测为准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收尾 · 现状与下一步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回到第 1 页的命题：适配成本降下来了多少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如实对账——哪些已经自动跑，哪些仍然靠人，哪些还没做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15258" cy="3200400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51525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已经自动跑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第 4 - 7 页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基线建立与全量评测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候选迭代与三道条件验收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Trace 采集与热点定位</a:t>
            </a:r>
          </a:p>
        </p:txBody>
      </p:sp>
      <p:sp>
        <p:nvSpPr>
          <p:cNvPr id="17" name="Oval 16"/>
          <p:cNvSpPr/>
          <p:nvPr/>
        </p:nvSpPr>
        <p:spPr>
          <a:xfrm>
            <a:off x="768096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失败证据与逐轮回放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人不在回路里，跑完才看结果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8218" y="1828800"/>
            <a:ext cx="351525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8218" y="1828800"/>
            <a:ext cx="3515258" cy="45720"/>
          </a:xfrm>
          <a:prstGeom prst="rect">
            <a:avLst/>
          </a:prstGeom>
          <a:solidFill>
            <a:srgbClr val="7FA4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7674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仍然靠人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7674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第 4 页两端</a:t>
            </a:r>
          </a:p>
        </p:txBody>
      </p:sp>
      <p:sp>
        <p:nvSpPr>
          <p:cNvPr id="24" name="Oval 23"/>
          <p:cNvSpPr/>
          <p:nvPr/>
        </p:nvSpPr>
        <p:spPr>
          <a:xfrm>
            <a:off x="4557674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8842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定目标、冻结验收口径</a:t>
            </a:r>
          </a:p>
        </p:txBody>
      </p:sp>
      <p:sp>
        <p:nvSpPr>
          <p:cNvPr id="26" name="Oval 25"/>
          <p:cNvSpPr/>
          <p:nvPr/>
        </p:nvSpPr>
        <p:spPr>
          <a:xfrm>
            <a:off x="4557674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842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新架构的接入判断</a:t>
            </a:r>
          </a:p>
        </p:txBody>
      </p:sp>
      <p:sp>
        <p:nvSpPr>
          <p:cNvPr id="28" name="Oval 27"/>
          <p:cNvSpPr/>
          <p:nvPr/>
        </p:nvSpPr>
        <p:spPr>
          <a:xfrm>
            <a:off x="4557674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842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未知缺陷的根因定位</a:t>
            </a:r>
          </a:p>
        </p:txBody>
      </p:sp>
      <p:sp>
        <p:nvSpPr>
          <p:cNvPr id="30" name="Oval 29"/>
          <p:cNvSpPr/>
          <p:nvPr/>
        </p:nvSpPr>
        <p:spPr>
          <a:xfrm>
            <a:off x="4557674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842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交付与否的最终决定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7674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这几项短期内不打算交出去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7796" y="1828800"/>
            <a:ext cx="3515258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7252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下一步补齐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7252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第 8 - 9 页</a:t>
            </a:r>
          </a:p>
        </p:txBody>
      </p:sp>
      <p:sp>
        <p:nvSpPr>
          <p:cNvPr id="36" name="Oval 35"/>
          <p:cNvSpPr/>
          <p:nvPr/>
        </p:nvSpPr>
        <p:spPr>
          <a:xfrm>
            <a:off x="8347252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8420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换算链在 M100 上校准</a:t>
            </a:r>
          </a:p>
        </p:txBody>
      </p:sp>
      <p:sp>
        <p:nvSpPr>
          <p:cNvPr id="38" name="Oval 37"/>
          <p:cNvSpPr/>
          <p:nvPr/>
        </p:nvSpPr>
        <p:spPr>
          <a:xfrm>
            <a:off x="8347252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8420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模型层与算子层自动交接</a:t>
            </a:r>
          </a:p>
        </p:txBody>
      </p:sp>
      <p:sp>
        <p:nvSpPr>
          <p:cNvPr id="40" name="Oval 39"/>
          <p:cNvSpPr/>
          <p:nvPr/>
        </p:nvSpPr>
        <p:spPr>
          <a:xfrm>
            <a:off x="8347252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8420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规则与补丁沉淀为可复用知识</a:t>
            </a:r>
          </a:p>
        </p:txBody>
      </p:sp>
      <p:sp>
        <p:nvSpPr>
          <p:cNvPr id="42" name="Oval 41"/>
          <p:cNvSpPr/>
          <p:nvPr/>
        </p:nvSpPr>
        <p:spPr>
          <a:xfrm>
            <a:off x="8347252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8420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适配成本的量化对账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7252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按这个顺序做，先校准再谈预测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5230368"/>
            <a:ext cx="11094415" cy="56692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5230368"/>
            <a:ext cx="64008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536" y="5230368"/>
            <a:ext cx="1045433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把重复判断交给 Agent，一个模型一个模型往下压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三列按当前进度如实分栏；左列已在 M100 上跑通，右列尚未开始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