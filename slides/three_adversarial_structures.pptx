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算子层 Agent：三种对抗结构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共同前提不变——Agent 只产出假设，编译 / 对精度 / 测速 / 判决一律由确定性 Harness 给出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564026" cy="4553712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564026" cy="64008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16736"/>
            <a:ext cx="319826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A　攻防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319826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一方造补丁，一方造反例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29968"/>
            <a:ext cx="1388821" cy="384048"/>
          </a:xfrm>
          <a:prstGeom prst="roundRect">
            <a:avLst>
              <a:gd name="adj" fmla="val 16666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提议者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0965" y="2029968"/>
            <a:ext cx="1388821" cy="384048"/>
          </a:xfrm>
          <a:prstGeom prst="roundRect">
            <a:avLst>
              <a:gd name="adj" fmla="val 16666"/>
            </a:avLst>
          </a:prstGeom>
          <a:solidFill>
            <a:srgbClr val="B4382F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7773" y="2139696"/>
            <a:ext cx="365760" cy="0"/>
          </a:xfrm>
          <a:prstGeom prst="line">
            <a:avLst/>
          </a:prstGeom>
          <a:ln w="15875">
            <a:solidFill>
              <a:srgbClr val="D2690C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 flipH="1">
            <a:off x="2147773" y="2304288"/>
            <a:ext cx="365760" cy="0"/>
          </a:xfrm>
          <a:prstGeom prst="line">
            <a:avLst/>
          </a:prstGeom>
          <a:ln w="15875">
            <a:solidFill>
              <a:srgbClr val="B4382F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1919173" y="1847088"/>
            <a:ext cx="82296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补丁 + 主张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9173" y="2414016"/>
            <a:ext cx="82296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反例 + 质询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24912"/>
            <a:ext cx="3198266" cy="365760"/>
          </a:xfrm>
          <a:prstGeom prst="roundRect">
            <a:avLst>
              <a:gd name="adj" fmla="val 175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Harness：两方用例跑同一套门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25930" y="2432304"/>
            <a:ext cx="0" cy="265176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3235375" y="2432304"/>
            <a:ext cx="0" cy="265176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731520" y="3127248"/>
            <a:ext cx="319826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判决回写黑板 → 下一回合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38728"/>
            <a:ext cx="45720" cy="365760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112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对抗什么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补丁的正确性，以及「快多少」这句主张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95928"/>
            <a:ext cx="45720" cy="365760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9684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沉淀什么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每个反例进回归集，系统越跑越难骗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53128"/>
            <a:ext cx="45720" cy="365760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4256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何时停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预算内找不到新反例，且四道门全过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910328"/>
            <a:ext cx="45720" cy="365760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8828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挑战者要真会造边界用例，否则是走过场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" y="5358384"/>
            <a:ext cx="3307994" cy="31089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适合：正确性风险高、边界多的算子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3834" y="1188720"/>
            <a:ext cx="3564026" cy="4553712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3834" y="1188720"/>
            <a:ext cx="3564026" cy="6400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6714" y="1316736"/>
            <a:ext cx="319826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B　竞速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6714" y="1609344"/>
            <a:ext cx="319826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两条路线同题，各做各的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96714" y="2029968"/>
            <a:ext cx="1388821" cy="384048"/>
          </a:xfrm>
          <a:prstGeom prst="roundRect">
            <a:avLst>
              <a:gd name="adj" fmla="val 16666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提议者 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6159" y="2029968"/>
            <a:ext cx="1388821" cy="384048"/>
          </a:xfrm>
          <a:prstGeom prst="roundRect">
            <a:avLst>
              <a:gd name="adj" fmla="val 16666"/>
            </a:avLst>
          </a:prstGeom>
          <a:solidFill>
            <a:srgbClr val="C2570A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提议者 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12967" y="2139696"/>
            <a:ext cx="365760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cxnSp>
        <p:nvCxnSpPr>
          <p:cNvPr id="36" name="Connector 35"/>
          <p:cNvCxnSpPr/>
          <p:nvPr/>
        </p:nvCxnSpPr>
        <p:spPr>
          <a:xfrm flipH="1">
            <a:off x="5912967" y="2304288"/>
            <a:ext cx="365760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37" name="TextBox 36"/>
          <p:cNvSpPr txBox="1"/>
          <p:nvPr/>
        </p:nvSpPr>
        <p:spPr>
          <a:xfrm>
            <a:off x="5638647" y="1847088"/>
            <a:ext cx="91440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互交用例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6714" y="2724912"/>
            <a:ext cx="3198266" cy="365760"/>
          </a:xfrm>
          <a:prstGeom prst="roundRect">
            <a:avLst>
              <a:gd name="adj" fmla="val 175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同一套 Bench · 同一组 shape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191125" y="2432304"/>
            <a:ext cx="0" cy="265176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7000570" y="2432304"/>
            <a:ext cx="0" cy="265176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41" name="Rounded Rectangle 40"/>
          <p:cNvSpPr/>
          <p:nvPr/>
        </p:nvSpPr>
        <p:spPr>
          <a:xfrm>
            <a:off x="4496714" y="3218688"/>
            <a:ext cx="1525981" cy="310896"/>
          </a:xfrm>
          <a:prstGeom prst="roundRect">
            <a:avLst>
              <a:gd name="adj" fmla="val 20588"/>
            </a:avLst>
          </a:prstGeom>
          <a:solidFill>
            <a:srgbClr val="17795F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胜者晋升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8999" y="3218688"/>
            <a:ext cx="1525981" cy="310896"/>
          </a:xfrm>
          <a:prstGeom prst="roundRect">
            <a:avLst>
              <a:gd name="adj" fmla="val 20588"/>
            </a:avLst>
          </a:prstGeom>
          <a:solidFill>
            <a:srgbClr val="7FA4BA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败者留档为对照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5847" y="3118104"/>
            <a:ext cx="0" cy="73152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4496714" y="3538728"/>
            <a:ext cx="45720" cy="36576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4730" y="35112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对抗什么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同一组 shape 上谁更快，差距要大过噪声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96714" y="3995928"/>
            <a:ext cx="45720" cy="36576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24730" y="39684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沉淀什么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败者方案与用例留档，成为天然对照组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96714" y="4453128"/>
            <a:ext cx="45720" cy="36576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24730" y="44256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何时停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胜负稳定复现，且差距超出实测噪声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96714" y="4910328"/>
            <a:ext cx="45720" cy="36576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24730" y="48828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算力翻倍；两条路线可能同时错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41850" y="5358384"/>
            <a:ext cx="3307994" cy="31089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适合：实现路径分歧大（搬运编排 vs 流水重排）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79028" y="1188720"/>
            <a:ext cx="3564026" cy="4553712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79028" y="1188720"/>
            <a:ext cx="3564026" cy="64008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61908" y="1316736"/>
            <a:ext cx="319826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C　工况对抗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1908" y="1609344"/>
            <a:ext cx="3198266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对抗的不是补丁，是输入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61908" y="2029968"/>
            <a:ext cx="1361389" cy="384048"/>
          </a:xfrm>
          <a:prstGeom prst="roundRect">
            <a:avLst>
              <a:gd name="adj" fmla="val 16666"/>
            </a:avLst>
          </a:prstGeom>
          <a:solidFill>
            <a:srgbClr val="B4382F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工况生成器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98786" y="2029968"/>
            <a:ext cx="1361389" cy="384048"/>
          </a:xfrm>
          <a:prstGeom prst="roundRect">
            <a:avLst>
              <a:gd name="adj" fmla="val 16666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优化者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650730" y="2221992"/>
            <a:ext cx="420624" cy="0"/>
          </a:xfrm>
          <a:prstGeom prst="line">
            <a:avLst/>
          </a:prstGeom>
          <a:ln w="15875">
            <a:solidFill>
              <a:srgbClr val="B4382F"/>
            </a:solidFill>
            <a:tailEnd type="triangle" w="med" len="med"/>
          </a:ln>
        </p:spPr>
      </p:cxnSp>
      <p:sp>
        <p:nvSpPr>
          <p:cNvPr id="60" name="TextBox 59"/>
          <p:cNvSpPr txBox="1"/>
          <p:nvPr/>
        </p:nvSpPr>
        <p:spPr>
          <a:xfrm>
            <a:off x="9358122" y="1847088"/>
            <a:ext cx="100584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最坏 shape / 批型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61908" y="2724912"/>
            <a:ext cx="3198266" cy="365760"/>
          </a:xfrm>
          <a:prstGeom prst="roundRect">
            <a:avLst>
              <a:gd name="adj" fmla="val 175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Harness：在最坏工况下测，比下界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779480" y="2432304"/>
            <a:ext cx="0" cy="265176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63" name="Freeform 62"/>
          <p:cNvSpPr/>
          <p:nvPr/>
        </p:nvSpPr>
        <p:spPr>
          <a:xfrm>
            <a:off x="8353348" y="2432304"/>
            <a:ext cx="0" cy="265176"/>
          </a:xfrm>
          <a:custGeom>
            <a:avLst/>
            <a:gdLst/>
            <a:ahLst/>
            <a:cxnLst/>
            <a:rect l="l" t="t" r="r" b="b"/>
            <a:pathLst>
              <a:path w="0" h="265176">
                <a:moveTo>
                  <a:pt x="0" y="265176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7FA4BA"/>
            </a:solidFill>
            <a:prstDash val="dash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61908" y="3127248"/>
            <a:ext cx="3198266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没跌破下界 → 换一类工况再来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1908" y="3538728"/>
            <a:ext cx="45720" cy="365760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9924" y="35112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对抗什么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找能让这版补丁跌破下界的 shape / 批型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61908" y="3995928"/>
            <a:ext cx="45720" cy="365760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89924" y="39684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沉淀什么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最坏工况集，直接变成验收基线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61908" y="4453128"/>
            <a:ext cx="45720" cy="365760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89924" y="44256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何时停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约束内再也找不到跌破下界的工况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61908" y="4910328"/>
            <a:ext cx="45720" cy="365760"/>
          </a:xfrm>
          <a:prstGeom prst="rect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89924" y="4882896"/>
            <a:ext cx="3070250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工况空间要能枚举；易过拟合到人造极端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07044" y="5358384"/>
            <a:ext cx="3307994" cy="310896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适合：怕性能断崖、上线工况不确定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5907024"/>
            <a:ext cx="11094415" cy="457200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5907024"/>
            <a:ext cx="73152" cy="45720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" y="5907024"/>
            <a:ext cx="10436047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怎么选</a:t>
            </a:r>
            <a:r>
              <a:rPr sz="12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 保正确 · B 保选型 · C 保鲁棒；三者可叠加，但判决永远只有 Harness 一处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